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Welcome to VERITAS, where we uncover the true value of premium real estate. We provide strategic advisory and solutions for the world's most discerning investors and developers.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presentation will guide you through our macro market insights, the unique value proposition of our project, our business strategy, a detailed financial model, and our vision for strategic partnership.</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global real estate market is being shaped by urban regeneration, ESG integration, tech-enabled spaces, and evolving capital flows. Our target market includes high-net-worth individuals, institutional investors, and leading corporate tenants.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project's value proposition is built on four pillars: a prime location with excellent connectivity, unparalleled design by a world-renowned architect, premium amenities and services, and favorable zoning for mixed-use development.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business strategy is laser-focused on attracting premium tenants. We target Fortune 500 companies, luxury brands, and a 5-star hotel operator. Our leasing strategy offers competitive rates and flexible options, supported by a proactive tenant management and a global marketing campaign.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financial model projects a stabilized Cap Rate of X.X% and a target IRR of XX%. The projected Net Operating Income is expected to reach $XX million by Year 5, driven by strong leasing demand across office, retail, and hotel components.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 are actively seeking a strategic partner to join us in this landmark development. We offer flexible investment structures, including equity participation and joint ventures. Partnering with us means gaining access to our proven track record, deep market knowledge, and strong execution capabilities.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Thank you for your time. We believe this project represents a unique opportunity to invest in a truly exceptional asset. We look forward to discussing the details with you further.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svg"/><Relationship Id="rId7" Type="http://schemas.openxmlformats.org/officeDocument/2006/relationships/image" Target="../media/image4.png"/><Relationship Id="rId6" Type="http://schemas.openxmlformats.org/officeDocument/2006/relationships/image" Target="../media/image3.svg"/><Relationship Id="rId5" Type="http://schemas.openxmlformats.org/officeDocument/2006/relationships/image" Target="../media/image3.png"/><Relationship Id="rId4" Type="http://schemas.openxmlformats.org/officeDocument/2006/relationships/image" Target="../media/image2.svg"/><Relationship Id="rId3" Type="http://schemas.openxmlformats.org/officeDocument/2006/relationships/image" Target="../media/image2.png"/><Relationship Id="rId2" Type="http://schemas.openxmlformats.org/officeDocument/2006/relationships/image" Target="../media/image1.svg"/><Relationship Id="rId16" Type="http://schemas.openxmlformats.org/officeDocument/2006/relationships/notesSlide" Target="../notesSlides/notesSlide3.xml"/><Relationship Id="rId15" Type="http://schemas.openxmlformats.org/officeDocument/2006/relationships/slideLayout" Target="../slideLayouts/slideLayout12.xml"/><Relationship Id="rId14" Type="http://schemas.openxmlformats.org/officeDocument/2006/relationships/image" Target="../media/image7.svg"/><Relationship Id="rId13" Type="http://schemas.openxmlformats.org/officeDocument/2006/relationships/image" Target="../media/image7.png"/><Relationship Id="rId12" Type="http://schemas.openxmlformats.org/officeDocument/2006/relationships/image" Target="../media/image6.svg"/><Relationship Id="rId11" Type="http://schemas.openxmlformats.org/officeDocument/2006/relationships/image" Target="../media/image6.png"/><Relationship Id="rId10" Type="http://schemas.openxmlformats.org/officeDocument/2006/relationships/image" Target="../media/image5.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1.svg"/><Relationship Id="rId7"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9.png"/><Relationship Id="rId2" Type="http://schemas.openxmlformats.org/officeDocument/2006/relationships/image" Target="../media/image8.svg"/><Relationship Id="rId10" Type="http://schemas.openxmlformats.org/officeDocument/2006/relationships/notesSlide" Target="../notesSlides/notesSlide4.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svg"/><Relationship Id="rId7" Type="http://schemas.openxmlformats.org/officeDocument/2006/relationships/image" Target="../media/image17.png"/><Relationship Id="rId6" Type="http://schemas.openxmlformats.org/officeDocument/2006/relationships/image" Target="../media/image16.svg"/><Relationship Id="rId5" Type="http://schemas.openxmlformats.org/officeDocument/2006/relationships/image" Target="../media/image16.png"/><Relationship Id="rId4" Type="http://schemas.openxmlformats.org/officeDocument/2006/relationships/image" Target="../media/image15.svg"/><Relationship Id="rId3" Type="http://schemas.openxmlformats.org/officeDocument/2006/relationships/image" Target="../media/image15.png"/><Relationship Id="rId2" Type="http://schemas.openxmlformats.org/officeDocument/2006/relationships/image" Target="../media/image14.svg"/><Relationship Id="rId11" Type="http://schemas.openxmlformats.org/officeDocument/2006/relationships/notesSlide" Target="../notesSlides/notesSlide6.xml"/><Relationship Id="rId10" Type="http://schemas.openxmlformats.org/officeDocument/2006/relationships/slideLayout" Target="../slideLayouts/slideLayout12.xml"/><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21.png"/><Relationship Id="rId4" Type="http://schemas.openxmlformats.org/officeDocument/2006/relationships/image" Target="../media/image19.svg"/><Relationship Id="rId3" Type="http://schemas.openxmlformats.org/officeDocument/2006/relationships/image" Target="../media/image20.png"/><Relationship Id="rId2" Type="http://schemas.openxmlformats.org/officeDocument/2006/relationships/image" Target="../media/image18.svg"/><Relationship Id="rId1"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C2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282A32">
                  <a:alpha val="100000"/>
                </a:srgbClr>
              </a:gs>
              <a:gs pos="100000">
                <a:srgbClr val="121216">
                  <a:alpha val="100000"/>
                </a:srgbClr>
              </a:gs>
            </a:gsLst>
            <a:lin ang="36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255000" y="-1270000"/>
            <a:ext cx="5080000" cy="5080000"/>
          </a:xfrm>
          <a:prstGeom prst="ellipse">
            <a:avLst/>
          </a:prstGeom>
          <a:solidFill>
            <a:srgbClr val="D4AF37">
              <a:alpha val="1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270000" y="4445000"/>
            <a:ext cx="4445000" cy="4445000"/>
          </a:xfrm>
          <a:prstGeom prst="ellipse">
            <a:avLst/>
          </a:prstGeom>
          <a:solidFill>
            <a:srgbClr val="D4AF37">
              <a:alpha val="8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27305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000" b="1" i="0" u="none" strike="noStrike">
                <a:solidFill>
                  <a:srgbClr val="FFFFFF"/>
                </a:solidFill>
                <a:latin typeface="Playfair Display"/>
                <a:ea typeface="Playfair Display"/>
                <a:cs typeface="Playfair Display"/>
                <a:sym typeface="Playfair Display"/>
              </a:rPr>
              <a:t>VERITAS</a:t>
            </a:r>
            <a:endParaRPr lang="en-US" sz="1100"/>
          </a:p>
        </p:txBody>
      </p:sp>
      <p:sp>
        <p:nvSpPr>
          <p:cNvPr id="7" name="AutoShape 7"/>
          <p:cNvSpPr/>
          <p:nvPr/>
        </p:nvSpPr>
        <p:spPr>
          <a:xfrm>
            <a:off x="5588000" y="4191000"/>
            <a:ext cx="1016000" cy="254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0" y="4572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800" b="0" i="0" u="none" strike="noStrike">
                <a:solidFill>
                  <a:srgbClr val="FFFFFF">
                    <a:alpha val="90196"/>
                  </a:srgbClr>
                </a:solidFill>
                <a:latin typeface="Lato"/>
                <a:ea typeface="Lato"/>
                <a:cs typeface="Lato"/>
                <a:sym typeface="Lato"/>
              </a:rPr>
              <a:t>Premium Real Estate &amp; Property Solutions</a:t>
            </a:r>
            <a:endParaRPr lang="en-US" sz="1100"/>
          </a:p>
        </p:txBody>
      </p:sp>
      <p:cxnSp>
        <p:nvCxnSpPr>
          <p:cNvPr id="9" name="Connector 9"/>
          <p:cNvCxnSpPr/>
          <p:nvPr/>
        </p:nvCxnSpPr>
        <p:spPr>
          <a:xfrm rot="-3906">
            <a:off x="508004" y="5962650"/>
            <a:ext cx="11176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0" name="AutoShape 10"/>
          <p:cNvSpPr/>
          <p:nvPr/>
        </p:nvSpPr>
        <p:spPr>
          <a:xfrm>
            <a:off x="0" y="6159500"/>
            <a:ext cx="1219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AAAAAA"/>
                </a:solidFill>
                <a:latin typeface="Lato"/>
                <a:ea typeface="Lato"/>
                <a:cs typeface="Lato"/>
                <a:sym typeface="Lato"/>
              </a:rPr>
              <a:t>VERITAS Global Properties |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CONTENTS</a:t>
            </a:r>
            <a:endParaRPr lang="en-US" sz="1100"/>
          </a:p>
        </p:txBody>
      </p:sp>
      <p:sp>
        <p:nvSpPr>
          <p:cNvPr id="3" name="AutoShape 3"/>
          <p:cNvSpPr/>
          <p:nvPr/>
        </p:nvSpPr>
        <p:spPr>
          <a:xfrm>
            <a:off x="1016000" y="1651000"/>
            <a:ext cx="10160000" cy="12700"/>
          </a:xfrm>
          <a:prstGeom prst="roundRect">
            <a:avLst>
              <a:gd name="adj" fmla="val 0"/>
            </a:avLst>
          </a:prstGeom>
          <a:solidFill>
            <a:srgbClr val="D4AF37">
              <a:alpha val="5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032000"/>
            <a:ext cx="49530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032000"/>
            <a:ext cx="50800" cy="1397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70000" y="2095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D4AF37"/>
                </a:solidFill>
                <a:latin typeface="Poppins"/>
                <a:ea typeface="Poppins"/>
                <a:cs typeface="Poppins"/>
                <a:sym typeface="Poppins"/>
              </a:rPr>
              <a:t>01</a:t>
            </a:r>
            <a:endParaRPr lang="en-US" sz="1100"/>
          </a:p>
        </p:txBody>
      </p:sp>
      <p:cxnSp>
        <p:nvCxnSpPr>
          <p:cNvPr id="7" name="Connector 7"/>
          <p:cNvCxnSpPr/>
          <p:nvPr/>
        </p:nvCxnSpPr>
        <p:spPr>
          <a:xfrm rot="5361804">
            <a:off x="1714500" y="2724185"/>
            <a:ext cx="1143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8" name="AutoShape 8"/>
          <p:cNvSpPr/>
          <p:nvPr/>
        </p:nvSpPr>
        <p:spPr>
          <a:xfrm>
            <a:off x="2540000" y="2159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Poppins"/>
                <a:ea typeface="Poppins"/>
                <a:cs typeface="Poppins"/>
                <a:sym typeface="Poppins"/>
              </a:rPr>
              <a:t>MACRO MARKET INSIGHTS</a:t>
            </a:r>
            <a:endParaRPr lang="en-US" sz="1100"/>
          </a:p>
          <a:p>
            <a:pPr marL="0" indent="0" algn="l">
              <a:lnSpc>
                <a:spcPct val="117000"/>
              </a:lnSpc>
            </a:pPr>
            <a:r>
              <a:rPr lang="en-US" sz="1300" b="0" i="0" u="none" strike="noStrike">
                <a:solidFill>
                  <a:srgbClr val="FFFFFF">
                    <a:alpha val="70196"/>
                  </a:srgbClr>
                </a:solidFill>
                <a:latin typeface="Poppins"/>
                <a:ea typeface="Poppins"/>
                <a:cs typeface="Poppins"/>
                <a:sym typeface="Poppins"/>
              </a:rPr>
              <a:t>Understanding the Global Real Estate Landscape and identifying key trends shaping the industry’s future trajectory.</a:t>
            </a:r>
            <a:endParaRPr lang="en-US" sz="1300" b="0" i="0" u="none" strike="noStrike">
              <a:solidFill>
                <a:srgbClr val="FFFFFF">
                  <a:alpha val="70196"/>
                </a:srgbClr>
              </a:solidFill>
              <a:latin typeface="Poppins"/>
              <a:ea typeface="Poppins"/>
              <a:cs typeface="Poppins"/>
              <a:sym typeface="Poppins"/>
            </a:endParaRPr>
          </a:p>
        </p:txBody>
      </p:sp>
      <p:sp>
        <p:nvSpPr>
          <p:cNvPr id="9" name="AutoShape 9"/>
          <p:cNvSpPr/>
          <p:nvPr/>
        </p:nvSpPr>
        <p:spPr>
          <a:xfrm>
            <a:off x="6350000" y="2032000"/>
            <a:ext cx="49530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350000" y="2032000"/>
            <a:ext cx="50800" cy="1397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604000" y="2095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D4AF37"/>
                </a:solidFill>
                <a:latin typeface="Poppins"/>
                <a:ea typeface="Poppins"/>
                <a:cs typeface="Poppins"/>
                <a:sym typeface="Poppins"/>
              </a:rPr>
              <a:t>02</a:t>
            </a:r>
            <a:endParaRPr lang="en-US" sz="1100"/>
          </a:p>
        </p:txBody>
      </p:sp>
      <p:cxnSp>
        <p:nvCxnSpPr>
          <p:cNvPr id="12" name="Connector 12"/>
          <p:cNvCxnSpPr/>
          <p:nvPr/>
        </p:nvCxnSpPr>
        <p:spPr>
          <a:xfrm rot="5361804">
            <a:off x="7048500" y="2724185"/>
            <a:ext cx="1143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3" name="AutoShape 13"/>
          <p:cNvSpPr/>
          <p:nvPr/>
        </p:nvSpPr>
        <p:spPr>
          <a:xfrm>
            <a:off x="7874000" y="2159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Poppins"/>
                <a:ea typeface="Poppins"/>
                <a:cs typeface="Poppins"/>
                <a:sym typeface="Poppins"/>
              </a:rPr>
              <a:t>PROJECT VALUE PROPOSITION</a:t>
            </a:r>
            <a:endParaRPr lang="en-US" sz="1100"/>
          </a:p>
          <a:p>
            <a:pPr marL="0" indent="0" algn="l">
              <a:lnSpc>
                <a:spcPct val="117000"/>
              </a:lnSpc>
            </a:pPr>
            <a:r>
              <a:rPr lang="en-US" sz="1300" b="0" i="0" u="none" strike="noStrike">
                <a:solidFill>
                  <a:srgbClr val="FFFFFF">
                    <a:alpha val="70196"/>
                  </a:srgbClr>
                </a:solidFill>
                <a:latin typeface="Poppins"/>
                <a:ea typeface="Poppins"/>
                <a:cs typeface="Poppins"/>
                <a:sym typeface="Poppins"/>
              </a:rPr>
              <a:t>Unveiling the unique selling points and exclusive amenities that define our development as a benchmark in luxury real estate.</a:t>
            </a:r>
            <a:endParaRPr lang="en-US" sz="1300" b="0" i="0" u="none" strike="noStrike">
              <a:solidFill>
                <a:srgbClr val="FFFFFF">
                  <a:alpha val="70196"/>
                </a:srgbClr>
              </a:solidFill>
              <a:latin typeface="Poppins"/>
              <a:ea typeface="Poppins"/>
              <a:cs typeface="Poppins"/>
              <a:sym typeface="Poppins"/>
            </a:endParaRPr>
          </a:p>
        </p:txBody>
      </p:sp>
      <p:sp>
        <p:nvSpPr>
          <p:cNvPr id="14" name="AutoShape 14"/>
          <p:cNvSpPr/>
          <p:nvPr/>
        </p:nvSpPr>
        <p:spPr>
          <a:xfrm>
            <a:off x="1016000" y="3810000"/>
            <a:ext cx="49530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016000" y="3810000"/>
            <a:ext cx="50800" cy="1397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270000" y="3873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D4AF37"/>
                </a:solidFill>
                <a:latin typeface="Poppins"/>
                <a:ea typeface="Poppins"/>
                <a:cs typeface="Poppins"/>
                <a:sym typeface="Poppins"/>
              </a:rPr>
              <a:t>03</a:t>
            </a:r>
            <a:endParaRPr lang="en-US" sz="1100"/>
          </a:p>
        </p:txBody>
      </p:sp>
      <p:cxnSp>
        <p:nvCxnSpPr>
          <p:cNvPr id="17" name="Connector 17"/>
          <p:cNvCxnSpPr/>
          <p:nvPr/>
        </p:nvCxnSpPr>
        <p:spPr>
          <a:xfrm rot="5361804">
            <a:off x="1714500" y="4502185"/>
            <a:ext cx="1143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8" name="AutoShape 18"/>
          <p:cNvSpPr/>
          <p:nvPr/>
        </p:nvSpPr>
        <p:spPr>
          <a:xfrm>
            <a:off x="2540000" y="3937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Poppins"/>
                <a:ea typeface="Poppins"/>
                <a:cs typeface="Poppins"/>
                <a:sym typeface="Poppins"/>
              </a:rPr>
              <a:t>BUSINESS &amp; LEASING STRATEGY</a:t>
            </a:r>
            <a:endParaRPr lang="en-US" sz="1100"/>
          </a:p>
          <a:p>
            <a:pPr marL="0" indent="0" algn="l">
              <a:lnSpc>
                <a:spcPct val="117000"/>
              </a:lnSpc>
            </a:pPr>
            <a:r>
              <a:rPr lang="en-US" sz="1300" b="0" i="0" u="none" strike="noStrike">
                <a:solidFill>
                  <a:srgbClr val="FFFFFF">
                    <a:alpha val="70196"/>
                  </a:srgbClr>
                </a:solidFill>
                <a:latin typeface="Poppins"/>
                <a:ea typeface="Poppins"/>
                <a:cs typeface="Poppins"/>
                <a:sym typeface="Poppins"/>
              </a:rPr>
              <a:t>A tailored approach to maximizing occupancy rates and ensuring sustainable long-term returns for stakeholders.</a:t>
            </a:r>
            <a:endParaRPr lang="en-US" sz="1300" b="0" i="0" u="none" strike="noStrike">
              <a:solidFill>
                <a:srgbClr val="FFFFFF">
                  <a:alpha val="70196"/>
                </a:srgbClr>
              </a:solidFill>
              <a:latin typeface="Poppins"/>
              <a:ea typeface="Poppins"/>
              <a:cs typeface="Poppins"/>
              <a:sym typeface="Poppins"/>
            </a:endParaRPr>
          </a:p>
        </p:txBody>
      </p:sp>
      <p:sp>
        <p:nvSpPr>
          <p:cNvPr id="19" name="AutoShape 19"/>
          <p:cNvSpPr/>
          <p:nvPr/>
        </p:nvSpPr>
        <p:spPr>
          <a:xfrm>
            <a:off x="6350000" y="3810000"/>
            <a:ext cx="4953000" cy="1397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350000" y="3810000"/>
            <a:ext cx="50800" cy="1397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04000" y="3873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D4AF37"/>
                </a:solidFill>
                <a:latin typeface="Poppins"/>
                <a:ea typeface="Poppins"/>
                <a:cs typeface="Poppins"/>
                <a:sym typeface="Poppins"/>
              </a:rPr>
              <a:t>04</a:t>
            </a:r>
            <a:endParaRPr lang="en-US" sz="1100"/>
          </a:p>
        </p:txBody>
      </p:sp>
      <p:cxnSp>
        <p:nvCxnSpPr>
          <p:cNvPr id="22" name="Connector 22"/>
          <p:cNvCxnSpPr/>
          <p:nvPr/>
        </p:nvCxnSpPr>
        <p:spPr>
          <a:xfrm rot="5361804">
            <a:off x="7048500" y="4502185"/>
            <a:ext cx="1143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23" name="AutoShape 23"/>
          <p:cNvSpPr/>
          <p:nvPr/>
        </p:nvSpPr>
        <p:spPr>
          <a:xfrm>
            <a:off x="7874000" y="3937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Poppins"/>
                <a:ea typeface="Poppins"/>
                <a:cs typeface="Poppins"/>
                <a:sym typeface="Poppins"/>
              </a:rPr>
              <a:t>FINANCIAL MODEL &amp; RETURNS</a:t>
            </a:r>
            <a:endParaRPr lang="en-US" sz="1100"/>
          </a:p>
          <a:p>
            <a:pPr marL="0" indent="0" algn="l">
              <a:lnSpc>
                <a:spcPct val="117000"/>
              </a:lnSpc>
            </a:pPr>
            <a:r>
              <a:rPr lang="en-US" sz="1300" b="0" i="0" u="none" strike="noStrike">
                <a:solidFill>
                  <a:srgbClr val="FFFFFF">
                    <a:alpha val="70196"/>
                  </a:srgbClr>
                </a:solidFill>
                <a:latin typeface="Poppins"/>
                <a:ea typeface="Poppins"/>
                <a:cs typeface="Poppins"/>
                <a:sym typeface="Poppins"/>
              </a:rPr>
              <a:t>Data-driven investment analysis with transparent projections, risk mitigation, and optimized capital allocation.</a:t>
            </a:r>
            <a:endParaRPr lang="en-US" sz="1300" b="0" i="0" u="none" strike="noStrike">
              <a:solidFill>
                <a:srgbClr val="FFFFFF">
                  <a:alpha val="70196"/>
                </a:srgbClr>
              </a:solidFill>
              <a:latin typeface="Poppins"/>
              <a:ea typeface="Poppins"/>
              <a:cs typeface="Poppins"/>
              <a:sym typeface="Poppins"/>
            </a:endParaRPr>
          </a:p>
        </p:txBody>
      </p:sp>
      <p:sp>
        <p:nvSpPr>
          <p:cNvPr id="24" name="AutoShape 24"/>
          <p:cNvSpPr/>
          <p:nvPr/>
        </p:nvSpPr>
        <p:spPr>
          <a:xfrm>
            <a:off x="1016000" y="5461000"/>
            <a:ext cx="10287000" cy="1079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1016000" y="5461000"/>
            <a:ext cx="50800" cy="1079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270000" y="5562600"/>
            <a:ext cx="88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D4AF37"/>
                </a:solidFill>
                <a:latin typeface="Poppins"/>
                <a:ea typeface="Poppins"/>
                <a:cs typeface="Poppins"/>
                <a:sym typeface="Poppins"/>
              </a:rPr>
              <a:t>05</a:t>
            </a:r>
            <a:endParaRPr lang="en-US" sz="1100"/>
          </a:p>
        </p:txBody>
      </p:sp>
      <p:cxnSp>
        <p:nvCxnSpPr>
          <p:cNvPr id="27" name="Connector 27"/>
          <p:cNvCxnSpPr/>
          <p:nvPr/>
        </p:nvCxnSpPr>
        <p:spPr>
          <a:xfrm rot="5347115">
            <a:off x="2000250" y="5994449"/>
            <a:ext cx="8255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28" name="AutoShape 28"/>
          <p:cNvSpPr/>
          <p:nvPr/>
        </p:nvSpPr>
        <p:spPr>
          <a:xfrm>
            <a:off x="2667000" y="5588000"/>
            <a:ext cx="838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Poppins"/>
                <a:ea typeface="Poppins"/>
                <a:cs typeface="Poppins"/>
                <a:sym typeface="Poppins"/>
              </a:rPr>
              <a:t>STRATEGIC PARTNERSHIP</a:t>
            </a:r>
            <a:endParaRPr lang="en-US" sz="1100"/>
          </a:p>
          <a:p>
            <a:pPr marL="0" indent="0" algn="l">
              <a:lnSpc>
                <a:spcPct val="117000"/>
              </a:lnSpc>
            </a:pPr>
            <a:r>
              <a:rPr lang="en-US" sz="1300" b="0" i="0" u="none" strike="noStrike">
                <a:solidFill>
                  <a:srgbClr val="FFFFFF">
                    <a:alpha val="70196"/>
                  </a:srgbClr>
                </a:solidFill>
                <a:latin typeface="Poppins"/>
                <a:ea typeface="Poppins"/>
                <a:cs typeface="Poppins"/>
                <a:sym typeface="Poppins"/>
              </a:rPr>
              <a:t>Collaborating with industry leaders to build iconic developments, fostering synergies and shared success in the global market.</a:t>
            </a:r>
            <a:endParaRPr lang="en-US" sz="1300" b="0" i="0" u="none" strike="noStrike">
              <a:solidFill>
                <a:srgbClr val="FFFFFF">
                  <a:alpha val="70196"/>
                </a:srgbClr>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01. MACRO MARKET INSIGHTS</a:t>
            </a:r>
            <a:endParaRPr lang="en-US" sz="1100"/>
          </a:p>
        </p:txBody>
      </p:sp>
      <p:sp>
        <p:nvSpPr>
          <p:cNvPr id="3" name="AutoShape 3"/>
          <p:cNvSpPr/>
          <p:nvPr/>
        </p:nvSpPr>
        <p:spPr>
          <a:xfrm>
            <a:off x="1016000" y="1587500"/>
            <a:ext cx="10160000" cy="12700"/>
          </a:xfrm>
          <a:prstGeom prst="roundRect">
            <a:avLst>
              <a:gd name="adj" fmla="val 0"/>
            </a:avLst>
          </a:prstGeom>
          <a:solidFill>
            <a:srgbClr val="D4AF37">
              <a:alpha val="5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159000"/>
            <a:ext cx="2413000" cy="2095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159000"/>
            <a:ext cx="24130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2413000"/>
            <a:ext cx="355600" cy="355600"/>
          </a:xfrm>
          <a:prstGeom prst="rect">
            <a:avLst/>
          </a:prstGeom>
        </p:spPr>
      </p:pic>
      <p:sp>
        <p:nvSpPr>
          <p:cNvPr id="7" name="AutoShape 7"/>
          <p:cNvSpPr/>
          <p:nvPr/>
        </p:nvSpPr>
        <p:spPr>
          <a:xfrm>
            <a:off x="1651000" y="23876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URBAN REGENERATION</a:t>
            </a:r>
            <a:endParaRPr lang="en-US" sz="1100"/>
          </a:p>
        </p:txBody>
      </p:sp>
      <p:cxnSp>
        <p:nvCxnSpPr>
          <p:cNvPr id="8" name="Connector 8"/>
          <p:cNvCxnSpPr/>
          <p:nvPr/>
        </p:nvCxnSpPr>
        <p:spPr>
          <a:xfrm rot="-21485">
            <a:off x="1206520" y="3041650"/>
            <a:ext cx="2032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9"/>
          <p:cNvSpPr/>
          <p:nvPr/>
        </p:nvSpPr>
        <p:spPr>
          <a:xfrm>
            <a:off x="1143000" y="3238500"/>
            <a:ext cx="215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70196"/>
                  </a:srgbClr>
                </a:solidFill>
                <a:latin typeface="Poppins"/>
                <a:ea typeface="Poppins"/>
                <a:cs typeface="Poppins"/>
                <a:sym typeface="Poppins"/>
              </a:rPr>
              <a:t>Revitalization of city centers through mixed-use developments, blending residential, commercial, and cultural spaces for holistic urban living.</a:t>
            </a:r>
            <a:endParaRPr lang="en-US" sz="1100"/>
          </a:p>
        </p:txBody>
      </p:sp>
      <p:sp>
        <p:nvSpPr>
          <p:cNvPr id="10" name="AutoShape 10"/>
          <p:cNvSpPr/>
          <p:nvPr/>
        </p:nvSpPr>
        <p:spPr>
          <a:xfrm>
            <a:off x="3619500" y="2159000"/>
            <a:ext cx="2413000" cy="2095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3619500" y="2159000"/>
            <a:ext cx="24130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0" y="2413000"/>
            <a:ext cx="355600" cy="355600"/>
          </a:xfrm>
          <a:prstGeom prst="rect">
            <a:avLst/>
          </a:prstGeom>
        </p:spPr>
      </p:pic>
      <p:sp>
        <p:nvSpPr>
          <p:cNvPr id="13" name="AutoShape 13"/>
          <p:cNvSpPr/>
          <p:nvPr/>
        </p:nvSpPr>
        <p:spPr>
          <a:xfrm>
            <a:off x="4254500" y="23876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ESG INTEGRATION</a:t>
            </a:r>
            <a:endParaRPr lang="en-US" sz="1100"/>
          </a:p>
        </p:txBody>
      </p:sp>
      <p:cxnSp>
        <p:nvCxnSpPr>
          <p:cNvPr id="14" name="Connector 14"/>
          <p:cNvCxnSpPr/>
          <p:nvPr/>
        </p:nvCxnSpPr>
        <p:spPr>
          <a:xfrm rot="-21485">
            <a:off x="3810020" y="3041650"/>
            <a:ext cx="2032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5" name="AutoShape 15"/>
          <p:cNvSpPr/>
          <p:nvPr/>
        </p:nvSpPr>
        <p:spPr>
          <a:xfrm>
            <a:off x="3746500" y="3238500"/>
            <a:ext cx="215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70196"/>
                  </a:srgbClr>
                </a:solidFill>
                <a:latin typeface="Poppins"/>
                <a:ea typeface="Poppins"/>
                <a:cs typeface="Poppins"/>
                <a:sym typeface="Poppins"/>
              </a:rPr>
              <a:t>Environmental, Social, and Governance factors have become central to investment strategies, driving sustainable and responsible asset allocation.</a:t>
            </a:r>
            <a:endParaRPr lang="en-US" sz="1100"/>
          </a:p>
        </p:txBody>
      </p:sp>
      <p:sp>
        <p:nvSpPr>
          <p:cNvPr id="16" name="AutoShape 16"/>
          <p:cNvSpPr/>
          <p:nvPr/>
        </p:nvSpPr>
        <p:spPr>
          <a:xfrm>
            <a:off x="6223000" y="2159000"/>
            <a:ext cx="2413000" cy="2095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2159000"/>
            <a:ext cx="24130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2413000"/>
            <a:ext cx="355600" cy="355600"/>
          </a:xfrm>
          <a:prstGeom prst="rect">
            <a:avLst/>
          </a:prstGeom>
        </p:spPr>
      </p:pic>
      <p:sp>
        <p:nvSpPr>
          <p:cNvPr id="19" name="AutoShape 19"/>
          <p:cNvSpPr/>
          <p:nvPr/>
        </p:nvSpPr>
        <p:spPr>
          <a:xfrm>
            <a:off x="6858000" y="23876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TECH-ENABLED SPACES</a:t>
            </a:r>
            <a:endParaRPr lang="en-US" sz="1100"/>
          </a:p>
        </p:txBody>
      </p:sp>
      <p:cxnSp>
        <p:nvCxnSpPr>
          <p:cNvPr id="20" name="Connector 20"/>
          <p:cNvCxnSpPr/>
          <p:nvPr/>
        </p:nvCxnSpPr>
        <p:spPr>
          <a:xfrm rot="-21485">
            <a:off x="6413520" y="3041650"/>
            <a:ext cx="2032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1" name="AutoShape 21"/>
          <p:cNvSpPr/>
          <p:nvPr/>
        </p:nvSpPr>
        <p:spPr>
          <a:xfrm>
            <a:off x="6350000" y="3238500"/>
            <a:ext cx="215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70196"/>
                  </a:srgbClr>
                </a:solidFill>
                <a:latin typeface="Poppins"/>
                <a:ea typeface="Poppins"/>
                <a:cs typeface="Poppins"/>
                <a:sym typeface="Poppins"/>
              </a:rPr>
              <a:t>Adoption of smart building systems and flexible work environments to enhance efficiency, connectivity, and user experience across all asset classes.</a:t>
            </a:r>
            <a:endParaRPr lang="en-US" sz="1100"/>
          </a:p>
        </p:txBody>
      </p:sp>
      <p:sp>
        <p:nvSpPr>
          <p:cNvPr id="22" name="AutoShape 22"/>
          <p:cNvSpPr/>
          <p:nvPr/>
        </p:nvSpPr>
        <p:spPr>
          <a:xfrm>
            <a:off x="8826500" y="2159000"/>
            <a:ext cx="2413000" cy="2095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826500" y="2159000"/>
            <a:ext cx="24130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17000" y="2413000"/>
            <a:ext cx="355600" cy="355600"/>
          </a:xfrm>
          <a:prstGeom prst="rect">
            <a:avLst/>
          </a:prstGeom>
        </p:spPr>
      </p:pic>
      <p:sp>
        <p:nvSpPr>
          <p:cNvPr id="25" name="AutoShape 25"/>
          <p:cNvSpPr/>
          <p:nvPr/>
        </p:nvSpPr>
        <p:spPr>
          <a:xfrm>
            <a:off x="9461500" y="23876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GLOBAL CAPITAL FLOWS</a:t>
            </a:r>
            <a:endParaRPr lang="en-US" sz="1100"/>
          </a:p>
        </p:txBody>
      </p:sp>
      <p:cxnSp>
        <p:nvCxnSpPr>
          <p:cNvPr id="26" name="Connector 26"/>
          <p:cNvCxnSpPr/>
          <p:nvPr/>
        </p:nvCxnSpPr>
        <p:spPr>
          <a:xfrm rot="-21485">
            <a:off x="9017020" y="3041650"/>
            <a:ext cx="2032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7" name="AutoShape 27"/>
          <p:cNvSpPr/>
          <p:nvPr/>
        </p:nvSpPr>
        <p:spPr>
          <a:xfrm>
            <a:off x="8953500" y="3238500"/>
            <a:ext cx="215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70196"/>
                  </a:srgbClr>
                </a:solidFill>
                <a:latin typeface="Poppins"/>
                <a:ea typeface="Poppins"/>
                <a:cs typeface="Poppins"/>
                <a:sym typeface="Poppins"/>
              </a:rPr>
              <a:t>Shifting investment patterns favor safe-haven assets and emerging markets, with capital increasingly seeking stability and long-term growth potential.</a:t>
            </a:r>
            <a:endParaRPr lang="en-US" sz="1100"/>
          </a:p>
        </p:txBody>
      </p:sp>
      <p:cxnSp>
        <p:nvCxnSpPr>
          <p:cNvPr id="28" name="Connector 28"/>
          <p:cNvCxnSpPr/>
          <p:nvPr/>
        </p:nvCxnSpPr>
        <p:spPr>
          <a:xfrm rot="-4270">
            <a:off x="1016004" y="4629150"/>
            <a:ext cx="10223500" cy="12700"/>
          </a:xfrm>
          <a:prstGeom prst="straightConnector1">
            <a:avLst/>
          </a:prstGeom>
          <a:solidFill>
            <a:srgbClr val="DEE0E3">
              <a:alpha val="100000"/>
            </a:srgbClr>
          </a:solidFill>
          <a:ln w="12700" cap="flat" cmpd="sng">
            <a:solidFill>
              <a:srgbClr val="D4AF37">
                <a:alpha val="30000"/>
              </a:srgbClr>
            </a:solidFill>
            <a:prstDash val="dash"/>
            <a:round/>
            <a:headEnd type="none" w="med" len="med"/>
            <a:tailEnd type="none" w="med" len="med"/>
          </a:ln>
        </p:spPr>
      </p:cxnSp>
      <p:sp>
        <p:nvSpPr>
          <p:cNvPr id="29" name="AutoShape 29"/>
          <p:cNvSpPr/>
          <p:nvPr/>
        </p:nvSpPr>
        <p:spPr>
          <a:xfrm>
            <a:off x="1016000" y="5080000"/>
            <a:ext cx="3302000" cy="1333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1016000" y="5080000"/>
            <a:ext cx="50800" cy="1333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06500" y="5270500"/>
            <a:ext cx="304800" cy="304800"/>
          </a:xfrm>
          <a:prstGeom prst="rect">
            <a:avLst/>
          </a:prstGeom>
        </p:spPr>
      </p:pic>
      <p:sp>
        <p:nvSpPr>
          <p:cNvPr id="32" name="AutoShape 32"/>
          <p:cNvSpPr/>
          <p:nvPr/>
        </p:nvSpPr>
        <p:spPr>
          <a:xfrm>
            <a:off x="1651000" y="523240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HNWIs &amp; UHNWIs</a:t>
            </a:r>
            <a:endParaRPr lang="en-US" sz="1100"/>
          </a:p>
        </p:txBody>
      </p:sp>
      <p:sp>
        <p:nvSpPr>
          <p:cNvPr id="33" name="AutoShape 33"/>
          <p:cNvSpPr/>
          <p:nvPr/>
        </p:nvSpPr>
        <p:spPr>
          <a:xfrm>
            <a:off x="1206500" y="5778500"/>
            <a:ext cx="2984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FFFFFF">
                    <a:alpha val="70196"/>
                  </a:srgbClr>
                </a:solidFill>
                <a:latin typeface="Poppins"/>
                <a:ea typeface="Poppins"/>
                <a:cs typeface="Poppins"/>
                <a:sym typeface="Poppins"/>
              </a:rPr>
              <a:t>Discerning investors seeking premium, tangible assets for wealth preservation, portfolio diversification, and generational growth.</a:t>
            </a:r>
            <a:endParaRPr lang="en-US" sz="1100"/>
          </a:p>
        </p:txBody>
      </p:sp>
      <p:sp>
        <p:nvSpPr>
          <p:cNvPr id="34" name="AutoShape 34"/>
          <p:cNvSpPr/>
          <p:nvPr/>
        </p:nvSpPr>
        <p:spPr>
          <a:xfrm>
            <a:off x="4572000" y="5080000"/>
            <a:ext cx="3302000" cy="1333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4572000" y="5080000"/>
            <a:ext cx="50800" cy="1333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6" name="Picture 3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762500" y="5270500"/>
            <a:ext cx="304800" cy="304800"/>
          </a:xfrm>
          <a:prstGeom prst="rect">
            <a:avLst/>
          </a:prstGeom>
        </p:spPr>
      </p:pic>
      <p:sp>
        <p:nvSpPr>
          <p:cNvPr id="37" name="AutoShape 37"/>
          <p:cNvSpPr/>
          <p:nvPr/>
        </p:nvSpPr>
        <p:spPr>
          <a:xfrm>
            <a:off x="5207000" y="523240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INSTITUTIONAL INVESTORS</a:t>
            </a:r>
            <a:endParaRPr lang="en-US" sz="1100"/>
          </a:p>
        </p:txBody>
      </p:sp>
      <p:sp>
        <p:nvSpPr>
          <p:cNvPr id="38" name="AutoShape 38"/>
          <p:cNvSpPr/>
          <p:nvPr/>
        </p:nvSpPr>
        <p:spPr>
          <a:xfrm>
            <a:off x="4762500" y="5778500"/>
            <a:ext cx="2984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FFFFFF">
                    <a:alpha val="70196"/>
                  </a:srgbClr>
                </a:solidFill>
                <a:latin typeface="Poppins"/>
                <a:ea typeface="Poppins"/>
                <a:cs typeface="Poppins"/>
                <a:sym typeface="Poppins"/>
              </a:rPr>
              <a:t>Pension funds, sovereign wealth funds, and PE firms targeting stable, long-term yields with low volatility in prime real estate sectors.</a:t>
            </a:r>
            <a:endParaRPr lang="en-US" sz="1100"/>
          </a:p>
        </p:txBody>
      </p:sp>
      <p:sp>
        <p:nvSpPr>
          <p:cNvPr id="39" name="AutoShape 39"/>
          <p:cNvSpPr/>
          <p:nvPr/>
        </p:nvSpPr>
        <p:spPr>
          <a:xfrm>
            <a:off x="8128000" y="5080000"/>
            <a:ext cx="3302000" cy="13335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8128000" y="5080000"/>
            <a:ext cx="50800" cy="1333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1" name="Picture 4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18500" y="5270500"/>
            <a:ext cx="304800" cy="304800"/>
          </a:xfrm>
          <a:prstGeom prst="rect">
            <a:avLst/>
          </a:prstGeom>
        </p:spPr>
      </p:pic>
      <p:sp>
        <p:nvSpPr>
          <p:cNvPr id="42" name="AutoShape 42"/>
          <p:cNvSpPr/>
          <p:nvPr/>
        </p:nvSpPr>
        <p:spPr>
          <a:xfrm>
            <a:off x="8763000" y="523240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GLOBAL CORPORATE TENANTS</a:t>
            </a:r>
            <a:endParaRPr lang="en-US" sz="1100"/>
          </a:p>
        </p:txBody>
      </p:sp>
      <p:sp>
        <p:nvSpPr>
          <p:cNvPr id="43" name="AutoShape 43"/>
          <p:cNvSpPr/>
          <p:nvPr/>
        </p:nvSpPr>
        <p:spPr>
          <a:xfrm>
            <a:off x="8318500" y="5778500"/>
            <a:ext cx="2984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FFFFFF">
                    <a:alpha val="70196"/>
                  </a:srgbClr>
                </a:solidFill>
                <a:latin typeface="Poppins"/>
                <a:ea typeface="Poppins"/>
                <a:cs typeface="Poppins"/>
                <a:sym typeface="Poppins"/>
              </a:rPr>
              <a:t>Multinational corporations demanding Grade A office spaces, prime retail locations, and logistics hubs to support global operations.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02. PROJECT VALUE PROPOSITION</a:t>
            </a:r>
            <a:endParaRPr lang="en-US" sz="1100"/>
          </a:p>
        </p:txBody>
      </p:sp>
      <p:cxnSp>
        <p:nvCxnSpPr>
          <p:cNvPr id="3" name="Connector 3"/>
          <p:cNvCxnSpPr/>
          <p:nvPr/>
        </p:nvCxnSpPr>
        <p:spPr>
          <a:xfrm rot="-4297">
            <a:off x="1016004" y="1644650"/>
            <a:ext cx="10160000" cy="12700"/>
          </a:xfrm>
          <a:prstGeom prst="straightConnector1">
            <a:avLst/>
          </a:prstGeom>
          <a:solidFill>
            <a:srgbClr val="DEE0E3">
              <a:alpha val="100000"/>
            </a:srgbClr>
          </a:solidFill>
          <a:ln w="12700" cap="flat" cmpd="sng">
            <a:solidFill>
              <a:srgbClr val="D4AF37">
                <a:alpha val="40000"/>
              </a:srgbClr>
            </a:solidFill>
            <a:prstDash val="solid"/>
            <a:round/>
            <a:headEnd type="none" w="med" len="med"/>
            <a:tailEnd type="none" w="med" len="med"/>
          </a:ln>
        </p:spPr>
      </p:cxnSp>
      <p:sp>
        <p:nvSpPr>
          <p:cNvPr id="4" name="AutoShape 4"/>
          <p:cNvSpPr/>
          <p:nvPr/>
        </p:nvSpPr>
        <p:spPr>
          <a:xfrm>
            <a:off x="1016000" y="2159000"/>
            <a:ext cx="5016500" cy="1841500"/>
          </a:xfrm>
          <a:prstGeom prst="roundRect">
            <a:avLst>
              <a:gd name="adj" fmla="val 0"/>
            </a:avLst>
          </a:prstGeom>
          <a:solidFill>
            <a:srgbClr val="FFFFFF">
              <a:alpha val="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159000"/>
            <a:ext cx="50800" cy="1841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349500"/>
            <a:ext cx="355600" cy="355600"/>
          </a:xfrm>
          <a:prstGeom prst="rect">
            <a:avLst/>
          </a:prstGeom>
        </p:spPr>
      </p:pic>
      <p:sp>
        <p:nvSpPr>
          <p:cNvPr id="7" name="AutoShape 7"/>
          <p:cNvSpPr/>
          <p:nvPr/>
        </p:nvSpPr>
        <p:spPr>
          <a:xfrm>
            <a:off x="1778000" y="2311400"/>
            <a:ext cx="406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PRIME LOCATION &amp; CONNECTIVITY</a:t>
            </a:r>
            <a:endParaRPr lang="en-US" sz="1100"/>
          </a:p>
        </p:txBody>
      </p:sp>
      <p:cxnSp>
        <p:nvCxnSpPr>
          <p:cNvPr id="8" name="Connector 8"/>
          <p:cNvCxnSpPr/>
          <p:nvPr/>
        </p:nvCxnSpPr>
        <p:spPr>
          <a:xfrm rot="-9549">
            <a:off x="1270009" y="2914650"/>
            <a:ext cx="4572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9" name="AutoShape 9"/>
          <p:cNvSpPr/>
          <p:nvPr/>
        </p:nvSpPr>
        <p:spPr>
          <a:xfrm>
            <a:off x="1270000" y="31115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0000"/>
                  </a:srgbClr>
                </a:solidFill>
                <a:latin typeface="Poppins"/>
                <a:ea typeface="Poppins"/>
                <a:cs typeface="Poppins"/>
                <a:sym typeface="Poppins"/>
              </a:rPr>
              <a:t>Nestled in the heart of the Central Business District (CBD), the project boasts direct access to major metro lines and international airports, ensuring seamless connectivity for global business and leisure travel.</a:t>
            </a:r>
            <a:endParaRPr lang="en-US" sz="1100"/>
          </a:p>
        </p:txBody>
      </p:sp>
      <p:sp>
        <p:nvSpPr>
          <p:cNvPr id="10" name="AutoShape 10"/>
          <p:cNvSpPr/>
          <p:nvPr/>
        </p:nvSpPr>
        <p:spPr>
          <a:xfrm>
            <a:off x="6159500" y="2159000"/>
            <a:ext cx="5016500" cy="1841500"/>
          </a:xfrm>
          <a:prstGeom prst="roundRect">
            <a:avLst>
              <a:gd name="adj" fmla="val 0"/>
            </a:avLst>
          </a:prstGeom>
          <a:solidFill>
            <a:srgbClr val="FFFFFF">
              <a:alpha val="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159500" y="2159000"/>
            <a:ext cx="50800" cy="1841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2349500"/>
            <a:ext cx="355600" cy="355600"/>
          </a:xfrm>
          <a:prstGeom prst="rect">
            <a:avLst/>
          </a:prstGeom>
        </p:spPr>
      </p:pic>
      <p:sp>
        <p:nvSpPr>
          <p:cNvPr id="13" name="AutoShape 13"/>
          <p:cNvSpPr/>
          <p:nvPr/>
        </p:nvSpPr>
        <p:spPr>
          <a:xfrm>
            <a:off x="6921500" y="2311400"/>
            <a:ext cx="406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UNPARALLELED DESIGN &amp; ARCHITECTURE</a:t>
            </a:r>
            <a:endParaRPr lang="en-US" sz="1100"/>
          </a:p>
        </p:txBody>
      </p:sp>
      <p:cxnSp>
        <p:nvCxnSpPr>
          <p:cNvPr id="14" name="Connector 14"/>
          <p:cNvCxnSpPr/>
          <p:nvPr/>
        </p:nvCxnSpPr>
        <p:spPr>
          <a:xfrm rot="-9549">
            <a:off x="6413509" y="2914650"/>
            <a:ext cx="4572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15" name="AutoShape 15"/>
          <p:cNvSpPr/>
          <p:nvPr/>
        </p:nvSpPr>
        <p:spPr>
          <a:xfrm>
            <a:off x="6413500" y="31115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0000"/>
                  </a:srgbClr>
                </a:solidFill>
                <a:latin typeface="Poppins"/>
                <a:ea typeface="Poppins"/>
                <a:cs typeface="Poppins"/>
                <a:sym typeface="Poppins"/>
              </a:rPr>
              <a:t>Crafted by an award-winning, world-renowned architect, the development features iconic, timeless architecture paired with the finest premium materials, setting a new benchmark for urban sophistication and aesthetic excellence.</a:t>
            </a:r>
            <a:endParaRPr lang="en-US" sz="1100"/>
          </a:p>
        </p:txBody>
      </p:sp>
      <p:sp>
        <p:nvSpPr>
          <p:cNvPr id="16" name="AutoShape 16"/>
          <p:cNvSpPr/>
          <p:nvPr/>
        </p:nvSpPr>
        <p:spPr>
          <a:xfrm>
            <a:off x="1016000" y="4318000"/>
            <a:ext cx="5016500" cy="1841500"/>
          </a:xfrm>
          <a:prstGeom prst="roundRect">
            <a:avLst>
              <a:gd name="adj" fmla="val 0"/>
            </a:avLst>
          </a:prstGeom>
          <a:solidFill>
            <a:srgbClr val="FFFFFF">
              <a:alpha val="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4318000"/>
            <a:ext cx="50800" cy="1841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4508500"/>
            <a:ext cx="355600" cy="355600"/>
          </a:xfrm>
          <a:prstGeom prst="rect">
            <a:avLst/>
          </a:prstGeom>
        </p:spPr>
      </p:pic>
      <p:sp>
        <p:nvSpPr>
          <p:cNvPr id="19" name="AutoShape 19"/>
          <p:cNvSpPr/>
          <p:nvPr/>
        </p:nvSpPr>
        <p:spPr>
          <a:xfrm>
            <a:off x="1778000" y="4470400"/>
            <a:ext cx="406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PREMIUM AMENITIES &amp; SERVICES</a:t>
            </a:r>
            <a:endParaRPr lang="en-US" sz="1100"/>
          </a:p>
        </p:txBody>
      </p:sp>
      <p:cxnSp>
        <p:nvCxnSpPr>
          <p:cNvPr id="20" name="Connector 20"/>
          <p:cNvCxnSpPr/>
          <p:nvPr/>
        </p:nvCxnSpPr>
        <p:spPr>
          <a:xfrm rot="-9549">
            <a:off x="1270009" y="5073650"/>
            <a:ext cx="4572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21" name="AutoShape 21"/>
          <p:cNvSpPr/>
          <p:nvPr/>
        </p:nvSpPr>
        <p:spPr>
          <a:xfrm>
            <a:off x="1270000" y="52705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0000"/>
                  </a:srgbClr>
                </a:solidFill>
                <a:latin typeface="Poppins"/>
                <a:ea typeface="Poppins"/>
                <a:cs typeface="Poppins"/>
                <a:sym typeface="Poppins"/>
              </a:rPr>
              <a:t>Delivering five-star hotel-style services, including 24/7 concierge, a state-of-the-art fitness center, a rooftop infinity pool with skyline views, and an exclusive business lounge for discerning residents and tenants.</a:t>
            </a:r>
            <a:endParaRPr lang="en-US" sz="1100"/>
          </a:p>
        </p:txBody>
      </p:sp>
      <p:sp>
        <p:nvSpPr>
          <p:cNvPr id="22" name="AutoShape 22"/>
          <p:cNvSpPr/>
          <p:nvPr/>
        </p:nvSpPr>
        <p:spPr>
          <a:xfrm>
            <a:off x="6159500" y="4318000"/>
            <a:ext cx="5016500" cy="1841500"/>
          </a:xfrm>
          <a:prstGeom prst="roundRect">
            <a:avLst>
              <a:gd name="adj" fmla="val 0"/>
            </a:avLst>
          </a:prstGeom>
          <a:solidFill>
            <a:srgbClr val="FFFFFF">
              <a:alpha val="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159500" y="4318000"/>
            <a:ext cx="50800" cy="1841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508500"/>
            <a:ext cx="355600" cy="355600"/>
          </a:xfrm>
          <a:prstGeom prst="rect">
            <a:avLst/>
          </a:prstGeom>
        </p:spPr>
      </p:pic>
      <p:sp>
        <p:nvSpPr>
          <p:cNvPr id="25" name="AutoShape 25"/>
          <p:cNvSpPr/>
          <p:nvPr/>
        </p:nvSpPr>
        <p:spPr>
          <a:xfrm>
            <a:off x="6921500" y="4470400"/>
            <a:ext cx="406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ZONING &amp; DEVELOPMENT POTENTIAL</a:t>
            </a:r>
            <a:endParaRPr lang="en-US" sz="1100"/>
          </a:p>
        </p:txBody>
      </p:sp>
      <p:cxnSp>
        <p:nvCxnSpPr>
          <p:cNvPr id="26" name="Connector 26"/>
          <p:cNvCxnSpPr/>
          <p:nvPr/>
        </p:nvCxnSpPr>
        <p:spPr>
          <a:xfrm rot="-9549">
            <a:off x="6413509" y="5073650"/>
            <a:ext cx="4572000" cy="12700"/>
          </a:xfrm>
          <a:prstGeom prst="straightConnector1">
            <a:avLst/>
          </a:prstGeom>
          <a:solidFill>
            <a:srgbClr val="DEE0E3">
              <a:alpha val="100000"/>
            </a:srgbClr>
          </a:solidFill>
          <a:ln w="12700" cap="flat" cmpd="sng">
            <a:solidFill>
              <a:srgbClr val="FFFFFF">
                <a:alpha val="10000"/>
              </a:srgbClr>
            </a:solidFill>
            <a:prstDash val="dash"/>
            <a:round/>
            <a:headEnd type="none" w="med" len="med"/>
            <a:tailEnd type="none" w="med" len="med"/>
          </a:ln>
        </p:spPr>
      </p:cxnSp>
      <p:sp>
        <p:nvSpPr>
          <p:cNvPr id="27" name="AutoShape 27"/>
          <p:cNvSpPr/>
          <p:nvPr/>
        </p:nvSpPr>
        <p:spPr>
          <a:xfrm>
            <a:off x="6413500" y="52705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80000"/>
                  </a:srgbClr>
                </a:solidFill>
                <a:latin typeface="Poppins"/>
                <a:ea typeface="Poppins"/>
                <a:cs typeface="Poppins"/>
                <a:sym typeface="Poppins"/>
              </a:rPr>
              <a:t>Benefiting from favorable mixed-use zoning (integrating office, retail, and residential spaces), the project offers maximum operational flexibility, adaptability to market trends, and significant long-term value creation.</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03. BUSINESS &amp; LEASING STRATEGY</a:t>
            </a:r>
            <a:endParaRPr lang="en-US" sz="1100"/>
          </a:p>
        </p:txBody>
      </p:sp>
      <p:sp>
        <p:nvSpPr>
          <p:cNvPr id="3" name="AutoShape 3"/>
          <p:cNvSpPr/>
          <p:nvPr/>
        </p:nvSpPr>
        <p:spPr>
          <a:xfrm>
            <a:off x="1016000" y="1651000"/>
            <a:ext cx="10160000" cy="254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286000"/>
            <a:ext cx="3213100" cy="3302000"/>
          </a:xfrm>
          <a:prstGeom prst="roundRect">
            <a:avLst>
              <a:gd name="adj" fmla="val 0"/>
            </a:avLst>
          </a:prstGeom>
          <a:solidFill>
            <a:srgbClr val="FFFFFF">
              <a:alpha val="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286000"/>
            <a:ext cx="32131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603500"/>
            <a:ext cx="406400" cy="406400"/>
          </a:xfrm>
          <a:prstGeom prst="rect">
            <a:avLst/>
          </a:prstGeom>
        </p:spPr>
      </p:pic>
      <p:sp>
        <p:nvSpPr>
          <p:cNvPr id="7" name="AutoShape 7"/>
          <p:cNvSpPr/>
          <p:nvPr/>
        </p:nvSpPr>
        <p:spPr>
          <a:xfrm>
            <a:off x="1841500" y="25654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TARGET TENANT PROFILE</a:t>
            </a:r>
            <a:endParaRPr lang="en-US" sz="1100"/>
          </a:p>
        </p:txBody>
      </p:sp>
      <p:cxnSp>
        <p:nvCxnSpPr>
          <p:cNvPr id="8" name="Connector 8"/>
          <p:cNvCxnSpPr/>
          <p:nvPr/>
        </p:nvCxnSpPr>
        <p:spPr>
          <a:xfrm rot="-16139">
            <a:off x="1270015" y="3295650"/>
            <a:ext cx="27051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9"/>
          <p:cNvSpPr/>
          <p:nvPr/>
        </p:nvSpPr>
        <p:spPr>
          <a:xfrm>
            <a:off x="1206500" y="3556000"/>
            <a:ext cx="28321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FFFFFF"/>
                </a:solidFill>
                <a:latin typeface="Noto Sans SC"/>
                <a:ea typeface="Noto Sans SC"/>
                <a:cs typeface="Noto Sans SC"/>
                <a:sym typeface="Noto Sans SC"/>
              </a:rPr>
              <a:t>Office:</a:t>
            </a:r>
            <a:r>
              <a:rPr lang="en-US" sz="1300" b="0" i="0" u="none" strike="noStrike">
                <a:solidFill>
                  <a:srgbClr val="FFFFFF">
                    <a:alpha val="80000"/>
                  </a:srgbClr>
                </a:solidFill>
                <a:latin typeface="Noto Sans SC"/>
                <a:ea typeface="Noto Sans SC"/>
                <a:cs typeface="Noto Sans SC"/>
                <a:sym typeface="Noto Sans SC"/>
              </a:rPr>
              <a:t>Fortune 500 firms, financial institutions, and global tech giants seeking premium business addresses.</a:t>
            </a:r>
            <a:endParaRPr lang="en-US" sz="1100"/>
          </a:p>
          <a:p>
            <a:pPr marL="0" indent="0" algn="l">
              <a:lnSpc>
                <a:spcPct val="108000"/>
              </a:lnSpc>
            </a:pPr>
            <a:r>
              <a:rPr lang="en-US" sz="1600" b="1" i="0" u="none" strike="noStrike">
                <a:solidFill>
                  <a:srgbClr val="FFFFFF"/>
                </a:solidFill>
                <a:latin typeface="Noto Sans SC"/>
                <a:ea typeface="Noto Sans SC"/>
                <a:cs typeface="Noto Sans SC"/>
                <a:sym typeface="Noto Sans SC"/>
              </a:rPr>
              <a:t>Retail &amp; Hosp:</a:t>
            </a:r>
            <a:r>
              <a:rPr lang="en-US" sz="1300" b="0" i="0" u="none" strike="noStrike">
                <a:solidFill>
                  <a:srgbClr val="FFFFFF">
                    <a:alpha val="80000"/>
                  </a:srgbClr>
                </a:solidFill>
                <a:latin typeface="Noto Sans SC"/>
                <a:ea typeface="Noto Sans SC"/>
                <a:cs typeface="Noto Sans SC"/>
                <a:sym typeface="Noto Sans SC"/>
              </a:rPr>
              <a:t>Iconic luxury brands, flagship stores, premium F&amp;B, and a world-class 5-star hotel partner.</a:t>
            </a:r>
            <a:endParaRPr lang="en-US" sz="1300" b="0" i="0" u="none" strike="noStrike">
              <a:solidFill>
                <a:srgbClr val="FFFFFF">
                  <a:alpha val="80000"/>
                </a:srgbClr>
              </a:solidFill>
              <a:latin typeface="Noto Sans SC"/>
              <a:ea typeface="Noto Sans SC"/>
              <a:cs typeface="Noto Sans SC"/>
              <a:sym typeface="Noto Sans SC"/>
            </a:endParaRPr>
          </a:p>
        </p:txBody>
      </p:sp>
      <p:sp>
        <p:nvSpPr>
          <p:cNvPr id="10" name="AutoShape 10"/>
          <p:cNvSpPr/>
          <p:nvPr/>
        </p:nvSpPr>
        <p:spPr>
          <a:xfrm>
            <a:off x="4483100" y="2286000"/>
            <a:ext cx="3213100" cy="3302000"/>
          </a:xfrm>
          <a:prstGeom prst="roundRect">
            <a:avLst>
              <a:gd name="adj" fmla="val 0"/>
            </a:avLst>
          </a:prstGeom>
          <a:solidFill>
            <a:srgbClr val="FFFFFF">
              <a:alpha val="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483100" y="2286000"/>
            <a:ext cx="32131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37100" y="2603500"/>
            <a:ext cx="406400" cy="406400"/>
          </a:xfrm>
          <a:prstGeom prst="rect">
            <a:avLst/>
          </a:prstGeom>
        </p:spPr>
      </p:pic>
      <p:sp>
        <p:nvSpPr>
          <p:cNvPr id="13" name="AutoShape 13"/>
          <p:cNvSpPr/>
          <p:nvPr/>
        </p:nvSpPr>
        <p:spPr>
          <a:xfrm>
            <a:off x="5308600" y="25654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STRATEGIC LEASING TERMS</a:t>
            </a:r>
            <a:endParaRPr lang="en-US" sz="1100"/>
          </a:p>
        </p:txBody>
      </p:sp>
      <p:cxnSp>
        <p:nvCxnSpPr>
          <p:cNvPr id="14" name="Connector 14"/>
          <p:cNvCxnSpPr/>
          <p:nvPr/>
        </p:nvCxnSpPr>
        <p:spPr>
          <a:xfrm rot="-16139">
            <a:off x="4737115" y="3295650"/>
            <a:ext cx="27051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5" name="AutoShape 15"/>
          <p:cNvSpPr/>
          <p:nvPr/>
        </p:nvSpPr>
        <p:spPr>
          <a:xfrm>
            <a:off x="4673600" y="3556000"/>
            <a:ext cx="28321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FFFFFF"/>
                </a:solidFill>
                <a:latin typeface="Noto Sans SC"/>
                <a:ea typeface="Noto Sans SC"/>
                <a:cs typeface="Noto Sans SC"/>
                <a:sym typeface="Noto Sans SC"/>
              </a:rPr>
              <a:t>Competitive &amp; Flexible:</a:t>
            </a:r>
            <a:r>
              <a:rPr lang="en-US" sz="1300" b="0" i="0" u="none" strike="noStrike">
                <a:solidFill>
                  <a:srgbClr val="FFFFFF">
                    <a:alpha val="80000"/>
                  </a:srgbClr>
                </a:solidFill>
                <a:latin typeface="Noto Sans SC"/>
                <a:ea typeface="Noto Sans SC"/>
                <a:cs typeface="Noto Sans SC"/>
                <a:sym typeface="Noto Sans SC"/>
              </a:rPr>
              <a:t>Benchmarked against prime CBD rates with scalable space options for growing enterprises and tailored initial terms.</a:t>
            </a:r>
            <a:endParaRPr lang="en-US" sz="1100"/>
          </a:p>
          <a:p>
            <a:pPr marL="0" indent="0" algn="l">
              <a:lnSpc>
                <a:spcPct val="108000"/>
              </a:lnSpc>
            </a:pPr>
            <a:r>
              <a:rPr lang="en-US" sz="1600" b="1" i="0" u="none" strike="noStrike">
                <a:solidFill>
                  <a:srgbClr val="FFFFFF"/>
                </a:solidFill>
                <a:latin typeface="Noto Sans SC"/>
                <a:ea typeface="Noto Sans SC"/>
                <a:cs typeface="Noto Sans SC"/>
                <a:sym typeface="Noto Sans SC"/>
              </a:rPr>
              <a:t>Proactive Management:</a:t>
            </a:r>
            <a:r>
              <a:rPr lang="en-US" sz="1300" b="0" i="0" u="none" strike="noStrike">
                <a:solidFill>
                  <a:srgbClr val="FFFFFF">
                    <a:alpha val="80000"/>
                  </a:srgbClr>
                </a:solidFill>
                <a:latin typeface="Noto Sans SC"/>
                <a:ea typeface="Noto Sans SC"/>
                <a:cs typeface="Noto Sans SC"/>
                <a:sym typeface="Noto Sans SC"/>
              </a:rPr>
              <a:t>A dedicated concierge team ensures seamless operations, high satisfaction, and long-term tenant retention.</a:t>
            </a:r>
            <a:endParaRPr lang="en-US" sz="1300" b="0" i="0" u="none" strike="noStrike">
              <a:solidFill>
                <a:srgbClr val="FFFFFF">
                  <a:alpha val="80000"/>
                </a:srgbClr>
              </a:solidFill>
              <a:latin typeface="Noto Sans SC"/>
              <a:ea typeface="Noto Sans SC"/>
              <a:cs typeface="Noto Sans SC"/>
              <a:sym typeface="Noto Sans SC"/>
            </a:endParaRPr>
          </a:p>
        </p:txBody>
      </p:sp>
      <p:sp>
        <p:nvSpPr>
          <p:cNvPr id="16" name="AutoShape 16"/>
          <p:cNvSpPr/>
          <p:nvPr/>
        </p:nvSpPr>
        <p:spPr>
          <a:xfrm>
            <a:off x="7950200" y="2286000"/>
            <a:ext cx="3213100" cy="3302000"/>
          </a:xfrm>
          <a:prstGeom prst="roundRect">
            <a:avLst>
              <a:gd name="adj" fmla="val 0"/>
            </a:avLst>
          </a:prstGeom>
          <a:solidFill>
            <a:srgbClr val="FFFFFF">
              <a:alpha val="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950200" y="2286000"/>
            <a:ext cx="32131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04200" y="2603500"/>
            <a:ext cx="406400" cy="406400"/>
          </a:xfrm>
          <a:prstGeom prst="rect">
            <a:avLst/>
          </a:prstGeom>
        </p:spPr>
      </p:pic>
      <p:sp>
        <p:nvSpPr>
          <p:cNvPr id="19" name="AutoShape 19"/>
          <p:cNvSpPr/>
          <p:nvPr/>
        </p:nvSpPr>
        <p:spPr>
          <a:xfrm>
            <a:off x="8775700" y="25654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GLOBAL MARKET REACH</a:t>
            </a:r>
            <a:endParaRPr lang="en-US" sz="1100"/>
          </a:p>
        </p:txBody>
      </p:sp>
      <p:cxnSp>
        <p:nvCxnSpPr>
          <p:cNvPr id="20" name="Connector 20"/>
          <p:cNvCxnSpPr/>
          <p:nvPr/>
        </p:nvCxnSpPr>
        <p:spPr>
          <a:xfrm rot="-16139">
            <a:off x="8204215" y="3295650"/>
            <a:ext cx="27051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1" name="AutoShape 21"/>
          <p:cNvSpPr/>
          <p:nvPr/>
        </p:nvSpPr>
        <p:spPr>
          <a:xfrm>
            <a:off x="8140700" y="3556000"/>
            <a:ext cx="28321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FFFFFF"/>
                </a:solidFill>
                <a:latin typeface="Noto Sans SC"/>
                <a:ea typeface="Noto Sans SC"/>
                <a:cs typeface="Noto Sans SC"/>
                <a:sym typeface="Noto Sans SC"/>
              </a:rPr>
              <a:t>Exclusive Global Channels:</a:t>
            </a:r>
            <a:r>
              <a:rPr lang="en-US" sz="1300" b="0" i="0" u="none" strike="noStrike">
                <a:solidFill>
                  <a:srgbClr val="FFFFFF">
                    <a:alpha val="80000"/>
                  </a:srgbClr>
                </a:solidFill>
                <a:latin typeface="Noto Sans SC"/>
                <a:ea typeface="Noto Sans SC"/>
                <a:cs typeface="Noto Sans SC"/>
                <a:sym typeface="Noto Sans SC"/>
              </a:rPr>
              <a:t>A curated campaign targeting elite occupiers via premium publications, private networks, and invitation-only industry events.</a:t>
            </a:r>
            <a:endParaRPr lang="en-US" sz="1100"/>
          </a:p>
          <a:p>
            <a:pPr marL="0" indent="0" algn="l">
              <a:lnSpc>
                <a:spcPct val="108000"/>
              </a:lnSpc>
            </a:pPr>
            <a:r>
              <a:rPr lang="en-US" sz="1600" b="1" i="0" u="none" strike="noStrike">
                <a:solidFill>
                  <a:srgbClr val="FFFFFF"/>
                </a:solidFill>
                <a:latin typeface="Noto Sans SC"/>
                <a:ea typeface="Noto Sans SC"/>
                <a:cs typeface="Noto Sans SC"/>
                <a:sym typeface="Noto Sans SC"/>
              </a:rPr>
              <a:t>Broker Partnerships:</a:t>
            </a:r>
            <a:r>
              <a:rPr lang="en-US" sz="1300" b="0" i="0" u="none" strike="noStrike">
                <a:solidFill>
                  <a:srgbClr val="FFFFFF">
                    <a:alpha val="80000"/>
                  </a:srgbClr>
                </a:solidFill>
                <a:latin typeface="Noto Sans SC"/>
                <a:ea typeface="Noto Sans SC"/>
                <a:cs typeface="Noto Sans SC"/>
                <a:sym typeface="Noto Sans SC"/>
              </a:rPr>
              <a:t>Collaborations with the world’s leading commercial real estate brokers to amplify exposure and access prime tenants.</a:t>
            </a:r>
            <a:endParaRPr lang="en-US" sz="1300" b="0" i="0" u="none" strike="noStrike">
              <a:solidFill>
                <a:srgbClr val="FFFFFF">
                  <a:alpha val="80000"/>
                </a:srgbClr>
              </a:solidFill>
              <a:latin typeface="Noto Sans SC"/>
              <a:ea typeface="Noto Sans SC"/>
              <a:cs typeface="Noto Sans SC"/>
              <a:sym typeface="Noto Sans SC"/>
            </a:endParaRPr>
          </a:p>
        </p:txBody>
      </p:sp>
      <p:sp>
        <p:nvSpPr>
          <p:cNvPr id="22" name="AutoShape 22"/>
          <p:cNvSpPr/>
          <p:nvPr/>
        </p:nvSpPr>
        <p:spPr>
          <a:xfrm>
            <a:off x="1016000" y="5969000"/>
            <a:ext cx="10160000" cy="5842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969000"/>
            <a:ext cx="50800" cy="5842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270000" y="5969000"/>
            <a:ext cx="9652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90196"/>
                  </a:srgbClr>
                </a:solidFill>
                <a:latin typeface="Noto Sans SC"/>
                <a:ea typeface="Noto Sans SC"/>
                <a:cs typeface="Noto Sans SC"/>
                <a:sym typeface="Noto Sans SC"/>
              </a:rPr>
              <a:t>Our strategy is anchored in attracting high-caliber tenants, fostering long-term partnerships, and delivering unrivaled value through bespoke leasing solutions and global visibility.</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04. FINANCIAL MODEL &amp; RETURNS</a:t>
            </a:r>
            <a:endParaRPr lang="en-US" sz="1100"/>
          </a:p>
        </p:txBody>
      </p:sp>
      <p:sp>
        <p:nvSpPr>
          <p:cNvPr id="3" name="AutoShape 3"/>
          <p:cNvSpPr/>
          <p:nvPr/>
        </p:nvSpPr>
        <p:spPr>
          <a:xfrm>
            <a:off x="1016000" y="1524000"/>
            <a:ext cx="10160000" cy="12700"/>
          </a:xfrm>
          <a:prstGeom prst="roundRect">
            <a:avLst>
              <a:gd name="adj" fmla="val 0"/>
            </a:avLst>
          </a:prstGeom>
          <a:solidFill>
            <a:srgbClr val="D4AF37">
              <a:alpha val="5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032000"/>
            <a:ext cx="2413000" cy="1524000"/>
          </a:xfrm>
          <a:prstGeom prst="roundRect">
            <a:avLst>
              <a:gd name="adj" fmla="val 0"/>
            </a:avLst>
          </a:prstGeom>
          <a:solidFill>
            <a:srgbClr val="FFFFFF">
              <a:alpha val="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2222500"/>
            <a:ext cx="304800" cy="304800"/>
          </a:xfrm>
          <a:prstGeom prst="rect">
            <a:avLst/>
          </a:prstGeom>
        </p:spPr>
      </p:pic>
      <p:sp>
        <p:nvSpPr>
          <p:cNvPr id="6" name="AutoShape 6"/>
          <p:cNvSpPr/>
          <p:nvPr/>
        </p:nvSpPr>
        <p:spPr>
          <a:xfrm>
            <a:off x="1651000" y="21844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NET OPERATING INCOME</a:t>
            </a:r>
            <a:endParaRPr lang="en-US" sz="1100"/>
          </a:p>
        </p:txBody>
      </p:sp>
      <p:cxnSp>
        <p:nvCxnSpPr>
          <p:cNvPr id="7" name="Connector 7"/>
          <p:cNvCxnSpPr/>
          <p:nvPr/>
        </p:nvCxnSpPr>
        <p:spPr>
          <a:xfrm rot="-21485">
            <a:off x="1206520" y="2724150"/>
            <a:ext cx="2032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8" name="AutoShape 8"/>
          <p:cNvSpPr/>
          <p:nvPr/>
        </p:nvSpPr>
        <p:spPr>
          <a:xfrm>
            <a:off x="1206500" y="2857500"/>
            <a:ext cx="203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FFFFFF">
                    <a:alpha val="70196"/>
                  </a:srgbClr>
                </a:solidFill>
                <a:latin typeface="Poppins"/>
                <a:ea typeface="Poppins"/>
                <a:cs typeface="Poppins"/>
                <a:sym typeface="Poppins"/>
              </a:rPr>
              <a:t>Projected to reach $XX million by Year 5, driven by diversified revenue streams.</a:t>
            </a:r>
            <a:endParaRPr lang="en-US" sz="1100"/>
          </a:p>
        </p:txBody>
      </p:sp>
      <p:sp>
        <p:nvSpPr>
          <p:cNvPr id="9" name="AutoShape 9"/>
          <p:cNvSpPr/>
          <p:nvPr/>
        </p:nvSpPr>
        <p:spPr>
          <a:xfrm>
            <a:off x="3683000" y="2032000"/>
            <a:ext cx="2413000" cy="1524000"/>
          </a:xfrm>
          <a:prstGeom prst="roundRect">
            <a:avLst>
              <a:gd name="adj" fmla="val 0"/>
            </a:avLst>
          </a:prstGeom>
          <a:solidFill>
            <a:srgbClr val="FFFFFF">
              <a:alpha val="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73500" y="2222500"/>
            <a:ext cx="304800" cy="304800"/>
          </a:xfrm>
          <a:prstGeom prst="rect">
            <a:avLst/>
          </a:prstGeom>
        </p:spPr>
      </p:pic>
      <p:sp>
        <p:nvSpPr>
          <p:cNvPr id="11" name="AutoShape 11"/>
          <p:cNvSpPr/>
          <p:nvPr/>
        </p:nvSpPr>
        <p:spPr>
          <a:xfrm>
            <a:off x="4318000" y="21844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CAPITALIZATION RATE</a:t>
            </a:r>
            <a:endParaRPr lang="en-US" sz="1100"/>
          </a:p>
        </p:txBody>
      </p:sp>
      <p:cxnSp>
        <p:nvCxnSpPr>
          <p:cNvPr id="12" name="Connector 12"/>
          <p:cNvCxnSpPr/>
          <p:nvPr/>
        </p:nvCxnSpPr>
        <p:spPr>
          <a:xfrm rot="-21485">
            <a:off x="3873520" y="2724150"/>
            <a:ext cx="2032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3" name="AutoShape 13"/>
          <p:cNvSpPr/>
          <p:nvPr/>
        </p:nvSpPr>
        <p:spPr>
          <a:xfrm>
            <a:off x="3873500" y="2857500"/>
            <a:ext cx="203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FFFFFF">
                    <a:alpha val="70196"/>
                  </a:srgbClr>
                </a:solidFill>
                <a:latin typeface="Poppins"/>
                <a:ea typeface="Poppins"/>
                <a:cs typeface="Poppins"/>
                <a:sym typeface="Poppins"/>
              </a:rPr>
              <a:t>Stabilized Cap Rate of X.X%, reflecting strong asset performance and market fundamentals.</a:t>
            </a:r>
            <a:endParaRPr lang="en-US" sz="1100"/>
          </a:p>
        </p:txBody>
      </p:sp>
      <p:sp>
        <p:nvSpPr>
          <p:cNvPr id="14" name="AutoShape 14"/>
          <p:cNvSpPr/>
          <p:nvPr/>
        </p:nvSpPr>
        <p:spPr>
          <a:xfrm>
            <a:off x="6350000" y="2032000"/>
            <a:ext cx="2413000" cy="1524000"/>
          </a:xfrm>
          <a:prstGeom prst="roundRect">
            <a:avLst>
              <a:gd name="adj" fmla="val 0"/>
            </a:avLst>
          </a:prstGeom>
          <a:solidFill>
            <a:srgbClr val="FFFFFF">
              <a:alpha val="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2222500"/>
            <a:ext cx="304800" cy="304800"/>
          </a:xfrm>
          <a:prstGeom prst="rect">
            <a:avLst/>
          </a:prstGeom>
        </p:spPr>
      </p:pic>
      <p:sp>
        <p:nvSpPr>
          <p:cNvPr id="16" name="AutoShape 16"/>
          <p:cNvSpPr/>
          <p:nvPr/>
        </p:nvSpPr>
        <p:spPr>
          <a:xfrm>
            <a:off x="6985000" y="21844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INTERNAL RATE OF RETURN</a:t>
            </a:r>
            <a:endParaRPr lang="en-US" sz="1100"/>
          </a:p>
        </p:txBody>
      </p:sp>
      <p:cxnSp>
        <p:nvCxnSpPr>
          <p:cNvPr id="17" name="Connector 17"/>
          <p:cNvCxnSpPr/>
          <p:nvPr/>
        </p:nvCxnSpPr>
        <p:spPr>
          <a:xfrm rot="-21485">
            <a:off x="6540520" y="2724150"/>
            <a:ext cx="2032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8" name="AutoShape 18"/>
          <p:cNvSpPr/>
          <p:nvPr/>
        </p:nvSpPr>
        <p:spPr>
          <a:xfrm>
            <a:off x="6540500" y="2857500"/>
            <a:ext cx="203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FFFFFF">
                    <a:alpha val="70196"/>
                  </a:srgbClr>
                </a:solidFill>
                <a:latin typeface="Poppins"/>
                <a:ea typeface="Poppins"/>
                <a:cs typeface="Poppins"/>
                <a:sym typeface="Poppins"/>
              </a:rPr>
              <a:t>Target IRR of XX% over a 10-year holding period, delivering robust investor returns.</a:t>
            </a:r>
            <a:endParaRPr lang="en-US" sz="1100"/>
          </a:p>
        </p:txBody>
      </p:sp>
      <p:sp>
        <p:nvSpPr>
          <p:cNvPr id="19" name="AutoShape 19"/>
          <p:cNvSpPr/>
          <p:nvPr/>
        </p:nvSpPr>
        <p:spPr>
          <a:xfrm>
            <a:off x="9017000" y="2032000"/>
            <a:ext cx="2413000" cy="1524000"/>
          </a:xfrm>
          <a:prstGeom prst="roundRect">
            <a:avLst>
              <a:gd name="adj" fmla="val 0"/>
            </a:avLst>
          </a:prstGeom>
          <a:solidFill>
            <a:srgbClr val="FFFFFF">
              <a:alpha val="5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07500" y="2222500"/>
            <a:ext cx="304800" cy="304800"/>
          </a:xfrm>
          <a:prstGeom prst="rect">
            <a:avLst/>
          </a:prstGeom>
        </p:spPr>
      </p:pic>
      <p:sp>
        <p:nvSpPr>
          <p:cNvPr id="21" name="AutoShape 21"/>
          <p:cNvSpPr/>
          <p:nvPr/>
        </p:nvSpPr>
        <p:spPr>
          <a:xfrm>
            <a:off x="9652000" y="21844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PAYBACK PERIOD</a:t>
            </a:r>
            <a:endParaRPr lang="en-US" sz="1100"/>
          </a:p>
        </p:txBody>
      </p:sp>
      <p:cxnSp>
        <p:nvCxnSpPr>
          <p:cNvPr id="22" name="Connector 22"/>
          <p:cNvCxnSpPr/>
          <p:nvPr/>
        </p:nvCxnSpPr>
        <p:spPr>
          <a:xfrm rot="-21485">
            <a:off x="9207520" y="2724150"/>
            <a:ext cx="2032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3" name="AutoShape 23"/>
          <p:cNvSpPr/>
          <p:nvPr/>
        </p:nvSpPr>
        <p:spPr>
          <a:xfrm>
            <a:off x="9207500" y="2857500"/>
            <a:ext cx="203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FFFFFF">
                    <a:alpha val="70196"/>
                  </a:srgbClr>
                </a:solidFill>
                <a:latin typeface="Poppins"/>
                <a:ea typeface="Poppins"/>
                <a:cs typeface="Poppins"/>
                <a:sym typeface="Poppins"/>
              </a:rPr>
              <a:t>Estimated payback in X.X years, ensuring efficient capital recovery and liquidity.</a:t>
            </a:r>
            <a:endParaRPr lang="en-US" sz="1100"/>
          </a:p>
        </p:txBody>
      </p:sp>
      <p:pic>
        <p:nvPicPr>
          <p:cNvPr id="24" name="Picture 24"/>
          <p:cNvPicPr>
            <a:picLocks noChangeAspect="1"/>
          </p:cNvPicPr>
          <p:nvPr/>
        </p:nvPicPr>
        <p:blipFill>
          <a:blip r:embed="rId9"/>
          <a:stretch>
            <a:fillRect/>
          </a:stretch>
        </p:blipFill>
        <p:spPr>
          <a:xfrm>
            <a:off x="1016000" y="4064000"/>
            <a:ext cx="3556000" cy="2286000"/>
          </a:xfrm>
          <a:prstGeom prst="rect">
            <a:avLst/>
          </a:prstGeom>
          <a:ln w="12700">
            <a:noFill/>
            <a:prstDash val="solid"/>
          </a:ln>
        </p:spPr>
      </p:pic>
      <p:cxnSp>
        <p:nvCxnSpPr>
          <p:cNvPr id="25" name="Connector 25"/>
          <p:cNvCxnSpPr/>
          <p:nvPr/>
        </p:nvCxnSpPr>
        <p:spPr>
          <a:xfrm rot="5378514">
            <a:off x="3810000" y="5200670"/>
            <a:ext cx="2032000" cy="12700"/>
          </a:xfrm>
          <a:prstGeom prst="straightConnector1">
            <a:avLst/>
          </a:prstGeom>
          <a:solidFill>
            <a:srgbClr val="DEE0E3">
              <a:alpha val="100000"/>
            </a:srgbClr>
          </a:solidFill>
          <a:ln w="12700" cap="flat" cmpd="sng">
            <a:solidFill>
              <a:srgbClr val="D4AF37">
                <a:alpha val="20000"/>
              </a:srgbClr>
            </a:solidFill>
            <a:prstDash val="dash"/>
            <a:round/>
            <a:headEnd type="none" w="med" len="med"/>
            <a:tailEnd type="none" w="med" len="med"/>
          </a:ln>
        </p:spPr>
      </p:cxnSp>
      <p:sp>
        <p:nvSpPr>
          <p:cNvPr id="26" name="AutoShape 26"/>
          <p:cNvSpPr/>
          <p:nvPr/>
        </p:nvSpPr>
        <p:spPr>
          <a:xfrm>
            <a:off x="5080000" y="4064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REVENUE PROJECTIONS</a:t>
            </a:r>
            <a:endParaRPr lang="en-US" sz="1100"/>
          </a:p>
        </p:txBody>
      </p:sp>
      <p:cxnSp>
        <p:nvCxnSpPr>
          <p:cNvPr id="27" name="Connector 27"/>
          <p:cNvCxnSpPr/>
          <p:nvPr/>
        </p:nvCxnSpPr>
        <p:spPr>
          <a:xfrm rot="-14946">
            <a:off x="5080014" y="4565650"/>
            <a:ext cx="2921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8" name="AutoShape 28"/>
          <p:cNvSpPr/>
          <p:nvPr/>
        </p:nvSpPr>
        <p:spPr>
          <a:xfrm>
            <a:off x="5080000" y="47625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FFFFFF"/>
                </a:solidFill>
                <a:latin typeface="Poppins"/>
                <a:ea typeface="Poppins"/>
                <a:cs typeface="Poppins"/>
                <a:sym typeface="Poppins"/>
              </a:rPr>
              <a:t>Office &amp; Retail Leasing:</a:t>
            </a:r>
            <a:r>
              <a:rPr lang="en-US" sz="1300" b="0" i="0" u="none" strike="noStrike">
                <a:solidFill>
                  <a:srgbClr val="FFFFFF">
                    <a:alpha val="70196"/>
                  </a:srgbClr>
                </a:solidFill>
                <a:latin typeface="Poppins"/>
                <a:ea typeface="Poppins"/>
                <a:cs typeface="Poppins"/>
                <a:sym typeface="Poppins"/>
              </a:rPr>
              <a:t>Generating $XX million annually through premium-grade commercial space and high-footfall retail units.</a:t>
            </a:r>
            <a:endParaRPr lang="en-US" sz="1100"/>
          </a:p>
        </p:txBody>
      </p:sp>
      <p:sp>
        <p:nvSpPr>
          <p:cNvPr id="29" name="AutoShape 29"/>
          <p:cNvSpPr/>
          <p:nvPr/>
        </p:nvSpPr>
        <p:spPr>
          <a:xfrm>
            <a:off x="5080000" y="56515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FFFFFF"/>
                </a:solidFill>
                <a:latin typeface="Poppins"/>
                <a:ea typeface="Poppins"/>
                <a:cs typeface="Poppins"/>
                <a:sym typeface="Poppins"/>
              </a:rPr>
              <a:t>Hotel Operations:</a:t>
            </a:r>
            <a:r>
              <a:rPr lang="en-US" sz="1300" b="0" i="0" u="none" strike="noStrike">
                <a:solidFill>
                  <a:srgbClr val="FFFFFF">
                    <a:alpha val="70196"/>
                  </a:srgbClr>
                </a:solidFill>
                <a:latin typeface="Poppins"/>
                <a:ea typeface="Poppins"/>
                <a:cs typeface="Poppins"/>
                <a:sym typeface="Poppins"/>
              </a:rPr>
              <a:t>Delivering $XX million in annual revenue via luxury accommodations and F&amp;B services, capitalizing on prime location.</a:t>
            </a:r>
            <a:endParaRPr lang="en-US" sz="1100"/>
          </a:p>
        </p:txBody>
      </p:sp>
      <p:cxnSp>
        <p:nvCxnSpPr>
          <p:cNvPr id="30" name="Connector 30"/>
          <p:cNvCxnSpPr/>
          <p:nvPr/>
        </p:nvCxnSpPr>
        <p:spPr>
          <a:xfrm rot="5378514">
            <a:off x="7239000" y="5200670"/>
            <a:ext cx="2032000" cy="12700"/>
          </a:xfrm>
          <a:prstGeom prst="straightConnector1">
            <a:avLst/>
          </a:prstGeom>
          <a:solidFill>
            <a:srgbClr val="DEE0E3">
              <a:alpha val="100000"/>
            </a:srgbClr>
          </a:solidFill>
          <a:ln w="12700" cap="flat" cmpd="sng">
            <a:solidFill>
              <a:srgbClr val="D4AF37">
                <a:alpha val="20000"/>
              </a:srgbClr>
            </a:solidFill>
            <a:prstDash val="dash"/>
            <a:round/>
            <a:headEnd type="none" w="med" len="med"/>
            <a:tailEnd type="none" w="med" len="med"/>
          </a:ln>
        </p:spPr>
      </p:cxnSp>
      <p:sp>
        <p:nvSpPr>
          <p:cNvPr id="31" name="AutoShape 31"/>
          <p:cNvSpPr/>
          <p:nvPr/>
        </p:nvSpPr>
        <p:spPr>
          <a:xfrm>
            <a:off x="8509000" y="40640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Poppins"/>
                <a:ea typeface="Poppins"/>
                <a:cs typeface="Poppins"/>
                <a:sym typeface="Poppins"/>
              </a:rPr>
              <a:t>EXPENSE PROJECTIONS</a:t>
            </a:r>
            <a:endParaRPr lang="en-US" sz="1100"/>
          </a:p>
        </p:txBody>
      </p:sp>
      <p:cxnSp>
        <p:nvCxnSpPr>
          <p:cNvPr id="32" name="Connector 32"/>
          <p:cNvCxnSpPr/>
          <p:nvPr/>
        </p:nvCxnSpPr>
        <p:spPr>
          <a:xfrm rot="-14946">
            <a:off x="8509014" y="4565650"/>
            <a:ext cx="2921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33" name="AutoShape 33"/>
          <p:cNvSpPr/>
          <p:nvPr/>
        </p:nvSpPr>
        <p:spPr>
          <a:xfrm>
            <a:off x="8509000" y="47625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FFFFFF"/>
                </a:solidFill>
                <a:latin typeface="Poppins"/>
                <a:ea typeface="Poppins"/>
                <a:cs typeface="Poppins"/>
                <a:sym typeface="Poppins"/>
              </a:rPr>
              <a:t>Operational &amp; Maintenance:</a:t>
            </a:r>
            <a:r>
              <a:rPr lang="en-US" sz="1300" b="0" i="0" u="none" strike="noStrike">
                <a:solidFill>
                  <a:srgbClr val="FFFFFF">
                    <a:alpha val="70196"/>
                  </a:srgbClr>
                </a:solidFill>
                <a:latin typeface="Poppins"/>
                <a:ea typeface="Poppins"/>
                <a:cs typeface="Poppins"/>
                <a:sym typeface="Poppins"/>
              </a:rPr>
              <a:t>Property management at X% of gross revenue, with $XX million allocated annually for proactive upkeep and repairs.</a:t>
            </a:r>
            <a:endParaRPr lang="en-US" sz="1100"/>
          </a:p>
        </p:txBody>
      </p:sp>
      <p:sp>
        <p:nvSpPr>
          <p:cNvPr id="34" name="AutoShape 34"/>
          <p:cNvSpPr/>
          <p:nvPr/>
        </p:nvSpPr>
        <p:spPr>
          <a:xfrm>
            <a:off x="8509000" y="56515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FFFFFF"/>
                </a:solidFill>
                <a:latin typeface="Poppins"/>
                <a:ea typeface="Poppins"/>
                <a:cs typeface="Poppins"/>
                <a:sym typeface="Poppins"/>
              </a:rPr>
              <a:t>Taxes &amp; Insurance:</a:t>
            </a:r>
            <a:r>
              <a:rPr lang="en-US" sz="1300" b="0" i="0" u="none" strike="noStrike">
                <a:solidFill>
                  <a:srgbClr val="FFFFFF">
                    <a:alpha val="70196"/>
                  </a:srgbClr>
                </a:solidFill>
                <a:latin typeface="Poppins"/>
                <a:ea typeface="Poppins"/>
                <a:cs typeface="Poppins"/>
                <a:sym typeface="Poppins"/>
              </a:rPr>
              <a:t>Annual provisions of $XX million for statutory taxes and comprehensive asset insurance coverage.</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05. STRATEGIC PARTNERSHIP</a:t>
            </a:r>
            <a:endParaRPr lang="en-US" sz="1100"/>
          </a:p>
        </p:txBody>
      </p:sp>
      <p:cxnSp>
        <p:nvCxnSpPr>
          <p:cNvPr id="3" name="Connector 3"/>
          <p:cNvCxnSpPr/>
          <p:nvPr/>
        </p:nvCxnSpPr>
        <p:spPr>
          <a:xfrm rot="-4297">
            <a:off x="1016004" y="1771650"/>
            <a:ext cx="10160000" cy="12700"/>
          </a:xfrm>
          <a:prstGeom prst="straightConnector1">
            <a:avLst/>
          </a:prstGeom>
          <a:solidFill>
            <a:srgbClr val="DEE0E3">
              <a:alpha val="100000"/>
            </a:srgbClr>
          </a:solidFill>
          <a:ln w="12700" cap="flat" cmpd="sng">
            <a:solidFill>
              <a:srgbClr val="D4AF37">
                <a:alpha val="100000"/>
              </a:srgbClr>
            </a:solidFill>
            <a:prstDash val="solid"/>
            <a:round/>
            <a:headEnd type="none" w="med" len="med"/>
            <a:tailEnd type="none" w="med" len="med"/>
          </a:ln>
        </p:spPr>
      </p:cxnSp>
      <p:sp>
        <p:nvSpPr>
          <p:cNvPr id="4" name="AutoShape 4"/>
          <p:cNvSpPr/>
          <p:nvPr/>
        </p:nvSpPr>
        <p:spPr>
          <a:xfrm>
            <a:off x="1016000" y="2413000"/>
            <a:ext cx="3302000" cy="3302000"/>
          </a:xfrm>
          <a:prstGeom prst="roundRect">
            <a:avLst>
              <a:gd name="adj" fmla="val 0"/>
            </a:avLst>
          </a:prstGeom>
          <a:solidFill>
            <a:srgbClr val="D4AF37">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413000"/>
            <a:ext cx="33020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730500"/>
            <a:ext cx="406400" cy="406400"/>
          </a:xfrm>
          <a:prstGeom prst="rect">
            <a:avLst/>
          </a:prstGeom>
        </p:spPr>
      </p:pic>
      <p:sp>
        <p:nvSpPr>
          <p:cNvPr id="7" name="AutoShape 7"/>
          <p:cNvSpPr/>
          <p:nvPr/>
        </p:nvSpPr>
        <p:spPr>
          <a:xfrm>
            <a:off x="1841500" y="2692400"/>
            <a:ext cx="234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OUR COMMITMENT</a:t>
            </a:r>
            <a:endParaRPr lang="en-US" sz="1100"/>
          </a:p>
        </p:txBody>
      </p:sp>
      <p:cxnSp>
        <p:nvCxnSpPr>
          <p:cNvPr id="8" name="Connector 8"/>
          <p:cNvCxnSpPr/>
          <p:nvPr/>
        </p:nvCxnSpPr>
        <p:spPr>
          <a:xfrm rot="-15626">
            <a:off x="1270014" y="3486150"/>
            <a:ext cx="2794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9" name="AutoShape 9"/>
          <p:cNvSpPr/>
          <p:nvPr/>
        </p:nvSpPr>
        <p:spPr>
          <a:xfrm>
            <a:off x="1270000" y="3810000"/>
            <a:ext cx="2794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90196"/>
                  </a:srgbClr>
                </a:solidFill>
                <a:latin typeface="Poppins"/>
                <a:ea typeface="Poppins"/>
                <a:cs typeface="Poppins"/>
                <a:sym typeface="Poppins"/>
              </a:rPr>
              <a:t>We are seeking a strategic partner who shares our vision for creating an iconic landmark. We offer a transparent and collaborative partnership model, ensuring alignment in goals, values, and long-term success for all stakeholders.</a:t>
            </a:r>
            <a:endParaRPr lang="en-US" sz="1100"/>
          </a:p>
        </p:txBody>
      </p:sp>
      <p:cxnSp>
        <p:nvCxnSpPr>
          <p:cNvPr id="10" name="Connector 10"/>
          <p:cNvCxnSpPr/>
          <p:nvPr/>
        </p:nvCxnSpPr>
        <p:spPr>
          <a:xfrm rot="5388145">
            <a:off x="2794000" y="4248161"/>
            <a:ext cx="3683000" cy="12700"/>
          </a:xfrm>
          <a:prstGeom prst="straightConnector1">
            <a:avLst/>
          </a:prstGeom>
          <a:solidFill>
            <a:srgbClr val="DEE0E3">
              <a:alpha val="100000"/>
            </a:srgbClr>
          </a:solidFill>
          <a:ln w="12700" cap="flat" cmpd="sng">
            <a:solidFill>
              <a:srgbClr val="D4AF37">
                <a:alpha val="20000"/>
              </a:srgbClr>
            </a:solidFill>
            <a:prstDash val="solid"/>
            <a:round/>
            <a:headEnd type="none" w="med" len="med"/>
            <a:tailEnd type="none" w="med" len="med"/>
          </a:ln>
        </p:spPr>
      </p:cxnSp>
      <p:sp>
        <p:nvSpPr>
          <p:cNvPr id="11" name="AutoShape 11"/>
          <p:cNvSpPr/>
          <p:nvPr/>
        </p:nvSpPr>
        <p:spPr>
          <a:xfrm>
            <a:off x="4826000" y="2413000"/>
            <a:ext cx="3302000" cy="3302000"/>
          </a:xfrm>
          <a:prstGeom prst="roundRect">
            <a:avLst>
              <a:gd name="adj" fmla="val 0"/>
            </a:avLst>
          </a:prstGeom>
          <a:solidFill>
            <a:srgbClr val="D4AF37">
              <a:alpha val="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826000" y="2413000"/>
            <a:ext cx="33020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00" y="2730500"/>
            <a:ext cx="406400" cy="406400"/>
          </a:xfrm>
          <a:prstGeom prst="rect">
            <a:avLst/>
          </a:prstGeom>
        </p:spPr>
      </p:pic>
      <p:sp>
        <p:nvSpPr>
          <p:cNvPr id="14" name="AutoShape 14"/>
          <p:cNvSpPr/>
          <p:nvPr/>
        </p:nvSpPr>
        <p:spPr>
          <a:xfrm>
            <a:off x="5651500" y="2692400"/>
            <a:ext cx="234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INVESTMENT STRUCTURE</a:t>
            </a:r>
            <a:endParaRPr lang="en-US" sz="1100"/>
          </a:p>
        </p:txBody>
      </p:sp>
      <p:cxnSp>
        <p:nvCxnSpPr>
          <p:cNvPr id="15" name="Connector 15"/>
          <p:cNvCxnSpPr/>
          <p:nvPr/>
        </p:nvCxnSpPr>
        <p:spPr>
          <a:xfrm rot="-15626">
            <a:off x="5080014" y="3486150"/>
            <a:ext cx="2794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6" name="AutoShape 16"/>
          <p:cNvSpPr/>
          <p:nvPr/>
        </p:nvSpPr>
        <p:spPr>
          <a:xfrm>
            <a:off x="5080000" y="3683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Poppins"/>
                <a:ea typeface="Poppins"/>
                <a:cs typeface="Poppins"/>
                <a:sym typeface="Poppins"/>
              </a:rPr>
              <a:t>EQUITY PARTICIPATION</a:t>
            </a:r>
            <a:br>
              <a:rPr lang="en-US" sz="1600" b="0" i="0" u="none" strike="noStrike">
                <a:solidFill>
                  <a:srgbClr val="1F2329"/>
                </a:solidFill>
                <a:latin typeface="Poppins"/>
                <a:ea typeface="Poppins"/>
                <a:cs typeface="Poppins"/>
                <a:sym typeface="Poppins"/>
              </a:rPr>
            </a:br>
            <a:r>
              <a:rPr lang="en-US" sz="1300" b="0" i="0" u="none" strike="noStrike">
                <a:solidFill>
                  <a:srgbClr val="FFFFFF">
                    <a:alpha val="70196"/>
                  </a:srgbClr>
                </a:solidFill>
                <a:latin typeface="Poppins"/>
                <a:ea typeface="Poppins"/>
                <a:cs typeface="Poppins"/>
                <a:sym typeface="Poppins"/>
              </a:rPr>
              <a:t>Offering flexible minority or majority stake options tailored to partner objectives.</a:t>
            </a:r>
            <a:endParaRPr lang="en-US" sz="1100"/>
          </a:p>
        </p:txBody>
      </p:sp>
      <p:sp>
        <p:nvSpPr>
          <p:cNvPr id="17" name="AutoShape 17"/>
          <p:cNvSpPr/>
          <p:nvPr/>
        </p:nvSpPr>
        <p:spPr>
          <a:xfrm>
            <a:off x="5080000" y="46990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Poppins"/>
                <a:ea typeface="Poppins"/>
                <a:cs typeface="Poppins"/>
                <a:sym typeface="Poppins"/>
              </a:rPr>
              <a:t>JOINT VENTURE (JV) &amp; DM</a:t>
            </a:r>
            <a:br>
              <a:rPr lang="en-US" sz="1600" b="0" i="0" u="none" strike="noStrike">
                <a:solidFill>
                  <a:srgbClr val="1F2329"/>
                </a:solidFill>
                <a:latin typeface="Poppins"/>
                <a:ea typeface="Poppins"/>
                <a:cs typeface="Poppins"/>
                <a:sym typeface="Poppins"/>
              </a:rPr>
            </a:br>
            <a:r>
              <a:rPr lang="en-US" sz="1300" b="0" i="0" u="none" strike="noStrike">
                <a:solidFill>
                  <a:srgbClr val="FFFFFF">
                    <a:alpha val="70196"/>
                  </a:srgbClr>
                </a:solidFill>
                <a:latin typeface="Poppins"/>
                <a:ea typeface="Poppins"/>
                <a:cs typeface="Poppins"/>
                <a:sym typeface="Poppins"/>
              </a:rPr>
              <a:t>SPV formation for development/operation, plus expert management with fee and equity kicker models.</a:t>
            </a:r>
            <a:endParaRPr lang="en-US" sz="1100"/>
          </a:p>
        </p:txBody>
      </p:sp>
      <p:cxnSp>
        <p:nvCxnSpPr>
          <p:cNvPr id="18" name="Connector 18"/>
          <p:cNvCxnSpPr/>
          <p:nvPr/>
        </p:nvCxnSpPr>
        <p:spPr>
          <a:xfrm rot="5388145">
            <a:off x="6604000" y="4248161"/>
            <a:ext cx="3683000" cy="12700"/>
          </a:xfrm>
          <a:prstGeom prst="straightConnector1">
            <a:avLst/>
          </a:prstGeom>
          <a:solidFill>
            <a:srgbClr val="DEE0E3">
              <a:alpha val="100000"/>
            </a:srgbClr>
          </a:solidFill>
          <a:ln w="12700" cap="flat" cmpd="sng">
            <a:solidFill>
              <a:srgbClr val="D4AF37">
                <a:alpha val="20000"/>
              </a:srgbClr>
            </a:solidFill>
            <a:prstDash val="solid"/>
            <a:round/>
            <a:headEnd type="none" w="med" len="med"/>
            <a:tailEnd type="none" w="med" len="med"/>
          </a:ln>
        </p:spPr>
      </p:cxnSp>
      <p:sp>
        <p:nvSpPr>
          <p:cNvPr id="19" name="AutoShape 19"/>
          <p:cNvSpPr/>
          <p:nvPr/>
        </p:nvSpPr>
        <p:spPr>
          <a:xfrm>
            <a:off x="8636000" y="2413000"/>
            <a:ext cx="3302000" cy="3302000"/>
          </a:xfrm>
          <a:prstGeom prst="roundRect">
            <a:avLst>
              <a:gd name="adj" fmla="val 0"/>
            </a:avLst>
          </a:prstGeom>
          <a:solidFill>
            <a:srgbClr val="D4AF37">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636000" y="2413000"/>
            <a:ext cx="3302000" cy="508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0" y="2730500"/>
            <a:ext cx="406400" cy="406400"/>
          </a:xfrm>
          <a:prstGeom prst="rect">
            <a:avLst/>
          </a:prstGeom>
        </p:spPr>
      </p:pic>
      <p:sp>
        <p:nvSpPr>
          <p:cNvPr id="22" name="AutoShape 22"/>
          <p:cNvSpPr/>
          <p:nvPr/>
        </p:nvSpPr>
        <p:spPr>
          <a:xfrm>
            <a:off x="9461500" y="2692400"/>
            <a:ext cx="234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Poppins"/>
                <a:ea typeface="Poppins"/>
                <a:cs typeface="Poppins"/>
                <a:sym typeface="Poppins"/>
              </a:rPr>
              <a:t>WHY PARTNER WITH US?</a:t>
            </a:r>
            <a:endParaRPr lang="en-US" sz="1100"/>
          </a:p>
        </p:txBody>
      </p:sp>
      <p:cxnSp>
        <p:nvCxnSpPr>
          <p:cNvPr id="23" name="Connector 23"/>
          <p:cNvCxnSpPr/>
          <p:nvPr/>
        </p:nvCxnSpPr>
        <p:spPr>
          <a:xfrm rot="-15626">
            <a:off x="8890014" y="3486150"/>
            <a:ext cx="2794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24" name="AutoShape 24"/>
          <p:cNvSpPr/>
          <p:nvPr/>
        </p:nvSpPr>
        <p:spPr>
          <a:xfrm>
            <a:off x="8890000" y="3683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Poppins"/>
                <a:ea typeface="Poppins"/>
                <a:cs typeface="Poppins"/>
                <a:sym typeface="Poppins"/>
              </a:rPr>
              <a:t>PROVEN TRACK RECORD</a:t>
            </a:r>
            <a:br>
              <a:rPr lang="en-US" sz="1600" b="0" i="0" u="none" strike="noStrike">
                <a:solidFill>
                  <a:srgbClr val="1F2329"/>
                </a:solidFill>
                <a:latin typeface="Poppins"/>
                <a:ea typeface="Poppins"/>
                <a:cs typeface="Poppins"/>
                <a:sym typeface="Poppins"/>
              </a:rPr>
            </a:br>
            <a:r>
              <a:rPr lang="en-US" sz="1300" b="0" i="0" u="none" strike="noStrike">
                <a:solidFill>
                  <a:srgbClr val="FFFFFF">
                    <a:alpha val="70196"/>
                  </a:srgbClr>
                </a:solidFill>
                <a:latin typeface="Poppins"/>
                <a:ea typeface="Poppins"/>
                <a:cs typeface="Poppins"/>
                <a:sym typeface="Poppins"/>
              </a:rPr>
              <a:t>A legacy of delivering high-end, successful real estate projects on time and on budget.</a:t>
            </a:r>
            <a:endParaRPr lang="en-US" sz="1100"/>
          </a:p>
        </p:txBody>
      </p:sp>
      <p:sp>
        <p:nvSpPr>
          <p:cNvPr id="25" name="AutoShape 25"/>
          <p:cNvSpPr/>
          <p:nvPr/>
        </p:nvSpPr>
        <p:spPr>
          <a:xfrm>
            <a:off x="8890000" y="4699000"/>
            <a:ext cx="279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Poppins"/>
                <a:ea typeface="Poppins"/>
                <a:cs typeface="Poppins"/>
                <a:sym typeface="Poppins"/>
              </a:rPr>
              <a:t>MARKET INSIGHT &amp; EXECUTION</a:t>
            </a:r>
            <a:br>
              <a:rPr lang="en-US" sz="1600" b="0" i="0" u="none" strike="noStrike">
                <a:solidFill>
                  <a:srgbClr val="1F2329"/>
                </a:solidFill>
                <a:latin typeface="Poppins"/>
                <a:ea typeface="Poppins"/>
                <a:cs typeface="Poppins"/>
                <a:sym typeface="Poppins"/>
              </a:rPr>
            </a:br>
            <a:r>
              <a:rPr lang="en-US" sz="1300" b="0" i="0" u="none" strike="noStrike">
                <a:solidFill>
                  <a:srgbClr val="FFFFFF">
                    <a:alpha val="70196"/>
                  </a:srgbClr>
                </a:solidFill>
                <a:latin typeface="Poppins"/>
                <a:ea typeface="Poppins"/>
                <a:cs typeface="Poppins"/>
                <a:sym typeface="Poppins"/>
              </a:rPr>
              <a:t>Unmatched local market knowledge and a dedicated team expert in design, construction, and asset management.</a:t>
            </a:r>
            <a:endParaRPr lang="en-US" sz="1100"/>
          </a:p>
        </p:txBody>
      </p:sp>
      <p:sp>
        <p:nvSpPr>
          <p:cNvPr id="26" name="AutoShape 26"/>
          <p:cNvSpPr/>
          <p:nvPr/>
        </p:nvSpPr>
        <p:spPr>
          <a:xfrm>
            <a:off x="1016000" y="5969000"/>
            <a:ext cx="10922000" cy="635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143000" y="6070600"/>
            <a:ext cx="10668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0000"/>
                  </a:srgbClr>
                </a:solidFill>
                <a:latin typeface="Poppins"/>
                <a:ea typeface="Poppins"/>
                <a:cs typeface="Poppins"/>
                <a:sym typeface="Poppins"/>
              </a:rPr>
              <a:t>We prioritize a synergistic relationship, combining financial flexibility with operational excellence to maximize returns and build a lasting legacy.</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2D2D2D">
                <a:alpha val="100000"/>
              </a:srgbClr>
            </a:gs>
            <a:gs pos="100000">
              <a:srgbClr val="121212">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794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Playfair Display"/>
                <a:ea typeface="Playfair Display"/>
                <a:cs typeface="Playfair Display"/>
                <a:sym typeface="Playfair Display"/>
              </a:rPr>
              <a:t>Thank You</a:t>
            </a:r>
            <a:endParaRPr lang="en-US" sz="1100"/>
          </a:p>
        </p:txBody>
      </p:sp>
      <p:sp>
        <p:nvSpPr>
          <p:cNvPr id="4" name="AutoShape 4"/>
          <p:cNvSpPr/>
          <p:nvPr/>
        </p:nvSpPr>
        <p:spPr>
          <a:xfrm>
            <a:off x="5461000" y="4445000"/>
            <a:ext cx="1270000" cy="254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5588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AAAAAA"/>
                </a:solidFill>
                <a:latin typeface="Lato"/>
                <a:ea typeface="Lato"/>
                <a:cs typeface="Lato"/>
                <a:sym typeface="Lato"/>
              </a:rPr>
              <a:t>www.yourluxuryproject.com  |  inquiries@luxuryestates.com  |  +1 (555) 876-5432</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6019</Words>
  <Application>WPS 演示</Application>
  <PresentationFormat/>
  <Paragraphs>154</Paragraphs>
  <Slides>8</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8</vt:i4>
      </vt:variant>
    </vt:vector>
  </HeadingPairs>
  <TitlesOfParts>
    <vt:vector size="24" baseType="lpstr">
      <vt:lpstr>Arial</vt:lpstr>
      <vt:lpstr>宋体</vt:lpstr>
      <vt:lpstr>Wingdings</vt:lpstr>
      <vt:lpstr>Arial</vt:lpstr>
      <vt:lpstr>Playfair Display</vt:lpstr>
      <vt:lpstr>Thonburi</vt:lpstr>
      <vt:lpstr>Lato</vt:lpstr>
      <vt:lpstr>Poppins</vt:lpstr>
      <vt:lpstr>Noto Sans SC</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huangzhuohui</cp:lastModifiedBy>
  <cp:revision>2</cp:revision>
  <dcterms:created xsi:type="dcterms:W3CDTF">2026-06-19T04:48:50Z</dcterms:created>
  <dcterms:modified xsi:type="dcterms:W3CDTF">2026-06-19T04:48:50Z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{"Label":"1","ContentProducer":"001191110102MACQD9K64010000","ProduceID":"7652963584171772875","ReservedCode1":"","ContentPropagator":"","PropagateID":"","ReservedCode2":""}</vt:lpwstr>
  </property>
  <property fmtid="{D5CDD505-2E9C-101B-9397-08002B2CF9AE}" pid="3" name="ICV">
    <vt:lpwstr>9A15DDB938F438572BCA346AFB523357_43</vt:lpwstr>
  </property>
  <property fmtid="{D5CDD505-2E9C-101B-9397-08002B2CF9AE}" pid="4" name="KSOProductBuildVer">
    <vt:lpwstr>2052-5.3.0.7863</vt:lpwstr>
  </property>
</Properties>
</file>
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{{Cost}}</c:v>
                  </c:pt>
                  <c:pt idx="1">
                    <c:v>{{Benefit Y1}}</c:v>
                  </c:pt>
                  <c:pt idx="2">
                    <c:v>{{Benefit Y2}}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25</c:v>
                </c:pt>
                <c:pt idx="2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8FA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E97B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include challenges the client actually said. Quotes from discovery calls make this section far stronger.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out-of-scope items prevent scope creep and build trust. Adjust the split to your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payment terms somewhere on this slide or the terms page: {{e.g. 50% upfront, 50% on delivery}}.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38BDF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818CF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PROPOSAL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{{Proposal Title}}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{{Client Name}}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sentence: the outcome the client wants and how this proposal delivers it.}}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{{Your Name}} · {{Your Company}} · {{Date}} · Valid until {{Date}}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{{Executive summary}}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1155680" cy="1463040"/>
          </a:xfrm>
          <a:prstGeom prst="roundRect">
            <a:avLst>
              <a:gd name="adj" fmla="val 7500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9659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 one paragraph: their situation, the cost of inaction, and what you propose. Write it so a decision-maker can forward it alone.}}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76732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4498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864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{{Weeks to value}}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35661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0" y="376732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43400" y="4498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4864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{{All-in cost}}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35661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376732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046720" y="4498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ROI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4864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{{Payback in {{X}} months}}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heard from you}}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{{Challenge 1}}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{{Restate it in their words, not yours.}}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{{Challenge 2}}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{{Restate it in their words, not yours.}}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{{Challenge 3}}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{{Restate it in their words, not yours.}}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{{Challenge 4}}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{{Restate it in their words, not yours.}}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propose}}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solution at the level of outcomes, not features. How it works end to end, in their language.}}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937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this approach fits {{client}} specifically.}}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112264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112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{{Component 1}}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2441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delivers.}}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32461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0" y="3575304"/>
            <a:ext cx="566928" cy="566928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06640" y="3429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{{Component 2}}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delivers.}}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7091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5038344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5038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06640" y="4892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{{Component 3}}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5367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delivers.}}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{{Deliverable 1}}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21868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{{Deliverable 2}}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877056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{{Deliverable 3}}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53542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{{Deliverable 4}}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519379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{{Deliverable 5}}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178308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8388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{{Excluded item 1}}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{{Excluded item 2}}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{{Available as an add-on}}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{{Implementation plan}}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{{Weeks 1-2}}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{{Phase 1}}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{{Activities and client dependencies}}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3383280"/>
            <a:ext cx="182880" cy="0"/>
          </a:xfrm>
          <a:prstGeom prst="line">
            <a:avLst/>
          </a:prstGeom>
          <a:noFill/>
          <a:ln w="25400">
            <a:solidFill>
              <a:srgbClr val="1F3B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10312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377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{{Weeks 3-6}}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{{Phase 2}}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{{Activities and client dependencies}}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3383280"/>
            <a:ext cx="182880" cy="0"/>
          </a:xfrm>
          <a:prstGeom prst="line">
            <a:avLst/>
          </a:prstGeom>
          <a:noFill/>
          <a:ln w="25400">
            <a:solidFill>
              <a:srgbClr val="1F3B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10312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377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{{Weeks 7-10}}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{{Phase 3}}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{{Activities and client dependencies}}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5029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milestone: {{go-live / handover date}} · Client kickoff needed by: {{date}}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{{Pricing options}}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{{Option A}}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{{Essential scope}}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1}}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4389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2}}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182C4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97780" y="1600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09778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{{Option B}}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4688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3108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{{Recommended scope}}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611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{{Everything in A}}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4114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2}}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617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3}}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20574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2104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{{Option C}}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321040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{{Full scope}}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58200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{{Everything in B}}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4389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2}}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58200" y="4892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3}}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return on this investment}}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values — replace with the client’s numbers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ROI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was estimated}}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months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{{Cash-positive by {{date}}}}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doing nothing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{{Annual status-quo cost}}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{{Your Company}}}}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121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{{Differentiator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2697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{{Proof: {{metric / credential}}}}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02920" cy="5029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0" y="2121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{{Differentiator 2}}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0" y="2697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{{Proof: {{metric / credential}}}}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2245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{{Differentiator 3}}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4800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{{Proof: {{metric / credential}}}}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0" y="42245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{{Differentiator 4}}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15200" y="4800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{{Proof: {{metric / credential}}}}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client like you}}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client’s starting point.}}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intervention in 2-3 lines.}}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194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8346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{{{{metric before}} → {{metric after}} in {{timeframe}}.}}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48640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"{{Quote from that client, with name and title.}}"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you will work with}}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2240280"/>
            <a:ext cx="1005840" cy="1005840"/>
          </a:xfrm>
          <a:prstGeom prst="ellipse">
            <a:avLst/>
          </a:prstGeom>
          <a:solidFill>
            <a:srgbClr val="38BDF8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89738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297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credential / years}}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00700" y="2240280"/>
            <a:ext cx="1005840" cy="1005840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0070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4297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credential / years}}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04020" y="2240280"/>
            <a:ext cx="1005840" cy="1005840"/>
          </a:xfrm>
          <a:prstGeom prst="ellipse">
            <a:avLst/>
          </a:prstGeom>
          <a:solidFill>
            <a:srgbClr val="38BDF8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30402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3429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4297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credential / years}}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{{After the handover}}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{{Response time}}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 hours}}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{{Business hours / 24-7}}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017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{{Included hours per month}}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55280" y="3017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{{Rollover: {{yes / no}}}}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069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{{Dedicated contact}}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4069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55280" y="4069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{{Channel: {{email / Slack}}}}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5120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{{Review cadence}}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5120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{{Monthly}}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55280" y="5120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{{Format: {{call / report}}}}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{{Assumptions &amp; conditions}}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{{Client provides {{X}} by {{date}}}}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{{Single point of contact on client side}}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{{Access to {{system / data}} in week 1}}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{{Pricing assumes {{scope boundary}}}}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78308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2011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25603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 until: {{date}}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3383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 terms: {{e.g. net 30}}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4206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Changes &amp; change requests: {{process}}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5029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Confidentiality: {{NDA reference}}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start}}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57984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199339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487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Proposal review call — {{date}}}}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75304"/>
            <a:ext cx="566928" cy="566928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34107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2}}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37360" y="39044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Contract signature — {{date}}}}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992624"/>
            <a:ext cx="566928" cy="566928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992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828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3}}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37360" y="53218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Kickoff workshop — {{date}}}}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182880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 by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2743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{{Date}}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595360" y="35661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{{Any earlier-start discount or scheduling constraint goes here.}}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{{Questions we expect}}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848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{{Question 1}}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6974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{{Concise, honest answer.}}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848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223760" y="2103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{{Question 2}}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6974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{{Concise, honest answer.}}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2223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1879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5448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{{Question 3}}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4800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{{Concise, honest answer.}}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2C4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41879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2376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{{Question 4}}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4800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{{Concise, honest answer.}}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38BDF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818CF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{{Let’s build this together.}}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Name}} · {{Your Company}} · {{email}} · {{phone}}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by: {{Client Name}} · Signature: ______________ · Date: ________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Proposal Template</dc:title>
  <dc:subject>PptxGenJS Presentation</dc:subject>
  <dc:creator>WorkBuddy</dc:creator>
  <cp:lastModifiedBy>WorkBuddy</cp:lastModifiedBy>
  <cp:revision>1</cp:revision>
  <dcterms:created xsi:type="dcterms:W3CDTF">2026-10-28T09:30:50Z</dcterms:created>
  <dcterms:modified xsi:type="dcterms:W3CDTF">2026-10-28T09:30:50Z</dcterms:modified>
</cp:coreProperties>
</file>
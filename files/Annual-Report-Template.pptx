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FB718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8FAF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12</c:v>
                </c:pt>
                <c:pt idx="2">
                  <c:v>14</c:v>
                </c:pt>
                <c:pt idx="3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8FAF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08A9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B7185"/>
              </a:solidFill>
              <a:effectLst/>
            </c:spPr>
          </c:dPt>
          <c:dPt>
            <c:idx val="1"/>
            <c:bubble3D val="0"/>
            <c:spPr>
              <a:solidFill>
                <a:srgbClr val="F0ABFC"/>
              </a:solidFill>
              <a:effectLst/>
            </c:spPr>
          </c:dPt>
          <c:dPt>
            <c:idx val="2"/>
            <c:bubble3D val="0"/>
            <c:spPr>
              <a:solidFill>
                <a:srgbClr val="FCD34D"/>
              </a:solidFill>
              <a:effectLst/>
            </c:spPr>
          </c:dPt>
          <c:dPt>
            <c:idx val="3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8FAFC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8FAFC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8FAFC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8FAFC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{{Product A}}</c:v>
                </c:pt>
                <c:pt idx="1">
                  <c:v>{{Product B}}</c:v>
                </c:pt>
                <c:pt idx="2">
                  <c:v>{{Services}}</c:v>
                </c:pt>
                <c:pt idx="3">
                  <c:v>{{Other}}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45</c:v>
                </c:pt>
                <c:pt idx="1">
                  <c:v>30</c:v>
                </c:pt>
                <c:pt idx="2">
                  <c:v>20</c:v>
                </c:pt>
                <c:pt idx="3">
                  <c:v>5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B08A9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GUIDE: Replace every {{placeholder}} with your own content. Change accent colors in the generator (C.accent / C.accent2) to match your brand. Delete slides you do not need.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Chart on next slides keeps sample numbers — replace in PowerPoint. All figures here are placeholders.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914400"/>
            <a:ext cx="3840480" cy="3840480"/>
          </a:xfrm>
          <a:prstGeom prst="ellipse">
            <a:avLst/>
          </a:prstGeom>
          <a:solidFill>
            <a:srgbClr val="FB7185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108960"/>
            <a:ext cx="2377440" cy="2377440"/>
          </a:xfrm>
          <a:prstGeom prst="ellipse">
            <a:avLst/>
          </a:prstGeom>
          <a:solidFill>
            <a:srgbClr val="F0ABFC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4023360"/>
            <a:ext cx="1371600" cy="1371600"/>
          </a:xfrm>
          <a:prstGeom prst="ellipse">
            <a:avLst/>
          </a:prstGeom>
          <a:solidFill>
            <a:srgbClr val="FCD34D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REPORT TEMPLATE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{{Company Name}}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Report {{Year}}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 sentence: the theme of the year.}}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6126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v1.0   ·   Replace every {{placeholder}}   ·   Free to use &amp; modify (CC0)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IN NUMBERS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{{Year}} at a glance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679192" cy="3291840"/>
          </a:xfrm>
          <a:prstGeom prst="roundRect">
            <a:avLst>
              <a:gd name="adj" fmla="val 4096"/>
            </a:avLst>
          </a:prstGeom>
          <a:solidFill>
            <a:srgbClr val="2A162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{{Revenue}}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{{vs {{+/-X%}} YoY}}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02152" y="1920240"/>
            <a:ext cx="2679192" cy="3291840"/>
          </a:xfrm>
          <a:prstGeom prst="roundRect">
            <a:avLst>
              <a:gd name="adj" fmla="val 4096"/>
            </a:avLst>
          </a:prstGeom>
          <a:solidFill>
            <a:srgbClr val="2A162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02152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{{Customers}}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502152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85032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{{vs {{+/-X%}} YoY}}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64224" y="1920240"/>
            <a:ext cx="2679192" cy="3291840"/>
          </a:xfrm>
          <a:prstGeom prst="roundRect">
            <a:avLst>
              <a:gd name="adj" fmla="val 4096"/>
            </a:avLst>
          </a:prstGeom>
          <a:solidFill>
            <a:srgbClr val="2A162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64224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{{Headcount}}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364224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47104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{{across {{X}} locations}}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26296" y="1920240"/>
            <a:ext cx="2679192" cy="3291840"/>
          </a:xfrm>
          <a:prstGeom prst="roundRect">
            <a:avLst>
              <a:gd name="adj" fmla="val 4096"/>
            </a:avLst>
          </a:prstGeom>
          <a:solidFill>
            <a:srgbClr val="2A162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26296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{{NPS}}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226296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409176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{{up from {{X}}}}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55778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 line on what defined the year.}}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 word from {{CEO / leadership}}}}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7863840" cy="4206240"/>
          </a:xfrm>
          <a:prstGeom prst="roundRect">
            <a:avLst>
              <a:gd name="adj" fmla="val 2609"/>
            </a:avLst>
          </a:prstGeom>
          <a:solidFill>
            <a:srgbClr val="2A162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14884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i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"{{The headline of the year in one honest sentence.}}"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3383280"/>
            <a:ext cx="7132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{{2-3 short paragraphs: what the year demanded, what the team delivered, and what the company learned. Keep it human.}}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869680" y="1783080"/>
            <a:ext cx="2651760" cy="4206240"/>
          </a:xfrm>
          <a:prstGeom prst="roundRect">
            <a:avLst>
              <a:gd name="adj" fmla="val 4138"/>
            </a:avLst>
          </a:prstGeom>
          <a:solidFill>
            <a:srgbClr val="361C29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646920" y="2286000"/>
            <a:ext cx="1097280" cy="1097280"/>
          </a:xfrm>
          <a:prstGeom prst="ellipse">
            <a:avLst/>
          </a:prstGeom>
          <a:solidFill>
            <a:srgbClr val="FB7185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646920" y="22860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{{Photo}}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006840" y="3657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{{Name}}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006840" y="4069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{{Title}}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year in four quarters}}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3291840"/>
            <a:ext cx="10332720" cy="0"/>
          </a:xfrm>
          <a:prstGeom prst="line">
            <a:avLst/>
          </a:prstGeom>
          <a:noFill/>
          <a:ln w="25400">
            <a:solidFill>
              <a:srgbClr val="4729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83080"/>
            <a:ext cx="2679192" cy="1417320"/>
          </a:xfrm>
          <a:prstGeom prst="roundRect">
            <a:avLst>
              <a:gd name="adj" fmla="val 7742"/>
            </a:avLst>
          </a:prstGeom>
          <a:solidFill>
            <a:srgbClr val="2A162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69948" y="3182112"/>
            <a:ext cx="219456" cy="21945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20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{{Milestone or launch}}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269748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{{One-line detail.}}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02152" y="3794760"/>
            <a:ext cx="2679192" cy="1417320"/>
          </a:xfrm>
          <a:prstGeom prst="roundRect">
            <a:avLst>
              <a:gd name="adj" fmla="val 7742"/>
            </a:avLst>
          </a:prstGeom>
          <a:solidFill>
            <a:srgbClr val="2A162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32020" y="3182112"/>
            <a:ext cx="219456" cy="219456"/>
          </a:xfrm>
          <a:prstGeom prst="ellipse">
            <a:avLst/>
          </a:prstGeom>
          <a:solidFill>
            <a:srgbClr val="F0ABFC"/>
          </a:solidFill>
          <a:ln/>
        </p:spPr>
      </p:sp>
      <p:sp>
        <p:nvSpPr>
          <p:cNvPr id="13" name="Text 11"/>
          <p:cNvSpPr/>
          <p:nvPr/>
        </p:nvSpPr>
        <p:spPr>
          <a:xfrm>
            <a:off x="3730752" y="3931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30752" y="429768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{{Milestone or launch}}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30752" y="470916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{{One-line detail.}}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64224" y="1783080"/>
            <a:ext cx="2679192" cy="1417320"/>
          </a:xfrm>
          <a:prstGeom prst="roundRect">
            <a:avLst>
              <a:gd name="adj" fmla="val 7742"/>
            </a:avLst>
          </a:prstGeom>
          <a:solidFill>
            <a:srgbClr val="2A162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594092" y="3182112"/>
            <a:ext cx="219456" cy="21945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8" name="Text 16"/>
          <p:cNvSpPr/>
          <p:nvPr/>
        </p:nvSpPr>
        <p:spPr>
          <a:xfrm>
            <a:off x="6592824" y="1920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92824" y="228600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{{Milestone or launch}}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92824" y="269748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{{One-line detail.}}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226296" y="3794760"/>
            <a:ext cx="2679192" cy="1417320"/>
          </a:xfrm>
          <a:prstGeom prst="roundRect">
            <a:avLst>
              <a:gd name="adj" fmla="val 7742"/>
            </a:avLst>
          </a:prstGeom>
          <a:solidFill>
            <a:srgbClr val="2A162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456164" y="3182112"/>
            <a:ext cx="219456" cy="219456"/>
          </a:xfrm>
          <a:prstGeom prst="ellipse">
            <a:avLst/>
          </a:prstGeom>
          <a:solidFill>
            <a:srgbClr val="F0ABFC"/>
          </a:solidFill>
          <a:ln/>
        </p:spPr>
      </p:sp>
      <p:sp>
        <p:nvSpPr>
          <p:cNvPr id="23" name="Text 21"/>
          <p:cNvSpPr/>
          <p:nvPr/>
        </p:nvSpPr>
        <p:spPr>
          <a:xfrm>
            <a:off x="9454896" y="3931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454896" y="429768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{{Milestone or launch}}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454896" y="470916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{{One-line detail.}}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{{Revenue &amp; profitability}}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1965960"/>
          <a:ext cx="58521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7607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replace in PowerPoint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040880" y="1783080"/>
            <a:ext cx="4480560" cy="1280160"/>
          </a:xfrm>
          <a:prstGeom prst="roundRect">
            <a:avLst>
              <a:gd name="adj" fmla="val 8571"/>
            </a:avLst>
          </a:prstGeom>
          <a:solidFill>
            <a:srgbClr val="2A162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040880" y="198424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7040880" y="27157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223760" y="3081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{{Year over year}}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040880" y="3200400"/>
            <a:ext cx="4480560" cy="1280160"/>
          </a:xfrm>
          <a:prstGeom prst="roundRect">
            <a:avLst>
              <a:gd name="adj" fmla="val 8571"/>
            </a:avLst>
          </a:prstGeom>
          <a:solidFill>
            <a:srgbClr val="2A162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040880" y="340156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7040880" y="41330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223760" y="44988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{{vs {{X%}} last year}}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040880" y="4617720"/>
            <a:ext cx="4480560" cy="1280160"/>
          </a:xfrm>
          <a:prstGeom prst="roundRect">
            <a:avLst>
              <a:gd name="adj" fmla="val 8571"/>
            </a:avLst>
          </a:prstGeom>
          <a:solidFill>
            <a:srgbClr val="2A162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040880" y="481888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{{Currency}}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7040880" y="55504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position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223760" y="59161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{{Runway: {{X}} months}}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{{Where revenue came from}}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1828800"/>
          <a:ext cx="51206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897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replace in PowerPoint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0" y="1920240"/>
            <a:ext cx="5120640" cy="1188720"/>
          </a:xfrm>
          <a:prstGeom prst="roundRect">
            <a:avLst>
              <a:gd name="adj" fmla="val 9231"/>
            </a:avLst>
          </a:prstGeom>
          <a:solidFill>
            <a:srgbClr val="2A162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720840" y="2057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{{Product A}}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720840" y="25420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 of revenue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509760" y="20574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drove growth}}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0" y="3291840"/>
            <a:ext cx="5120640" cy="1188720"/>
          </a:xfrm>
          <a:prstGeom prst="roundRect">
            <a:avLst>
              <a:gd name="adj" fmla="val 9231"/>
            </a:avLst>
          </a:prstGeom>
          <a:solidFill>
            <a:srgbClr val="2A162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720840" y="3429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{{Product B}}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720840" y="39136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 of revenue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509760" y="34290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drove growth}}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0" y="4663440"/>
            <a:ext cx="5120640" cy="1188720"/>
          </a:xfrm>
          <a:prstGeom prst="roundRect">
            <a:avLst>
              <a:gd name="adj" fmla="val 9231"/>
            </a:avLst>
          </a:prstGeom>
          <a:solidFill>
            <a:srgbClr val="2A162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720840" y="4800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{{Services}}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720840" y="52852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 of revenue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509760" y="4800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drove growth}}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we built this year}}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2A162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94560"/>
            <a:ext cx="566928" cy="566928"/>
          </a:xfrm>
          <a:prstGeom prst="ellipse">
            <a:avLst/>
          </a:prstGeom>
          <a:solidFill>
            <a:srgbClr val="FB7185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91640" y="21214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{{Launch 1}}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91640" y="269748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{{Impact: {{metric}}}}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2A162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29400" y="2194560"/>
            <a:ext cx="566928" cy="566928"/>
          </a:xfrm>
          <a:prstGeom prst="ellipse">
            <a:avLst/>
          </a:prstGeom>
          <a:solidFill>
            <a:srgbClr val="F0ABF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2940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60920" y="21214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{{Launch 2}}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60920" y="269748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{{Impact: {{metric}}}}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2A162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0120" y="4297680"/>
            <a:ext cx="566928" cy="566928"/>
          </a:xfrm>
          <a:prstGeom prst="ellipse">
            <a:avLst/>
          </a:prstGeom>
          <a:solidFill>
            <a:srgbClr val="FB7185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91640" y="4224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{{Launch 3}}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91640" y="480060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{{Impact: {{metric}}}}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2A162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29400" y="4297680"/>
            <a:ext cx="566928" cy="566928"/>
          </a:xfrm>
          <a:prstGeom prst="ellipse">
            <a:avLst/>
          </a:prstGeom>
          <a:solidFill>
            <a:srgbClr val="F0ABF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29400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360920" y="4224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{{Launch 4}}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360920" y="480060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{{Impact: {{metric}}}}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{{Growth in customers &amp; market}}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679192" cy="3291840"/>
          </a:xfrm>
          <a:prstGeom prst="roundRect">
            <a:avLst>
              <a:gd name="adj" fmla="val 4096"/>
            </a:avLst>
          </a:prstGeom>
          <a:solidFill>
            <a:srgbClr val="2A162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{{+X%}}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growth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{{From {{X}} to {{Y}} accounts}}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02152" y="1920240"/>
            <a:ext cx="2679192" cy="3291840"/>
          </a:xfrm>
          <a:prstGeom prst="roundRect">
            <a:avLst>
              <a:gd name="adj" fmla="val 4096"/>
            </a:avLst>
          </a:prstGeom>
          <a:solidFill>
            <a:srgbClr val="2A162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02152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502152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retention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85032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{{Expansion outpaced churn}}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64224" y="1920240"/>
            <a:ext cx="2679192" cy="3291840"/>
          </a:xfrm>
          <a:prstGeom prst="roundRect">
            <a:avLst>
              <a:gd name="adj" fmla="val 4096"/>
            </a:avLst>
          </a:prstGeom>
          <a:solidFill>
            <a:srgbClr val="2A162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64224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364224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markets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47104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{{Countries / regions entered}}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26296" y="1920240"/>
            <a:ext cx="2679192" cy="3291840"/>
          </a:xfrm>
          <a:prstGeom prst="roundRect">
            <a:avLst>
              <a:gd name="adj" fmla="val 4096"/>
            </a:avLst>
          </a:prstGeom>
          <a:solidFill>
            <a:srgbClr val="2A162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26296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226296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409176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{{In our core segment}}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5486400"/>
            <a:ext cx="11155680" cy="822960"/>
          </a:xfrm>
          <a:prstGeom prst="roundRect">
            <a:avLst>
              <a:gd name="adj" fmla="val 13333"/>
            </a:avLst>
          </a:prstGeom>
          <a:solidFill>
            <a:srgbClr val="361C29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60120" y="5486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quote: "{{One line a customer actually said about the product this year.}}"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{{How the machine ran}}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1155680" cy="868680"/>
          </a:xfrm>
          <a:prstGeom prst="roundRect">
            <a:avLst>
              <a:gd name="adj" fmla="val 12632"/>
            </a:avLst>
          </a:prstGeom>
          <a:solidFill>
            <a:srgbClr val="2A162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9659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{{Uptime / reliability}}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0" y="19659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869680" y="19659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{{Target: {{X}}}}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926080"/>
            <a:ext cx="11155680" cy="868680"/>
          </a:xfrm>
          <a:prstGeom prst="roundRect">
            <a:avLst>
              <a:gd name="adj" fmla="val 12632"/>
            </a:avLst>
          </a:prstGeom>
          <a:solidFill>
            <a:srgbClr val="2A162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30175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{{Support first-response time}}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0" y="3017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 h}}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869680" y="30175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{{Target: {{X}}}}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11155680" cy="868680"/>
          </a:xfrm>
          <a:prstGeom prst="roundRect">
            <a:avLst>
              <a:gd name="adj" fmla="val 12632"/>
            </a:avLst>
          </a:prstGeom>
          <a:solidFill>
            <a:srgbClr val="2A162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40690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{{Release frequency}}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40690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 / month}}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869680" y="40690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{{Target: {{X}}}}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029200"/>
            <a:ext cx="11155680" cy="868680"/>
          </a:xfrm>
          <a:prstGeom prst="roundRect">
            <a:avLst>
              <a:gd name="adj" fmla="val 12632"/>
            </a:avLst>
          </a:prstGeom>
          <a:solidFill>
            <a:srgbClr val="2A162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0120" y="51206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{{Cost per unit / order}}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0" y="51206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{{Currency}}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869680" y="51206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{{Target: {{Currency}}}}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{{Team growth &amp; culture}}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679192" cy="2926080"/>
          </a:xfrm>
          <a:prstGeom prst="roundRect">
            <a:avLst>
              <a:gd name="adj" fmla="val 4096"/>
            </a:avLst>
          </a:prstGeom>
          <a:solidFill>
            <a:srgbClr val="2A162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{{Across {{X}} teams}}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02152" y="1920240"/>
            <a:ext cx="2679192" cy="2926080"/>
          </a:xfrm>
          <a:prstGeom prst="roundRect">
            <a:avLst>
              <a:gd name="adj" fmla="val 4096"/>
            </a:avLst>
          </a:prstGeom>
          <a:solidFill>
            <a:srgbClr val="2A162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02152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502152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85032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{{Voluntary attrition: {{X%}}}}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64224" y="1920240"/>
            <a:ext cx="2679192" cy="2926080"/>
          </a:xfrm>
          <a:prstGeom prst="roundRect">
            <a:avLst>
              <a:gd name="adj" fmla="val 4096"/>
            </a:avLst>
          </a:prstGeom>
          <a:solidFill>
            <a:srgbClr val="2A162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64224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 h}}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364224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per person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47104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{{Training &amp; conferences}}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26296" y="1920240"/>
            <a:ext cx="2679192" cy="2926080"/>
          </a:xfrm>
          <a:prstGeom prst="roundRect">
            <a:avLst>
              <a:gd name="adj" fmla="val 4096"/>
            </a:avLst>
          </a:prstGeom>
          <a:solidFill>
            <a:srgbClr val="2A162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26296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226296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eNPS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409176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{{Up from {{X}}}}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5212080"/>
            <a:ext cx="11155680" cy="1005840"/>
          </a:xfrm>
          <a:prstGeom prst="roundRect">
            <a:avLst>
              <a:gd name="adj" fmla="val 10909"/>
            </a:avLst>
          </a:prstGeom>
          <a:solidFill>
            <a:srgbClr val="361C29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60120" y="52120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highlight: {{One story that shows how people worked together this year.}}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{{Community &amp; sustainability}}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2A162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94560"/>
            <a:ext cx="640080" cy="640080"/>
          </a:xfrm>
          <a:prstGeom prst="ellipse">
            <a:avLst/>
          </a:prstGeom>
          <a:solidFill>
            <a:srgbClr val="FB7185">
              <a:alpha val="7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0175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{{Initiative 1}}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70332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we did and the measured result.}}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2A162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194560"/>
            <a:ext cx="640080" cy="640080"/>
          </a:xfrm>
          <a:prstGeom prst="ellipse">
            <a:avLst/>
          </a:prstGeom>
          <a:solidFill>
            <a:srgbClr val="F0ABFC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30175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{{Initiative 2}}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17720" y="370332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we did and the measured result.}}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92024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2A162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21040" y="2194560"/>
            <a:ext cx="640080" cy="640080"/>
          </a:xfrm>
          <a:prstGeom prst="ellipse">
            <a:avLst/>
          </a:prstGeom>
          <a:solidFill>
            <a:srgbClr val="FB7185">
              <a:alpha val="7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30175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{{Initiative 3}}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21040" y="370332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we did and the measured result.}}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3949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{{Delete this slide if not relevant to your audience.}}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HONESTLY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was hard, what we learned}}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1155680" cy="1188720"/>
          </a:xfrm>
          <a:prstGeom prst="roundRect">
            <a:avLst>
              <a:gd name="adj" fmla="val 9231"/>
            </a:avLst>
          </a:prstGeom>
          <a:solidFill>
            <a:srgbClr val="2A162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116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{{Challenge 1}}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97680" y="20116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actually happened}}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0" y="20116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lesson we carry forward}}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11155680" cy="1188720"/>
          </a:xfrm>
          <a:prstGeom prst="roundRect">
            <a:avLst>
              <a:gd name="adj" fmla="val 9231"/>
            </a:avLst>
          </a:prstGeom>
          <a:solidFill>
            <a:srgbClr val="2A162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33832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{{Challenge 2}}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97680" y="33832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actually happened}}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0" y="33832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lesson we carry forward}}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617720"/>
            <a:ext cx="11155680" cy="1188720"/>
          </a:xfrm>
          <a:prstGeom prst="roundRect">
            <a:avLst>
              <a:gd name="adj" fmla="val 9231"/>
            </a:avLst>
          </a:prstGeom>
          <a:solidFill>
            <a:srgbClr val="2A162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47548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{{Challenge 3}}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297680" y="47548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actually happened}}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0" y="47548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lesson we carry forward}}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{{Priorities for {{next year}}}}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361C29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1488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{{Priority 1}}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{{Why it is a priority and what success looks like.}}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2A162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21488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AB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617720" y="30632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{{Priority 2}}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38404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{{Why it is a priority and what success looks like.}}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9202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2A162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21040" y="21488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321040" y="30632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{{Priority 3}}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21040" y="38404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{{Why it is a priority and what success looks like.}}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{{First half of {{next year}}}}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2A162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37744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774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{{Month 1-2}}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{{Focus and key milestone}}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60520" y="3291840"/>
            <a:ext cx="182880" cy="0"/>
          </a:xfrm>
          <a:prstGeom prst="line">
            <a:avLst/>
          </a:prstGeom>
          <a:noFill/>
          <a:ln w="25400">
            <a:solidFill>
              <a:srgbClr val="4729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210312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2A162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37744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0ABFC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3774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{{Month 3-4}}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17720" y="30175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{{Focus and key milestone}}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863840" y="3291840"/>
            <a:ext cx="182880" cy="0"/>
          </a:xfrm>
          <a:prstGeom prst="line">
            <a:avLst/>
          </a:prstGeom>
          <a:noFill/>
          <a:ln w="25400">
            <a:solidFill>
              <a:srgbClr val="4729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210312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2A162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237744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23774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{{Month 5-6}}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21040" y="30175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{{Focus and key milestone}}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Targets: {{revenue target}} · {{customer target}} · {{product target}}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GRATITUDE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{{Thank you}}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2A162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57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our customers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 or two lines of genuine thanks and what their trust made possible.}}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43891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{{Optional: customer logo row.}}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1783080"/>
            <a:ext cx="5120640" cy="4206240"/>
          </a:xfrm>
          <a:prstGeom prst="roundRect">
            <a:avLst>
              <a:gd name="adj" fmla="val 2609"/>
            </a:avLst>
          </a:prstGeom>
          <a:solidFill>
            <a:srgbClr val="361C29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20840" y="20574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our team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720840" y="260604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 or two lines thanking the people who did the work. Name teams, not just metrics.}}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20840" y="4389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{{Optional: team photo.}}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914400"/>
            <a:ext cx="3840480" cy="3840480"/>
          </a:xfrm>
          <a:prstGeom prst="ellipse">
            <a:avLst/>
          </a:prstGeom>
          <a:solidFill>
            <a:srgbClr val="FB7185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108960"/>
            <a:ext cx="2377440" cy="2377440"/>
          </a:xfrm>
          <a:prstGeom prst="ellipse">
            <a:avLst/>
          </a:prstGeom>
          <a:solidFill>
            <a:srgbClr val="F0ABFC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4023360"/>
            <a:ext cx="1371600" cy="1371600"/>
          </a:xfrm>
          <a:prstGeom prst="ellipse">
            <a:avLst/>
          </a:prstGeom>
          <a:solidFill>
            <a:srgbClr val="FCD34D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{{Year}} ANNUAL REPORT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{{Here’s to {{next year}}.}}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{{Contact: {{name}} · {{email}} · {{website}}}}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8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template — use, modify, and share. No attribution required. (CC0)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Annual Report Template</dc:title>
  <dc:subject>PptxGenJS Presentation</dc:subject>
  <dc:creator>WorkBuddy</dc:creator>
  <cp:lastModifiedBy>WorkBuddy</cp:lastModifiedBy>
  <cp:revision>1</cp:revision>
  <dcterms:created xsi:type="dcterms:W3CDTF">2026-10-28T09:30:48Z</dcterms:created>
  <dcterms:modified xsi:type="dcterms:W3CDTF">2026-10-28T09:30:48Z</dcterms:modified>
</cp:coreProperties>
</file>
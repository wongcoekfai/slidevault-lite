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Hello everyone, and welcome. Today, I'm excited to introduce [Product Name], a cutting-edge solution designed to redefine how businesses operate in the digital age. This presentation will walk you through its core capabilities, strategic value, and real-world impact. Let's begin.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Here's a roadmap of our discussion today. We'll start with our product's positioning, then explore its core features and technical architecture. We'll then shift focus to the tangible value it delivers, demonstrated through data and real customer success stories. Finally, we'll conclude with a Q&amp;A session.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At the heart of our product is a clear vision: to empower organizations through intelligent digital workspaces. We see a significant market opportunity in addressing the fragmented nature of today's software tools. Our solution is a unified platform that directly tackles these challenges head-on, setting a new standard for efficiency and integration.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The power of our platform lies in its core features. First, our AI-powered automation transforms how teams work by handling routine tasks. Second, we take security seriously, offering enterprise-grade protection for your most valuable data. And third, our seamless integration hub ensures the product works harmoniously with the tools you already use, creating a truly connected ecosystem.</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Beneath the sleek interface is a robust technical architecture built for the future. We've adopted a modern microservices design, making the platform highly reliable and easy to scale. Being cloud-native, we offer the flexibility and global performance that modern businesses require. This foundation ensures that [Product Name] is not just powerful today, but ready to evolve with your needs tomorrow.</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The ultimate measure of any tool is the value it delivers. [Product Name] drives tangible business impact in four key areas: it significantly boosts operational efficiency, reduces overall costs, accelerates business growth through better decision-making, and enhances collaboration across your entire organization. These aren't just promises; they're outcomes our customers are already experiencing.</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Data is only useful if it's understandable. Our intuitive data visualization tools transform complex datasets into clear, actionable insights. Whether you're tracking user growth, measuring process efficiency, or analyzing feature usage, our customizable dashboards put the answers you need right at your fingertips, enabling faster and more confident decisions.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Don't just take our word for it. Hear from one of our valued clients, a leader in their industry. They've experienced firsthand the transformative power of [Product Name], achieving remarkable improvements in speed, efficiency, and customer satisfaction. Their success story is a testament to the real-world value our platform delivers.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Thank you for your time today. We believe that [Product Name] is more than just a tool; it's a partner in your digital transformation journey. We're excited about the possibility of working together to build the future of work. Please feel free to reach out with any questions, or visit our website to learn more.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2.xml"/><Relationship Id="rId6" Type="http://schemas.openxmlformats.org/officeDocument/2006/relationships/image" Target="../media/image3.svg"/><Relationship Id="rId5" Type="http://schemas.openxmlformats.org/officeDocument/2006/relationships/image" Target="../media/image3.png"/><Relationship Id="rId4" Type="http://schemas.openxmlformats.org/officeDocument/2006/relationships/image" Target="../media/image2.svg"/><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6.png"/><Relationship Id="rId4" Type="http://schemas.openxmlformats.org/officeDocument/2006/relationships/image" Target="../media/image5.svg"/><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9" Type="http://schemas.openxmlformats.org/officeDocument/2006/relationships/image" Target="../media/image11.png"/><Relationship Id="rId8" Type="http://schemas.openxmlformats.org/officeDocument/2006/relationships/image" Target="../media/image10.svg"/><Relationship Id="rId7" Type="http://schemas.openxmlformats.org/officeDocument/2006/relationships/image" Target="../media/image10.png"/><Relationship Id="rId6" Type="http://schemas.openxmlformats.org/officeDocument/2006/relationships/image" Target="../media/image9.svg"/><Relationship Id="rId5" Type="http://schemas.openxmlformats.org/officeDocument/2006/relationships/image" Target="../media/image9.png"/><Relationship Id="rId4" Type="http://schemas.openxmlformats.org/officeDocument/2006/relationships/image" Target="../media/image8.svg"/><Relationship Id="rId3" Type="http://schemas.openxmlformats.org/officeDocument/2006/relationships/image" Target="../media/image8.png"/><Relationship Id="rId2" Type="http://schemas.openxmlformats.org/officeDocument/2006/relationships/image" Target="../media/image7.svg"/><Relationship Id="rId12" Type="http://schemas.openxmlformats.org/officeDocument/2006/relationships/notesSlide" Target="../notesSlides/notesSlide5.xml"/><Relationship Id="rId11" Type="http://schemas.openxmlformats.org/officeDocument/2006/relationships/slideLayout" Target="../slideLayouts/slideLayout12.xml"/><Relationship Id="rId10" Type="http://schemas.openxmlformats.org/officeDocument/2006/relationships/image" Target="../media/image11.sv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5.svg"/><Relationship Id="rId7" Type="http://schemas.openxmlformats.org/officeDocument/2006/relationships/image" Target="../media/image15.png"/><Relationship Id="rId6" Type="http://schemas.openxmlformats.org/officeDocument/2006/relationships/image" Target="../media/image14.svg"/><Relationship Id="rId5" Type="http://schemas.openxmlformats.org/officeDocument/2006/relationships/image" Target="../media/image14.png"/><Relationship Id="rId4" Type="http://schemas.openxmlformats.org/officeDocument/2006/relationships/image" Target="../media/image13.svg"/><Relationship Id="rId3" Type="http://schemas.openxmlformats.org/officeDocument/2006/relationships/image" Target="../media/image13.png"/><Relationship Id="rId2" Type="http://schemas.openxmlformats.org/officeDocument/2006/relationships/image" Target="../media/image12.svg"/><Relationship Id="rId10" Type="http://schemas.openxmlformats.org/officeDocument/2006/relationships/notesSlide" Target="../notesSlides/notesSlide6.xml"/><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2.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2.xml"/><Relationship Id="rId6" Type="http://schemas.openxmlformats.org/officeDocument/2006/relationships/image" Target="../media/image18.svg"/><Relationship Id="rId5" Type="http://schemas.openxmlformats.org/officeDocument/2006/relationships/image" Target="../media/image21.png"/><Relationship Id="rId4" Type="http://schemas.openxmlformats.org/officeDocument/2006/relationships/image" Target="../media/image17.svg"/><Relationship Id="rId3" Type="http://schemas.openxmlformats.org/officeDocument/2006/relationships/image" Target="../media/image20.png"/><Relationship Id="rId2" Type="http://schemas.openxmlformats.org/officeDocument/2006/relationships/image" Target="../media/image16.svg"/><Relationship Id="rId1" Type="http://schemas.openxmlformats.org/officeDocument/2006/relationships/image" Target="../media/image19.pn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2.xml"/><Relationship Id="rId6" Type="http://schemas.openxmlformats.org/officeDocument/2006/relationships/image" Target="../media/image21.svg"/><Relationship Id="rId5" Type="http://schemas.openxmlformats.org/officeDocument/2006/relationships/image" Target="../media/image24.png"/><Relationship Id="rId4" Type="http://schemas.openxmlformats.org/officeDocument/2006/relationships/image" Target="../media/image20.svg"/><Relationship Id="rId3" Type="http://schemas.openxmlformats.org/officeDocument/2006/relationships/image" Target="../media/image23.png"/><Relationship Id="rId2" Type="http://schemas.openxmlformats.org/officeDocument/2006/relationships/image" Target="../media/image19.svg"/><Relationship Id="rId1"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212">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636000" y="-1524000"/>
            <a:ext cx="5080000" cy="5080000"/>
          </a:xfrm>
          <a:prstGeom prst="ellipse">
            <a:avLst/>
          </a:prstGeom>
          <a:solidFill>
            <a:srgbClr val="00FFFF">
              <a:alpha val="8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5842000"/>
            <a:ext cx="11176000" cy="12700"/>
          </a:xfrm>
          <a:prstGeom prst="roundRect">
            <a:avLst>
              <a:gd name="adj" fmla="val 0"/>
            </a:avLst>
          </a:prstGeom>
          <a:solidFill>
            <a:srgbClr val="00FFFF">
              <a:alpha val="1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0" y="2667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00FFFF"/>
                </a:solidFill>
                <a:latin typeface="Poppins"/>
                <a:ea typeface="Poppins"/>
                <a:cs typeface="Poppins"/>
                <a:sym typeface="Poppins"/>
              </a:rPr>
              <a:t>[Product Name]</a:t>
            </a:r>
            <a:endParaRPr lang="en-US" sz="1100"/>
          </a:p>
        </p:txBody>
      </p:sp>
      <p:sp>
        <p:nvSpPr>
          <p:cNvPr id="6" name="AutoShape 6"/>
          <p:cNvSpPr/>
          <p:nvPr/>
        </p:nvSpPr>
        <p:spPr>
          <a:xfrm>
            <a:off x="1016000" y="4191000"/>
            <a:ext cx="1016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2000" b="0" i="0" u="none" strike="noStrike">
                <a:solidFill>
                  <a:srgbClr val="EBEBEB">
                    <a:alpha val="90196"/>
                  </a:srgbClr>
                </a:solidFill>
                <a:latin typeface="Poppins"/>
                <a:ea typeface="Poppins"/>
                <a:cs typeface="Poppins"/>
                <a:sym typeface="Poppins"/>
              </a:rPr>
              <a:t>[One-line Value Proposition: Redefining digital operations with AI-driven efficiency and seamless connectivity]</a:t>
            </a:r>
            <a:endParaRPr lang="en-US" sz="1100"/>
          </a:p>
        </p:txBody>
      </p:sp>
      <p:sp>
        <p:nvSpPr>
          <p:cNvPr id="7" name="AutoShape 7"/>
          <p:cNvSpPr/>
          <p:nvPr/>
        </p:nvSpPr>
        <p:spPr>
          <a:xfrm>
            <a:off x="1016000" y="59055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C8C8C8">
                    <a:alpha val="70196"/>
                  </a:srgbClr>
                </a:solidFill>
                <a:latin typeface="Poppins"/>
                <a:ea typeface="Poppins"/>
                <a:cs typeface="Poppins"/>
                <a:sym typeface="Poppins"/>
              </a:rPr>
              <a:t>Presenter: [Your Name]</a:t>
            </a:r>
            <a:endParaRPr lang="en-US" sz="1100"/>
          </a:p>
        </p:txBody>
      </p:sp>
      <p:cxnSp>
        <p:nvCxnSpPr>
          <p:cNvPr id="8" name="Connector 8"/>
          <p:cNvCxnSpPr/>
          <p:nvPr/>
        </p:nvCxnSpPr>
        <p:spPr>
          <a:xfrm rot="5272734">
            <a:off x="5924550" y="6108818"/>
            <a:ext cx="342900" cy="12700"/>
          </a:xfrm>
          <a:prstGeom prst="straightConnector1">
            <a:avLst/>
          </a:prstGeom>
          <a:solidFill>
            <a:srgbClr val="DEE0E3">
              <a:alpha val="100000"/>
            </a:srgbClr>
          </a:solidFill>
          <a:ln w="12700" cap="flat" cmpd="sng">
            <a:solidFill>
              <a:srgbClr val="00FFFF">
                <a:alpha val="30000"/>
              </a:srgbClr>
            </a:solidFill>
            <a:prstDash val="solid"/>
            <a:round/>
            <a:headEnd type="none" w="med" len="med"/>
            <a:tailEnd type="none" w="med" len="med"/>
          </a:ln>
        </p:spPr>
      </p:cxnSp>
      <p:sp>
        <p:nvSpPr>
          <p:cNvPr id="9" name="AutoShape 9"/>
          <p:cNvSpPr/>
          <p:nvPr/>
        </p:nvSpPr>
        <p:spPr>
          <a:xfrm>
            <a:off x="6350000" y="5905500"/>
            <a:ext cx="4826000" cy="5080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400" b="0" i="0" u="none" strike="noStrike">
                <a:solidFill>
                  <a:srgbClr val="C8C8C8">
                    <a:alpha val="70196"/>
                  </a:srgbClr>
                </a:solidFill>
                <a:latin typeface="Poppins"/>
                <a:ea typeface="Poppins"/>
                <a:cs typeface="Poppins"/>
                <a:sym typeface="Poppins"/>
              </a:rPr>
              <a:t>Date: June 18, 2026</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21212">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4826000"/>
            <a:ext cx="3810000" cy="3810000"/>
          </a:xfrm>
          <a:prstGeom prst="ellipse">
            <a:avLst/>
          </a:prstGeom>
          <a:solidFill>
            <a:srgbClr val="00FFFF">
              <a:alpha val="3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1016000"/>
            <a:ext cx="4445000" cy="4445000"/>
          </a:xfrm>
          <a:prstGeom prst="ellipse">
            <a:avLst/>
          </a:prstGeom>
          <a:solidFill>
            <a:srgbClr val="00FFFF">
              <a:alpha val="2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FFFF"/>
                </a:solidFill>
                <a:latin typeface="Poppins"/>
                <a:ea typeface="Poppins"/>
                <a:cs typeface="Poppins"/>
                <a:sym typeface="Poppins"/>
              </a:rPr>
              <a:t>CONTENTS</a:t>
            </a:r>
            <a:endParaRPr lang="en-US" sz="1100"/>
          </a:p>
        </p:txBody>
      </p:sp>
      <p:sp>
        <p:nvSpPr>
          <p:cNvPr id="5" name="AutoShape 5"/>
          <p:cNvSpPr/>
          <p:nvPr/>
        </p:nvSpPr>
        <p:spPr>
          <a:xfrm>
            <a:off x="762000" y="1397000"/>
            <a:ext cx="762000" cy="38100"/>
          </a:xfrm>
          <a:prstGeom prst="roundRect">
            <a:avLst>
              <a:gd name="adj" fmla="val 0"/>
            </a:avLst>
          </a:prstGeom>
          <a:solidFill>
            <a:srgbClr val="00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2159000"/>
            <a:ext cx="3429000" cy="12065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2159000"/>
            <a:ext cx="50800" cy="1206500"/>
          </a:xfrm>
          <a:prstGeom prst="roundRect">
            <a:avLst>
              <a:gd name="adj" fmla="val 0"/>
            </a:avLst>
          </a:prstGeom>
          <a:solidFill>
            <a:srgbClr val="00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952500" y="22860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0FFFF">
                    <a:alpha val="70196"/>
                  </a:srgbClr>
                </a:solidFill>
                <a:latin typeface="Poppins"/>
                <a:ea typeface="Poppins"/>
                <a:cs typeface="Poppins"/>
                <a:sym typeface="Poppins"/>
              </a:rPr>
              <a:t>01</a:t>
            </a:r>
            <a:endParaRPr lang="en-US" sz="1100"/>
          </a:p>
        </p:txBody>
      </p:sp>
      <p:cxnSp>
        <p:nvCxnSpPr>
          <p:cNvPr id="9" name="Connector 9"/>
          <p:cNvCxnSpPr/>
          <p:nvPr/>
        </p:nvCxnSpPr>
        <p:spPr>
          <a:xfrm rot="5347115">
            <a:off x="1428750" y="2755949"/>
            <a:ext cx="8255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0" name="AutoShape 10"/>
          <p:cNvSpPr/>
          <p:nvPr/>
        </p:nvSpPr>
        <p:spPr>
          <a:xfrm>
            <a:off x="1968500" y="2286000"/>
            <a:ext cx="2095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FFFFFF"/>
                </a:solidFill>
                <a:latin typeface="Poppins"/>
                <a:ea typeface="Poppins"/>
                <a:cs typeface="Poppins"/>
                <a:sym typeface="Poppins"/>
              </a:rPr>
              <a:t>Product Positioning</a:t>
            </a:r>
            <a:endParaRPr lang="en-US" sz="1100"/>
          </a:p>
          <a:p>
            <a:pPr marL="0" indent="0" algn="l">
              <a:lnSpc>
                <a:spcPct val="108000"/>
              </a:lnSpc>
            </a:pPr>
            <a:r>
              <a:rPr lang="en-US" sz="1200" b="0" i="0" u="none" strike="noStrike">
                <a:solidFill>
                  <a:srgbClr val="FFFFFF">
                    <a:alpha val="60000"/>
                  </a:srgbClr>
                </a:solidFill>
                <a:latin typeface="Poppins"/>
                <a:ea typeface="Poppins"/>
                <a:cs typeface="Poppins"/>
                <a:sym typeface="Poppins"/>
              </a:rPr>
              <a:t>Our vision and market fit, defining the unique space we occupy in the industry landscape.</a:t>
            </a:r>
            <a:endParaRPr lang="en-US" sz="1200" b="0" i="0" u="none" strike="noStrike">
              <a:solidFill>
                <a:srgbClr val="FFFFFF">
                  <a:alpha val="60000"/>
                </a:srgbClr>
              </a:solidFill>
              <a:latin typeface="Poppins"/>
              <a:ea typeface="Poppins"/>
              <a:cs typeface="Poppins"/>
              <a:sym typeface="Poppins"/>
            </a:endParaRPr>
          </a:p>
        </p:txBody>
      </p:sp>
      <p:sp>
        <p:nvSpPr>
          <p:cNvPr id="11" name="AutoShape 11"/>
          <p:cNvSpPr/>
          <p:nvPr/>
        </p:nvSpPr>
        <p:spPr>
          <a:xfrm>
            <a:off x="762000" y="3556000"/>
            <a:ext cx="3429000" cy="12065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762000" y="3556000"/>
            <a:ext cx="50800" cy="1206500"/>
          </a:xfrm>
          <a:prstGeom prst="roundRect">
            <a:avLst>
              <a:gd name="adj" fmla="val 0"/>
            </a:avLst>
          </a:prstGeom>
          <a:solidFill>
            <a:srgbClr val="00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952500" y="36830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0FFFF">
                    <a:alpha val="70196"/>
                  </a:srgbClr>
                </a:solidFill>
                <a:latin typeface="Poppins"/>
                <a:ea typeface="Poppins"/>
                <a:cs typeface="Poppins"/>
                <a:sym typeface="Poppins"/>
              </a:rPr>
              <a:t>02</a:t>
            </a:r>
            <a:endParaRPr lang="en-US" sz="1100"/>
          </a:p>
        </p:txBody>
      </p:sp>
      <p:cxnSp>
        <p:nvCxnSpPr>
          <p:cNvPr id="14" name="Connector 14"/>
          <p:cNvCxnSpPr/>
          <p:nvPr/>
        </p:nvCxnSpPr>
        <p:spPr>
          <a:xfrm rot="5347115">
            <a:off x="1428750" y="4152949"/>
            <a:ext cx="8255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5" name="AutoShape 15"/>
          <p:cNvSpPr/>
          <p:nvPr/>
        </p:nvSpPr>
        <p:spPr>
          <a:xfrm>
            <a:off x="1968500" y="3683000"/>
            <a:ext cx="2095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FFFFFF"/>
                </a:solidFill>
                <a:latin typeface="Poppins"/>
                <a:ea typeface="Poppins"/>
                <a:cs typeface="Poppins"/>
                <a:sym typeface="Poppins"/>
              </a:rPr>
              <a:t>Core Features</a:t>
            </a:r>
            <a:endParaRPr lang="en-US" sz="1100"/>
          </a:p>
          <a:p>
            <a:pPr marL="0" indent="0" algn="l">
              <a:lnSpc>
                <a:spcPct val="108000"/>
              </a:lnSpc>
            </a:pPr>
            <a:r>
              <a:rPr lang="en-US" sz="1200" b="0" i="0" u="none" strike="noStrike">
                <a:solidFill>
                  <a:srgbClr val="FFFFFF">
                    <a:alpha val="60000"/>
                  </a:srgbClr>
                </a:solidFill>
                <a:latin typeface="Poppins"/>
                <a:ea typeface="Poppins"/>
                <a:cs typeface="Poppins"/>
                <a:sym typeface="Poppins"/>
              </a:rPr>
              <a:t>A deep dive into our key functionalities that solve critical user pain points and drive efficiency.</a:t>
            </a:r>
            <a:endParaRPr lang="en-US" sz="1200" b="0" i="0" u="none" strike="noStrike">
              <a:solidFill>
                <a:srgbClr val="FFFFFF">
                  <a:alpha val="60000"/>
                </a:srgbClr>
              </a:solidFill>
              <a:latin typeface="Poppins"/>
              <a:ea typeface="Poppins"/>
              <a:cs typeface="Poppins"/>
              <a:sym typeface="Poppins"/>
            </a:endParaRPr>
          </a:p>
        </p:txBody>
      </p:sp>
      <p:sp>
        <p:nvSpPr>
          <p:cNvPr id="16" name="AutoShape 16"/>
          <p:cNvSpPr/>
          <p:nvPr/>
        </p:nvSpPr>
        <p:spPr>
          <a:xfrm>
            <a:off x="762000" y="4953000"/>
            <a:ext cx="3429000" cy="12065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762000" y="4953000"/>
            <a:ext cx="50800" cy="1206500"/>
          </a:xfrm>
          <a:prstGeom prst="roundRect">
            <a:avLst>
              <a:gd name="adj" fmla="val 0"/>
            </a:avLst>
          </a:prstGeom>
          <a:solidFill>
            <a:srgbClr val="00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952500" y="50800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0FFFF">
                    <a:alpha val="70196"/>
                  </a:srgbClr>
                </a:solidFill>
                <a:latin typeface="Poppins"/>
                <a:ea typeface="Poppins"/>
                <a:cs typeface="Poppins"/>
                <a:sym typeface="Poppins"/>
              </a:rPr>
              <a:t>03</a:t>
            </a:r>
            <a:endParaRPr lang="en-US" sz="1100"/>
          </a:p>
        </p:txBody>
      </p:sp>
      <p:cxnSp>
        <p:nvCxnSpPr>
          <p:cNvPr id="19" name="Connector 19"/>
          <p:cNvCxnSpPr/>
          <p:nvPr/>
        </p:nvCxnSpPr>
        <p:spPr>
          <a:xfrm rot="5347115">
            <a:off x="1428750" y="5549949"/>
            <a:ext cx="8255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20" name="AutoShape 20"/>
          <p:cNvSpPr/>
          <p:nvPr/>
        </p:nvSpPr>
        <p:spPr>
          <a:xfrm>
            <a:off x="1968500" y="5080000"/>
            <a:ext cx="2095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FFFFFF"/>
                </a:solidFill>
                <a:latin typeface="Poppins"/>
                <a:ea typeface="Poppins"/>
                <a:cs typeface="Poppins"/>
                <a:sym typeface="Poppins"/>
              </a:rPr>
              <a:t>Technical Architecture</a:t>
            </a:r>
            <a:endParaRPr lang="en-US" sz="1100"/>
          </a:p>
          <a:p>
            <a:pPr marL="0" indent="0" algn="l">
              <a:lnSpc>
                <a:spcPct val="108000"/>
              </a:lnSpc>
            </a:pPr>
            <a:r>
              <a:rPr lang="en-US" sz="1200" b="0" i="0" u="none" strike="noStrike">
                <a:solidFill>
                  <a:srgbClr val="FFFFFF">
                    <a:alpha val="60000"/>
                  </a:srgbClr>
                </a:solidFill>
                <a:latin typeface="Poppins"/>
                <a:ea typeface="Poppins"/>
                <a:cs typeface="Poppins"/>
                <a:sym typeface="Poppins"/>
              </a:rPr>
              <a:t>The robust, scalable foundation of our platform ensuring security, reliability and performance.</a:t>
            </a:r>
            <a:endParaRPr lang="en-US" sz="1200" b="0" i="0" u="none" strike="noStrike">
              <a:solidFill>
                <a:srgbClr val="FFFFFF">
                  <a:alpha val="60000"/>
                </a:srgbClr>
              </a:solidFill>
              <a:latin typeface="Poppins"/>
              <a:ea typeface="Poppins"/>
              <a:cs typeface="Poppins"/>
              <a:sym typeface="Poppins"/>
            </a:endParaRPr>
          </a:p>
        </p:txBody>
      </p:sp>
      <p:sp>
        <p:nvSpPr>
          <p:cNvPr id="21" name="AutoShape 21"/>
          <p:cNvSpPr/>
          <p:nvPr/>
        </p:nvSpPr>
        <p:spPr>
          <a:xfrm>
            <a:off x="4445000" y="2159000"/>
            <a:ext cx="3429000" cy="12065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4445000" y="2159000"/>
            <a:ext cx="50800" cy="1206500"/>
          </a:xfrm>
          <a:prstGeom prst="roundRect">
            <a:avLst>
              <a:gd name="adj" fmla="val 0"/>
            </a:avLst>
          </a:prstGeom>
          <a:solidFill>
            <a:srgbClr val="00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4635500" y="22860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0FFFF">
                    <a:alpha val="70196"/>
                  </a:srgbClr>
                </a:solidFill>
                <a:latin typeface="Poppins"/>
                <a:ea typeface="Poppins"/>
                <a:cs typeface="Poppins"/>
                <a:sym typeface="Poppins"/>
              </a:rPr>
              <a:t>04</a:t>
            </a:r>
            <a:endParaRPr lang="en-US" sz="1100"/>
          </a:p>
        </p:txBody>
      </p:sp>
      <p:cxnSp>
        <p:nvCxnSpPr>
          <p:cNvPr id="24" name="Connector 24"/>
          <p:cNvCxnSpPr/>
          <p:nvPr/>
        </p:nvCxnSpPr>
        <p:spPr>
          <a:xfrm rot="5347115">
            <a:off x="5111750" y="2755949"/>
            <a:ext cx="8255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25" name="AutoShape 25"/>
          <p:cNvSpPr/>
          <p:nvPr/>
        </p:nvSpPr>
        <p:spPr>
          <a:xfrm>
            <a:off x="5651500" y="2286000"/>
            <a:ext cx="2095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FFFFFF"/>
                </a:solidFill>
                <a:latin typeface="Poppins"/>
                <a:ea typeface="Poppins"/>
                <a:cs typeface="Poppins"/>
                <a:sym typeface="Poppins"/>
              </a:rPr>
              <a:t>Value Realization</a:t>
            </a:r>
            <a:endParaRPr lang="en-US" sz="1100"/>
          </a:p>
          <a:p>
            <a:pPr marL="0" indent="0" algn="l">
              <a:lnSpc>
                <a:spcPct val="108000"/>
              </a:lnSpc>
            </a:pPr>
            <a:r>
              <a:rPr lang="en-US" sz="1200" b="0" i="0" u="none" strike="noStrike">
                <a:solidFill>
                  <a:srgbClr val="FFFFFF">
                    <a:alpha val="60000"/>
                  </a:srgbClr>
                </a:solidFill>
                <a:latin typeface="Poppins"/>
                <a:ea typeface="Poppins"/>
                <a:cs typeface="Poppins"/>
                <a:sym typeface="Poppins"/>
              </a:rPr>
              <a:t>How we drive tangible business outcomes, from cost savings to revenue growth for stakeholders.</a:t>
            </a:r>
            <a:endParaRPr lang="en-US" sz="1200" b="0" i="0" u="none" strike="noStrike">
              <a:solidFill>
                <a:srgbClr val="FFFFFF">
                  <a:alpha val="60000"/>
                </a:srgbClr>
              </a:solidFill>
              <a:latin typeface="Poppins"/>
              <a:ea typeface="Poppins"/>
              <a:cs typeface="Poppins"/>
              <a:sym typeface="Poppins"/>
            </a:endParaRPr>
          </a:p>
        </p:txBody>
      </p:sp>
      <p:sp>
        <p:nvSpPr>
          <p:cNvPr id="26" name="AutoShape 26"/>
          <p:cNvSpPr/>
          <p:nvPr/>
        </p:nvSpPr>
        <p:spPr>
          <a:xfrm>
            <a:off x="4445000" y="3556000"/>
            <a:ext cx="3429000" cy="12065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4445000" y="3556000"/>
            <a:ext cx="50800" cy="1206500"/>
          </a:xfrm>
          <a:prstGeom prst="roundRect">
            <a:avLst>
              <a:gd name="adj" fmla="val 0"/>
            </a:avLst>
          </a:prstGeom>
          <a:solidFill>
            <a:srgbClr val="00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4635500" y="36830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0FFFF">
                    <a:alpha val="70196"/>
                  </a:srgbClr>
                </a:solidFill>
                <a:latin typeface="Poppins"/>
                <a:ea typeface="Poppins"/>
                <a:cs typeface="Poppins"/>
                <a:sym typeface="Poppins"/>
              </a:rPr>
              <a:t>05</a:t>
            </a:r>
            <a:endParaRPr lang="en-US" sz="1100"/>
          </a:p>
        </p:txBody>
      </p:sp>
      <p:cxnSp>
        <p:nvCxnSpPr>
          <p:cNvPr id="29" name="Connector 29"/>
          <p:cNvCxnSpPr/>
          <p:nvPr/>
        </p:nvCxnSpPr>
        <p:spPr>
          <a:xfrm rot="5347115">
            <a:off x="5111750" y="4152949"/>
            <a:ext cx="8255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30" name="AutoShape 30"/>
          <p:cNvSpPr/>
          <p:nvPr/>
        </p:nvSpPr>
        <p:spPr>
          <a:xfrm>
            <a:off x="5651500" y="3683000"/>
            <a:ext cx="2095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FFFFFF"/>
                </a:solidFill>
                <a:latin typeface="Poppins"/>
                <a:ea typeface="Poppins"/>
                <a:cs typeface="Poppins"/>
                <a:sym typeface="Poppins"/>
              </a:rPr>
              <a:t>Data Visualization</a:t>
            </a:r>
            <a:endParaRPr lang="en-US" sz="1100"/>
          </a:p>
          <a:p>
            <a:pPr marL="0" indent="0" algn="l">
              <a:lnSpc>
                <a:spcPct val="108000"/>
              </a:lnSpc>
            </a:pPr>
            <a:r>
              <a:rPr lang="en-US" sz="1200" b="0" i="0" u="none" strike="noStrike">
                <a:solidFill>
                  <a:srgbClr val="FFFFFF">
                    <a:alpha val="60000"/>
                  </a:srgbClr>
                </a:solidFill>
                <a:latin typeface="Poppins"/>
                <a:ea typeface="Poppins"/>
                <a:cs typeface="Poppins"/>
                <a:sym typeface="Poppins"/>
              </a:rPr>
              <a:t>Transforming raw data into intuitive, actionable insights through cutting-edge visual analytics.</a:t>
            </a:r>
            <a:endParaRPr lang="en-US" sz="1200" b="0" i="0" u="none" strike="noStrike">
              <a:solidFill>
                <a:srgbClr val="FFFFFF">
                  <a:alpha val="60000"/>
                </a:srgbClr>
              </a:solidFill>
              <a:latin typeface="Poppins"/>
              <a:ea typeface="Poppins"/>
              <a:cs typeface="Poppins"/>
              <a:sym typeface="Poppins"/>
            </a:endParaRPr>
          </a:p>
        </p:txBody>
      </p:sp>
      <p:sp>
        <p:nvSpPr>
          <p:cNvPr id="31" name="AutoShape 31"/>
          <p:cNvSpPr/>
          <p:nvPr/>
        </p:nvSpPr>
        <p:spPr>
          <a:xfrm>
            <a:off x="4445000" y="4953000"/>
            <a:ext cx="3429000" cy="12065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4445000" y="4953000"/>
            <a:ext cx="50800" cy="1206500"/>
          </a:xfrm>
          <a:prstGeom prst="roundRect">
            <a:avLst>
              <a:gd name="adj" fmla="val 0"/>
            </a:avLst>
          </a:prstGeom>
          <a:solidFill>
            <a:srgbClr val="00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4635500" y="50800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0FFFF">
                    <a:alpha val="70196"/>
                  </a:srgbClr>
                </a:solidFill>
                <a:latin typeface="Poppins"/>
                <a:ea typeface="Poppins"/>
                <a:cs typeface="Poppins"/>
                <a:sym typeface="Poppins"/>
              </a:rPr>
              <a:t>06</a:t>
            </a:r>
            <a:endParaRPr lang="en-US" sz="1100"/>
          </a:p>
        </p:txBody>
      </p:sp>
      <p:cxnSp>
        <p:nvCxnSpPr>
          <p:cNvPr id="34" name="Connector 34"/>
          <p:cNvCxnSpPr/>
          <p:nvPr/>
        </p:nvCxnSpPr>
        <p:spPr>
          <a:xfrm rot="5347115">
            <a:off x="5111750" y="5549949"/>
            <a:ext cx="8255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35" name="AutoShape 35"/>
          <p:cNvSpPr/>
          <p:nvPr/>
        </p:nvSpPr>
        <p:spPr>
          <a:xfrm>
            <a:off x="5651500" y="5080000"/>
            <a:ext cx="2095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FFFFFF"/>
                </a:solidFill>
                <a:latin typeface="Poppins"/>
                <a:ea typeface="Poppins"/>
                <a:cs typeface="Poppins"/>
                <a:sym typeface="Poppins"/>
              </a:rPr>
              <a:t>Customer Success</a:t>
            </a:r>
            <a:endParaRPr lang="en-US" sz="1100"/>
          </a:p>
          <a:p>
            <a:pPr marL="0" indent="0" algn="l">
              <a:lnSpc>
                <a:spcPct val="108000"/>
              </a:lnSpc>
            </a:pPr>
            <a:r>
              <a:rPr lang="en-US" sz="1200" b="0" i="0" u="none" strike="noStrike">
                <a:solidFill>
                  <a:srgbClr val="FFFFFF">
                    <a:alpha val="60000"/>
                  </a:srgbClr>
                </a:solidFill>
                <a:latin typeface="Poppins"/>
                <a:ea typeface="Poppins"/>
                <a:cs typeface="Poppins"/>
                <a:sym typeface="Poppins"/>
              </a:rPr>
              <a:t>Real-world stories and testimonials from our valued clients who have achieved success with us.</a:t>
            </a:r>
            <a:endParaRPr lang="en-US" sz="1200" b="0" i="0" u="none" strike="noStrike">
              <a:solidFill>
                <a:srgbClr val="FFFFFF">
                  <a:alpha val="60000"/>
                </a:srgbClr>
              </a:solidFill>
              <a:latin typeface="Poppins"/>
              <a:ea typeface="Poppins"/>
              <a:cs typeface="Poppins"/>
              <a:sym typeface="Poppins"/>
            </a:endParaRPr>
          </a:p>
        </p:txBody>
      </p:sp>
      <p:sp>
        <p:nvSpPr>
          <p:cNvPr id="36" name="AutoShape 36"/>
          <p:cNvSpPr/>
          <p:nvPr/>
        </p:nvSpPr>
        <p:spPr>
          <a:xfrm>
            <a:off x="8128000" y="2159000"/>
            <a:ext cx="3429000" cy="4000500"/>
          </a:xfrm>
          <a:prstGeom prst="roundRect">
            <a:avLst>
              <a:gd name="adj" fmla="val 0"/>
            </a:avLst>
          </a:prstGeom>
          <a:solidFill>
            <a:srgbClr val="00FFFF">
              <a:alpha val="8000"/>
            </a:srgbClr>
          </a:solidFill>
          <a:ln w="12700" cap="flat" cmpd="sng">
            <a:solidFill>
              <a:srgbClr val="00FFFF">
                <a:alpha val="30000"/>
              </a:srgbClr>
            </a:solidFill>
            <a:prstDash val="solid"/>
            <a:round/>
          </a:ln>
        </p:spPr>
        <p:txBody>
          <a:bodyPr vert="horz" wrap="square" lIns="63500" tIns="63500" rIns="63500" bIns="63500" rtlCol="0" anchor="ctr"/>
          <a:lstStyle/>
          <a:p>
            <a:pPr algn="ctr">
              <a:defRPr/>
            </a:pPr>
          </a:p>
        </p:txBody>
      </p:sp>
      <p:sp>
        <p:nvSpPr>
          <p:cNvPr id="37" name="AutoShape 37"/>
          <p:cNvSpPr/>
          <p:nvPr/>
        </p:nvSpPr>
        <p:spPr>
          <a:xfrm>
            <a:off x="8382000" y="3048000"/>
            <a:ext cx="292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6400" b="1" i="0" u="none" strike="noStrike">
                <a:solidFill>
                  <a:srgbClr val="00FFFF">
                    <a:alpha val="80000"/>
                  </a:srgbClr>
                </a:solidFill>
                <a:latin typeface="Poppins"/>
                <a:ea typeface="Poppins"/>
                <a:cs typeface="Poppins"/>
                <a:sym typeface="Poppins"/>
              </a:rPr>
              <a:t>07</a:t>
            </a:r>
            <a:endParaRPr lang="en-US" sz="1100"/>
          </a:p>
        </p:txBody>
      </p:sp>
      <p:cxnSp>
        <p:nvCxnSpPr>
          <p:cNvPr id="38" name="Connector 38"/>
          <p:cNvCxnSpPr/>
          <p:nvPr/>
        </p:nvCxnSpPr>
        <p:spPr>
          <a:xfrm rot="-14946">
            <a:off x="8382014" y="4184650"/>
            <a:ext cx="2921000" cy="12700"/>
          </a:xfrm>
          <a:prstGeom prst="straightConnector1">
            <a:avLst/>
          </a:prstGeom>
          <a:solidFill>
            <a:srgbClr val="DEE0E3">
              <a:alpha val="100000"/>
            </a:srgbClr>
          </a:solidFill>
          <a:ln w="12700" cap="flat" cmpd="sng">
            <a:solidFill>
              <a:srgbClr val="00FFFF">
                <a:alpha val="40000"/>
              </a:srgbClr>
            </a:solidFill>
            <a:prstDash val="solid"/>
            <a:round/>
            <a:headEnd type="none" w="med" len="med"/>
            <a:tailEnd type="none" w="med" len="med"/>
          </a:ln>
        </p:spPr>
      </p:cxnSp>
      <p:sp>
        <p:nvSpPr>
          <p:cNvPr id="39" name="AutoShape 39"/>
          <p:cNvSpPr/>
          <p:nvPr/>
        </p:nvSpPr>
        <p:spPr>
          <a:xfrm>
            <a:off x="8382000" y="4445000"/>
            <a:ext cx="2921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2000" b="1" i="0" u="none" strike="noStrike">
                <a:solidFill>
                  <a:srgbClr val="FFFFFF"/>
                </a:solidFill>
                <a:latin typeface="Poppins"/>
                <a:ea typeface="Poppins"/>
                <a:cs typeface="Poppins"/>
                <a:sym typeface="Poppins"/>
              </a:rPr>
              <a:t>Thank You &amp; Q&amp;A</a:t>
            </a:r>
            <a:endParaRPr lang="en-US" sz="1100"/>
          </a:p>
          <a:p>
            <a:pPr marL="0" indent="0" algn="l">
              <a:lnSpc>
                <a:spcPct val="117000"/>
              </a:lnSpc>
            </a:pPr>
            <a:r>
              <a:rPr lang="en-US" sz="1300" b="0" i="0" u="none" strike="noStrike">
                <a:solidFill>
                  <a:srgbClr val="FFFFFF">
                    <a:alpha val="70196"/>
                  </a:srgbClr>
                </a:solidFill>
                <a:latin typeface="Poppins"/>
                <a:ea typeface="Poppins"/>
                <a:cs typeface="Poppins"/>
                <a:sym typeface="Poppins"/>
              </a:rPr>
              <a:t>We appreciate your time. Feel free to ask any questions or connect with our team for further details.</a:t>
            </a:r>
            <a:endParaRPr lang="en-US" sz="1300" b="0" i="0" u="none" strike="noStrike">
              <a:solidFill>
                <a:srgbClr val="FFFFFF">
                  <a:alpha val="70196"/>
                </a:srgbClr>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21212">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FFFF"/>
                </a:solidFill>
                <a:latin typeface="Poppins"/>
                <a:ea typeface="Poppins"/>
                <a:cs typeface="Poppins"/>
                <a:sym typeface="Poppins"/>
              </a:rPr>
              <a:t>Product Positioning: Redefining Industry Standards</a:t>
            </a:r>
            <a:endParaRPr lang="en-US" sz="1100"/>
          </a:p>
        </p:txBody>
      </p:sp>
      <p:sp>
        <p:nvSpPr>
          <p:cNvPr id="3" name="AutoShape 3"/>
          <p:cNvSpPr/>
          <p:nvPr/>
        </p:nvSpPr>
        <p:spPr>
          <a:xfrm>
            <a:off x="762000" y="1524000"/>
            <a:ext cx="1016000" cy="50800"/>
          </a:xfrm>
          <a:prstGeom prst="roundRect">
            <a:avLst>
              <a:gd name="adj" fmla="val 0"/>
            </a:avLst>
          </a:prstGeom>
          <a:solidFill>
            <a:srgbClr val="00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905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FFFFFF">
                    <a:alpha val="80000"/>
                  </a:srgbClr>
                </a:solidFill>
                <a:latin typeface="Noto Sans SC"/>
                <a:ea typeface="Noto Sans SC"/>
                <a:cs typeface="Noto Sans SC"/>
                <a:sym typeface="Noto Sans SC"/>
              </a:rPr>
              <a:t>In a landscape of disconnected tools and siloed workflows, we are not just building software—we are engineering a paradigm shift in how enterprises operate, connect, and innovate in the digital age.</a:t>
            </a:r>
            <a:endParaRPr lang="en-US" sz="1100"/>
          </a:p>
        </p:txBody>
      </p:sp>
      <p:cxnSp>
        <p:nvCxnSpPr>
          <p:cNvPr id="5" name="Connector 5"/>
          <p:cNvCxnSpPr/>
          <p:nvPr/>
        </p:nvCxnSpPr>
        <p:spPr>
          <a:xfrm rot="-4092">
            <a:off x="762004" y="3168650"/>
            <a:ext cx="10668000" cy="12700"/>
          </a:xfrm>
          <a:prstGeom prst="straightConnector1">
            <a:avLst/>
          </a:prstGeom>
          <a:solidFill>
            <a:srgbClr val="DEE0E3">
              <a:alpha val="100000"/>
            </a:srgbClr>
          </a:solidFill>
          <a:ln w="12700" cap="flat" cmpd="sng">
            <a:solidFill>
              <a:srgbClr val="00FFFF">
                <a:alpha val="15000"/>
              </a:srgbClr>
            </a:solidFill>
            <a:prstDash val="solid"/>
            <a:round/>
            <a:headEnd type="none" w="med" len="med"/>
            <a:tailEnd type="none" w="med" len="med"/>
          </a:ln>
        </p:spPr>
      </p:cxnSp>
      <p:sp>
        <p:nvSpPr>
          <p:cNvPr id="6" name="AutoShape 6"/>
          <p:cNvSpPr/>
          <p:nvPr/>
        </p:nvSpPr>
        <p:spPr>
          <a:xfrm>
            <a:off x="762000" y="3429000"/>
            <a:ext cx="3429000" cy="2286000"/>
          </a:xfrm>
          <a:prstGeom prst="roundRect">
            <a:avLst>
              <a:gd name="adj" fmla="val 0"/>
            </a:avLst>
          </a:prstGeom>
          <a:solidFill>
            <a:srgbClr val="FFFFFF">
              <a:alpha val="5000"/>
            </a:srgbClr>
          </a:solidFill>
          <a:ln w="12700" cap="flat" cmpd="sng">
            <a:solidFill>
              <a:srgbClr val="00FFFF">
                <a:alpha val="3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3619500"/>
            <a:ext cx="355600" cy="355600"/>
          </a:xfrm>
          <a:prstGeom prst="rect">
            <a:avLst/>
          </a:prstGeom>
        </p:spPr>
      </p:pic>
      <p:sp>
        <p:nvSpPr>
          <p:cNvPr id="8" name="AutoShape 8"/>
          <p:cNvSpPr/>
          <p:nvPr/>
        </p:nvSpPr>
        <p:spPr>
          <a:xfrm>
            <a:off x="1460500" y="3594100"/>
            <a:ext cx="2603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FFFF"/>
                </a:solidFill>
                <a:latin typeface="Poppins"/>
                <a:ea typeface="Poppins"/>
                <a:cs typeface="Poppins"/>
                <a:sym typeface="Poppins"/>
              </a:rPr>
              <a:t>OUR VISION</a:t>
            </a:r>
            <a:endParaRPr lang="en-US" sz="1100"/>
          </a:p>
        </p:txBody>
      </p:sp>
      <p:cxnSp>
        <p:nvCxnSpPr>
          <p:cNvPr id="9" name="Connector 9"/>
          <p:cNvCxnSpPr/>
          <p:nvPr/>
        </p:nvCxnSpPr>
        <p:spPr>
          <a:xfrm rot="-14323">
            <a:off x="952513" y="4184650"/>
            <a:ext cx="3048000" cy="12700"/>
          </a:xfrm>
          <a:prstGeom prst="straightConnector1">
            <a:avLst/>
          </a:prstGeom>
          <a:solidFill>
            <a:srgbClr val="DEE0E3">
              <a:alpha val="100000"/>
            </a:srgbClr>
          </a:solidFill>
          <a:ln w="12700" cap="flat" cmpd="sng">
            <a:solidFill>
              <a:srgbClr val="FFFFFF">
                <a:alpha val="10000"/>
              </a:srgbClr>
            </a:solidFill>
            <a:prstDash val="dash"/>
            <a:round/>
            <a:headEnd type="none" w="med" len="med"/>
            <a:tailEnd type="none" w="med" len="med"/>
          </a:ln>
        </p:spPr>
      </p:cxnSp>
      <p:sp>
        <p:nvSpPr>
          <p:cNvPr id="10" name="AutoShape 10"/>
          <p:cNvSpPr/>
          <p:nvPr/>
        </p:nvSpPr>
        <p:spPr>
          <a:xfrm>
            <a:off x="952500" y="4381500"/>
            <a:ext cx="3048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FFF">
                    <a:alpha val="70196"/>
                  </a:srgbClr>
                </a:solidFill>
                <a:latin typeface="Noto Sans SC"/>
                <a:ea typeface="Noto Sans SC"/>
                <a:cs typeface="Noto Sans SC"/>
                <a:sym typeface="Noto Sans SC"/>
              </a:rPr>
              <a:t>To empower organizations with intelligent, seamless, and secure digital workspaces that break down barriers, centralize data, and fuel sustainable productivity and innovation at every level.</a:t>
            </a:r>
            <a:endParaRPr lang="en-US" sz="1100"/>
          </a:p>
        </p:txBody>
      </p:sp>
      <p:sp>
        <p:nvSpPr>
          <p:cNvPr id="11" name="AutoShape 11"/>
          <p:cNvSpPr/>
          <p:nvPr/>
        </p:nvSpPr>
        <p:spPr>
          <a:xfrm>
            <a:off x="4381500" y="3429000"/>
            <a:ext cx="3429000" cy="2286000"/>
          </a:xfrm>
          <a:prstGeom prst="roundRect">
            <a:avLst>
              <a:gd name="adj" fmla="val 0"/>
            </a:avLst>
          </a:prstGeom>
          <a:solidFill>
            <a:srgbClr val="FFFFFF">
              <a:alpha val="5000"/>
            </a:srgbClr>
          </a:solidFill>
          <a:ln w="12700" cap="flat" cmpd="sng">
            <a:solidFill>
              <a:srgbClr val="00FFFF">
                <a:alpha val="3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72000" y="3619500"/>
            <a:ext cx="355600" cy="355600"/>
          </a:xfrm>
          <a:prstGeom prst="rect">
            <a:avLst/>
          </a:prstGeom>
        </p:spPr>
      </p:pic>
      <p:sp>
        <p:nvSpPr>
          <p:cNvPr id="13" name="AutoShape 13"/>
          <p:cNvSpPr/>
          <p:nvPr/>
        </p:nvSpPr>
        <p:spPr>
          <a:xfrm>
            <a:off x="5080000" y="3594100"/>
            <a:ext cx="2603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FFFF"/>
                </a:solidFill>
                <a:latin typeface="Poppins"/>
                <a:ea typeface="Poppins"/>
                <a:cs typeface="Poppins"/>
                <a:sym typeface="Poppins"/>
              </a:rPr>
              <a:t>MARKET OPPORTUNITY</a:t>
            </a:r>
            <a:endParaRPr lang="en-US" sz="1100"/>
          </a:p>
        </p:txBody>
      </p:sp>
      <p:cxnSp>
        <p:nvCxnSpPr>
          <p:cNvPr id="14" name="Connector 14"/>
          <p:cNvCxnSpPr/>
          <p:nvPr/>
        </p:nvCxnSpPr>
        <p:spPr>
          <a:xfrm rot="-14323">
            <a:off x="4572013" y="4184650"/>
            <a:ext cx="3048000" cy="12700"/>
          </a:xfrm>
          <a:prstGeom prst="straightConnector1">
            <a:avLst/>
          </a:prstGeom>
          <a:solidFill>
            <a:srgbClr val="DEE0E3">
              <a:alpha val="100000"/>
            </a:srgbClr>
          </a:solidFill>
          <a:ln w="12700" cap="flat" cmpd="sng">
            <a:solidFill>
              <a:srgbClr val="FFFFFF">
                <a:alpha val="10000"/>
              </a:srgbClr>
            </a:solidFill>
            <a:prstDash val="dash"/>
            <a:round/>
            <a:headEnd type="none" w="med" len="med"/>
            <a:tailEnd type="none" w="med" len="med"/>
          </a:ln>
        </p:spPr>
      </p:cxnSp>
      <p:sp>
        <p:nvSpPr>
          <p:cNvPr id="15" name="AutoShape 15"/>
          <p:cNvSpPr/>
          <p:nvPr/>
        </p:nvSpPr>
        <p:spPr>
          <a:xfrm>
            <a:off x="4572000" y="4381500"/>
            <a:ext cx="3048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FFF">
                    <a:alpha val="70196"/>
                  </a:srgbClr>
                </a:solidFill>
                <a:latin typeface="Noto Sans SC"/>
                <a:ea typeface="Noto Sans SC"/>
                <a:cs typeface="Noto Sans SC"/>
                <a:sym typeface="Noto Sans SC"/>
              </a:rPr>
              <a:t>Capitalizing on the exponential demand for integrated SaaS solutions in a remote-first, data-driven economy, where businesses seek cohesive tools to unify hybrid teams and streamline complex workflows.</a:t>
            </a:r>
            <a:endParaRPr lang="en-US" sz="1100"/>
          </a:p>
        </p:txBody>
      </p:sp>
      <p:sp>
        <p:nvSpPr>
          <p:cNvPr id="16" name="AutoShape 16"/>
          <p:cNvSpPr/>
          <p:nvPr/>
        </p:nvSpPr>
        <p:spPr>
          <a:xfrm>
            <a:off x="8001000" y="3429000"/>
            <a:ext cx="3429000" cy="2286000"/>
          </a:xfrm>
          <a:prstGeom prst="roundRect">
            <a:avLst>
              <a:gd name="adj" fmla="val 0"/>
            </a:avLst>
          </a:prstGeom>
          <a:solidFill>
            <a:srgbClr val="FFFFFF">
              <a:alpha val="5000"/>
            </a:srgbClr>
          </a:solidFill>
          <a:ln w="12700" cap="flat" cmpd="sng">
            <a:solidFill>
              <a:srgbClr val="00FFFF">
                <a:alpha val="3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91500" y="3619500"/>
            <a:ext cx="355600" cy="355600"/>
          </a:xfrm>
          <a:prstGeom prst="rect">
            <a:avLst/>
          </a:prstGeom>
        </p:spPr>
      </p:pic>
      <p:sp>
        <p:nvSpPr>
          <p:cNvPr id="18" name="AutoShape 18"/>
          <p:cNvSpPr/>
          <p:nvPr/>
        </p:nvSpPr>
        <p:spPr>
          <a:xfrm>
            <a:off x="8699500" y="3594100"/>
            <a:ext cx="2603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FFFF"/>
                </a:solidFill>
                <a:latin typeface="Poppins"/>
                <a:ea typeface="Poppins"/>
                <a:cs typeface="Poppins"/>
                <a:sym typeface="Poppins"/>
              </a:rPr>
              <a:t>OUR SOLUTION</a:t>
            </a:r>
            <a:endParaRPr lang="en-US" sz="1100"/>
          </a:p>
        </p:txBody>
      </p:sp>
      <p:cxnSp>
        <p:nvCxnSpPr>
          <p:cNvPr id="19" name="Connector 19"/>
          <p:cNvCxnSpPr/>
          <p:nvPr/>
        </p:nvCxnSpPr>
        <p:spPr>
          <a:xfrm rot="-14323">
            <a:off x="8191513" y="4184650"/>
            <a:ext cx="3048000" cy="12700"/>
          </a:xfrm>
          <a:prstGeom prst="straightConnector1">
            <a:avLst/>
          </a:prstGeom>
          <a:solidFill>
            <a:srgbClr val="DEE0E3">
              <a:alpha val="100000"/>
            </a:srgbClr>
          </a:solidFill>
          <a:ln w="12700" cap="flat" cmpd="sng">
            <a:solidFill>
              <a:srgbClr val="FFFFFF">
                <a:alpha val="10000"/>
              </a:srgbClr>
            </a:solidFill>
            <a:prstDash val="dash"/>
            <a:round/>
            <a:headEnd type="none" w="med" len="med"/>
            <a:tailEnd type="none" w="med" len="med"/>
          </a:ln>
        </p:spPr>
      </p:cxnSp>
      <p:sp>
        <p:nvSpPr>
          <p:cNvPr id="20" name="AutoShape 20"/>
          <p:cNvSpPr/>
          <p:nvPr/>
        </p:nvSpPr>
        <p:spPr>
          <a:xfrm>
            <a:off x="8191500" y="4381500"/>
            <a:ext cx="3048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FFF">
                    <a:alpha val="70196"/>
                  </a:srgbClr>
                </a:solidFill>
                <a:latin typeface="Noto Sans SC"/>
                <a:ea typeface="Noto Sans SC"/>
                <a:cs typeface="Noto Sans SC"/>
                <a:sym typeface="Noto Sans SC"/>
              </a:rPr>
              <a:t>A unified platform integrating AI-driven analytics, enterprise-grade security, and cross-functional collaboration tools to solve the most pressing operational challenges of modern global enterprises.</a:t>
            </a:r>
            <a:endParaRPr lang="en-US" sz="1100"/>
          </a:p>
        </p:txBody>
      </p:sp>
      <p:sp>
        <p:nvSpPr>
          <p:cNvPr id="21" name="AutoShape 21"/>
          <p:cNvSpPr/>
          <p:nvPr/>
        </p:nvSpPr>
        <p:spPr>
          <a:xfrm>
            <a:off x="762000" y="6096000"/>
            <a:ext cx="10668000" cy="25400"/>
          </a:xfrm>
          <a:prstGeom prst="roundRect">
            <a:avLst>
              <a:gd name="adj" fmla="val 0"/>
            </a:avLst>
          </a:prstGeom>
          <a:solidFill>
            <a:srgbClr val="00FFFF">
              <a:alpha val="15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21212">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890000" y="4445000"/>
            <a:ext cx="5080000" cy="5080000"/>
          </a:xfrm>
          <a:prstGeom prst="ellipse">
            <a:avLst/>
          </a:prstGeom>
          <a:solidFill>
            <a:srgbClr val="00FFFF">
              <a:alpha val="4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270000" y="-1270000"/>
            <a:ext cx="3810000" cy="3810000"/>
          </a:xfrm>
          <a:prstGeom prst="ellipse">
            <a:avLst/>
          </a:prstGeom>
          <a:solidFill>
            <a:srgbClr val="00FFFF">
              <a:alpha val="3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FFFF"/>
                </a:solidFill>
                <a:latin typeface="Poppins"/>
                <a:ea typeface="Poppins"/>
                <a:cs typeface="Poppins"/>
                <a:sym typeface="Poppins"/>
              </a:rPr>
              <a:t>Core Features: The Engine of Efficiency</a:t>
            </a:r>
            <a:endParaRPr lang="en-US" sz="1100"/>
          </a:p>
        </p:txBody>
      </p:sp>
      <p:cxnSp>
        <p:nvCxnSpPr>
          <p:cNvPr id="5" name="Connector 5"/>
          <p:cNvCxnSpPr/>
          <p:nvPr/>
        </p:nvCxnSpPr>
        <p:spPr>
          <a:xfrm rot="-4092">
            <a:off x="762004" y="1517650"/>
            <a:ext cx="10668000" cy="12700"/>
          </a:xfrm>
          <a:prstGeom prst="straightConnector1">
            <a:avLst/>
          </a:prstGeom>
          <a:solidFill>
            <a:srgbClr val="DEE0E3">
              <a:alpha val="100000"/>
            </a:srgbClr>
          </a:solidFill>
          <a:ln w="12700" cap="flat" cmpd="sng">
            <a:solidFill>
              <a:srgbClr val="00FFFF">
                <a:alpha val="20000"/>
              </a:srgbClr>
            </a:solidFill>
            <a:prstDash val="solid"/>
            <a:round/>
            <a:headEnd type="none" w="med" len="med"/>
            <a:tailEnd type="none" w="med" len="med"/>
          </a:ln>
        </p:spPr>
      </p:cxnSp>
      <p:sp>
        <p:nvSpPr>
          <p:cNvPr id="6" name="AutoShape 6"/>
          <p:cNvSpPr/>
          <p:nvPr/>
        </p:nvSpPr>
        <p:spPr>
          <a:xfrm>
            <a:off x="762000" y="2032000"/>
            <a:ext cx="3378200" cy="3429000"/>
          </a:xfrm>
          <a:prstGeom prst="roundRect">
            <a:avLst>
              <a:gd name="adj" fmla="val 0"/>
            </a:avLst>
          </a:prstGeom>
          <a:solidFill>
            <a:srgbClr val="FFFFFF">
              <a:alpha val="4000"/>
            </a:srgbClr>
          </a:solidFill>
          <a:ln w="12700" cap="flat" cmpd="sng">
            <a:solidFill>
              <a:srgbClr val="00FFFF">
                <a:alpha val="25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286000"/>
            <a:ext cx="508000" cy="508000"/>
          </a:xfrm>
          <a:prstGeom prst="rect">
            <a:avLst/>
          </a:prstGeom>
        </p:spPr>
      </p:pic>
      <p:sp>
        <p:nvSpPr>
          <p:cNvPr id="8" name="AutoShape 8"/>
          <p:cNvSpPr/>
          <p:nvPr/>
        </p:nvSpPr>
        <p:spPr>
          <a:xfrm>
            <a:off x="1016000" y="3175000"/>
            <a:ext cx="28702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Poppins"/>
                <a:ea typeface="Poppins"/>
                <a:cs typeface="Poppins"/>
                <a:sym typeface="Poppins"/>
              </a:rPr>
              <a:t>AI-Powered Automation</a:t>
            </a:r>
            <a:endParaRPr lang="en-US" sz="1100"/>
          </a:p>
        </p:txBody>
      </p:sp>
      <p:cxnSp>
        <p:nvCxnSpPr>
          <p:cNvPr id="9" name="Connector 9"/>
          <p:cNvCxnSpPr/>
          <p:nvPr/>
        </p:nvCxnSpPr>
        <p:spPr>
          <a:xfrm rot="-15211">
            <a:off x="1016014" y="3930650"/>
            <a:ext cx="2870200" cy="12700"/>
          </a:xfrm>
          <a:prstGeom prst="straightConnector1">
            <a:avLst/>
          </a:prstGeom>
          <a:solidFill>
            <a:srgbClr val="DEE0E3">
              <a:alpha val="100000"/>
            </a:srgbClr>
          </a:solidFill>
          <a:ln w="12700" cap="flat" cmpd="sng">
            <a:solidFill>
              <a:srgbClr val="00FFFF">
                <a:alpha val="15000"/>
              </a:srgbClr>
            </a:solidFill>
            <a:prstDash val="dash"/>
            <a:round/>
            <a:headEnd type="none" w="med" len="med"/>
            <a:tailEnd type="none" w="med" len="med"/>
          </a:ln>
        </p:spPr>
      </p:cxnSp>
      <p:sp>
        <p:nvSpPr>
          <p:cNvPr id="10" name="AutoShape 10"/>
          <p:cNvSpPr/>
          <p:nvPr/>
        </p:nvSpPr>
        <p:spPr>
          <a:xfrm>
            <a:off x="1016000" y="4191000"/>
            <a:ext cx="28702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E6E6E6">
                    <a:alpha val="85098"/>
                  </a:srgbClr>
                </a:solidFill>
                <a:latin typeface="Poppins"/>
                <a:ea typeface="Poppins"/>
                <a:cs typeface="Poppins"/>
                <a:sym typeface="Poppins"/>
              </a:rPr>
              <a:t>Leverage machine learning to automate repetitive tasks, predict user needs, and optimize workflows, freeing up valuable human resources for high-impact, strategic work.</a:t>
            </a:r>
            <a:endParaRPr lang="en-US" sz="1100"/>
          </a:p>
        </p:txBody>
      </p:sp>
      <p:sp>
        <p:nvSpPr>
          <p:cNvPr id="11" name="AutoShape 11"/>
          <p:cNvSpPr/>
          <p:nvPr/>
        </p:nvSpPr>
        <p:spPr>
          <a:xfrm>
            <a:off x="4406900" y="2032000"/>
            <a:ext cx="3378200" cy="3429000"/>
          </a:xfrm>
          <a:prstGeom prst="roundRect">
            <a:avLst>
              <a:gd name="adj" fmla="val 0"/>
            </a:avLst>
          </a:prstGeom>
          <a:solidFill>
            <a:srgbClr val="FFFFFF">
              <a:alpha val="4000"/>
            </a:srgbClr>
          </a:solidFill>
          <a:ln w="12700" cap="flat" cmpd="sng">
            <a:solidFill>
              <a:srgbClr val="00FFFF">
                <a:alpha val="25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60900" y="2286000"/>
            <a:ext cx="508000" cy="508000"/>
          </a:xfrm>
          <a:prstGeom prst="rect">
            <a:avLst/>
          </a:prstGeom>
        </p:spPr>
      </p:pic>
      <p:sp>
        <p:nvSpPr>
          <p:cNvPr id="13" name="AutoShape 13"/>
          <p:cNvSpPr/>
          <p:nvPr/>
        </p:nvSpPr>
        <p:spPr>
          <a:xfrm>
            <a:off x="4660900" y="3175000"/>
            <a:ext cx="28702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Poppins"/>
                <a:ea typeface="Poppins"/>
                <a:cs typeface="Poppins"/>
                <a:sym typeface="Poppins"/>
              </a:rPr>
              <a:t>Enterprise-Grade Security</a:t>
            </a:r>
            <a:endParaRPr lang="en-US" sz="1100"/>
          </a:p>
        </p:txBody>
      </p:sp>
      <p:cxnSp>
        <p:nvCxnSpPr>
          <p:cNvPr id="14" name="Connector 14"/>
          <p:cNvCxnSpPr/>
          <p:nvPr/>
        </p:nvCxnSpPr>
        <p:spPr>
          <a:xfrm rot="-15211">
            <a:off x="4660914" y="3930650"/>
            <a:ext cx="2870200" cy="12700"/>
          </a:xfrm>
          <a:prstGeom prst="straightConnector1">
            <a:avLst/>
          </a:prstGeom>
          <a:solidFill>
            <a:srgbClr val="DEE0E3">
              <a:alpha val="100000"/>
            </a:srgbClr>
          </a:solidFill>
          <a:ln w="12700" cap="flat" cmpd="sng">
            <a:solidFill>
              <a:srgbClr val="00FFFF">
                <a:alpha val="15000"/>
              </a:srgbClr>
            </a:solidFill>
            <a:prstDash val="dash"/>
            <a:round/>
            <a:headEnd type="none" w="med" len="med"/>
            <a:tailEnd type="none" w="med" len="med"/>
          </a:ln>
        </p:spPr>
      </p:cxnSp>
      <p:sp>
        <p:nvSpPr>
          <p:cNvPr id="15" name="AutoShape 15"/>
          <p:cNvSpPr/>
          <p:nvPr/>
        </p:nvSpPr>
        <p:spPr>
          <a:xfrm>
            <a:off x="4660900" y="4191000"/>
            <a:ext cx="28702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E6E6E6">
                    <a:alpha val="85098"/>
                  </a:srgbClr>
                </a:solidFill>
                <a:latin typeface="Poppins"/>
                <a:ea typeface="Poppins"/>
                <a:cs typeface="Poppins"/>
                <a:sym typeface="Poppins"/>
              </a:rPr>
              <a:t>Benefit from end-to-end encryption, granular role-based access control, and full compliance with global data regulations, ensuring your sensitive data remains impenetrable.</a:t>
            </a:r>
            <a:endParaRPr lang="en-US" sz="1100"/>
          </a:p>
        </p:txBody>
      </p:sp>
      <p:sp>
        <p:nvSpPr>
          <p:cNvPr id="16" name="AutoShape 16"/>
          <p:cNvSpPr/>
          <p:nvPr/>
        </p:nvSpPr>
        <p:spPr>
          <a:xfrm>
            <a:off x="8051800" y="2032000"/>
            <a:ext cx="3378200" cy="3429000"/>
          </a:xfrm>
          <a:prstGeom prst="roundRect">
            <a:avLst>
              <a:gd name="adj" fmla="val 0"/>
            </a:avLst>
          </a:prstGeom>
          <a:solidFill>
            <a:srgbClr val="FFFFFF">
              <a:alpha val="4000"/>
            </a:srgbClr>
          </a:solidFill>
          <a:ln w="12700" cap="flat" cmpd="sng">
            <a:solidFill>
              <a:srgbClr val="00FFFF">
                <a:alpha val="25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05800" y="2286000"/>
            <a:ext cx="508000" cy="508000"/>
          </a:xfrm>
          <a:prstGeom prst="rect">
            <a:avLst/>
          </a:prstGeom>
        </p:spPr>
      </p:pic>
      <p:sp>
        <p:nvSpPr>
          <p:cNvPr id="18" name="AutoShape 18"/>
          <p:cNvSpPr/>
          <p:nvPr/>
        </p:nvSpPr>
        <p:spPr>
          <a:xfrm>
            <a:off x="8305800" y="3175000"/>
            <a:ext cx="28702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Poppins"/>
                <a:ea typeface="Poppins"/>
                <a:cs typeface="Poppins"/>
                <a:sym typeface="Poppins"/>
              </a:rPr>
              <a:t>Seamless Integration Hub</a:t>
            </a:r>
            <a:endParaRPr lang="en-US" sz="1100"/>
          </a:p>
        </p:txBody>
      </p:sp>
      <p:cxnSp>
        <p:nvCxnSpPr>
          <p:cNvPr id="19" name="Connector 19"/>
          <p:cNvCxnSpPr/>
          <p:nvPr/>
        </p:nvCxnSpPr>
        <p:spPr>
          <a:xfrm rot="-15211">
            <a:off x="8305814" y="3930650"/>
            <a:ext cx="2870200" cy="12700"/>
          </a:xfrm>
          <a:prstGeom prst="straightConnector1">
            <a:avLst/>
          </a:prstGeom>
          <a:solidFill>
            <a:srgbClr val="DEE0E3">
              <a:alpha val="100000"/>
            </a:srgbClr>
          </a:solidFill>
          <a:ln w="12700" cap="flat" cmpd="sng">
            <a:solidFill>
              <a:srgbClr val="00FFFF">
                <a:alpha val="15000"/>
              </a:srgbClr>
            </a:solidFill>
            <a:prstDash val="dash"/>
            <a:round/>
            <a:headEnd type="none" w="med" len="med"/>
            <a:tailEnd type="none" w="med" len="med"/>
          </a:ln>
        </p:spPr>
      </p:cxnSp>
      <p:sp>
        <p:nvSpPr>
          <p:cNvPr id="20" name="AutoShape 20"/>
          <p:cNvSpPr/>
          <p:nvPr/>
        </p:nvSpPr>
        <p:spPr>
          <a:xfrm>
            <a:off x="8305800" y="4191000"/>
            <a:ext cx="28702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E6E6E6">
                    <a:alpha val="85098"/>
                  </a:srgbClr>
                </a:solidFill>
                <a:latin typeface="Poppins"/>
                <a:ea typeface="Poppins"/>
                <a:cs typeface="Poppins"/>
                <a:sym typeface="Poppins"/>
              </a:rPr>
              <a:t>Connect effortlessly with your existing tech stack using our robust API library and pre-built connectors for leading business applications, creating a unified, efficient ecosystem.</a:t>
            </a:r>
            <a:endParaRPr lang="en-US" sz="1100"/>
          </a:p>
        </p:txBody>
      </p:sp>
      <p:sp>
        <p:nvSpPr>
          <p:cNvPr id="21" name="AutoShape 21"/>
          <p:cNvSpPr/>
          <p:nvPr/>
        </p:nvSpPr>
        <p:spPr>
          <a:xfrm>
            <a:off x="762000" y="5842000"/>
            <a:ext cx="10668000" cy="635000"/>
          </a:xfrm>
          <a:prstGeom prst="roundRect">
            <a:avLst>
              <a:gd name="adj" fmla="val 0"/>
            </a:avLst>
          </a:prstGeom>
          <a:solidFill>
            <a:srgbClr val="00FFFF">
              <a:alpha val="6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762000" y="5842000"/>
            <a:ext cx="50800" cy="635000"/>
          </a:xfrm>
          <a:prstGeom prst="roundRect">
            <a:avLst>
              <a:gd name="adj" fmla="val 0"/>
            </a:avLst>
          </a:prstGeom>
          <a:solidFill>
            <a:srgbClr val="00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1016000" y="5842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alpha val="90196"/>
                  </a:srgbClr>
                </a:solidFill>
                <a:latin typeface="Poppins"/>
                <a:ea typeface="Poppins"/>
                <a:cs typeface="Poppins"/>
                <a:sym typeface="Poppins"/>
              </a:rPr>
              <a:t>Together, these pillars form a robust foundation that drives operational excellence and scalability for businesses of all sizes.</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21212">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0" y="-1905000"/>
            <a:ext cx="7620000" cy="7620000"/>
          </a:xfrm>
          <a:prstGeom prst="ellipse">
            <a:avLst/>
          </a:prstGeom>
          <a:solidFill>
            <a:srgbClr val="00FFFF">
              <a:alpha val="3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270000" y="4445000"/>
            <a:ext cx="6350000" cy="5080000"/>
          </a:xfrm>
          <a:prstGeom prst="ellipse">
            <a:avLst/>
          </a:prstGeom>
          <a:solidFill>
            <a:srgbClr val="00FFFF">
              <a:alpha val="2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FFFF"/>
                </a:solidFill>
                <a:latin typeface="Poppins"/>
                <a:ea typeface="Poppins"/>
                <a:cs typeface="Poppins"/>
                <a:sym typeface="Poppins"/>
              </a:rPr>
              <a:t>Technical Architecture: Built for Scale and Reliability</a:t>
            </a:r>
            <a:endParaRPr lang="en-US" sz="1100"/>
          </a:p>
        </p:txBody>
      </p:sp>
      <p:cxnSp>
        <p:nvCxnSpPr>
          <p:cNvPr id="5" name="Connector 5"/>
          <p:cNvCxnSpPr/>
          <p:nvPr/>
        </p:nvCxnSpPr>
        <p:spPr>
          <a:xfrm rot="-4092">
            <a:off x="762004" y="1771650"/>
            <a:ext cx="10668000" cy="12700"/>
          </a:xfrm>
          <a:prstGeom prst="straightConnector1">
            <a:avLst/>
          </a:prstGeom>
          <a:solidFill>
            <a:srgbClr val="DEE0E3">
              <a:alpha val="100000"/>
            </a:srgbClr>
          </a:solidFill>
          <a:ln w="12700" cap="flat" cmpd="sng">
            <a:solidFill>
              <a:srgbClr val="00FFFF">
                <a:alpha val="20000"/>
              </a:srgbClr>
            </a:solidFill>
            <a:prstDash val="solid"/>
            <a:round/>
            <a:headEnd type="none" w="med" len="med"/>
            <a:tailEnd type="none" w="med" len="med"/>
          </a:ln>
        </p:spPr>
      </p:cxnSp>
      <p:sp>
        <p:nvSpPr>
          <p:cNvPr id="6" name="AutoShape 6"/>
          <p:cNvSpPr/>
          <p:nvPr/>
        </p:nvSpPr>
        <p:spPr>
          <a:xfrm>
            <a:off x="762000" y="2095500"/>
            <a:ext cx="3429000" cy="1397000"/>
          </a:xfrm>
          <a:prstGeom prst="roundRect">
            <a:avLst>
              <a:gd name="adj" fmla="val 0"/>
            </a:avLst>
          </a:prstGeom>
          <a:solidFill>
            <a:srgbClr val="FFFFFF">
              <a:alpha val="5000"/>
            </a:srgbClr>
          </a:solidFill>
          <a:ln w="12700" cap="flat" cmpd="sng">
            <a:solidFill>
              <a:srgbClr val="00FFFF">
                <a:alpha val="4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286000"/>
            <a:ext cx="457200" cy="457200"/>
          </a:xfrm>
          <a:prstGeom prst="rect">
            <a:avLst/>
          </a:prstGeom>
        </p:spPr>
      </p:pic>
      <p:sp>
        <p:nvSpPr>
          <p:cNvPr id="8" name="AutoShape 8"/>
          <p:cNvSpPr/>
          <p:nvPr/>
        </p:nvSpPr>
        <p:spPr>
          <a:xfrm>
            <a:off x="1651000" y="2222500"/>
            <a:ext cx="2413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Client Layer</a:t>
            </a:r>
            <a:endParaRPr lang="en-US" sz="1100"/>
          </a:p>
          <a:p>
            <a:pPr marL="0" indent="0" algn="l">
              <a:lnSpc>
                <a:spcPct val="108000"/>
              </a:lnSpc>
            </a:pPr>
            <a:r>
              <a:rPr lang="en-US" sz="1200" b="0" i="0" u="none" strike="noStrike">
                <a:solidFill>
                  <a:srgbClr val="FFFFFF">
                    <a:alpha val="70196"/>
                  </a:srgbClr>
                </a:solidFill>
                <a:latin typeface="Poppins"/>
                <a:ea typeface="Poppins"/>
                <a:cs typeface="Poppins"/>
                <a:sym typeface="Poppins"/>
              </a:rPr>
              <a:t>Cross-platform access via Web Apps, Native Mobile (iOS/Android), and IoT endpoints for seamless user interaction.</a:t>
            </a:r>
            <a:endParaRPr lang="en-US" sz="1200" b="0" i="0" u="none" strike="noStrike">
              <a:solidFill>
                <a:srgbClr val="FFFFFF">
                  <a:alpha val="70196"/>
                </a:srgbClr>
              </a:solidFill>
              <a:latin typeface="Poppins"/>
              <a:ea typeface="Poppins"/>
              <a:cs typeface="Poppins"/>
              <a:sym typeface="Poppins"/>
            </a:endParaRPr>
          </a:p>
        </p:txBody>
      </p:sp>
      <p:sp>
        <p:nvSpPr>
          <p:cNvPr id="9" name="AutoShape 9"/>
          <p:cNvSpPr/>
          <p:nvPr/>
        </p:nvSpPr>
        <p:spPr>
          <a:xfrm>
            <a:off x="4381500" y="2095500"/>
            <a:ext cx="3429000" cy="1397000"/>
          </a:xfrm>
          <a:prstGeom prst="roundRect">
            <a:avLst>
              <a:gd name="adj" fmla="val 0"/>
            </a:avLst>
          </a:prstGeom>
          <a:solidFill>
            <a:srgbClr val="FFFFFF">
              <a:alpha val="5000"/>
            </a:srgbClr>
          </a:solidFill>
          <a:ln w="12700" cap="flat" cmpd="sng">
            <a:solidFill>
              <a:srgbClr val="00FFFF">
                <a:alpha val="4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35500" y="2286000"/>
            <a:ext cx="457200" cy="457200"/>
          </a:xfrm>
          <a:prstGeom prst="rect">
            <a:avLst/>
          </a:prstGeom>
        </p:spPr>
      </p:pic>
      <p:sp>
        <p:nvSpPr>
          <p:cNvPr id="11" name="AutoShape 11"/>
          <p:cNvSpPr/>
          <p:nvPr/>
        </p:nvSpPr>
        <p:spPr>
          <a:xfrm>
            <a:off x="5270500" y="2222500"/>
            <a:ext cx="2413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Unified API Gateway</a:t>
            </a:r>
            <a:endParaRPr lang="en-US" sz="1100"/>
          </a:p>
          <a:p>
            <a:pPr marL="0" indent="0" algn="l">
              <a:lnSpc>
                <a:spcPct val="108000"/>
              </a:lnSpc>
            </a:pPr>
            <a:r>
              <a:rPr lang="en-US" sz="1200" b="0" i="0" u="none" strike="noStrike">
                <a:solidFill>
                  <a:srgbClr val="FFFFFF">
                    <a:alpha val="70196"/>
                  </a:srgbClr>
                </a:solidFill>
                <a:latin typeface="Poppins"/>
                <a:ea typeface="Poppins"/>
                <a:cs typeface="Poppins"/>
                <a:sym typeface="Poppins"/>
              </a:rPr>
              <a:t>Centralized traffic management with load balancing, authentication, rate limiting, and request routing to backend services.</a:t>
            </a:r>
            <a:endParaRPr lang="en-US" sz="1200" b="0" i="0" u="none" strike="noStrike">
              <a:solidFill>
                <a:srgbClr val="FFFFFF">
                  <a:alpha val="70196"/>
                </a:srgbClr>
              </a:solidFill>
              <a:latin typeface="Poppins"/>
              <a:ea typeface="Poppins"/>
              <a:cs typeface="Poppins"/>
              <a:sym typeface="Poppins"/>
            </a:endParaRPr>
          </a:p>
        </p:txBody>
      </p:sp>
      <p:sp>
        <p:nvSpPr>
          <p:cNvPr id="12" name="AutoShape 12"/>
          <p:cNvSpPr/>
          <p:nvPr/>
        </p:nvSpPr>
        <p:spPr>
          <a:xfrm>
            <a:off x="8001000" y="2095500"/>
            <a:ext cx="3429000" cy="1397000"/>
          </a:xfrm>
          <a:prstGeom prst="roundRect">
            <a:avLst>
              <a:gd name="adj" fmla="val 0"/>
            </a:avLst>
          </a:prstGeom>
          <a:solidFill>
            <a:srgbClr val="FFFFFF">
              <a:alpha val="5000"/>
            </a:srgbClr>
          </a:solidFill>
          <a:ln w="12700" cap="flat" cmpd="sng">
            <a:solidFill>
              <a:srgbClr val="00FFFF">
                <a:alpha val="4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55000" y="2286000"/>
            <a:ext cx="457200" cy="457200"/>
          </a:xfrm>
          <a:prstGeom prst="rect">
            <a:avLst/>
          </a:prstGeom>
        </p:spPr>
      </p:pic>
      <p:sp>
        <p:nvSpPr>
          <p:cNvPr id="14" name="AutoShape 14"/>
          <p:cNvSpPr/>
          <p:nvPr/>
        </p:nvSpPr>
        <p:spPr>
          <a:xfrm>
            <a:off x="8890000" y="2222500"/>
            <a:ext cx="2413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Microservices Core</a:t>
            </a:r>
            <a:endParaRPr lang="en-US" sz="1100"/>
          </a:p>
          <a:p>
            <a:pPr marL="0" indent="0" algn="l">
              <a:lnSpc>
                <a:spcPct val="108000"/>
              </a:lnSpc>
            </a:pPr>
            <a:r>
              <a:rPr lang="en-US" sz="1200" b="0" i="0" u="none" strike="noStrike">
                <a:solidFill>
                  <a:srgbClr val="FFFFFF">
                    <a:alpha val="70196"/>
                  </a:srgbClr>
                </a:solidFill>
                <a:latin typeface="Poppins"/>
                <a:ea typeface="Poppins"/>
                <a:cs typeface="Poppins"/>
                <a:sym typeface="Poppins"/>
              </a:rPr>
              <a:t>Decoupled services for Auth, Data Processing, AI Engine, and Business Logic ensure modularity and independent scaling.</a:t>
            </a:r>
            <a:endParaRPr lang="en-US" sz="1200" b="0" i="0" u="none" strike="noStrike">
              <a:solidFill>
                <a:srgbClr val="FFFFFF">
                  <a:alpha val="70196"/>
                </a:srgbClr>
              </a:solidFill>
              <a:latin typeface="Poppins"/>
              <a:ea typeface="Poppins"/>
              <a:cs typeface="Poppins"/>
              <a:sym typeface="Poppins"/>
            </a:endParaRPr>
          </a:p>
        </p:txBody>
      </p:sp>
      <p:sp>
        <p:nvSpPr>
          <p:cNvPr id="15" name="AutoShape 15"/>
          <p:cNvSpPr/>
          <p:nvPr/>
        </p:nvSpPr>
        <p:spPr>
          <a:xfrm>
            <a:off x="762000" y="3810000"/>
            <a:ext cx="5232400" cy="1460500"/>
          </a:xfrm>
          <a:prstGeom prst="roundRect">
            <a:avLst>
              <a:gd name="adj" fmla="val 0"/>
            </a:avLst>
          </a:prstGeom>
          <a:solidFill>
            <a:srgbClr val="FFFFFF">
              <a:alpha val="5000"/>
            </a:srgbClr>
          </a:solidFill>
          <a:ln w="12700" cap="flat" cmpd="sng">
            <a:solidFill>
              <a:srgbClr val="00FFFF">
                <a:alpha val="4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000500"/>
            <a:ext cx="457200" cy="457200"/>
          </a:xfrm>
          <a:prstGeom prst="rect">
            <a:avLst/>
          </a:prstGeom>
        </p:spPr>
      </p:pic>
      <p:sp>
        <p:nvSpPr>
          <p:cNvPr id="17" name="AutoShape 17"/>
          <p:cNvSpPr/>
          <p:nvPr/>
        </p:nvSpPr>
        <p:spPr>
          <a:xfrm>
            <a:off x="1651000" y="3937000"/>
            <a:ext cx="406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Distributed Data Layer</a:t>
            </a:r>
            <a:endParaRPr lang="en-US" sz="1100"/>
          </a:p>
          <a:p>
            <a:pPr marL="0" indent="0" algn="l">
              <a:lnSpc>
                <a:spcPct val="108000"/>
              </a:lnSpc>
            </a:pPr>
            <a:r>
              <a:rPr lang="en-US" sz="1200" b="0" i="0" u="none" strike="noStrike">
                <a:solidFill>
                  <a:srgbClr val="FFFFFF">
                    <a:alpha val="70196"/>
                  </a:srgbClr>
                </a:solidFill>
                <a:latin typeface="Poppins"/>
                <a:ea typeface="Poppins"/>
                <a:cs typeface="Poppins"/>
                <a:sym typeface="Poppins"/>
              </a:rPr>
              <a:t>Hybrid persistence with SQL for transactions, NoSQL for unstructured data, and in-memory caching (Redis) for low-latency access. Event streaming pipelines enable real-time data ingestion.</a:t>
            </a:r>
            <a:endParaRPr lang="en-US" sz="1200" b="0" i="0" u="none" strike="noStrike">
              <a:solidFill>
                <a:srgbClr val="FFFFFF">
                  <a:alpha val="70196"/>
                </a:srgbClr>
              </a:solidFill>
              <a:latin typeface="Poppins"/>
              <a:ea typeface="Poppins"/>
              <a:cs typeface="Poppins"/>
              <a:sym typeface="Poppins"/>
            </a:endParaRPr>
          </a:p>
        </p:txBody>
      </p:sp>
      <p:sp>
        <p:nvSpPr>
          <p:cNvPr id="18" name="AutoShape 18"/>
          <p:cNvSpPr/>
          <p:nvPr/>
        </p:nvSpPr>
        <p:spPr>
          <a:xfrm>
            <a:off x="6197600" y="3810000"/>
            <a:ext cx="5232400" cy="1460500"/>
          </a:xfrm>
          <a:prstGeom prst="roundRect">
            <a:avLst>
              <a:gd name="adj" fmla="val 0"/>
            </a:avLst>
          </a:prstGeom>
          <a:solidFill>
            <a:srgbClr val="FFFFFF">
              <a:alpha val="5000"/>
            </a:srgbClr>
          </a:solidFill>
          <a:ln w="12700" cap="flat" cmpd="sng">
            <a:solidFill>
              <a:srgbClr val="00FFFF">
                <a:alpha val="40000"/>
              </a:srgbClr>
            </a:solid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51600" y="4000500"/>
            <a:ext cx="457200" cy="457200"/>
          </a:xfrm>
          <a:prstGeom prst="rect">
            <a:avLst/>
          </a:prstGeom>
        </p:spPr>
      </p:pic>
      <p:sp>
        <p:nvSpPr>
          <p:cNvPr id="20" name="AutoShape 20"/>
          <p:cNvSpPr/>
          <p:nvPr/>
        </p:nvSpPr>
        <p:spPr>
          <a:xfrm>
            <a:off x="7086600" y="3937000"/>
            <a:ext cx="406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Cloud-Native Infrastructure</a:t>
            </a:r>
            <a:endParaRPr lang="en-US" sz="1100"/>
          </a:p>
          <a:p>
            <a:pPr marL="0" indent="0" algn="l">
              <a:lnSpc>
                <a:spcPct val="108000"/>
              </a:lnSpc>
            </a:pPr>
            <a:r>
              <a:rPr lang="en-US" sz="1200" b="0" i="0" u="none" strike="noStrike">
                <a:solidFill>
                  <a:srgbClr val="FFFFFF">
                    <a:alpha val="70196"/>
                  </a:srgbClr>
                </a:solidFill>
                <a:latin typeface="Poppins"/>
                <a:ea typeface="Poppins"/>
                <a:cs typeface="Poppins"/>
                <a:sym typeface="Poppins"/>
              </a:rPr>
              <a:t>Kubernetes orchestration for containerized workloads across global cloud regions. Auto-scaling groups and serverless functions ensure cost efficiency and resilience against outages.</a:t>
            </a:r>
            <a:endParaRPr lang="en-US" sz="1200" b="0" i="0" u="none" strike="noStrike">
              <a:solidFill>
                <a:srgbClr val="FFFFFF">
                  <a:alpha val="70196"/>
                </a:srgbClr>
              </a:solidFill>
              <a:latin typeface="Poppins"/>
              <a:ea typeface="Poppins"/>
              <a:cs typeface="Poppins"/>
              <a:sym typeface="Poppins"/>
            </a:endParaRPr>
          </a:p>
        </p:txBody>
      </p:sp>
      <p:cxnSp>
        <p:nvCxnSpPr>
          <p:cNvPr id="21" name="Connector 21"/>
          <p:cNvCxnSpPr/>
          <p:nvPr/>
        </p:nvCxnSpPr>
        <p:spPr>
          <a:xfrm rot="-4092">
            <a:off x="762004" y="5581650"/>
            <a:ext cx="10668000" cy="12700"/>
          </a:xfrm>
          <a:prstGeom prst="straightConnector1">
            <a:avLst/>
          </a:prstGeom>
          <a:solidFill>
            <a:srgbClr val="DEE0E3">
              <a:alpha val="100000"/>
            </a:srgbClr>
          </a:solidFill>
          <a:ln w="12700" cap="flat" cmpd="sng">
            <a:solidFill>
              <a:srgbClr val="00FFFF">
                <a:alpha val="15000"/>
              </a:srgbClr>
            </a:solidFill>
            <a:prstDash val="dash"/>
            <a:round/>
            <a:headEnd type="none" w="med" len="med"/>
            <a:tailEnd type="none" w="med" len="med"/>
          </a:ln>
        </p:spPr>
      </p:cxnSp>
      <p:sp>
        <p:nvSpPr>
          <p:cNvPr id="22" name="AutoShape 22"/>
          <p:cNvSpPr/>
          <p:nvPr/>
        </p:nvSpPr>
        <p:spPr>
          <a:xfrm>
            <a:off x="762000" y="5778500"/>
            <a:ext cx="3429000" cy="889000"/>
          </a:xfrm>
          <a:prstGeom prst="roundRect">
            <a:avLst>
              <a:gd name="adj" fmla="val 0"/>
            </a:avLst>
          </a:prstGeom>
          <a:solidFill>
            <a:srgbClr val="00FFFF">
              <a:alpha val="8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762000" y="5778500"/>
            <a:ext cx="50800" cy="889000"/>
          </a:xfrm>
          <a:prstGeom prst="roundRect">
            <a:avLst>
              <a:gd name="adj" fmla="val 0"/>
            </a:avLst>
          </a:prstGeom>
          <a:solidFill>
            <a:srgbClr val="00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952500" y="5842000"/>
            <a:ext cx="3111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FFFF"/>
                </a:solidFill>
                <a:latin typeface="Poppins"/>
                <a:ea typeface="Poppins"/>
                <a:cs typeface="Poppins"/>
                <a:sym typeface="Poppins"/>
              </a:rPr>
              <a:t>Fault-Tolerant &amp; Resilient</a:t>
            </a:r>
            <a:endParaRPr lang="en-US" sz="1100"/>
          </a:p>
          <a:p>
            <a:pPr marL="0" indent="0" algn="l">
              <a:lnSpc>
                <a:spcPct val="125000"/>
              </a:lnSpc>
            </a:pPr>
            <a:r>
              <a:rPr lang="en-US" sz="1100" b="0" i="0" u="none" strike="noStrike">
                <a:solidFill>
                  <a:srgbClr val="FFFFFF">
                    <a:alpha val="60000"/>
                  </a:srgbClr>
                </a:solidFill>
                <a:latin typeface="Poppins"/>
                <a:ea typeface="Poppins"/>
                <a:cs typeface="Poppins"/>
                <a:sym typeface="Poppins"/>
              </a:rPr>
              <a:t>Isolated microservices prevent cascading failures, ensuring 99.99% uptime SLA.</a:t>
            </a:r>
            <a:endParaRPr lang="en-US" sz="1100" b="0" i="0" u="none" strike="noStrike">
              <a:solidFill>
                <a:srgbClr val="FFFFFF">
                  <a:alpha val="60000"/>
                </a:srgbClr>
              </a:solidFill>
              <a:latin typeface="Poppins"/>
              <a:ea typeface="Poppins"/>
              <a:cs typeface="Poppins"/>
              <a:sym typeface="Poppins"/>
            </a:endParaRPr>
          </a:p>
        </p:txBody>
      </p:sp>
      <p:sp>
        <p:nvSpPr>
          <p:cNvPr id="25" name="AutoShape 25"/>
          <p:cNvSpPr/>
          <p:nvPr/>
        </p:nvSpPr>
        <p:spPr>
          <a:xfrm>
            <a:off x="4381500" y="5778500"/>
            <a:ext cx="3429000" cy="889000"/>
          </a:xfrm>
          <a:prstGeom prst="roundRect">
            <a:avLst>
              <a:gd name="adj" fmla="val 0"/>
            </a:avLst>
          </a:prstGeom>
          <a:solidFill>
            <a:srgbClr val="00FFFF">
              <a:alpha val="8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4381500" y="5778500"/>
            <a:ext cx="50800" cy="889000"/>
          </a:xfrm>
          <a:prstGeom prst="roundRect">
            <a:avLst>
              <a:gd name="adj" fmla="val 0"/>
            </a:avLst>
          </a:prstGeom>
          <a:solidFill>
            <a:srgbClr val="00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4572000" y="5842000"/>
            <a:ext cx="3111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FFFF"/>
                </a:solidFill>
                <a:latin typeface="Poppins"/>
                <a:ea typeface="Poppins"/>
                <a:cs typeface="Poppins"/>
                <a:sym typeface="Poppins"/>
              </a:rPr>
              <a:t>Elastically Scalable</a:t>
            </a:r>
            <a:endParaRPr lang="en-US" sz="1100"/>
          </a:p>
          <a:p>
            <a:pPr marL="0" indent="0" algn="l">
              <a:lnSpc>
                <a:spcPct val="125000"/>
              </a:lnSpc>
            </a:pPr>
            <a:r>
              <a:rPr lang="en-US" sz="1100" b="0" i="0" u="none" strike="noStrike">
                <a:solidFill>
                  <a:srgbClr val="FFFFFF">
                    <a:alpha val="60000"/>
                  </a:srgbClr>
                </a:solidFill>
                <a:latin typeface="Poppins"/>
                <a:ea typeface="Poppins"/>
                <a:cs typeface="Poppins"/>
                <a:sym typeface="Poppins"/>
              </a:rPr>
              <a:t>Auto-scale compute resources dynamically based on traffic spikes and load patterns.</a:t>
            </a:r>
            <a:endParaRPr lang="en-US" sz="1100" b="0" i="0" u="none" strike="noStrike">
              <a:solidFill>
                <a:srgbClr val="FFFFFF">
                  <a:alpha val="60000"/>
                </a:srgbClr>
              </a:solidFill>
              <a:latin typeface="Poppins"/>
              <a:ea typeface="Poppins"/>
              <a:cs typeface="Poppins"/>
              <a:sym typeface="Poppins"/>
            </a:endParaRPr>
          </a:p>
        </p:txBody>
      </p:sp>
      <p:sp>
        <p:nvSpPr>
          <p:cNvPr id="28" name="AutoShape 28"/>
          <p:cNvSpPr/>
          <p:nvPr/>
        </p:nvSpPr>
        <p:spPr>
          <a:xfrm>
            <a:off x="8001000" y="5778500"/>
            <a:ext cx="3429000" cy="889000"/>
          </a:xfrm>
          <a:prstGeom prst="roundRect">
            <a:avLst>
              <a:gd name="adj" fmla="val 0"/>
            </a:avLst>
          </a:prstGeom>
          <a:solidFill>
            <a:srgbClr val="00FFFF">
              <a:alpha val="8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8001000" y="5778500"/>
            <a:ext cx="50800" cy="889000"/>
          </a:xfrm>
          <a:prstGeom prst="roundRect">
            <a:avLst>
              <a:gd name="adj" fmla="val 0"/>
            </a:avLst>
          </a:prstGeom>
          <a:solidFill>
            <a:srgbClr val="00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8191500" y="5842000"/>
            <a:ext cx="3111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FFFF"/>
                </a:solidFill>
                <a:latin typeface="Poppins"/>
                <a:ea typeface="Poppins"/>
                <a:cs typeface="Poppins"/>
                <a:sym typeface="Poppins"/>
              </a:rPr>
              <a:t>Real-Time Intelligence</a:t>
            </a:r>
            <a:endParaRPr lang="en-US" sz="1100"/>
          </a:p>
          <a:p>
            <a:pPr marL="0" indent="0" algn="l">
              <a:lnSpc>
                <a:spcPct val="125000"/>
              </a:lnSpc>
            </a:pPr>
            <a:r>
              <a:rPr lang="en-US" sz="1100" b="0" i="0" u="none" strike="noStrike">
                <a:solidFill>
                  <a:srgbClr val="FFFFFF">
                    <a:alpha val="60000"/>
                  </a:srgbClr>
                </a:solidFill>
                <a:latin typeface="Poppins"/>
                <a:ea typeface="Poppins"/>
                <a:cs typeface="Poppins"/>
                <a:sym typeface="Poppins"/>
              </a:rPr>
              <a:t>Event-driven pipelines process data streams in milliseconds for instant insights.</a:t>
            </a:r>
            <a:endParaRPr lang="en-US" sz="1100" b="0" i="0" u="none" strike="noStrike">
              <a:solidFill>
                <a:srgbClr val="FFFFFF">
                  <a:alpha val="60000"/>
                </a:srgbClr>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21212">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FFFF"/>
                </a:solidFill>
                <a:latin typeface="Poppins"/>
                <a:ea typeface="Poppins"/>
                <a:cs typeface="Poppins"/>
                <a:sym typeface="Poppins"/>
              </a:rPr>
              <a:t>Value Realization: Tangible Business Impact</a:t>
            </a:r>
            <a:endParaRPr lang="en-US" sz="1100"/>
          </a:p>
        </p:txBody>
      </p:sp>
      <p:sp>
        <p:nvSpPr>
          <p:cNvPr id="3" name="AutoShape 3"/>
          <p:cNvSpPr/>
          <p:nvPr/>
        </p:nvSpPr>
        <p:spPr>
          <a:xfrm>
            <a:off x="762000" y="1460500"/>
            <a:ext cx="10668000" cy="12700"/>
          </a:xfrm>
          <a:prstGeom prst="roundRect">
            <a:avLst>
              <a:gd name="adj" fmla="val 0"/>
            </a:avLst>
          </a:prstGeom>
          <a:solidFill>
            <a:srgbClr val="00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2032000"/>
            <a:ext cx="5270500" cy="1841500"/>
          </a:xfrm>
          <a:prstGeom prst="roundRect">
            <a:avLst>
              <a:gd name="adj" fmla="val 0"/>
            </a:avLst>
          </a:prstGeom>
          <a:solidFill>
            <a:srgbClr val="FFFFFF">
              <a:alpha val="5000"/>
            </a:srgbClr>
          </a:solidFill>
          <a:ln w="12700" cap="flat" cmpd="sng">
            <a:solidFill>
              <a:srgbClr val="00FFFF">
                <a:alpha val="2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286000"/>
            <a:ext cx="508000" cy="508000"/>
          </a:xfrm>
          <a:prstGeom prst="rect">
            <a:avLst/>
          </a:prstGeom>
        </p:spPr>
      </p:pic>
      <p:sp>
        <p:nvSpPr>
          <p:cNvPr id="6" name="AutoShape 6"/>
          <p:cNvSpPr/>
          <p:nvPr/>
        </p:nvSpPr>
        <p:spPr>
          <a:xfrm>
            <a:off x="1778000" y="2222500"/>
            <a:ext cx="400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Poppins"/>
                <a:ea typeface="Poppins"/>
                <a:cs typeface="Poppins"/>
                <a:sym typeface="Poppins"/>
              </a:rPr>
              <a:t>Operational Efficiency</a:t>
            </a:r>
            <a:endParaRPr lang="en-US" sz="1100"/>
          </a:p>
        </p:txBody>
      </p:sp>
      <p:cxnSp>
        <p:nvCxnSpPr>
          <p:cNvPr id="7" name="Connector 7"/>
          <p:cNvCxnSpPr/>
          <p:nvPr/>
        </p:nvCxnSpPr>
        <p:spPr>
          <a:xfrm rot="-10913">
            <a:off x="1778010" y="2724150"/>
            <a:ext cx="4000500" cy="12700"/>
          </a:xfrm>
          <a:prstGeom prst="straightConnector1">
            <a:avLst/>
          </a:prstGeom>
          <a:solidFill>
            <a:srgbClr val="DEE0E3">
              <a:alpha val="100000"/>
            </a:srgbClr>
          </a:solidFill>
          <a:ln w="12700" cap="flat" cmpd="sng">
            <a:solidFill>
              <a:srgbClr val="00FFFF">
                <a:alpha val="20000"/>
              </a:srgbClr>
            </a:solidFill>
            <a:prstDash val="dash"/>
            <a:round/>
            <a:headEnd type="none" w="med" len="med"/>
            <a:tailEnd type="none" w="med" len="med"/>
          </a:ln>
        </p:spPr>
      </p:cxnSp>
      <p:sp>
        <p:nvSpPr>
          <p:cNvPr id="8" name="AutoShape 8"/>
          <p:cNvSpPr/>
          <p:nvPr/>
        </p:nvSpPr>
        <p:spPr>
          <a:xfrm>
            <a:off x="1778000" y="2921000"/>
            <a:ext cx="4000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E5E7EB">
                    <a:alpha val="90196"/>
                  </a:srgbClr>
                </a:solidFill>
                <a:latin typeface="Poppins"/>
                <a:ea typeface="Poppins"/>
                <a:cs typeface="Poppins"/>
                <a:sym typeface="Poppins"/>
              </a:rPr>
              <a:t>Streamline workflows and reduce manual effort, leading to an average</a:t>
            </a:r>
            <a:r>
              <a:rPr lang="en-US" sz="1600" b="1" i="0" u="none" strike="noStrike">
                <a:solidFill>
                  <a:srgbClr val="00FFFF"/>
                </a:solidFill>
                <a:latin typeface="Poppins"/>
                <a:ea typeface="Poppins"/>
                <a:cs typeface="Poppins"/>
                <a:sym typeface="Poppins"/>
              </a:rPr>
              <a:t>35% increase</a:t>
            </a:r>
            <a:r>
              <a:rPr lang="en-US" sz="1400" b="0" i="0" u="none" strike="noStrike">
                <a:solidFill>
                  <a:srgbClr val="E5E7EB">
                    <a:alpha val="90196"/>
                  </a:srgbClr>
                </a:solidFill>
                <a:latin typeface="Poppins"/>
                <a:ea typeface="Poppins"/>
                <a:cs typeface="Poppins"/>
                <a:sym typeface="Poppins"/>
              </a:rPr>
              <a:t>in team productivity across core business processes.</a:t>
            </a:r>
            <a:endParaRPr lang="en-US" sz="1100"/>
          </a:p>
        </p:txBody>
      </p:sp>
      <p:sp>
        <p:nvSpPr>
          <p:cNvPr id="9" name="AutoShape 9"/>
          <p:cNvSpPr/>
          <p:nvPr/>
        </p:nvSpPr>
        <p:spPr>
          <a:xfrm>
            <a:off x="6286500" y="2032000"/>
            <a:ext cx="5270500" cy="1841500"/>
          </a:xfrm>
          <a:prstGeom prst="roundRect">
            <a:avLst>
              <a:gd name="adj" fmla="val 0"/>
            </a:avLst>
          </a:prstGeom>
          <a:solidFill>
            <a:srgbClr val="FFFFFF">
              <a:alpha val="5000"/>
            </a:srgbClr>
          </a:solidFill>
          <a:ln w="12700" cap="flat" cmpd="sng">
            <a:solidFill>
              <a:srgbClr val="00FFFF">
                <a:alpha val="2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2286000"/>
            <a:ext cx="508000" cy="508000"/>
          </a:xfrm>
          <a:prstGeom prst="rect">
            <a:avLst/>
          </a:prstGeom>
        </p:spPr>
      </p:pic>
      <p:sp>
        <p:nvSpPr>
          <p:cNvPr id="11" name="AutoShape 11"/>
          <p:cNvSpPr/>
          <p:nvPr/>
        </p:nvSpPr>
        <p:spPr>
          <a:xfrm>
            <a:off x="7302500" y="2222500"/>
            <a:ext cx="400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Poppins"/>
                <a:ea typeface="Poppins"/>
                <a:cs typeface="Poppins"/>
                <a:sym typeface="Poppins"/>
              </a:rPr>
              <a:t>Cost Reduction</a:t>
            </a:r>
            <a:endParaRPr lang="en-US" sz="1100"/>
          </a:p>
        </p:txBody>
      </p:sp>
      <p:cxnSp>
        <p:nvCxnSpPr>
          <p:cNvPr id="12" name="Connector 12"/>
          <p:cNvCxnSpPr/>
          <p:nvPr/>
        </p:nvCxnSpPr>
        <p:spPr>
          <a:xfrm rot="-10913">
            <a:off x="7302510" y="2724150"/>
            <a:ext cx="4000500" cy="12700"/>
          </a:xfrm>
          <a:prstGeom prst="straightConnector1">
            <a:avLst/>
          </a:prstGeom>
          <a:solidFill>
            <a:srgbClr val="DEE0E3">
              <a:alpha val="100000"/>
            </a:srgbClr>
          </a:solidFill>
          <a:ln w="12700" cap="flat" cmpd="sng">
            <a:solidFill>
              <a:srgbClr val="00FFFF">
                <a:alpha val="20000"/>
              </a:srgbClr>
            </a:solidFill>
            <a:prstDash val="dash"/>
            <a:round/>
            <a:headEnd type="none" w="med" len="med"/>
            <a:tailEnd type="none" w="med" len="med"/>
          </a:ln>
        </p:spPr>
      </p:cxnSp>
      <p:sp>
        <p:nvSpPr>
          <p:cNvPr id="13" name="AutoShape 13"/>
          <p:cNvSpPr/>
          <p:nvPr/>
        </p:nvSpPr>
        <p:spPr>
          <a:xfrm>
            <a:off x="7302500" y="2921000"/>
            <a:ext cx="4000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E5E7EB">
                    <a:alpha val="90196"/>
                  </a:srgbClr>
                </a:solidFill>
                <a:latin typeface="Poppins"/>
                <a:ea typeface="Poppins"/>
                <a:cs typeface="Poppins"/>
                <a:sym typeface="Poppins"/>
              </a:rPr>
              <a:t>Consolidate your tech stack and eliminate redundant tools to reduce operational overhead, achieving up to</a:t>
            </a:r>
            <a:r>
              <a:rPr lang="en-US" sz="1600" b="1" i="0" u="none" strike="noStrike">
                <a:solidFill>
                  <a:srgbClr val="00FFFF"/>
                </a:solidFill>
                <a:latin typeface="Poppins"/>
                <a:ea typeface="Poppins"/>
                <a:cs typeface="Poppins"/>
                <a:sym typeface="Poppins"/>
              </a:rPr>
              <a:t>20% lower IT costs</a:t>
            </a:r>
            <a:r>
              <a:rPr lang="en-US" sz="1400" b="0" i="0" u="none" strike="noStrike">
                <a:solidFill>
                  <a:srgbClr val="E5E7EB">
                    <a:alpha val="90196"/>
                  </a:srgbClr>
                </a:solidFill>
                <a:latin typeface="Poppins"/>
                <a:ea typeface="Poppins"/>
                <a:cs typeface="Poppins"/>
                <a:sym typeface="Poppins"/>
              </a:rPr>
              <a:t>and optimized resource allocation.</a:t>
            </a:r>
            <a:endParaRPr lang="en-US" sz="1100"/>
          </a:p>
        </p:txBody>
      </p:sp>
      <p:sp>
        <p:nvSpPr>
          <p:cNvPr id="14" name="AutoShape 14"/>
          <p:cNvSpPr/>
          <p:nvPr/>
        </p:nvSpPr>
        <p:spPr>
          <a:xfrm>
            <a:off x="762000" y="4318000"/>
            <a:ext cx="5270500" cy="1841500"/>
          </a:xfrm>
          <a:prstGeom prst="roundRect">
            <a:avLst>
              <a:gd name="adj" fmla="val 0"/>
            </a:avLst>
          </a:prstGeom>
          <a:solidFill>
            <a:srgbClr val="FFFFFF">
              <a:alpha val="5000"/>
            </a:srgbClr>
          </a:solidFill>
          <a:ln w="12700" cap="flat" cmpd="sng">
            <a:solidFill>
              <a:srgbClr val="00FFFF">
                <a:alpha val="2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572000"/>
            <a:ext cx="508000" cy="508000"/>
          </a:xfrm>
          <a:prstGeom prst="rect">
            <a:avLst/>
          </a:prstGeom>
        </p:spPr>
      </p:pic>
      <p:sp>
        <p:nvSpPr>
          <p:cNvPr id="16" name="AutoShape 16"/>
          <p:cNvSpPr/>
          <p:nvPr/>
        </p:nvSpPr>
        <p:spPr>
          <a:xfrm>
            <a:off x="1778000" y="4508500"/>
            <a:ext cx="400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Poppins"/>
                <a:ea typeface="Poppins"/>
                <a:cs typeface="Poppins"/>
                <a:sym typeface="Poppins"/>
              </a:rPr>
              <a:t>Accelerated Growth</a:t>
            </a:r>
            <a:endParaRPr lang="en-US" sz="1100"/>
          </a:p>
        </p:txBody>
      </p:sp>
      <p:cxnSp>
        <p:nvCxnSpPr>
          <p:cNvPr id="17" name="Connector 17"/>
          <p:cNvCxnSpPr/>
          <p:nvPr/>
        </p:nvCxnSpPr>
        <p:spPr>
          <a:xfrm rot="-10913">
            <a:off x="1778010" y="5010150"/>
            <a:ext cx="4000500" cy="12700"/>
          </a:xfrm>
          <a:prstGeom prst="straightConnector1">
            <a:avLst/>
          </a:prstGeom>
          <a:solidFill>
            <a:srgbClr val="DEE0E3">
              <a:alpha val="100000"/>
            </a:srgbClr>
          </a:solidFill>
          <a:ln w="12700" cap="flat" cmpd="sng">
            <a:solidFill>
              <a:srgbClr val="00FFFF">
                <a:alpha val="20000"/>
              </a:srgbClr>
            </a:solidFill>
            <a:prstDash val="dash"/>
            <a:round/>
            <a:headEnd type="none" w="med" len="med"/>
            <a:tailEnd type="none" w="med" len="med"/>
          </a:ln>
        </p:spPr>
      </p:cxnSp>
      <p:sp>
        <p:nvSpPr>
          <p:cNvPr id="18" name="AutoShape 18"/>
          <p:cNvSpPr/>
          <p:nvPr/>
        </p:nvSpPr>
        <p:spPr>
          <a:xfrm>
            <a:off x="1778000" y="5207000"/>
            <a:ext cx="4000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E5E7EB">
                    <a:alpha val="90196"/>
                  </a:srgbClr>
                </a:solidFill>
                <a:latin typeface="Poppins"/>
                <a:ea typeface="Poppins"/>
                <a:cs typeface="Poppins"/>
                <a:sym typeface="Poppins"/>
              </a:rPr>
              <a:t>Leverage real-time insights to make faster, data-driven decisions and uncover untapped market opportunities, directly fueling sustainable business expansion and revenue growth.</a:t>
            </a:r>
            <a:endParaRPr lang="en-US" sz="1100"/>
          </a:p>
        </p:txBody>
      </p:sp>
      <p:sp>
        <p:nvSpPr>
          <p:cNvPr id="19" name="AutoShape 19"/>
          <p:cNvSpPr/>
          <p:nvPr/>
        </p:nvSpPr>
        <p:spPr>
          <a:xfrm>
            <a:off x="6286500" y="4318000"/>
            <a:ext cx="5270500" cy="1841500"/>
          </a:xfrm>
          <a:prstGeom prst="roundRect">
            <a:avLst>
              <a:gd name="adj" fmla="val 0"/>
            </a:avLst>
          </a:prstGeom>
          <a:solidFill>
            <a:srgbClr val="FFFFFF">
              <a:alpha val="5000"/>
            </a:srgbClr>
          </a:solidFill>
          <a:ln w="12700" cap="flat" cmpd="sng">
            <a:solidFill>
              <a:srgbClr val="00FFFF">
                <a:alpha val="2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40500" y="4572000"/>
            <a:ext cx="508000" cy="508000"/>
          </a:xfrm>
          <a:prstGeom prst="rect">
            <a:avLst/>
          </a:prstGeom>
        </p:spPr>
      </p:pic>
      <p:sp>
        <p:nvSpPr>
          <p:cNvPr id="21" name="AutoShape 21"/>
          <p:cNvSpPr/>
          <p:nvPr/>
        </p:nvSpPr>
        <p:spPr>
          <a:xfrm>
            <a:off x="7302500" y="4508500"/>
            <a:ext cx="400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Poppins"/>
                <a:ea typeface="Poppins"/>
                <a:cs typeface="Poppins"/>
                <a:sym typeface="Poppins"/>
              </a:rPr>
              <a:t>Enhanced Collaboration</a:t>
            </a:r>
            <a:endParaRPr lang="en-US" sz="1100"/>
          </a:p>
        </p:txBody>
      </p:sp>
      <p:cxnSp>
        <p:nvCxnSpPr>
          <p:cNvPr id="22" name="Connector 22"/>
          <p:cNvCxnSpPr/>
          <p:nvPr/>
        </p:nvCxnSpPr>
        <p:spPr>
          <a:xfrm rot="-10913">
            <a:off x="7302510" y="5010150"/>
            <a:ext cx="4000500" cy="12700"/>
          </a:xfrm>
          <a:prstGeom prst="straightConnector1">
            <a:avLst/>
          </a:prstGeom>
          <a:solidFill>
            <a:srgbClr val="DEE0E3">
              <a:alpha val="100000"/>
            </a:srgbClr>
          </a:solidFill>
          <a:ln w="12700" cap="flat" cmpd="sng">
            <a:solidFill>
              <a:srgbClr val="00FFFF">
                <a:alpha val="20000"/>
              </a:srgbClr>
            </a:solidFill>
            <a:prstDash val="dash"/>
            <a:round/>
            <a:headEnd type="none" w="med" len="med"/>
            <a:tailEnd type="none" w="med" len="med"/>
          </a:ln>
        </p:spPr>
      </p:cxnSp>
      <p:sp>
        <p:nvSpPr>
          <p:cNvPr id="23" name="AutoShape 23"/>
          <p:cNvSpPr/>
          <p:nvPr/>
        </p:nvSpPr>
        <p:spPr>
          <a:xfrm>
            <a:off x="7302500" y="5207000"/>
            <a:ext cx="4000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E5E7EB">
                    <a:alpha val="90196"/>
                  </a:srgbClr>
                </a:solidFill>
                <a:latin typeface="Poppins"/>
                <a:ea typeface="Poppins"/>
                <a:cs typeface="Poppins"/>
                <a:sym typeface="Poppins"/>
              </a:rPr>
              <a:t>Break down departmental silos and unify communication channels, fostering a culture of seamless collaboration that connects teams, remote workers, and stakeholders across all locations.</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21212">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890000" y="-1270000"/>
            <a:ext cx="5080000" cy="5080000"/>
          </a:xfrm>
          <a:prstGeom prst="ellipse">
            <a:avLst/>
          </a:prstGeom>
          <a:solidFill>
            <a:srgbClr val="00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270000" y="4445000"/>
            <a:ext cx="4445000" cy="4445000"/>
          </a:xfrm>
          <a:prstGeom prst="ellipse">
            <a:avLst/>
          </a:prstGeom>
          <a:solidFill>
            <a:srgbClr val="00FFFF">
              <a:alpha val="3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FFFF"/>
                </a:solidFill>
                <a:latin typeface="Poppins"/>
                <a:ea typeface="Poppins"/>
                <a:cs typeface="Poppins"/>
                <a:sym typeface="Poppins"/>
              </a:rPr>
              <a:t>Data Visualization: Insights at Your Fingertips</a:t>
            </a:r>
            <a:endParaRPr lang="en-US" sz="1100"/>
          </a:p>
        </p:txBody>
      </p:sp>
      <p:sp>
        <p:nvSpPr>
          <p:cNvPr id="5" name="AutoShape 5"/>
          <p:cNvSpPr/>
          <p:nvPr/>
        </p:nvSpPr>
        <p:spPr>
          <a:xfrm>
            <a:off x="762000" y="1397000"/>
            <a:ext cx="1016000" cy="38100"/>
          </a:xfrm>
          <a:prstGeom prst="roundRect">
            <a:avLst>
              <a:gd name="adj" fmla="val 0"/>
            </a:avLst>
          </a:prstGeom>
          <a:solidFill>
            <a:srgbClr val="00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2032000"/>
            <a:ext cx="3429000" cy="3556000"/>
          </a:xfrm>
          <a:prstGeom prst="roundRect">
            <a:avLst>
              <a:gd name="adj" fmla="val 0"/>
            </a:avLst>
          </a:prstGeom>
          <a:solidFill>
            <a:srgbClr val="FFFFFF">
              <a:alpha val="5000"/>
            </a:srgbClr>
          </a:solidFill>
          <a:ln w="12700" cap="flat" cmpd="sng">
            <a:solidFill>
              <a:srgbClr val="00FFFF">
                <a:alpha val="25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stretch>
            <a:fillRect/>
          </a:stretch>
        </p:blipFill>
        <p:spPr>
          <a:xfrm>
            <a:off x="889000" y="2222500"/>
            <a:ext cx="3175000" cy="2032000"/>
          </a:xfrm>
          <a:prstGeom prst="rect">
            <a:avLst/>
          </a:prstGeom>
          <a:ln w="12700">
            <a:noFill/>
            <a:prstDash val="solid"/>
          </a:ln>
        </p:spPr>
      </p:pic>
      <p:sp>
        <p:nvSpPr>
          <p:cNvPr id="8" name="AutoShape 8"/>
          <p:cNvSpPr/>
          <p:nvPr/>
        </p:nvSpPr>
        <p:spPr>
          <a:xfrm>
            <a:off x="889000" y="44450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FFFF"/>
                </a:solidFill>
                <a:latin typeface="Poppins"/>
                <a:ea typeface="Poppins"/>
                <a:cs typeface="Poppins"/>
                <a:sym typeface="Poppins"/>
              </a:rPr>
              <a:t>Monthly Active Users (MAU)</a:t>
            </a:r>
            <a:endParaRPr lang="en-US" sz="1100"/>
          </a:p>
        </p:txBody>
      </p:sp>
      <p:cxnSp>
        <p:nvCxnSpPr>
          <p:cNvPr id="9" name="Connector 9"/>
          <p:cNvCxnSpPr/>
          <p:nvPr/>
        </p:nvCxnSpPr>
        <p:spPr>
          <a:xfrm rot="-13750">
            <a:off x="889013" y="4946650"/>
            <a:ext cx="3175000" cy="12700"/>
          </a:xfrm>
          <a:prstGeom prst="straightConnector1">
            <a:avLst/>
          </a:prstGeom>
          <a:solidFill>
            <a:srgbClr val="DEE0E3">
              <a:alpha val="100000"/>
            </a:srgbClr>
          </a:solidFill>
          <a:ln w="12700" cap="flat" cmpd="sng">
            <a:solidFill>
              <a:srgbClr val="00FFFF">
                <a:alpha val="30000"/>
              </a:srgbClr>
            </a:solidFill>
            <a:prstDash val="dash"/>
            <a:round/>
            <a:headEnd type="none" w="med" len="med"/>
            <a:tailEnd type="none" w="med" len="med"/>
          </a:ln>
        </p:spPr>
      </p:cxnSp>
      <p:sp>
        <p:nvSpPr>
          <p:cNvPr id="10" name="AutoShape 10"/>
          <p:cNvSpPr/>
          <p:nvPr/>
        </p:nvSpPr>
        <p:spPr>
          <a:xfrm>
            <a:off x="889000" y="5080000"/>
            <a:ext cx="317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FFFFFF">
                    <a:alpha val="70196"/>
                  </a:srgbClr>
                </a:solidFill>
                <a:latin typeface="Poppins"/>
                <a:ea typeface="Poppins"/>
                <a:cs typeface="Poppins"/>
                <a:sym typeface="Poppins"/>
              </a:rPr>
              <a:t>A clear upward trend showcasing consistent user adoption, growing engagement, and strong platform stickiness over the first half of the year.</a:t>
            </a:r>
            <a:endParaRPr lang="en-US" sz="1100"/>
          </a:p>
        </p:txBody>
      </p:sp>
      <p:sp>
        <p:nvSpPr>
          <p:cNvPr id="11" name="AutoShape 11"/>
          <p:cNvSpPr/>
          <p:nvPr/>
        </p:nvSpPr>
        <p:spPr>
          <a:xfrm>
            <a:off x="4381500" y="2032000"/>
            <a:ext cx="3429000" cy="3556000"/>
          </a:xfrm>
          <a:prstGeom prst="roundRect">
            <a:avLst>
              <a:gd name="adj" fmla="val 0"/>
            </a:avLst>
          </a:prstGeom>
          <a:solidFill>
            <a:srgbClr val="FFFFFF">
              <a:alpha val="5000"/>
            </a:srgbClr>
          </a:solidFill>
          <a:ln w="12700" cap="flat" cmpd="sng">
            <a:solidFill>
              <a:srgbClr val="00FFFF">
                <a:alpha val="25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2"/>
          <a:stretch>
            <a:fillRect/>
          </a:stretch>
        </p:blipFill>
        <p:spPr>
          <a:xfrm>
            <a:off x="4508500" y="2222500"/>
            <a:ext cx="3175000" cy="2032000"/>
          </a:xfrm>
          <a:prstGeom prst="rect">
            <a:avLst/>
          </a:prstGeom>
          <a:ln w="12700">
            <a:noFill/>
            <a:prstDash val="solid"/>
          </a:ln>
        </p:spPr>
      </p:pic>
      <p:sp>
        <p:nvSpPr>
          <p:cNvPr id="13" name="AutoShape 13"/>
          <p:cNvSpPr/>
          <p:nvPr/>
        </p:nvSpPr>
        <p:spPr>
          <a:xfrm>
            <a:off x="4508500" y="44450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FFFF"/>
                </a:solidFill>
                <a:latin typeface="Poppins"/>
                <a:ea typeface="Poppins"/>
                <a:cs typeface="Poppins"/>
                <a:sym typeface="Poppins"/>
              </a:rPr>
              <a:t>Task Completion Time</a:t>
            </a:r>
            <a:endParaRPr lang="en-US" sz="1100"/>
          </a:p>
        </p:txBody>
      </p:sp>
      <p:cxnSp>
        <p:nvCxnSpPr>
          <p:cNvPr id="14" name="Connector 14"/>
          <p:cNvCxnSpPr/>
          <p:nvPr/>
        </p:nvCxnSpPr>
        <p:spPr>
          <a:xfrm rot="-13750">
            <a:off x="4508513" y="4946650"/>
            <a:ext cx="3175000" cy="12700"/>
          </a:xfrm>
          <a:prstGeom prst="straightConnector1">
            <a:avLst/>
          </a:prstGeom>
          <a:solidFill>
            <a:srgbClr val="DEE0E3">
              <a:alpha val="100000"/>
            </a:srgbClr>
          </a:solidFill>
          <a:ln w="12700" cap="flat" cmpd="sng">
            <a:solidFill>
              <a:srgbClr val="00FFFF">
                <a:alpha val="30000"/>
              </a:srgbClr>
            </a:solidFill>
            <a:prstDash val="dash"/>
            <a:round/>
            <a:headEnd type="none" w="med" len="med"/>
            <a:tailEnd type="none" w="med" len="med"/>
          </a:ln>
        </p:spPr>
      </p:cxnSp>
      <p:sp>
        <p:nvSpPr>
          <p:cNvPr id="15" name="AutoShape 15"/>
          <p:cNvSpPr/>
          <p:nvPr/>
        </p:nvSpPr>
        <p:spPr>
          <a:xfrm>
            <a:off x="4508500" y="5080000"/>
            <a:ext cx="317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FFFFFF">
                    <a:alpha val="70196"/>
                  </a:srgbClr>
                </a:solidFill>
                <a:latin typeface="Poppins"/>
                <a:ea typeface="Poppins"/>
                <a:cs typeface="Poppins"/>
                <a:sym typeface="Poppins"/>
              </a:rPr>
              <a:t>A direct comparison reveals a dramatic 62% reduction in time spent on key processes post-implementation, significantly boosting operational efficiency.</a:t>
            </a:r>
            <a:endParaRPr lang="en-US" sz="1100"/>
          </a:p>
        </p:txBody>
      </p:sp>
      <p:sp>
        <p:nvSpPr>
          <p:cNvPr id="16" name="AutoShape 16"/>
          <p:cNvSpPr/>
          <p:nvPr/>
        </p:nvSpPr>
        <p:spPr>
          <a:xfrm>
            <a:off x="8001000" y="2032000"/>
            <a:ext cx="3429000" cy="3556000"/>
          </a:xfrm>
          <a:prstGeom prst="roundRect">
            <a:avLst>
              <a:gd name="adj" fmla="val 0"/>
            </a:avLst>
          </a:prstGeom>
          <a:solidFill>
            <a:srgbClr val="FFFFFF">
              <a:alpha val="5000"/>
            </a:srgbClr>
          </a:solidFill>
          <a:ln w="12700" cap="flat" cmpd="sng">
            <a:solidFill>
              <a:srgbClr val="00FFFF">
                <a:alpha val="25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3"/>
          <a:stretch>
            <a:fillRect/>
          </a:stretch>
        </p:blipFill>
        <p:spPr>
          <a:xfrm>
            <a:off x="8128000" y="2222500"/>
            <a:ext cx="3175000" cy="2032000"/>
          </a:xfrm>
          <a:prstGeom prst="rect">
            <a:avLst/>
          </a:prstGeom>
          <a:ln w="12700">
            <a:noFill/>
            <a:prstDash val="solid"/>
          </a:ln>
        </p:spPr>
      </p:pic>
      <p:sp>
        <p:nvSpPr>
          <p:cNvPr id="18" name="AutoShape 18"/>
          <p:cNvSpPr/>
          <p:nvPr/>
        </p:nvSpPr>
        <p:spPr>
          <a:xfrm>
            <a:off x="8128000" y="44450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FFFF"/>
                </a:solidFill>
                <a:latin typeface="Poppins"/>
                <a:ea typeface="Poppins"/>
                <a:cs typeface="Poppins"/>
                <a:sym typeface="Poppins"/>
              </a:rPr>
              <a:t>Feature Utilization</a:t>
            </a:r>
            <a:endParaRPr lang="en-US" sz="1100"/>
          </a:p>
        </p:txBody>
      </p:sp>
      <p:cxnSp>
        <p:nvCxnSpPr>
          <p:cNvPr id="19" name="Connector 19"/>
          <p:cNvCxnSpPr/>
          <p:nvPr/>
        </p:nvCxnSpPr>
        <p:spPr>
          <a:xfrm rot="-13750">
            <a:off x="8128013" y="4946650"/>
            <a:ext cx="3175000" cy="12700"/>
          </a:xfrm>
          <a:prstGeom prst="straightConnector1">
            <a:avLst/>
          </a:prstGeom>
          <a:solidFill>
            <a:srgbClr val="DEE0E3">
              <a:alpha val="100000"/>
            </a:srgbClr>
          </a:solidFill>
          <a:ln w="12700" cap="flat" cmpd="sng">
            <a:solidFill>
              <a:srgbClr val="00FFFF">
                <a:alpha val="30000"/>
              </a:srgbClr>
            </a:solidFill>
            <a:prstDash val="dash"/>
            <a:round/>
            <a:headEnd type="none" w="med" len="med"/>
            <a:tailEnd type="none" w="med" len="med"/>
          </a:ln>
        </p:spPr>
      </p:cxnSp>
      <p:sp>
        <p:nvSpPr>
          <p:cNvPr id="20" name="AutoShape 20"/>
          <p:cNvSpPr/>
          <p:nvPr/>
        </p:nvSpPr>
        <p:spPr>
          <a:xfrm>
            <a:off x="8128000" y="5080000"/>
            <a:ext cx="317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FFFFFF">
                    <a:alpha val="70196"/>
                  </a:srgbClr>
                </a:solidFill>
                <a:latin typeface="Poppins"/>
                <a:ea typeface="Poppins"/>
                <a:cs typeface="Poppins"/>
                <a:sym typeface="Poppins"/>
              </a:rPr>
              <a:t>Identifying high-value features drives strategic prioritization, ensuring development resources focus on enhancing the tools users rely on most.</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21212">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255000" y="4445000"/>
            <a:ext cx="5080000" cy="3810000"/>
          </a:xfrm>
          <a:prstGeom prst="ellipse">
            <a:avLst/>
          </a:prstGeom>
          <a:solidFill>
            <a:srgbClr val="00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FFFF"/>
                </a:solidFill>
                <a:latin typeface="Poppins"/>
                <a:ea typeface="Poppins"/>
                <a:cs typeface="Poppins"/>
                <a:sym typeface="Poppins"/>
              </a:rPr>
              <a:t>Customer Success: Trusted by Industry Leaders</a:t>
            </a:r>
            <a:endParaRPr lang="en-US" sz="1100"/>
          </a:p>
        </p:txBody>
      </p:sp>
      <p:cxnSp>
        <p:nvCxnSpPr>
          <p:cNvPr id="4" name="Connector 4"/>
          <p:cNvCxnSpPr/>
          <p:nvPr/>
        </p:nvCxnSpPr>
        <p:spPr>
          <a:xfrm rot="-4092">
            <a:off x="762004" y="1517650"/>
            <a:ext cx="10668000" cy="12700"/>
          </a:xfrm>
          <a:prstGeom prst="straightConnector1">
            <a:avLst/>
          </a:prstGeom>
          <a:solidFill>
            <a:srgbClr val="DEE0E3">
              <a:alpha val="100000"/>
            </a:srgbClr>
          </a:solidFill>
          <a:ln w="12700" cap="flat" cmpd="sng">
            <a:solidFill>
              <a:srgbClr val="00FFFF">
                <a:alpha val="30000"/>
              </a:srgbClr>
            </a:solidFill>
            <a:prstDash val="solid"/>
            <a:round/>
            <a:headEnd type="none" w="med" len="med"/>
            <a:tailEnd type="none" w="med" len="med"/>
          </a:ln>
        </p:spPr>
      </p:cxnSp>
      <p:sp>
        <p:nvSpPr>
          <p:cNvPr id="5" name="AutoShape 5"/>
          <p:cNvSpPr/>
          <p:nvPr/>
        </p:nvSpPr>
        <p:spPr>
          <a:xfrm>
            <a:off x="762000" y="2286000"/>
            <a:ext cx="50800" cy="2540000"/>
          </a:xfrm>
          <a:prstGeom prst="roundRect">
            <a:avLst>
              <a:gd name="adj" fmla="val 0"/>
            </a:avLst>
          </a:prstGeom>
          <a:solidFill>
            <a:srgbClr val="00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2222500"/>
            <a:ext cx="54610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FFFFFF">
                    <a:alpha val="90196"/>
                  </a:srgbClr>
                </a:solidFill>
                <a:latin typeface="Poppins"/>
                <a:ea typeface="Poppins"/>
                <a:cs typeface="Poppins"/>
                <a:sym typeface="Poppins"/>
              </a:rPr>
              <a:t>"[Product Name] has been a game-changer for our business. It has seamlessly integrated with our existing systems and has allowed our team to work smarter, not harder. The ROI has been evident in just a few months."</a:t>
            </a:r>
            <a:endParaRPr lang="en-US" sz="1100"/>
          </a:p>
        </p:txBody>
      </p:sp>
      <p:sp>
        <p:nvSpPr>
          <p:cNvPr id="7" name="AutoShape 7"/>
          <p:cNvSpPr/>
          <p:nvPr/>
        </p:nvSpPr>
        <p:spPr>
          <a:xfrm>
            <a:off x="1016000" y="4826000"/>
            <a:ext cx="5461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FFFF"/>
                </a:solidFill>
                <a:latin typeface="Poppins"/>
                <a:ea typeface="Poppins"/>
                <a:cs typeface="Poppins"/>
                <a:sym typeface="Poppins"/>
              </a:rPr>
              <a:t>— [Client Name], CEO of [Client Company]</a:t>
            </a:r>
            <a:endParaRPr lang="en-US" sz="1100"/>
          </a:p>
          <a:p>
            <a:pPr marL="0" indent="0" algn="l">
              <a:lnSpc>
                <a:spcPct val="125000"/>
              </a:lnSpc>
            </a:pPr>
            <a:r>
              <a:rPr lang="en-US" sz="1300" b="0" i="0" u="none" strike="noStrike">
                <a:solidFill>
                  <a:srgbClr val="FFFFFF">
                    <a:alpha val="60000"/>
                  </a:srgbClr>
                </a:solidFill>
                <a:latin typeface="Poppins"/>
                <a:ea typeface="Poppins"/>
                <a:cs typeface="Poppins"/>
                <a:sym typeface="Poppins"/>
              </a:rPr>
              <a:t>A leader in the tech manufacturing space, renowned for innovation and operational excellence.</a:t>
            </a:r>
            <a:endParaRPr lang="en-US" sz="1300" b="0" i="0" u="none" strike="noStrike">
              <a:solidFill>
                <a:srgbClr val="FFFFFF">
                  <a:alpha val="60000"/>
                </a:srgbClr>
              </a:solidFill>
              <a:latin typeface="Poppins"/>
              <a:ea typeface="Poppins"/>
              <a:cs typeface="Poppins"/>
              <a:sym typeface="Poppins"/>
            </a:endParaRPr>
          </a:p>
        </p:txBody>
      </p:sp>
      <p:cxnSp>
        <p:nvCxnSpPr>
          <p:cNvPr id="8" name="Connector 8"/>
          <p:cNvCxnSpPr/>
          <p:nvPr/>
        </p:nvCxnSpPr>
        <p:spPr>
          <a:xfrm rot="5388145">
            <a:off x="5016500" y="3994161"/>
            <a:ext cx="3683000" cy="12700"/>
          </a:xfrm>
          <a:prstGeom prst="straightConnector1">
            <a:avLst/>
          </a:prstGeom>
          <a:solidFill>
            <a:srgbClr val="DEE0E3">
              <a:alpha val="100000"/>
            </a:srgbClr>
          </a:solidFill>
          <a:ln w="12700" cap="flat" cmpd="sng">
            <a:solidFill>
              <a:srgbClr val="FFFFFF">
                <a:alpha val="10000"/>
              </a:srgbClr>
            </a:solidFill>
            <a:prstDash val="dash"/>
            <a:round/>
            <a:headEnd type="none" w="med" len="med"/>
            <a:tailEnd type="none" w="med" len="med"/>
          </a:ln>
        </p:spPr>
      </p:cxnSp>
      <p:sp>
        <p:nvSpPr>
          <p:cNvPr id="9" name="AutoShape 9"/>
          <p:cNvSpPr/>
          <p:nvPr/>
        </p:nvSpPr>
        <p:spPr>
          <a:xfrm>
            <a:off x="7112000" y="2159000"/>
            <a:ext cx="4318000" cy="1206500"/>
          </a:xfrm>
          <a:prstGeom prst="roundRect">
            <a:avLst>
              <a:gd name="adj" fmla="val 0"/>
            </a:avLst>
          </a:prstGeom>
          <a:solidFill>
            <a:srgbClr val="FFFFFF">
              <a:alpha val="5000"/>
            </a:srgbClr>
          </a:solidFill>
          <a:ln w="12700" cap="flat" cmpd="sng">
            <a:solidFill>
              <a:srgbClr val="00FFFF">
                <a:alpha val="2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02500" y="2387600"/>
            <a:ext cx="609600" cy="609600"/>
          </a:xfrm>
          <a:prstGeom prst="rect">
            <a:avLst/>
          </a:prstGeom>
        </p:spPr>
      </p:pic>
      <p:sp>
        <p:nvSpPr>
          <p:cNvPr id="11" name="AutoShape 11"/>
          <p:cNvSpPr/>
          <p:nvPr/>
        </p:nvSpPr>
        <p:spPr>
          <a:xfrm>
            <a:off x="8128000" y="22606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0FFFF"/>
                </a:solidFill>
                <a:latin typeface="Poppins"/>
                <a:ea typeface="Poppins"/>
                <a:cs typeface="Poppins"/>
                <a:sym typeface="Poppins"/>
              </a:rPr>
              <a:t>50% Faster</a:t>
            </a:r>
            <a:endParaRPr lang="en-US" sz="1100"/>
          </a:p>
          <a:p>
            <a:pPr marL="0" indent="0" algn="l">
              <a:lnSpc>
                <a:spcPct val="100000"/>
              </a:lnSpc>
            </a:pPr>
            <a:r>
              <a:rPr lang="en-US" sz="1300" b="0" i="0" u="none" strike="noStrike">
                <a:solidFill>
                  <a:srgbClr val="FFFFFF">
                    <a:alpha val="70196"/>
                  </a:srgbClr>
                </a:solidFill>
                <a:latin typeface="Poppins"/>
                <a:ea typeface="Poppins"/>
                <a:cs typeface="Poppins"/>
                <a:sym typeface="Poppins"/>
              </a:rPr>
              <a:t>Project delivery times slashed by half, enabling rapid response to market demands and tighter deadlines.</a:t>
            </a:r>
            <a:endParaRPr lang="en-US" sz="1300" b="0" i="0" u="none" strike="noStrike">
              <a:solidFill>
                <a:srgbClr val="FFFFFF">
                  <a:alpha val="70196"/>
                </a:srgbClr>
              </a:solidFill>
              <a:latin typeface="Poppins"/>
              <a:ea typeface="Poppins"/>
              <a:cs typeface="Poppins"/>
              <a:sym typeface="Poppins"/>
            </a:endParaRPr>
          </a:p>
        </p:txBody>
      </p:sp>
      <p:sp>
        <p:nvSpPr>
          <p:cNvPr id="12" name="AutoShape 12"/>
          <p:cNvSpPr/>
          <p:nvPr/>
        </p:nvSpPr>
        <p:spPr>
          <a:xfrm>
            <a:off x="7112000" y="3556000"/>
            <a:ext cx="4318000" cy="1206500"/>
          </a:xfrm>
          <a:prstGeom prst="roundRect">
            <a:avLst>
              <a:gd name="adj" fmla="val 0"/>
            </a:avLst>
          </a:prstGeom>
          <a:solidFill>
            <a:srgbClr val="FFFFFF">
              <a:alpha val="5000"/>
            </a:srgbClr>
          </a:solidFill>
          <a:ln w="12700" cap="flat" cmpd="sng">
            <a:solidFill>
              <a:srgbClr val="00FFFF">
                <a:alpha val="2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02500" y="3784600"/>
            <a:ext cx="609600" cy="609600"/>
          </a:xfrm>
          <a:prstGeom prst="rect">
            <a:avLst/>
          </a:prstGeom>
        </p:spPr>
      </p:pic>
      <p:sp>
        <p:nvSpPr>
          <p:cNvPr id="14" name="AutoShape 14"/>
          <p:cNvSpPr/>
          <p:nvPr/>
        </p:nvSpPr>
        <p:spPr>
          <a:xfrm>
            <a:off x="8128000" y="36576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0FFFF"/>
                </a:solidFill>
                <a:latin typeface="Poppins"/>
                <a:ea typeface="Poppins"/>
                <a:cs typeface="Poppins"/>
                <a:sym typeface="Poppins"/>
              </a:rPr>
              <a:t>40% Reduction</a:t>
            </a:r>
            <a:endParaRPr lang="en-US" sz="1100"/>
          </a:p>
          <a:p>
            <a:pPr marL="0" indent="0" algn="l">
              <a:lnSpc>
                <a:spcPct val="100000"/>
              </a:lnSpc>
            </a:pPr>
            <a:r>
              <a:rPr lang="en-US" sz="1300" b="0" i="0" u="none" strike="noStrike">
                <a:solidFill>
                  <a:srgbClr val="FFFFFF">
                    <a:alpha val="70196"/>
                  </a:srgbClr>
                </a:solidFill>
                <a:latin typeface="Poppins"/>
                <a:ea typeface="Poppins"/>
                <a:cs typeface="Poppins"/>
                <a:sym typeface="Poppins"/>
              </a:rPr>
              <a:t>Manual data entry eliminated through intelligent automation, minimizing human error and freeing up team bandwidth.</a:t>
            </a:r>
            <a:endParaRPr lang="en-US" sz="1300" b="0" i="0" u="none" strike="noStrike">
              <a:solidFill>
                <a:srgbClr val="FFFFFF">
                  <a:alpha val="70196"/>
                </a:srgbClr>
              </a:solidFill>
              <a:latin typeface="Poppins"/>
              <a:ea typeface="Poppins"/>
              <a:cs typeface="Poppins"/>
              <a:sym typeface="Poppins"/>
            </a:endParaRPr>
          </a:p>
        </p:txBody>
      </p:sp>
      <p:sp>
        <p:nvSpPr>
          <p:cNvPr id="15" name="AutoShape 15"/>
          <p:cNvSpPr/>
          <p:nvPr/>
        </p:nvSpPr>
        <p:spPr>
          <a:xfrm>
            <a:off x="7112000" y="4953000"/>
            <a:ext cx="4318000" cy="1206500"/>
          </a:xfrm>
          <a:prstGeom prst="roundRect">
            <a:avLst>
              <a:gd name="adj" fmla="val 0"/>
            </a:avLst>
          </a:prstGeom>
          <a:solidFill>
            <a:srgbClr val="FFFFFF">
              <a:alpha val="5000"/>
            </a:srgbClr>
          </a:solidFill>
          <a:ln w="12700" cap="flat" cmpd="sng">
            <a:solidFill>
              <a:srgbClr val="00FFFF">
                <a:alpha val="2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302500" y="5181600"/>
            <a:ext cx="609600" cy="609600"/>
          </a:xfrm>
          <a:prstGeom prst="rect">
            <a:avLst/>
          </a:prstGeom>
        </p:spPr>
      </p:pic>
      <p:sp>
        <p:nvSpPr>
          <p:cNvPr id="17" name="AutoShape 17"/>
          <p:cNvSpPr/>
          <p:nvPr/>
        </p:nvSpPr>
        <p:spPr>
          <a:xfrm>
            <a:off x="8128000" y="50546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0FFFF"/>
                </a:solidFill>
                <a:latin typeface="Poppins"/>
                <a:ea typeface="Poppins"/>
                <a:cs typeface="Poppins"/>
                <a:sym typeface="Poppins"/>
              </a:rPr>
              <a:t>25% Increase</a:t>
            </a:r>
            <a:endParaRPr lang="en-US" sz="1100"/>
          </a:p>
          <a:p>
            <a:pPr marL="0" indent="0" algn="l">
              <a:lnSpc>
                <a:spcPct val="100000"/>
              </a:lnSpc>
            </a:pPr>
            <a:r>
              <a:rPr lang="en-US" sz="1300" b="0" i="0" u="none" strike="noStrike">
                <a:solidFill>
                  <a:srgbClr val="FFFFFF">
                    <a:alpha val="70196"/>
                  </a:srgbClr>
                </a:solidFill>
                <a:latin typeface="Poppins"/>
                <a:ea typeface="Poppins"/>
                <a:cs typeface="Poppins"/>
                <a:sym typeface="Poppins"/>
              </a:rPr>
              <a:t>Customer satisfaction scores soared as streamlined processes translated to faster, more reliable service.</a:t>
            </a:r>
            <a:endParaRPr lang="en-US" sz="1300" b="0" i="0" u="none" strike="noStrike">
              <a:solidFill>
                <a:srgbClr val="FFFFFF">
                  <a:alpha val="70196"/>
                </a:srgbClr>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21212">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366000" y="-1524000"/>
            <a:ext cx="6350000" cy="6350000"/>
          </a:xfrm>
          <a:prstGeom prst="ellipse">
            <a:avLst/>
          </a:prstGeom>
          <a:solidFill>
            <a:srgbClr val="00FFFF">
              <a:alpha val="4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524000" y="4064000"/>
            <a:ext cx="5715000" cy="5715000"/>
          </a:xfrm>
          <a:prstGeom prst="ellipse">
            <a:avLst/>
          </a:prstGeom>
          <a:solidFill>
            <a:srgbClr val="00FFFF">
              <a:alpha val="3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2286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00FFFF"/>
                </a:solidFill>
                <a:latin typeface="Poppins"/>
                <a:ea typeface="Poppins"/>
                <a:cs typeface="Poppins"/>
                <a:sym typeface="Poppins"/>
              </a:rPr>
              <a:t>Thank You</a:t>
            </a:r>
            <a:endParaRPr lang="en-US" sz="1100"/>
          </a:p>
        </p:txBody>
      </p:sp>
      <p:sp>
        <p:nvSpPr>
          <p:cNvPr id="5" name="AutoShape 5"/>
          <p:cNvSpPr/>
          <p:nvPr/>
        </p:nvSpPr>
        <p:spPr>
          <a:xfrm>
            <a:off x="0" y="3556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0" i="0" u="none" strike="noStrike">
                <a:solidFill>
                  <a:srgbClr val="FFFFFF">
                    <a:alpha val="80000"/>
                  </a:srgbClr>
                </a:solidFill>
                <a:latin typeface="Noto Sans SC"/>
                <a:ea typeface="Noto Sans SC"/>
                <a:cs typeface="Noto Sans SC"/>
                <a:sym typeface="Noto Sans SC"/>
              </a:rPr>
              <a:t>Let's build the future of work, together.</a:t>
            </a:r>
            <a:endParaRPr lang="en-US" sz="1100"/>
          </a:p>
        </p:txBody>
      </p:sp>
      <p:cxnSp>
        <p:nvCxnSpPr>
          <p:cNvPr id="6" name="Connector 6"/>
          <p:cNvCxnSpPr/>
          <p:nvPr/>
        </p:nvCxnSpPr>
        <p:spPr>
          <a:xfrm rot="-4523">
            <a:off x="1270004" y="4692650"/>
            <a:ext cx="9652000" cy="12700"/>
          </a:xfrm>
          <a:prstGeom prst="straightConnector1">
            <a:avLst/>
          </a:prstGeom>
          <a:solidFill>
            <a:srgbClr val="DEE0E3">
              <a:alpha val="100000"/>
            </a:srgbClr>
          </a:solidFill>
          <a:ln w="12700" cap="flat" cmpd="sng">
            <a:solidFill>
              <a:srgbClr val="00FFFF">
                <a:alpha val="30000"/>
              </a:srgbClr>
            </a:solidFill>
            <a:prstDash val="solid"/>
            <a:round/>
            <a:headEnd type="none" w="med" len="med"/>
            <a:tailEnd type="none" w="med" len="med"/>
          </a:ln>
        </p:spPr>
      </p:cxnSp>
      <p:sp>
        <p:nvSpPr>
          <p:cNvPr id="7" name="AutoShape 7"/>
          <p:cNvSpPr/>
          <p:nvPr/>
        </p:nvSpPr>
        <p:spPr>
          <a:xfrm>
            <a:off x="1016000" y="5334000"/>
            <a:ext cx="3302000" cy="1016000"/>
          </a:xfrm>
          <a:prstGeom prst="roundRect">
            <a:avLst>
              <a:gd name="adj" fmla="val 0"/>
            </a:avLst>
          </a:prstGeom>
          <a:solidFill>
            <a:srgbClr val="FFFFFF">
              <a:alpha val="3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16000" y="5334000"/>
            <a:ext cx="50800" cy="1016000"/>
          </a:xfrm>
          <a:prstGeom prst="roundRect">
            <a:avLst>
              <a:gd name="adj" fmla="val 0"/>
            </a:avLst>
          </a:prstGeom>
          <a:solidFill>
            <a:srgbClr val="00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00" y="5562600"/>
            <a:ext cx="304800" cy="304800"/>
          </a:xfrm>
          <a:prstGeom prst="rect">
            <a:avLst/>
          </a:prstGeom>
        </p:spPr>
      </p:pic>
      <p:sp>
        <p:nvSpPr>
          <p:cNvPr id="10" name="AutoShape 10"/>
          <p:cNvSpPr/>
          <p:nvPr/>
        </p:nvSpPr>
        <p:spPr>
          <a:xfrm>
            <a:off x="1778000" y="5435600"/>
            <a:ext cx="2413000" cy="8128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FFFFFF">
                    <a:alpha val="60000"/>
                  </a:srgbClr>
                </a:solidFill>
                <a:latin typeface="Noto Sans SC"/>
                <a:ea typeface="Noto Sans SC"/>
                <a:cs typeface="Noto Sans SC"/>
                <a:sym typeface="Noto Sans SC"/>
              </a:rPr>
              <a:t>Name</a:t>
            </a:r>
            <a:endParaRPr lang="en-US" sz="1100"/>
          </a:p>
          <a:p>
            <a:pPr marL="0" indent="0" algn="l">
              <a:lnSpc>
                <a:spcPct val="108000"/>
              </a:lnSpc>
            </a:pPr>
            <a:r>
              <a:rPr lang="en-US" sz="1600" b="1" i="0" u="none" strike="noStrike">
                <a:solidFill>
                  <a:srgbClr val="FFFFFF"/>
                </a:solidFill>
                <a:latin typeface="Noto Sans SC"/>
                <a:ea typeface="Noto Sans SC"/>
                <a:cs typeface="Noto Sans SC"/>
                <a:sym typeface="Noto Sans SC"/>
              </a:rPr>
              <a:t>[Your Name]</a:t>
            </a:r>
            <a:endParaRPr lang="en-US" sz="1600" b="1" i="0" u="none" strike="noStrike">
              <a:solidFill>
                <a:srgbClr val="FFFFFF"/>
              </a:solidFill>
              <a:latin typeface="Noto Sans SC"/>
              <a:ea typeface="Noto Sans SC"/>
              <a:cs typeface="Noto Sans SC"/>
              <a:sym typeface="Noto Sans SC"/>
            </a:endParaRPr>
          </a:p>
        </p:txBody>
      </p:sp>
      <p:sp>
        <p:nvSpPr>
          <p:cNvPr id="11" name="AutoShape 11"/>
          <p:cNvSpPr/>
          <p:nvPr/>
        </p:nvSpPr>
        <p:spPr>
          <a:xfrm>
            <a:off x="4572000" y="5334000"/>
            <a:ext cx="3302000" cy="1016000"/>
          </a:xfrm>
          <a:prstGeom prst="roundRect">
            <a:avLst>
              <a:gd name="adj" fmla="val 0"/>
            </a:avLst>
          </a:prstGeom>
          <a:solidFill>
            <a:srgbClr val="FFFFFF">
              <a:alpha val="3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572000" y="5334000"/>
            <a:ext cx="50800" cy="1016000"/>
          </a:xfrm>
          <a:prstGeom prst="roundRect">
            <a:avLst>
              <a:gd name="adj" fmla="val 0"/>
            </a:avLst>
          </a:prstGeom>
          <a:solidFill>
            <a:srgbClr val="00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26000" y="5562600"/>
            <a:ext cx="304800" cy="304800"/>
          </a:xfrm>
          <a:prstGeom prst="rect">
            <a:avLst/>
          </a:prstGeom>
        </p:spPr>
      </p:pic>
      <p:sp>
        <p:nvSpPr>
          <p:cNvPr id="14" name="AutoShape 14"/>
          <p:cNvSpPr/>
          <p:nvPr/>
        </p:nvSpPr>
        <p:spPr>
          <a:xfrm>
            <a:off x="5334000" y="5435600"/>
            <a:ext cx="2413000" cy="8128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FFFFFF">
                    <a:alpha val="60000"/>
                  </a:srgbClr>
                </a:solidFill>
                <a:latin typeface="Noto Sans SC"/>
                <a:ea typeface="Noto Sans SC"/>
                <a:cs typeface="Noto Sans SC"/>
                <a:sym typeface="Noto Sans SC"/>
              </a:rPr>
              <a:t>Email</a:t>
            </a:r>
            <a:endParaRPr lang="en-US" sz="1100"/>
          </a:p>
          <a:p>
            <a:pPr marL="0" indent="0" algn="l">
              <a:lnSpc>
                <a:spcPct val="108000"/>
              </a:lnSpc>
            </a:pPr>
            <a:r>
              <a:rPr lang="en-US" sz="1600" b="1" i="0" u="none" strike="noStrike">
                <a:solidFill>
                  <a:srgbClr val="FFFFFF"/>
                </a:solidFill>
                <a:latin typeface="Noto Sans SC"/>
                <a:ea typeface="Noto Sans SC"/>
                <a:cs typeface="Noto Sans SC"/>
                <a:sym typeface="Noto Sans SC"/>
              </a:rPr>
              <a:t>[your.email@example.com]</a:t>
            </a:r>
            <a:endParaRPr lang="en-US" sz="1600" b="1" i="0" u="none" strike="noStrike">
              <a:solidFill>
                <a:srgbClr val="FFFFFF"/>
              </a:solidFill>
              <a:latin typeface="Noto Sans SC"/>
              <a:ea typeface="Noto Sans SC"/>
              <a:cs typeface="Noto Sans SC"/>
              <a:sym typeface="Noto Sans SC"/>
            </a:endParaRPr>
          </a:p>
        </p:txBody>
      </p:sp>
      <p:sp>
        <p:nvSpPr>
          <p:cNvPr id="15" name="AutoShape 15"/>
          <p:cNvSpPr/>
          <p:nvPr/>
        </p:nvSpPr>
        <p:spPr>
          <a:xfrm>
            <a:off x="7874000" y="5334000"/>
            <a:ext cx="3302000" cy="1016000"/>
          </a:xfrm>
          <a:prstGeom prst="roundRect">
            <a:avLst>
              <a:gd name="adj" fmla="val 0"/>
            </a:avLst>
          </a:prstGeom>
          <a:solidFill>
            <a:srgbClr val="FFFFFF">
              <a:alpha val="3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7874000" y="5334000"/>
            <a:ext cx="50800" cy="1016000"/>
          </a:xfrm>
          <a:prstGeom prst="roundRect">
            <a:avLst>
              <a:gd name="adj" fmla="val 0"/>
            </a:avLst>
          </a:prstGeom>
          <a:solidFill>
            <a:srgbClr val="00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28000" y="5562600"/>
            <a:ext cx="304800" cy="304800"/>
          </a:xfrm>
          <a:prstGeom prst="rect">
            <a:avLst/>
          </a:prstGeom>
        </p:spPr>
      </p:pic>
      <p:sp>
        <p:nvSpPr>
          <p:cNvPr id="18" name="AutoShape 18"/>
          <p:cNvSpPr/>
          <p:nvPr/>
        </p:nvSpPr>
        <p:spPr>
          <a:xfrm>
            <a:off x="8636000" y="5435600"/>
            <a:ext cx="2413000" cy="8128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FFFFFF">
                    <a:alpha val="60000"/>
                  </a:srgbClr>
                </a:solidFill>
                <a:latin typeface="Noto Sans SC"/>
                <a:ea typeface="Noto Sans SC"/>
                <a:cs typeface="Noto Sans SC"/>
                <a:sym typeface="Noto Sans SC"/>
              </a:rPr>
              <a:t>Website</a:t>
            </a:r>
            <a:endParaRPr lang="en-US" sz="1100"/>
          </a:p>
          <a:p>
            <a:pPr marL="0" indent="0" algn="l">
              <a:lnSpc>
                <a:spcPct val="108000"/>
              </a:lnSpc>
            </a:pPr>
            <a:r>
              <a:rPr lang="en-US" sz="1600" b="1" i="0" u="none" strike="noStrike">
                <a:solidFill>
                  <a:srgbClr val="FFFFFF"/>
                </a:solidFill>
                <a:latin typeface="Noto Sans SC"/>
                <a:ea typeface="Noto Sans SC"/>
                <a:cs typeface="Noto Sans SC"/>
                <a:sym typeface="Noto Sans SC"/>
              </a:rPr>
              <a:t>[www.yourwebsite.com]</a:t>
            </a:r>
            <a:endParaRPr lang="en-US" sz="1600" b="1" i="0" u="none" strike="noStrike">
              <a:solidFill>
                <a:srgbClr val="FFFFFF"/>
              </a:solidFill>
              <a:latin typeface="Noto Sans SC"/>
              <a:ea typeface="Noto Sans SC"/>
              <a:cs typeface="Noto Sans SC"/>
              <a:sym typeface="Noto Sans SC"/>
            </a:endParaRP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5985</Words>
  <Application>WPS 演示</Application>
  <PresentationFormat/>
  <Paragraphs>164</Paragraphs>
  <Slides>9</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9</vt:i4>
      </vt:variant>
    </vt:vector>
  </HeadingPairs>
  <TitlesOfParts>
    <vt:vector size="23" baseType="lpstr">
      <vt:lpstr>Arial</vt:lpstr>
      <vt:lpstr>宋体</vt:lpstr>
      <vt:lpstr>Wingdings</vt:lpstr>
      <vt:lpstr>Arial</vt:lpstr>
      <vt:lpstr>Poppins</vt:lpstr>
      <vt:lpstr>Thonburi</vt:lpstr>
      <vt:lpstr>Noto Sans SC</vt:lpstr>
      <vt:lpstr>微软雅黑</vt:lpstr>
      <vt:lpstr>汉仪旗黑</vt:lpstr>
      <vt:lpstr>宋体</vt:lpstr>
      <vt:lpstr>Arial Unicode MS</vt:lpstr>
      <vt:lpstr>汉仪书宋二KW</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huangzhuohui</cp:lastModifiedBy>
  <cp:revision>1</cp:revision>
  <dcterms:created xsi:type="dcterms:W3CDTF">2026-06-19T05:05:44Z</dcterms:created>
  <dcterms:modified xsi:type="dcterms:W3CDTF">2026-06-19T05:05:44Z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{"Label":"1","ContentProducer":"001191110102MACQD9K64010000","ProduceID":"7652967995170671578","ReservedCode1":"","ContentPropagator":"","PropagateID":"","ReservedCode2":""}</vt:lpwstr>
  </property>
  <property fmtid="{D5CDD505-2E9C-101B-9397-08002B2CF9AE}" pid="3" name="ICV">
    <vt:lpwstr>4EB58F1214A761DF27CE346A92A9843D_42</vt:lpwstr>
  </property>
  <property fmtid="{D5CDD505-2E9C-101B-9397-08002B2CF9AE}" pid="4" name="KSOProductBuildVer">
    <vt:lpwstr>2052-5.3.0.7863</vt:lpwstr>
  </property>
</Properties>
</file>
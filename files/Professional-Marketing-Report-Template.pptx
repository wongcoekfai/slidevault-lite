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Good morning/afternoon. Today, I'll be presenting our marketing performance review for the past period. This presentation will provide data-driven insights into our key metrics, channel performance, and customer behavior, and will conclude with strategic recommendations for the future. Let's begin.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Let's start with the executive summary. Overall, we had a strong quarter with revenue up 15% year-over-year. Our email campaign was a standout success, but we did see a decline in LinkedIn ROI. Based on these insights, we recommend a strategic budget shift to capitalize on our strengths.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Here's the agenda for today. We'll start with a high-level performance review, then dive deep into channel performance and the customer journey. After that, we'll look at our audience and market, and finally, I'll present our strategic plan and next steps.</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Now let's look at our key performance indicators. Revenue and CAC are trending positively, but lead generation is slightly below target. The chart shows that while website traffic is up, our conversion rate is inconsistent, which we believe is linked to competitive activity in April.</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Diving into channel performance, this chart and table give us a clear picture. Email marketing remains our most profitable channel by far. TikTok is a rising star with high conversion rates, and we should look to optimize our spend there. This data helps us make informed decisions about budget allocation.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Understanding the customer journey is key to improving conversions. Our funnel analysis shows that we lose the most users between adding items to their cart and starting the checkout. This is our primary bottleneck and a key area for optimization.</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win in the market, we must understand our audience and our competition. Our primary persona, 'Tech-Savvy Tina', values efficiency and quality. The competitive matrix shows we are the premium leader, but we need to be mindful of Competitor A, who is targeting a similar audience at a lower price.</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Looking ahead, this is our strategic roadmap. We'll be focusing on three key pillars: content excellence, audience-centric acquisition, and a seamless customer experience. The timeline outlines our major initiatives for the next year, including the Q4 holiday campaign and a new website launch.</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To turn our strategy into action, here's a breakdown of our key initiatives. Each action item has a clear owner and deadline. We've also allocated the necessary budget to ensure these initiatives are properly resourced.</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That concludes my presentation. Thank you for your time. A detailed report will follow, and I'd now like to open the floor for any questions you may have. Let's discuss how we can drive even greater success in the coming quarter.</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6.png"/><Relationship Id="rId7" Type="http://schemas.openxmlformats.org/officeDocument/2006/relationships/image" Target="../media/image3.svg"/><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4.png"/><Relationship Id="rId3" Type="http://schemas.openxmlformats.org/officeDocument/2006/relationships/image" Target="../media/image1.svg"/><Relationship Id="rId2" Type="http://schemas.openxmlformats.org/officeDocument/2006/relationships/image" Target="../media/image3.png"/><Relationship Id="rId11" Type="http://schemas.openxmlformats.org/officeDocument/2006/relationships/notesSlide" Target="../notesSlides/notesSlide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7.svg"/><Relationship Id="rId8" Type="http://schemas.openxmlformats.org/officeDocument/2006/relationships/image" Target="../media/image9.png"/><Relationship Id="rId7" Type="http://schemas.openxmlformats.org/officeDocument/2006/relationships/image" Target="../media/image4.svg"/><Relationship Id="rId6" Type="http://schemas.openxmlformats.org/officeDocument/2006/relationships/image" Target="../media/image6.png"/><Relationship Id="rId5" Type="http://schemas.openxmlformats.org/officeDocument/2006/relationships/image" Target="../media/image6.svg"/><Relationship Id="rId4" Type="http://schemas.openxmlformats.org/officeDocument/2006/relationships/image" Target="../media/image8.png"/><Relationship Id="rId3" Type="http://schemas.openxmlformats.org/officeDocument/2006/relationships/image" Target="../media/image5.svg"/><Relationship Id="rId2" Type="http://schemas.openxmlformats.org/officeDocument/2006/relationships/image" Target="../media/image7.png"/><Relationship Id="rId13" Type="http://schemas.openxmlformats.org/officeDocument/2006/relationships/notesSlide" Target="../notesSlides/notesSlide3.xml"/><Relationship Id="rId12" Type="http://schemas.openxmlformats.org/officeDocument/2006/relationships/slideLayout" Target="../slideLayouts/slideLayout12.xml"/><Relationship Id="rId11" Type="http://schemas.openxmlformats.org/officeDocument/2006/relationships/image" Target="../media/image8.svg"/><Relationship Id="rId10" Type="http://schemas.openxmlformats.org/officeDocument/2006/relationships/image" Target="../media/image10.pn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9.svg"/><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10.svg"/><Relationship Id="rId2" Type="http://schemas.openxmlformats.org/officeDocument/2006/relationships/image" Target="../media/image14.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13.svg"/><Relationship Id="rId8" Type="http://schemas.openxmlformats.org/officeDocument/2006/relationships/image" Target="../media/image17.png"/><Relationship Id="rId7" Type="http://schemas.openxmlformats.org/officeDocument/2006/relationships/image" Target="../media/image9.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6.png"/><Relationship Id="rId3" Type="http://schemas.openxmlformats.org/officeDocument/2006/relationships/image" Target="../media/image11.svg"/><Relationship Id="rId2" Type="http://schemas.openxmlformats.org/officeDocument/2006/relationships/image" Target="../media/image15.png"/><Relationship Id="rId13" Type="http://schemas.openxmlformats.org/officeDocument/2006/relationships/notesSlide" Target="../notesSlides/notesSlide7.xml"/><Relationship Id="rId12" Type="http://schemas.openxmlformats.org/officeDocument/2006/relationships/slideLayout" Target="../slideLayouts/slideLayout12.xml"/><Relationship Id="rId11" Type="http://schemas.openxmlformats.org/officeDocument/2006/relationships/image" Target="../media/image14.svg"/><Relationship Id="rId10" Type="http://schemas.openxmlformats.org/officeDocument/2006/relationships/image" Target="../media/image18.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12.xml"/><Relationship Id="rId7" Type="http://schemas.openxmlformats.org/officeDocument/2006/relationships/image" Target="../media/image17.svg"/><Relationship Id="rId6" Type="http://schemas.openxmlformats.org/officeDocument/2006/relationships/image" Target="../media/image21.png"/><Relationship Id="rId5" Type="http://schemas.openxmlformats.org/officeDocument/2006/relationships/image" Target="../media/image16.svg"/><Relationship Id="rId4" Type="http://schemas.openxmlformats.org/officeDocument/2006/relationships/image" Target="../media/image20.png"/><Relationship Id="rId3" Type="http://schemas.openxmlformats.org/officeDocument/2006/relationships/image" Target="../media/image15.svg"/><Relationship Id="rId2" Type="http://schemas.openxmlformats.org/officeDocument/2006/relationships/image" Target="../media/image19.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20.svg"/><Relationship Id="rId6" Type="http://schemas.openxmlformats.org/officeDocument/2006/relationships/image" Target="../media/image24.png"/><Relationship Id="rId5" Type="http://schemas.openxmlformats.org/officeDocument/2006/relationships/image" Target="../media/image19.svg"/><Relationship Id="rId4" Type="http://schemas.openxmlformats.org/officeDocument/2006/relationships/image" Target="../media/image23.png"/><Relationship Id="rId3" Type="http://schemas.openxmlformats.org/officeDocument/2006/relationships/image" Target="../media/image18.svg"/><Relationship Id="rId2" Type="http://schemas.openxmlformats.org/officeDocument/2006/relationships/image" Target="../media/image22.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12.xml"/><Relationship Id="rId7" Type="http://schemas.openxmlformats.org/officeDocument/2006/relationships/image" Target="../media/image23.svg"/><Relationship Id="rId6" Type="http://schemas.openxmlformats.org/officeDocument/2006/relationships/image" Target="../media/image28.png"/><Relationship Id="rId5" Type="http://schemas.openxmlformats.org/officeDocument/2006/relationships/image" Target="../media/image22.svg"/><Relationship Id="rId4" Type="http://schemas.openxmlformats.org/officeDocument/2006/relationships/image" Target="../media/image27.png"/><Relationship Id="rId3" Type="http://schemas.openxmlformats.org/officeDocument/2006/relationships/image" Target="../media/image21.svg"/><Relationship Id="rId2" Type="http://schemas.openxmlformats.org/officeDocument/2006/relationships/image" Target="../media/image26.png"/><Relationship Id="rId1" Type="http://schemas.openxmlformats.org/officeDocument/2006/relationships/image" Target="../media/image2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2286000"/>
            <a:ext cx="1066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Poppins"/>
                <a:ea typeface="Poppins"/>
                <a:cs typeface="Poppins"/>
                <a:sym typeface="Poppins"/>
              </a:rPr>
              <a:t>Marketing Performance Review</a:t>
            </a:r>
            <a:endParaRPr lang="en-US" sz="1100"/>
          </a:p>
        </p:txBody>
      </p:sp>
      <p:sp>
        <p:nvSpPr>
          <p:cNvPr id="4" name="AutoShape 4"/>
          <p:cNvSpPr/>
          <p:nvPr/>
        </p:nvSpPr>
        <p:spPr>
          <a:xfrm>
            <a:off x="762000" y="4191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2400" b="0" i="0" u="none" strike="noStrike">
                <a:solidFill>
                  <a:srgbClr val="FFFFFF">
                    <a:alpha val="85098"/>
                  </a:srgbClr>
                </a:solidFill>
                <a:latin typeface="Poppins"/>
                <a:ea typeface="Poppins"/>
                <a:cs typeface="Poppins"/>
                <a:sym typeface="Poppins"/>
              </a:rPr>
              <a:t>Data-Driven Insights &amp; Strategic Recommendations</a:t>
            </a:r>
            <a:endParaRPr lang="en-US" sz="1100"/>
          </a:p>
        </p:txBody>
      </p:sp>
      <p:cxnSp>
        <p:nvCxnSpPr>
          <p:cNvPr id="5" name="Connector 5"/>
          <p:cNvCxnSpPr/>
          <p:nvPr/>
        </p:nvCxnSpPr>
        <p:spPr>
          <a:xfrm rot="-4092">
            <a:off x="762004" y="5454650"/>
            <a:ext cx="10668000" cy="12700"/>
          </a:xfrm>
          <a:prstGeom prst="straightConnector1">
            <a:avLst/>
          </a:prstGeom>
          <a:solidFill>
            <a:srgbClr val="DEE0E3">
              <a:alpha val="100000"/>
            </a:srgbClr>
          </a:solidFill>
          <a:ln w="12700" cap="flat" cmpd="sng">
            <a:solidFill>
              <a:srgbClr val="FFFFFF">
                <a:alpha val="30000"/>
              </a:srgbClr>
            </a:solidFill>
            <a:prstDash val="solid"/>
            <a:round/>
            <a:headEnd type="none" w="med" len="med"/>
            <a:tailEnd type="none" w="med" len="med"/>
          </a:ln>
        </p:spPr>
      </p:cxnSp>
      <p:sp>
        <p:nvSpPr>
          <p:cNvPr id="6" name="AutoShape 6"/>
          <p:cNvSpPr/>
          <p:nvPr/>
        </p:nvSpPr>
        <p:spPr>
          <a:xfrm>
            <a:off x="762000" y="56515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70196"/>
                  </a:srgbClr>
                </a:solidFill>
                <a:latin typeface="Poppins"/>
                <a:ea typeface="Poppins"/>
                <a:cs typeface="Poppins"/>
                <a:sym typeface="Poppins"/>
              </a:rPr>
              <a:t>[Your Name/Department] | [Date]</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Executive Summary</a:t>
            </a:r>
            <a:endParaRPr lang="en-US" sz="1100"/>
          </a:p>
        </p:txBody>
      </p:sp>
      <p:sp>
        <p:nvSpPr>
          <p:cNvPr id="4" name="AutoShape 4"/>
          <p:cNvSpPr/>
          <p:nvPr/>
        </p:nvSpPr>
        <p:spPr>
          <a:xfrm>
            <a:off x="762000" y="1651000"/>
            <a:ext cx="5207000" cy="22225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406400" cy="406400"/>
          </a:xfrm>
          <a:prstGeom prst="rect">
            <a:avLst/>
          </a:prstGeom>
        </p:spPr>
      </p:pic>
      <p:sp>
        <p:nvSpPr>
          <p:cNvPr id="6" name="AutoShape 6"/>
          <p:cNvSpPr/>
          <p:nvPr/>
        </p:nvSpPr>
        <p:spPr>
          <a:xfrm>
            <a:off x="1549400" y="1930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01. Overall Performance</a:t>
            </a:r>
            <a:endParaRPr lang="en-US" sz="1100"/>
          </a:p>
        </p:txBody>
      </p:sp>
      <p:sp>
        <p:nvSpPr>
          <p:cNvPr id="7" name="AutoShape 7"/>
          <p:cNvSpPr/>
          <p:nvPr/>
        </p:nvSpPr>
        <p:spPr>
          <a:xfrm>
            <a:off x="1016000" y="2476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16A34A"/>
                </a:solidFill>
                <a:latin typeface="Poppins"/>
                <a:ea typeface="Poppins"/>
                <a:cs typeface="Poppins"/>
                <a:sym typeface="Poppins"/>
              </a:rPr>
              <a:t>+15% YoY Revenue Growth</a:t>
            </a:r>
            <a:endParaRPr lang="en-US" sz="1100"/>
          </a:p>
        </p:txBody>
      </p:sp>
      <p:sp>
        <p:nvSpPr>
          <p:cNvPr id="8" name="AutoShape 8"/>
          <p:cNvSpPr/>
          <p:nvPr/>
        </p:nvSpPr>
        <p:spPr>
          <a:xfrm>
            <a:off x="1016000" y="31115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Poppins"/>
                <a:ea typeface="Poppins"/>
                <a:cs typeface="Poppins"/>
                <a:sym typeface="Poppins"/>
              </a:rPr>
              <a:t>Exceeded quarterly targets, driven by the new TikTok campaign that significantly boosted user engagement and direct conversions across all channels.</a:t>
            </a:r>
            <a:endParaRPr lang="en-US" sz="1100"/>
          </a:p>
        </p:txBody>
      </p:sp>
      <p:sp>
        <p:nvSpPr>
          <p:cNvPr id="9" name="AutoShape 9"/>
          <p:cNvSpPr/>
          <p:nvPr/>
        </p:nvSpPr>
        <p:spPr>
          <a:xfrm>
            <a:off x="6223000" y="1651000"/>
            <a:ext cx="5207000" cy="22225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905000"/>
            <a:ext cx="406400" cy="406400"/>
          </a:xfrm>
          <a:prstGeom prst="rect">
            <a:avLst/>
          </a:prstGeom>
        </p:spPr>
      </p:pic>
      <p:sp>
        <p:nvSpPr>
          <p:cNvPr id="11" name="AutoShape 11"/>
          <p:cNvSpPr/>
          <p:nvPr/>
        </p:nvSpPr>
        <p:spPr>
          <a:xfrm>
            <a:off x="7010400" y="19304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02. Top Initiative: Summer Sale</a:t>
            </a:r>
            <a:endParaRPr lang="en-US" sz="1100"/>
          </a:p>
        </p:txBody>
      </p:sp>
      <p:sp>
        <p:nvSpPr>
          <p:cNvPr id="12" name="AutoShape 12"/>
          <p:cNvSpPr/>
          <p:nvPr/>
        </p:nvSpPr>
        <p:spPr>
          <a:xfrm>
            <a:off x="6477000" y="24765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EA580C"/>
                </a:solidFill>
                <a:latin typeface="Poppins"/>
                <a:ea typeface="Poppins"/>
                <a:cs typeface="Poppins"/>
                <a:sym typeface="Poppins"/>
              </a:rPr>
              <a:t>35% Open | 5% Conversion</a:t>
            </a:r>
            <a:endParaRPr lang="en-US" sz="1100"/>
          </a:p>
        </p:txBody>
      </p:sp>
      <p:sp>
        <p:nvSpPr>
          <p:cNvPr id="13" name="AutoShape 13"/>
          <p:cNvSpPr/>
          <p:nvPr/>
        </p:nvSpPr>
        <p:spPr>
          <a:xfrm>
            <a:off x="6477000" y="31115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Poppins"/>
                <a:ea typeface="Poppins"/>
                <a:cs typeface="Poppins"/>
                <a:sym typeface="Poppins"/>
              </a:rPr>
              <a:t>The email campaign was the quarter’s standout success, achieving record-high engagement and directly driving the majority of seasonal inventory turnover.</a:t>
            </a:r>
            <a:endParaRPr lang="en-US" sz="1100"/>
          </a:p>
        </p:txBody>
      </p:sp>
      <p:sp>
        <p:nvSpPr>
          <p:cNvPr id="14" name="AutoShape 14"/>
          <p:cNvSpPr/>
          <p:nvPr/>
        </p:nvSpPr>
        <p:spPr>
          <a:xfrm>
            <a:off x="762000" y="4127500"/>
            <a:ext cx="5207000" cy="22225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381500"/>
            <a:ext cx="406400" cy="406400"/>
          </a:xfrm>
          <a:prstGeom prst="rect">
            <a:avLst/>
          </a:prstGeom>
        </p:spPr>
      </p:pic>
      <p:sp>
        <p:nvSpPr>
          <p:cNvPr id="16" name="AutoShape 16"/>
          <p:cNvSpPr/>
          <p:nvPr/>
        </p:nvSpPr>
        <p:spPr>
          <a:xfrm>
            <a:off x="1549400" y="44069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03. Key Challenge: LinkedIn ROI</a:t>
            </a:r>
            <a:endParaRPr lang="en-US" sz="1100"/>
          </a:p>
        </p:txBody>
      </p:sp>
      <p:sp>
        <p:nvSpPr>
          <p:cNvPr id="17" name="AutoShape 17"/>
          <p:cNvSpPr/>
          <p:nvPr/>
        </p:nvSpPr>
        <p:spPr>
          <a:xfrm>
            <a:off x="1016000" y="4953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DC2626"/>
                </a:solidFill>
                <a:latin typeface="Poppins"/>
                <a:ea typeface="Poppins"/>
                <a:cs typeface="Poppins"/>
                <a:sym typeface="Poppins"/>
              </a:rPr>
              <a:t>-20% ROI Drop (vs Q1)</a:t>
            </a:r>
            <a:endParaRPr lang="en-US" sz="1100"/>
          </a:p>
        </p:txBody>
      </p:sp>
      <p:sp>
        <p:nvSpPr>
          <p:cNvPr id="18" name="AutoShape 18"/>
          <p:cNvSpPr/>
          <p:nvPr/>
        </p:nvSpPr>
        <p:spPr>
          <a:xfrm>
            <a:off x="1016000" y="5588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Poppins"/>
                <a:ea typeface="Poppins"/>
                <a:cs typeface="Poppins"/>
                <a:sym typeface="Poppins"/>
              </a:rPr>
              <a:t>Performance declined due to increased ad competition and audience saturation; current B2B targeting strategy requires immediate recalibration.</a:t>
            </a:r>
            <a:endParaRPr lang="en-US" sz="1100"/>
          </a:p>
        </p:txBody>
      </p:sp>
      <p:sp>
        <p:nvSpPr>
          <p:cNvPr id="19" name="AutoShape 19"/>
          <p:cNvSpPr/>
          <p:nvPr/>
        </p:nvSpPr>
        <p:spPr>
          <a:xfrm>
            <a:off x="6223000" y="4127500"/>
            <a:ext cx="5207000" cy="22225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381500"/>
            <a:ext cx="406400" cy="406400"/>
          </a:xfrm>
          <a:prstGeom prst="rect">
            <a:avLst/>
          </a:prstGeom>
        </p:spPr>
      </p:pic>
      <p:sp>
        <p:nvSpPr>
          <p:cNvPr id="21" name="AutoShape 21"/>
          <p:cNvSpPr/>
          <p:nvPr/>
        </p:nvSpPr>
        <p:spPr>
          <a:xfrm>
            <a:off x="7010400" y="4406900"/>
            <a:ext cx="381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04. Strategic Recommendation</a:t>
            </a:r>
            <a:endParaRPr lang="en-US" sz="1100"/>
          </a:p>
        </p:txBody>
      </p:sp>
      <p:sp>
        <p:nvSpPr>
          <p:cNvPr id="22" name="AutoShape 22"/>
          <p:cNvSpPr/>
          <p:nvPr/>
        </p:nvSpPr>
        <p:spPr>
          <a:xfrm>
            <a:off x="6477000" y="4953000"/>
            <a:ext cx="4699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2563EB"/>
                </a:solidFill>
                <a:latin typeface="Poppins"/>
                <a:ea typeface="Poppins"/>
                <a:cs typeface="Poppins"/>
                <a:sym typeface="Poppins"/>
              </a:rPr>
              <a:t>Budget Shift &amp; Scale TikTok</a:t>
            </a:r>
            <a:endParaRPr lang="en-US" sz="1100"/>
          </a:p>
        </p:txBody>
      </p:sp>
      <p:sp>
        <p:nvSpPr>
          <p:cNvPr id="23" name="AutoShape 23"/>
          <p:cNvSpPr/>
          <p:nvPr/>
        </p:nvSpPr>
        <p:spPr>
          <a:xfrm>
            <a:off x="6477000" y="5588000"/>
            <a:ext cx="4699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Poppins"/>
                <a:ea typeface="Poppins"/>
                <a:cs typeface="Poppins"/>
                <a:sym typeface="Poppins"/>
              </a:rPr>
              <a:t>Reallocate 10% of LinkedIn’s budget to Pinterest (untapped potential) and double down on the high-performing TikTok content format to sustain growth.</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Agenda / Presentation Flow</a:t>
            </a:r>
            <a:endParaRPr lang="en-US" sz="1100"/>
          </a:p>
        </p:txBody>
      </p:sp>
      <p:sp>
        <p:nvSpPr>
          <p:cNvPr id="4" name="AutoShape 4"/>
          <p:cNvSpPr/>
          <p:nvPr/>
        </p:nvSpPr>
        <p:spPr>
          <a:xfrm>
            <a:off x="762000" y="1778000"/>
            <a:ext cx="3378200" cy="1905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1981200"/>
            <a:ext cx="304800" cy="304800"/>
          </a:xfrm>
          <a:prstGeom prst="rect">
            <a:avLst/>
          </a:prstGeom>
        </p:spPr>
      </p:pic>
      <p:sp>
        <p:nvSpPr>
          <p:cNvPr id="6" name="AutoShape 6"/>
          <p:cNvSpPr/>
          <p:nvPr/>
        </p:nvSpPr>
        <p:spPr>
          <a:xfrm>
            <a:off x="1371600" y="1955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01 Performance Review</a:t>
            </a:r>
            <a:endParaRPr lang="en-US" sz="1100"/>
          </a:p>
        </p:txBody>
      </p:sp>
      <p:sp>
        <p:nvSpPr>
          <p:cNvPr id="7" name="AutoShape 7"/>
          <p:cNvSpPr/>
          <p:nvPr/>
        </p:nvSpPr>
        <p:spPr>
          <a:xfrm>
            <a:off x="965200" y="2413000"/>
            <a:ext cx="2971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Analyze key metrics, growth trends, and core result highlights from the last quarter to establish a clear baseline for success.</a:t>
            </a:r>
            <a:endParaRPr lang="en-US" sz="1100"/>
          </a:p>
        </p:txBody>
      </p:sp>
      <p:sp>
        <p:nvSpPr>
          <p:cNvPr id="8" name="AutoShape 8"/>
          <p:cNvSpPr/>
          <p:nvPr/>
        </p:nvSpPr>
        <p:spPr>
          <a:xfrm>
            <a:off x="4394200" y="1778000"/>
            <a:ext cx="3378200" cy="1905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97400" y="1981200"/>
            <a:ext cx="304800" cy="304800"/>
          </a:xfrm>
          <a:prstGeom prst="rect">
            <a:avLst/>
          </a:prstGeom>
        </p:spPr>
      </p:pic>
      <p:sp>
        <p:nvSpPr>
          <p:cNvPr id="10" name="AutoShape 10"/>
          <p:cNvSpPr/>
          <p:nvPr/>
        </p:nvSpPr>
        <p:spPr>
          <a:xfrm>
            <a:off x="5003800" y="1955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02 Channel Deep Dive</a:t>
            </a:r>
            <a:endParaRPr lang="en-US" sz="1100"/>
          </a:p>
        </p:txBody>
      </p:sp>
      <p:sp>
        <p:nvSpPr>
          <p:cNvPr id="11" name="AutoShape 11"/>
          <p:cNvSpPr/>
          <p:nvPr/>
        </p:nvSpPr>
        <p:spPr>
          <a:xfrm>
            <a:off x="4597400" y="2413000"/>
            <a:ext cx="2971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Evaluate ROI across paid ads, social media, email campaigns, and SEO to identify high-performing channels and optimize budget allocation.</a:t>
            </a:r>
            <a:endParaRPr lang="en-US" sz="1100"/>
          </a:p>
        </p:txBody>
      </p:sp>
      <p:sp>
        <p:nvSpPr>
          <p:cNvPr id="12" name="AutoShape 12"/>
          <p:cNvSpPr/>
          <p:nvPr/>
        </p:nvSpPr>
        <p:spPr>
          <a:xfrm>
            <a:off x="8026400" y="1778000"/>
            <a:ext cx="3378200" cy="1905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29600" y="1981200"/>
            <a:ext cx="304800" cy="304800"/>
          </a:xfrm>
          <a:prstGeom prst="rect">
            <a:avLst/>
          </a:prstGeom>
        </p:spPr>
      </p:pic>
      <p:sp>
        <p:nvSpPr>
          <p:cNvPr id="14" name="AutoShape 14"/>
          <p:cNvSpPr/>
          <p:nvPr/>
        </p:nvSpPr>
        <p:spPr>
          <a:xfrm>
            <a:off x="8636000" y="1955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03 Customer Journey</a:t>
            </a:r>
            <a:endParaRPr lang="en-US" sz="1100"/>
          </a:p>
        </p:txBody>
      </p:sp>
      <p:sp>
        <p:nvSpPr>
          <p:cNvPr id="15" name="AutoShape 15"/>
          <p:cNvSpPr/>
          <p:nvPr/>
        </p:nvSpPr>
        <p:spPr>
          <a:xfrm>
            <a:off x="8229600" y="2413000"/>
            <a:ext cx="29718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Map the end-to-end user experience, pinpoint friction points in the conversion funnel, and uncover opportunities to boost retention.</a:t>
            </a:r>
            <a:endParaRPr lang="en-US" sz="1100"/>
          </a:p>
        </p:txBody>
      </p:sp>
      <p:sp>
        <p:nvSpPr>
          <p:cNvPr id="16" name="AutoShape 16"/>
          <p:cNvSpPr/>
          <p:nvPr/>
        </p:nvSpPr>
        <p:spPr>
          <a:xfrm>
            <a:off x="762000" y="4064000"/>
            <a:ext cx="5207000" cy="2032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5200" y="4267200"/>
            <a:ext cx="304800" cy="304800"/>
          </a:xfrm>
          <a:prstGeom prst="rect">
            <a:avLst/>
          </a:prstGeom>
        </p:spPr>
      </p:pic>
      <p:sp>
        <p:nvSpPr>
          <p:cNvPr id="18" name="AutoShape 18"/>
          <p:cNvSpPr/>
          <p:nvPr/>
        </p:nvSpPr>
        <p:spPr>
          <a:xfrm>
            <a:off x="1371600" y="42418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04 Audience &amp; Market Insights</a:t>
            </a:r>
            <a:endParaRPr lang="en-US" sz="1100"/>
          </a:p>
        </p:txBody>
      </p:sp>
      <p:sp>
        <p:nvSpPr>
          <p:cNvPr id="19" name="AutoShape 19"/>
          <p:cNvSpPr/>
          <p:nvPr/>
        </p:nvSpPr>
        <p:spPr>
          <a:xfrm>
            <a:off x="965200" y="4699000"/>
            <a:ext cx="4800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Gain a granular understanding of our target demographic’s behavior, preferences, and pain points. Analyze the competitive landscape to identify market gaps, emerging trends, and strategic positioning opportunities that align with our brand’s unique value proposition.</a:t>
            </a:r>
            <a:endParaRPr lang="en-US" sz="1100"/>
          </a:p>
        </p:txBody>
      </p:sp>
      <p:sp>
        <p:nvSpPr>
          <p:cNvPr id="20" name="AutoShape 20"/>
          <p:cNvSpPr/>
          <p:nvPr/>
        </p:nvSpPr>
        <p:spPr>
          <a:xfrm>
            <a:off x="6223000" y="4064000"/>
            <a:ext cx="5207000" cy="2032000"/>
          </a:xfrm>
          <a:prstGeom prst="roundRect">
            <a:avLst>
              <a:gd name="adj" fmla="val 0"/>
            </a:avLst>
          </a:prstGeom>
          <a:solidFill>
            <a:srgbClr val="FFFFFF">
              <a:alpha val="6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26200" y="4267200"/>
            <a:ext cx="304800" cy="304800"/>
          </a:xfrm>
          <a:prstGeom prst="rect">
            <a:avLst/>
          </a:prstGeom>
        </p:spPr>
      </p:pic>
      <p:sp>
        <p:nvSpPr>
          <p:cNvPr id="22" name="AutoShape 22"/>
          <p:cNvSpPr/>
          <p:nvPr/>
        </p:nvSpPr>
        <p:spPr>
          <a:xfrm>
            <a:off x="6832600" y="42418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05 Strategic Plan &amp; Next Steps</a:t>
            </a:r>
            <a:endParaRPr lang="en-US" sz="1100"/>
          </a:p>
        </p:txBody>
      </p:sp>
      <p:sp>
        <p:nvSpPr>
          <p:cNvPr id="23" name="AutoShape 23"/>
          <p:cNvSpPr/>
          <p:nvPr/>
        </p:nvSpPr>
        <p:spPr>
          <a:xfrm>
            <a:off x="6426200" y="4699000"/>
            <a:ext cx="48006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Outline actionable initiatives, a clear Q3-Q4 roadmap, and success metrics to drive growth. Define short-term wins and long-term goals, including cross-functional collaboration plans and resource allocation to ensure seamless execution and measurable impact.</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Key Performance Indicators (KPIs) - Q2 2026</a:t>
            </a:r>
            <a:endParaRPr lang="en-US" sz="1100"/>
          </a:p>
        </p:txBody>
      </p:sp>
      <p:sp>
        <p:nvSpPr>
          <p:cNvPr id="4" name="AutoShape 4"/>
          <p:cNvSpPr/>
          <p:nvPr/>
        </p:nvSpPr>
        <p:spPr>
          <a:xfrm>
            <a:off x="762000" y="1524000"/>
            <a:ext cx="2603500" cy="1524000"/>
          </a:xfrm>
          <a:prstGeom prst="roundRect">
            <a:avLst>
              <a:gd name="adj" fmla="val 0"/>
            </a:avLst>
          </a:prstGeom>
          <a:solidFill>
            <a:srgbClr val="FFFFFF">
              <a:alpha val="7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889000" y="17145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18096"/>
                </a:solidFill>
                <a:latin typeface="Noto Sans SC"/>
                <a:ea typeface="Noto Sans SC"/>
                <a:cs typeface="Noto Sans SC"/>
                <a:sym typeface="Noto Sans SC"/>
              </a:rPr>
              <a:t>Overall Revenue</a:t>
            </a:r>
            <a:endParaRPr lang="en-US" sz="1100"/>
          </a:p>
        </p:txBody>
      </p:sp>
      <p:sp>
        <p:nvSpPr>
          <p:cNvPr id="6" name="AutoShape 6"/>
          <p:cNvSpPr/>
          <p:nvPr/>
        </p:nvSpPr>
        <p:spPr>
          <a:xfrm>
            <a:off x="889000" y="20574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3748"/>
                </a:solidFill>
                <a:latin typeface="Noto Sans SC"/>
                <a:ea typeface="Noto Sans SC"/>
                <a:cs typeface="Noto Sans SC"/>
                <a:sym typeface="Noto Sans SC"/>
              </a:rPr>
              <a:t>$42.5 M</a:t>
            </a:r>
            <a:endParaRPr lang="en-US" sz="1100"/>
          </a:p>
        </p:txBody>
      </p:sp>
      <p:sp>
        <p:nvSpPr>
          <p:cNvPr id="7" name="AutoShape 7"/>
          <p:cNvSpPr/>
          <p:nvPr/>
        </p:nvSpPr>
        <p:spPr>
          <a:xfrm>
            <a:off x="889000" y="25654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8B2AC"/>
                </a:solidFill>
                <a:latin typeface="Noto Sans SC"/>
                <a:ea typeface="Noto Sans SC"/>
                <a:cs typeface="Noto Sans SC"/>
                <a:sym typeface="Noto Sans SC"/>
              </a:rPr>
              <a:t>▲ 12% vs. LY</a:t>
            </a:r>
            <a:r>
              <a:rPr lang="en-US" sz="1200" b="0" i="0" u="none" strike="noStrike">
                <a:solidFill>
                  <a:srgbClr val="A0AEC0"/>
                </a:solidFill>
                <a:latin typeface="Noto Sans SC"/>
                <a:ea typeface="Noto Sans SC"/>
                <a:cs typeface="Noto Sans SC"/>
                <a:sym typeface="Noto Sans SC"/>
              </a:rPr>
              <a:t>| ▲ 3% vs. Target</a:t>
            </a:r>
            <a:endParaRPr lang="en-US" sz="1100"/>
          </a:p>
        </p:txBody>
      </p:sp>
      <p:sp>
        <p:nvSpPr>
          <p:cNvPr id="8" name="AutoShape 8"/>
          <p:cNvSpPr/>
          <p:nvPr/>
        </p:nvSpPr>
        <p:spPr>
          <a:xfrm>
            <a:off x="3492500" y="1524000"/>
            <a:ext cx="2603500" cy="1524000"/>
          </a:xfrm>
          <a:prstGeom prst="roundRect">
            <a:avLst>
              <a:gd name="adj" fmla="val 0"/>
            </a:avLst>
          </a:prstGeom>
          <a:solidFill>
            <a:srgbClr val="FFFFFF">
              <a:alpha val="7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3619500" y="17145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18096"/>
                </a:solidFill>
                <a:latin typeface="Noto Sans SC"/>
                <a:ea typeface="Noto Sans SC"/>
                <a:cs typeface="Noto Sans SC"/>
                <a:sym typeface="Noto Sans SC"/>
              </a:rPr>
              <a:t>Leads Generated</a:t>
            </a:r>
            <a:endParaRPr lang="en-US" sz="1100"/>
          </a:p>
        </p:txBody>
      </p:sp>
      <p:sp>
        <p:nvSpPr>
          <p:cNvPr id="10" name="AutoShape 10"/>
          <p:cNvSpPr/>
          <p:nvPr/>
        </p:nvSpPr>
        <p:spPr>
          <a:xfrm>
            <a:off x="3619500" y="20574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3748"/>
                </a:solidFill>
                <a:latin typeface="Noto Sans SC"/>
                <a:ea typeface="Noto Sans SC"/>
                <a:cs typeface="Noto Sans SC"/>
                <a:sym typeface="Noto Sans SC"/>
              </a:rPr>
              <a:t>18.2 K</a:t>
            </a:r>
            <a:endParaRPr lang="en-US" sz="1100"/>
          </a:p>
        </p:txBody>
      </p:sp>
      <p:sp>
        <p:nvSpPr>
          <p:cNvPr id="11" name="AutoShape 11"/>
          <p:cNvSpPr/>
          <p:nvPr/>
        </p:nvSpPr>
        <p:spPr>
          <a:xfrm>
            <a:off x="3619500" y="25654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8B2AC"/>
                </a:solidFill>
                <a:latin typeface="Noto Sans SC"/>
                <a:ea typeface="Noto Sans SC"/>
                <a:cs typeface="Noto Sans SC"/>
                <a:sym typeface="Noto Sans SC"/>
              </a:rPr>
              <a:t>▲ 8% vs. LY</a:t>
            </a:r>
            <a:r>
              <a:rPr lang="en-US" sz="1200" b="0" i="0" u="none" strike="noStrike">
                <a:solidFill>
                  <a:srgbClr val="ED8936"/>
                </a:solidFill>
                <a:latin typeface="Noto Sans SC"/>
                <a:ea typeface="Noto Sans SC"/>
                <a:cs typeface="Noto Sans SC"/>
                <a:sym typeface="Noto Sans SC"/>
              </a:rPr>
              <a:t>| ▼ 2% vs. Target</a:t>
            </a:r>
            <a:endParaRPr lang="en-US" sz="1100"/>
          </a:p>
        </p:txBody>
      </p:sp>
      <p:sp>
        <p:nvSpPr>
          <p:cNvPr id="12" name="AutoShape 12"/>
          <p:cNvSpPr/>
          <p:nvPr/>
        </p:nvSpPr>
        <p:spPr>
          <a:xfrm>
            <a:off x="6223000" y="1524000"/>
            <a:ext cx="2603500" cy="1524000"/>
          </a:xfrm>
          <a:prstGeom prst="roundRect">
            <a:avLst>
              <a:gd name="adj" fmla="val 0"/>
            </a:avLst>
          </a:prstGeom>
          <a:solidFill>
            <a:srgbClr val="FFFFFF">
              <a:alpha val="7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6350000" y="17145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18096"/>
                </a:solidFill>
                <a:latin typeface="Noto Sans SC"/>
                <a:ea typeface="Noto Sans SC"/>
                <a:cs typeface="Noto Sans SC"/>
                <a:sym typeface="Noto Sans SC"/>
              </a:rPr>
              <a:t>Customer Acquisition (CAC)</a:t>
            </a:r>
            <a:endParaRPr lang="en-US" sz="1100"/>
          </a:p>
        </p:txBody>
      </p:sp>
      <p:sp>
        <p:nvSpPr>
          <p:cNvPr id="14" name="AutoShape 14"/>
          <p:cNvSpPr/>
          <p:nvPr/>
        </p:nvSpPr>
        <p:spPr>
          <a:xfrm>
            <a:off x="6350000" y="20574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3748"/>
                </a:solidFill>
                <a:latin typeface="Noto Sans SC"/>
                <a:ea typeface="Noto Sans SC"/>
                <a:cs typeface="Noto Sans SC"/>
                <a:sym typeface="Noto Sans SC"/>
              </a:rPr>
              <a:t>$85.2</a:t>
            </a:r>
            <a:endParaRPr lang="en-US" sz="1100"/>
          </a:p>
        </p:txBody>
      </p:sp>
      <p:sp>
        <p:nvSpPr>
          <p:cNvPr id="15" name="AutoShape 15"/>
          <p:cNvSpPr/>
          <p:nvPr/>
        </p:nvSpPr>
        <p:spPr>
          <a:xfrm>
            <a:off x="6350000" y="25654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8B2AC"/>
                </a:solidFill>
                <a:latin typeface="Noto Sans SC"/>
                <a:ea typeface="Noto Sans SC"/>
                <a:cs typeface="Noto Sans SC"/>
                <a:sym typeface="Noto Sans SC"/>
              </a:rPr>
              <a:t>▼ 5% vs. LY</a:t>
            </a:r>
            <a:r>
              <a:rPr lang="en-US" sz="1200" b="0" i="0" u="none" strike="noStrike">
                <a:solidFill>
                  <a:srgbClr val="A0AEC0"/>
                </a:solidFill>
                <a:latin typeface="Noto Sans SC"/>
                <a:ea typeface="Noto Sans SC"/>
                <a:cs typeface="Noto Sans SC"/>
                <a:sym typeface="Noto Sans SC"/>
              </a:rPr>
              <a:t>| Efficiency Gains</a:t>
            </a:r>
            <a:endParaRPr lang="en-US" sz="1100"/>
          </a:p>
        </p:txBody>
      </p:sp>
      <p:sp>
        <p:nvSpPr>
          <p:cNvPr id="16" name="AutoShape 16"/>
          <p:cNvSpPr/>
          <p:nvPr/>
        </p:nvSpPr>
        <p:spPr>
          <a:xfrm>
            <a:off x="8953500" y="1524000"/>
            <a:ext cx="2603500" cy="1524000"/>
          </a:xfrm>
          <a:prstGeom prst="roundRect">
            <a:avLst>
              <a:gd name="adj" fmla="val 0"/>
            </a:avLst>
          </a:prstGeom>
          <a:solidFill>
            <a:srgbClr val="FFFFFF">
              <a:alpha val="7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080500" y="17145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718096"/>
                </a:solidFill>
                <a:latin typeface="Noto Sans SC"/>
                <a:ea typeface="Noto Sans SC"/>
                <a:cs typeface="Noto Sans SC"/>
                <a:sym typeface="Noto Sans SC"/>
              </a:rPr>
              <a:t>Conversion Rate</a:t>
            </a:r>
            <a:endParaRPr lang="en-US" sz="1100"/>
          </a:p>
        </p:txBody>
      </p:sp>
      <p:sp>
        <p:nvSpPr>
          <p:cNvPr id="18" name="AutoShape 18"/>
          <p:cNvSpPr/>
          <p:nvPr/>
        </p:nvSpPr>
        <p:spPr>
          <a:xfrm>
            <a:off x="9080500" y="2057400"/>
            <a:ext cx="2349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D3748"/>
                </a:solidFill>
                <a:latin typeface="Noto Sans SC"/>
                <a:ea typeface="Noto Sans SC"/>
                <a:cs typeface="Noto Sans SC"/>
                <a:sym typeface="Noto Sans SC"/>
              </a:rPr>
              <a:t>3.8%</a:t>
            </a:r>
            <a:endParaRPr lang="en-US" sz="1100"/>
          </a:p>
        </p:txBody>
      </p:sp>
      <p:sp>
        <p:nvSpPr>
          <p:cNvPr id="19" name="AutoShape 19"/>
          <p:cNvSpPr/>
          <p:nvPr/>
        </p:nvSpPr>
        <p:spPr>
          <a:xfrm>
            <a:off x="9080500" y="2565400"/>
            <a:ext cx="234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38B2AC"/>
                </a:solidFill>
                <a:latin typeface="Noto Sans SC"/>
                <a:ea typeface="Noto Sans SC"/>
                <a:cs typeface="Noto Sans SC"/>
                <a:sym typeface="Noto Sans SC"/>
              </a:rPr>
              <a:t>▲ 1.2% vs. LY</a:t>
            </a:r>
            <a:r>
              <a:rPr lang="en-US" sz="1200" b="0" i="0" u="none" strike="noStrike">
                <a:solidFill>
                  <a:srgbClr val="A0AEC0"/>
                </a:solidFill>
                <a:latin typeface="Noto Sans SC"/>
                <a:ea typeface="Noto Sans SC"/>
                <a:cs typeface="Noto Sans SC"/>
                <a:sym typeface="Noto Sans SC"/>
              </a:rPr>
              <a:t>| Strong Momentum</a:t>
            </a:r>
            <a:endParaRPr lang="en-US" sz="1100"/>
          </a:p>
        </p:txBody>
      </p:sp>
      <p:sp>
        <p:nvSpPr>
          <p:cNvPr id="20" name="AutoShape 20"/>
          <p:cNvSpPr/>
          <p:nvPr/>
        </p:nvSpPr>
        <p:spPr>
          <a:xfrm>
            <a:off x="762000" y="3302000"/>
            <a:ext cx="1079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Website Traffic &amp; Conversion Rate Trend (Jan - Jun 2026)</a:t>
            </a:r>
            <a:endParaRPr lang="en-US" sz="1100"/>
          </a:p>
        </p:txBody>
      </p:sp>
      <p:pic>
        <p:nvPicPr>
          <p:cNvPr id="21" name="Picture 21"/>
          <p:cNvPicPr>
            <a:picLocks noChangeAspect="1"/>
          </p:cNvPicPr>
          <p:nvPr/>
        </p:nvPicPr>
        <p:blipFill>
          <a:blip r:embed="rId2"/>
          <a:stretch>
            <a:fillRect/>
          </a:stretch>
        </p:blipFill>
        <p:spPr>
          <a:xfrm>
            <a:off x="762000" y="3746500"/>
            <a:ext cx="10795000" cy="1905000"/>
          </a:xfrm>
          <a:prstGeom prst="rect">
            <a:avLst/>
          </a:prstGeom>
          <a:ln w="12700">
            <a:noFill/>
            <a:prstDash val="solid"/>
          </a:ln>
        </p:spPr>
      </p:pic>
      <p:sp>
        <p:nvSpPr>
          <p:cNvPr id="22" name="AutoShape 22"/>
          <p:cNvSpPr/>
          <p:nvPr/>
        </p:nvSpPr>
        <p:spPr>
          <a:xfrm>
            <a:off x="762000" y="5778500"/>
            <a:ext cx="10795000" cy="762000"/>
          </a:xfrm>
          <a:prstGeom prst="roundRect">
            <a:avLst>
              <a:gd name="adj" fmla="val 0"/>
            </a:avLst>
          </a:prstGeom>
          <a:solidFill>
            <a:srgbClr val="38B2AC">
              <a:alpha val="10000"/>
            </a:srgbClr>
          </a:solidFill>
          <a:ln w="12700" cap="flat" cmpd="sng">
            <a:solidFill>
              <a:srgbClr val="38B2AC">
                <a:alpha val="30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889000" y="5867400"/>
            <a:ext cx="10541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D3748"/>
                </a:solidFill>
                <a:latin typeface="Noto Sans SC"/>
                <a:ea typeface="Noto Sans SC"/>
                <a:cs typeface="Noto Sans SC"/>
                <a:sym typeface="Noto Sans SC"/>
              </a:rPr>
              <a:t>Key Takeaway:</a:t>
            </a:r>
            <a:r>
              <a:rPr lang="en-US" sz="1400" b="0" i="0" u="none" strike="noStrike">
                <a:solidFill>
                  <a:srgbClr val="2D3748"/>
                </a:solidFill>
                <a:latin typeface="Noto Sans SC"/>
                <a:ea typeface="Noto Sans SC"/>
                <a:cs typeface="Noto Sans SC"/>
                <a:sym typeface="Noto Sans SC"/>
              </a:rPr>
              <a:t>Traffic has steadily risen (+38% YoY), but conversion rates dipped in April due to a competitor’s product launch. Post-May, recovery is evident as we refined our landing page experience, aligning with a rebound in conversion rates to 4.1% in June.</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Channel Performance &amp; ROI Analysis</a:t>
            </a:r>
            <a:endParaRPr lang="en-US" sz="1100"/>
          </a:p>
        </p:txBody>
      </p:sp>
      <p:sp>
        <p:nvSpPr>
          <p:cNvPr id="4" name="AutoShape 4"/>
          <p:cNvSpPr/>
          <p:nvPr/>
        </p:nvSpPr>
        <p:spPr>
          <a:xfrm>
            <a:off x="762000" y="1397000"/>
            <a:ext cx="5334000" cy="2413000"/>
          </a:xfrm>
          <a:prstGeom prst="roundRect">
            <a:avLst>
              <a:gd name="adj" fmla="val 0"/>
            </a:avLst>
          </a:prstGeom>
          <a:solidFill>
            <a:srgbClr val="FFFFFF">
              <a:alpha val="6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tretch>
            <a:fillRect/>
          </a:stretch>
        </p:blipFill>
        <p:spPr>
          <a:xfrm>
            <a:off x="889000" y="1460500"/>
            <a:ext cx="5080000" cy="2286000"/>
          </a:xfrm>
          <a:prstGeom prst="rect">
            <a:avLst/>
          </a:prstGeom>
          <a:ln w="12700">
            <a:noFill/>
            <a:prstDash val="solid"/>
          </a:ln>
        </p:spPr>
      </p:pic>
      <p:sp>
        <p:nvSpPr>
          <p:cNvPr id="6" name="AutoShape 6"/>
          <p:cNvSpPr/>
          <p:nvPr/>
        </p:nvSpPr>
        <p:spPr>
          <a:xfrm>
            <a:off x="6350000" y="1397000"/>
            <a:ext cx="5080000" cy="2413000"/>
          </a:xfrm>
          <a:prstGeom prst="roundRect">
            <a:avLst>
              <a:gd name="adj" fmla="val 0"/>
            </a:avLst>
          </a:prstGeom>
          <a:solidFill>
            <a:srgbClr val="2D3748">
              <a:alpha val="5000"/>
            </a:srgbClr>
          </a:solidFill>
          <a:ln w="12700" cap="flat" cmpd="sng">
            <a:solidFill>
              <a:srgbClr val="38B2AC">
                <a:alpha val="4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587500"/>
            <a:ext cx="304800" cy="304800"/>
          </a:xfrm>
          <a:prstGeom prst="rect">
            <a:avLst/>
          </a:prstGeom>
        </p:spPr>
      </p:pic>
      <p:sp>
        <p:nvSpPr>
          <p:cNvPr id="8" name="AutoShape 8"/>
          <p:cNvSpPr/>
          <p:nvPr/>
        </p:nvSpPr>
        <p:spPr>
          <a:xfrm>
            <a:off x="6921500" y="1562100"/>
            <a:ext cx="4445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8B2AC"/>
                </a:solidFill>
                <a:latin typeface="Poppins"/>
                <a:ea typeface="Poppins"/>
                <a:cs typeface="Poppins"/>
                <a:sym typeface="Poppins"/>
              </a:rPr>
              <a:t>Strategic Performance Insight</a:t>
            </a:r>
            <a:endParaRPr lang="en-US" sz="1100"/>
          </a:p>
        </p:txBody>
      </p:sp>
      <p:sp>
        <p:nvSpPr>
          <p:cNvPr id="9" name="AutoShape 9"/>
          <p:cNvSpPr/>
          <p:nvPr/>
        </p:nvSpPr>
        <p:spPr>
          <a:xfrm>
            <a:off x="6540500" y="2032000"/>
            <a:ext cx="4699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2D3748"/>
                </a:solidFill>
                <a:latin typeface="Poppins"/>
                <a:ea typeface="Poppins"/>
                <a:cs typeface="Poppins"/>
                <a:sym typeface="Poppins"/>
              </a:rPr>
              <a:t>Email Marketing leads with a 5:1 ROI and the lowest CAC ($15), proving its unmatched cost-effectiveness. TikTok demonstrates high conversion potential (3.8%) but requires spend optimization to enhance profitability. SEO/Content remains a stable revenue driver with long-term value and low acquisition costs.</a:t>
            </a:r>
            <a:endParaRPr lang="en-US" sz="1100"/>
          </a:p>
        </p:txBody>
      </p:sp>
      <p:sp>
        <p:nvSpPr>
          <p:cNvPr id="10" name="AutoShape 10"/>
          <p:cNvSpPr/>
          <p:nvPr/>
        </p:nvSpPr>
        <p:spPr>
          <a:xfrm>
            <a:off x="762000" y="4000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Poppins"/>
                <a:ea typeface="Poppins"/>
                <a:cs typeface="Poppins"/>
                <a:sym typeface="Poppins"/>
              </a:rPr>
              <a:t>Channel Efficiency Metrics Breakdown</a:t>
            </a:r>
            <a:endParaRPr lang="en-US" sz="1100"/>
          </a:p>
        </p:txBody>
      </p:sp>
      <p:graphicFrame>
        <p:nvGraphicFramePr>
          <p:cNvPr id="11" name="Table 11"/>
          <p:cNvGraphicFramePr>
            <a:graphicFrameLocks noGrp="1"/>
          </p:cNvGraphicFramePr>
          <p:nvPr/>
        </p:nvGraphicFramePr>
        <p:xfrm>
          <a:off x="762000" y="4445000"/>
          <a:ext cx="10668000" cy="1828800"/>
        </p:xfrm>
        <a:graphic>
          <a:graphicData uri="http://schemas.openxmlformats.org/drawingml/2006/table">
            <a:tbl>
              <a:tblPr>
                <a:effectLst/>
              </a:tblPr>
              <a:tblGrid>
                <a:gridCol w="1778000"/>
                <a:gridCol w="1778000"/>
                <a:gridCol w="1905000"/>
                <a:gridCol w="1651000"/>
                <a:gridCol w="1651000"/>
                <a:gridCol w="1905000"/>
              </a:tblGrid>
              <a:tr h="406400">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Channel</a:t>
                      </a:r>
                      <a:endParaRPr lang="en-US" sz="1100"/>
                    </a:p>
                  </a:txBody>
                  <a:tcPr marL="101600" marR="101600" marT="101600" marB="101600" anchor="t" anchorCtr="0">
                    <a:lnL>
                      <a:noFill/>
                    </a:lnL>
                    <a:lnR>
                      <a:noFill/>
                    </a:lnR>
                    <a:lnT>
                      <a:noFill/>
                    </a:lnT>
                    <a:lnB>
                      <a:noFill/>
                    </a:lnB>
                    <a:solidFill>
                      <a:srgbClr val="2D3748">
                        <a:alpha val="8000"/>
                      </a:srgbClr>
                    </a:solidFill>
                  </a:tcPr>
                </a:tc>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Total Spend ($)</a:t>
                      </a:r>
                      <a:endParaRPr lang="en-US" sz="1100"/>
                    </a:p>
                  </a:txBody>
                  <a:tcPr marL="101600" marR="101600" marT="101600" marB="101600" anchor="t" anchorCtr="0">
                    <a:lnL>
                      <a:noFill/>
                    </a:lnL>
                    <a:lnR>
                      <a:noFill/>
                    </a:lnR>
                    <a:lnT>
                      <a:noFill/>
                    </a:lnT>
                    <a:lnB>
                      <a:noFill/>
                    </a:lnB>
                    <a:solidFill>
                      <a:srgbClr val="2D3748">
                        <a:alpha val="8000"/>
                      </a:srgbClr>
                    </a:solidFill>
                  </a:tcPr>
                </a:tc>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Revenue ($)</a:t>
                      </a:r>
                      <a:endParaRPr lang="en-US" sz="1100"/>
                    </a:p>
                  </a:txBody>
                  <a:tcPr marL="101600" marR="101600" marT="101600" marB="101600" anchor="t" anchorCtr="0">
                    <a:lnL>
                      <a:noFill/>
                    </a:lnL>
                    <a:lnR>
                      <a:noFill/>
                    </a:lnR>
                    <a:lnT>
                      <a:noFill/>
                    </a:lnT>
                    <a:lnB>
                      <a:noFill/>
                    </a:lnB>
                    <a:solidFill>
                      <a:srgbClr val="2D3748">
                        <a:alpha val="8000"/>
                      </a:srgbClr>
                    </a:solidFill>
                  </a:tcPr>
                </a:tc>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ROI Ratio</a:t>
                      </a:r>
                      <a:endParaRPr lang="en-US" sz="1100"/>
                    </a:p>
                  </a:txBody>
                  <a:tcPr marL="101600" marR="101600" marT="101600" marB="101600" anchor="t" anchorCtr="0">
                    <a:lnL>
                      <a:noFill/>
                    </a:lnL>
                    <a:lnR>
                      <a:noFill/>
                    </a:lnR>
                    <a:lnT>
                      <a:noFill/>
                    </a:lnT>
                    <a:lnB>
                      <a:noFill/>
                    </a:lnB>
                    <a:solidFill>
                      <a:srgbClr val="2D3748">
                        <a:alpha val="8000"/>
                      </a:srgbClr>
                    </a:solidFill>
                  </a:tcPr>
                </a:tc>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CAC ($)</a:t>
                      </a:r>
                      <a:endParaRPr lang="en-US" sz="1100"/>
                    </a:p>
                  </a:txBody>
                  <a:tcPr marL="101600" marR="101600" marT="101600" marB="101600" anchor="t" anchorCtr="0">
                    <a:lnL>
                      <a:noFill/>
                    </a:lnL>
                    <a:lnR>
                      <a:noFill/>
                    </a:lnR>
                    <a:lnT>
                      <a:noFill/>
                    </a:lnT>
                    <a:lnB>
                      <a:noFill/>
                    </a:lnB>
                    <a:solidFill>
                      <a:srgbClr val="2D3748">
                        <a:alpha val="8000"/>
                      </a:srgbClr>
                    </a:solidFill>
                  </a:tcPr>
                </a:tc>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Conversion Rate</a:t>
                      </a:r>
                      <a:endParaRPr lang="en-US" sz="1100"/>
                    </a:p>
                  </a:txBody>
                  <a:tcPr marL="101600" marR="101600" marT="101600" marB="101600" anchor="t" anchorCtr="0">
                    <a:lnL>
                      <a:noFill/>
                    </a:lnL>
                    <a:lnR>
                      <a:noFill/>
                    </a:lnR>
                    <a:lnT>
                      <a:noFill/>
                    </a:lnT>
                    <a:lnB>
                      <a:noFill/>
                    </a:lnB>
                    <a:solidFill>
                      <a:srgbClr val="2D3748">
                        <a:alpha val="8000"/>
                      </a:srgbClr>
                    </a:solidFill>
                  </a:tcPr>
                </a:tc>
              </a:tr>
              <a:tr h="355600">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Google Ads</a:t>
                      </a:r>
                      <a:endParaRPr lang="en-US" sz="1100"/>
                    </a:p>
                  </a:txBody>
                  <a:tcPr marL="101600" marR="101600" marT="101600" marB="101600" anchor="t" anchorCtr="0">
                    <a:lnL>
                      <a:noFill/>
                    </a:lnL>
                    <a:lnR>
                      <a:noFill/>
                    </a:lnR>
                    <a:lnT>
                      <a:noFill/>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$1,200</a:t>
                      </a:r>
                      <a:endParaRPr lang="en-US" sz="1100"/>
                    </a:p>
                  </a:txBody>
                  <a:tcPr marL="101600" marR="101600" marT="101600" marB="101600" anchor="t" anchorCtr="0">
                    <a:lnL>
                      <a:noFill/>
                    </a:lnL>
                    <a:lnR>
                      <a:noFill/>
                    </a:lnR>
                    <a:lnT>
                      <a:noFill/>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$2,800</a:t>
                      </a:r>
                      <a:endParaRPr lang="en-US" sz="1100"/>
                    </a:p>
                  </a:txBody>
                  <a:tcPr marL="101600" marR="101600" marT="101600" marB="101600" anchor="t" anchorCtr="0">
                    <a:lnL>
                      <a:noFill/>
                    </a:lnL>
                    <a:lnR>
                      <a:noFill/>
                    </a:lnR>
                    <a:lnT>
                      <a:noFill/>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2.33:1</a:t>
                      </a:r>
                      <a:endParaRPr lang="en-US" sz="1100"/>
                    </a:p>
                  </a:txBody>
                  <a:tcPr marL="101600" marR="101600" marT="101600" marB="101600" anchor="t" anchorCtr="0">
                    <a:lnL>
                      <a:noFill/>
                    </a:lnL>
                    <a:lnR>
                      <a:noFill/>
                    </a:lnR>
                    <a:lnT>
                      <a:noFill/>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$45</a:t>
                      </a:r>
                      <a:endParaRPr lang="en-US" sz="1100"/>
                    </a:p>
                  </a:txBody>
                  <a:tcPr marL="101600" marR="101600" marT="101600" marB="101600" anchor="t" anchorCtr="0">
                    <a:lnL>
                      <a:noFill/>
                    </a:lnL>
                    <a:lnR>
                      <a:noFill/>
                    </a:lnR>
                    <a:lnT>
                      <a:noFill/>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2.1%</a:t>
                      </a:r>
                      <a:endParaRPr lang="en-US" sz="1100"/>
                    </a:p>
                  </a:txBody>
                  <a:tcPr marL="101600" marR="101600" marT="101600" marB="101600" anchor="t" anchorCtr="0">
                    <a:lnL>
                      <a:noFill/>
                    </a:lnL>
                    <a:lnR>
                      <a:noFill/>
                    </a:lnR>
                    <a:lnT>
                      <a:noFill/>
                    </a:lnT>
                    <a:lnB w="12700" cap="flat" cmpd="sng" algn="ctr">
                      <a:solidFill>
                        <a:srgbClr val="E2E8F0"/>
                      </a:solidFill>
                      <a:prstDash val="solid"/>
                      <a:round/>
                      <a:headEnd type="none" w="med" len="med"/>
                      <a:tailEnd type="none" w="med" len="med"/>
                    </a:lnB>
                    <a:noFill/>
                  </a:tcPr>
                </a:tc>
              </a:tr>
              <a:tr h="355600">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Meta (FB/IG)</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$900</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$2,100</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2.33:1</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$38</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2.4%</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r>
              <a:tr h="355600">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TikTok</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$750</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$1,800</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2.40:1</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$32</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3.8%</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r>
              <a:tr h="355600">
                <a:tc>
                  <a:txBody>
                    <a:bodyPr rtlCol="0"/>
                    <a:lstStyle/>
                    <a:p>
                      <a:pPr marL="0" indent="0" algn="ctr">
                        <a:lnSpc>
                          <a:spcPct val="100000"/>
                        </a:lnSpc>
                        <a:defRPr/>
                      </a:pPr>
                      <a:r>
                        <a:rPr lang="en-US" sz="1200" b="1" i="0" u="none" strike="noStrike">
                          <a:solidFill>
                            <a:srgbClr val="38B2AC"/>
                          </a:solidFill>
                          <a:latin typeface="Noto Sans SC"/>
                          <a:ea typeface="Noto Sans SC"/>
                          <a:cs typeface="Noto Sans SC"/>
                          <a:sym typeface="Noto Sans SC"/>
                        </a:rPr>
                        <a:t>Email Marketing</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$300</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$1,600</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1" i="0" u="none" strike="noStrike">
                          <a:solidFill>
                            <a:srgbClr val="38B2AC"/>
                          </a:solidFill>
                          <a:latin typeface="Noto Sans SC"/>
                          <a:ea typeface="Noto Sans SC"/>
                          <a:cs typeface="Noto Sans SC"/>
                          <a:sym typeface="Noto Sans SC"/>
                        </a:rPr>
                        <a:t>5.33:1</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$15</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c>
                  <a:txBody>
                    <a:bodyPr rtlCol="0"/>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4.2%</a:t>
                      </a:r>
                      <a:endParaRPr lang="en-US" sz="1100"/>
                    </a:p>
                  </a:txBody>
                  <a:tcPr marL="101600" marR="101600" marT="101600" marB="101600" anchor="t" anchorCtr="0">
                    <a:lnL>
                      <a:noFill/>
                    </a:lnL>
                    <a:lnR>
                      <a:noFill/>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no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Customer Journey &amp; Conversion Funnel</a:t>
            </a:r>
            <a:endParaRPr lang="en-US" sz="1100"/>
          </a:p>
        </p:txBody>
      </p:sp>
      <p:sp>
        <p:nvSpPr>
          <p:cNvPr id="4" name="AutoShape 4"/>
          <p:cNvSpPr/>
          <p:nvPr/>
        </p:nvSpPr>
        <p:spPr>
          <a:xfrm>
            <a:off x="762000" y="1651000"/>
            <a:ext cx="5842000" cy="698500"/>
          </a:xfrm>
          <a:prstGeom prst="roundRect">
            <a:avLst>
              <a:gd name="adj" fmla="val 0"/>
            </a:avLst>
          </a:prstGeom>
          <a:solidFill>
            <a:srgbClr val="38B2AC">
              <a:alpha val="15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952500" y="1752600"/>
            <a:ext cx="558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01 Awareness</a:t>
            </a:r>
            <a:r>
              <a:rPr lang="en-US" sz="1400" b="0" i="0" u="none" strike="noStrike">
                <a:solidFill>
                  <a:srgbClr val="4A5568"/>
                </a:solidFill>
                <a:latin typeface="Poppins"/>
                <a:ea typeface="Poppins"/>
                <a:cs typeface="Poppins"/>
                <a:sym typeface="Poppins"/>
              </a:rPr>
              <a:t>Website Visitors: 1,000,000</a:t>
            </a:r>
            <a:endParaRPr lang="en-US" sz="1100"/>
          </a:p>
        </p:txBody>
      </p:sp>
      <p:sp>
        <p:nvSpPr>
          <p:cNvPr id="6" name="AutoShape 6"/>
          <p:cNvSpPr/>
          <p:nvPr/>
        </p:nvSpPr>
        <p:spPr>
          <a:xfrm>
            <a:off x="762000" y="2476500"/>
            <a:ext cx="5334000" cy="698500"/>
          </a:xfrm>
          <a:prstGeom prst="roundRect">
            <a:avLst>
              <a:gd name="adj" fmla="val 0"/>
            </a:avLst>
          </a:prstGeom>
          <a:solidFill>
            <a:srgbClr val="38B2AC">
              <a:alpha val="3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952500" y="25781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02 Interest</a:t>
            </a:r>
            <a:r>
              <a:rPr lang="en-US" sz="1400" b="0" i="0" u="none" strike="noStrike">
                <a:solidFill>
                  <a:srgbClr val="4A5568"/>
                </a:solidFill>
                <a:latin typeface="Poppins"/>
                <a:ea typeface="Poppins"/>
                <a:cs typeface="Poppins"/>
                <a:sym typeface="Poppins"/>
              </a:rPr>
              <a:t>Product Page Views: 200,000</a:t>
            </a:r>
            <a:endParaRPr lang="en-US" sz="1100"/>
          </a:p>
        </p:txBody>
      </p:sp>
      <p:sp>
        <p:nvSpPr>
          <p:cNvPr id="8" name="AutoShape 8"/>
          <p:cNvSpPr/>
          <p:nvPr/>
        </p:nvSpPr>
        <p:spPr>
          <a:xfrm>
            <a:off x="762000" y="3302000"/>
            <a:ext cx="4826000" cy="698500"/>
          </a:xfrm>
          <a:prstGeom prst="roundRect">
            <a:avLst>
              <a:gd name="adj" fmla="val 0"/>
            </a:avLst>
          </a:prstGeom>
          <a:solidFill>
            <a:srgbClr val="38B2AC">
              <a:alpha val="5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952500" y="3403600"/>
            <a:ext cx="457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03 Consideration</a:t>
            </a:r>
            <a:r>
              <a:rPr lang="en-US" sz="1400" b="0" i="0" u="none" strike="noStrike">
                <a:solidFill>
                  <a:srgbClr val="FFFFFF">
                    <a:alpha val="90196"/>
                  </a:srgbClr>
                </a:solidFill>
                <a:latin typeface="Poppins"/>
                <a:ea typeface="Poppins"/>
                <a:cs typeface="Poppins"/>
                <a:sym typeface="Poppins"/>
              </a:rPr>
              <a:t>Add to Cart: 50,000</a:t>
            </a:r>
            <a:endParaRPr lang="en-US" sz="1100"/>
          </a:p>
        </p:txBody>
      </p:sp>
      <p:sp>
        <p:nvSpPr>
          <p:cNvPr id="10" name="AutoShape 10"/>
          <p:cNvSpPr/>
          <p:nvPr/>
        </p:nvSpPr>
        <p:spPr>
          <a:xfrm>
            <a:off x="762000" y="4127500"/>
            <a:ext cx="4318000" cy="698500"/>
          </a:xfrm>
          <a:prstGeom prst="roundRect">
            <a:avLst>
              <a:gd name="adj" fmla="val 0"/>
            </a:avLst>
          </a:prstGeom>
          <a:solidFill>
            <a:srgbClr val="38B2AC">
              <a:alpha val="7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952500" y="4229100"/>
            <a:ext cx="4064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04 Intent</a:t>
            </a:r>
            <a:r>
              <a:rPr lang="en-US" sz="1400" b="0" i="0" u="none" strike="noStrike">
                <a:solidFill>
                  <a:srgbClr val="FFFFFF">
                    <a:alpha val="90196"/>
                  </a:srgbClr>
                </a:solidFill>
                <a:latin typeface="Poppins"/>
                <a:ea typeface="Poppins"/>
                <a:cs typeface="Poppins"/>
                <a:sym typeface="Poppins"/>
              </a:rPr>
              <a:t>Initiated Checkout: 20,000</a:t>
            </a:r>
            <a:endParaRPr lang="en-US" sz="1100"/>
          </a:p>
        </p:txBody>
      </p:sp>
      <p:sp>
        <p:nvSpPr>
          <p:cNvPr id="12" name="AutoShape 12"/>
          <p:cNvSpPr/>
          <p:nvPr/>
        </p:nvSpPr>
        <p:spPr>
          <a:xfrm>
            <a:off x="762000" y="4953000"/>
            <a:ext cx="3810000" cy="698500"/>
          </a:xfrm>
          <a:prstGeom prst="roundRect">
            <a:avLst>
              <a:gd name="adj" fmla="val 0"/>
            </a:avLst>
          </a:prstGeom>
          <a:solidFill>
            <a:srgbClr val="38B2AC">
              <a:alpha val="9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952500" y="5054600"/>
            <a:ext cx="355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05 Purchase</a:t>
            </a:r>
            <a:r>
              <a:rPr lang="en-US" sz="1400" b="0" i="0" u="none" strike="noStrike">
                <a:solidFill>
                  <a:srgbClr val="FFFFFF">
                    <a:alpha val="90196"/>
                  </a:srgbClr>
                </a:solidFill>
                <a:latin typeface="Poppins"/>
                <a:ea typeface="Poppins"/>
                <a:cs typeface="Poppins"/>
                <a:sym typeface="Poppins"/>
              </a:rPr>
              <a:t>Completed: 10,000</a:t>
            </a:r>
            <a:endParaRPr lang="en-US" sz="1100"/>
          </a:p>
        </p:txBody>
      </p:sp>
      <p:sp>
        <p:nvSpPr>
          <p:cNvPr id="14" name="AutoShape 14"/>
          <p:cNvSpPr/>
          <p:nvPr/>
        </p:nvSpPr>
        <p:spPr>
          <a:xfrm>
            <a:off x="7112000" y="2286000"/>
            <a:ext cx="4572000" cy="3556000"/>
          </a:xfrm>
          <a:prstGeom prst="roundRect">
            <a:avLst>
              <a:gd name="adj" fmla="val 0"/>
            </a:avLst>
          </a:prstGeom>
          <a:solidFill>
            <a:srgbClr val="FFFFFF">
              <a:alpha val="65000"/>
            </a:srgbClr>
          </a:solidFill>
          <a:ln w="12700" cap="flat" cmpd="sng">
            <a:solidFill>
              <a:srgbClr val="38B2AC">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66000" y="2540000"/>
            <a:ext cx="406400" cy="406400"/>
          </a:xfrm>
          <a:prstGeom prst="rect">
            <a:avLst/>
          </a:prstGeom>
        </p:spPr>
      </p:pic>
      <p:sp>
        <p:nvSpPr>
          <p:cNvPr id="16" name="AutoShape 16"/>
          <p:cNvSpPr/>
          <p:nvPr/>
        </p:nvSpPr>
        <p:spPr>
          <a:xfrm>
            <a:off x="7874000" y="2540000"/>
            <a:ext cx="3683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Key Conversion Bottleneck</a:t>
            </a:r>
            <a:endParaRPr lang="en-US" sz="1100"/>
          </a:p>
        </p:txBody>
      </p:sp>
      <p:cxnSp>
        <p:nvCxnSpPr>
          <p:cNvPr id="17" name="Connector 17"/>
          <p:cNvCxnSpPr/>
          <p:nvPr/>
        </p:nvCxnSpPr>
        <p:spPr>
          <a:xfrm rot="-10742">
            <a:off x="7366010" y="3168650"/>
            <a:ext cx="4064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8" name="AutoShape 18"/>
          <p:cNvSpPr/>
          <p:nvPr/>
        </p:nvSpPr>
        <p:spPr>
          <a:xfrm>
            <a:off x="7366000" y="3365500"/>
            <a:ext cx="4064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A5568"/>
                </a:solidFill>
                <a:latin typeface="Poppins"/>
                <a:ea typeface="Poppins"/>
                <a:cs typeface="Poppins"/>
                <a:sym typeface="Poppins"/>
              </a:rPr>
              <a:t>The sharpest decline occurs between</a:t>
            </a:r>
            <a:r>
              <a:rPr lang="en-US" sz="1400" b="1" i="0" u="none" strike="noStrike">
                <a:solidFill>
                  <a:srgbClr val="38B2AC"/>
                </a:solidFill>
                <a:latin typeface="Poppins"/>
                <a:ea typeface="Poppins"/>
                <a:cs typeface="Poppins"/>
                <a:sym typeface="Poppins"/>
              </a:rPr>
              <a:t>"Add to Cart"</a:t>
            </a:r>
            <a:r>
              <a:rPr lang="en-US" sz="1400" b="0" i="0" u="none" strike="noStrike">
                <a:solidFill>
                  <a:srgbClr val="4A5568"/>
                </a:solidFill>
                <a:latin typeface="Poppins"/>
                <a:ea typeface="Poppins"/>
                <a:cs typeface="Poppins"/>
                <a:sym typeface="Poppins"/>
              </a:rPr>
              <a:t>and</a:t>
            </a:r>
            <a:r>
              <a:rPr lang="en-US" sz="1400" b="1" i="0" u="none" strike="noStrike">
                <a:solidFill>
                  <a:srgbClr val="38B2AC"/>
                </a:solidFill>
                <a:latin typeface="Poppins"/>
                <a:ea typeface="Poppins"/>
                <a:cs typeface="Poppins"/>
                <a:sym typeface="Poppins"/>
              </a:rPr>
              <a:t>"Initiated Checkout"</a:t>
            </a:r>
            <a:r>
              <a:rPr lang="en-US" sz="1400" b="0" i="0" u="none" strike="noStrike">
                <a:solidFill>
                  <a:srgbClr val="4A5568"/>
                </a:solidFill>
                <a:latin typeface="Poppins"/>
                <a:ea typeface="Poppins"/>
                <a:cs typeface="Poppins"/>
                <a:sym typeface="Poppins"/>
              </a:rPr>
              <a:t>. This signals significant friction, likely due to unexpected shipping costs, a cumbersome checkout process, or a lack of preferred payment options.</a:t>
            </a:r>
            <a:endParaRPr lang="en-US" sz="1100"/>
          </a:p>
        </p:txBody>
      </p:sp>
      <p:sp>
        <p:nvSpPr>
          <p:cNvPr id="19" name="AutoShape 19"/>
          <p:cNvSpPr/>
          <p:nvPr/>
        </p:nvSpPr>
        <p:spPr>
          <a:xfrm>
            <a:off x="7366000" y="5080000"/>
            <a:ext cx="4064000" cy="698500"/>
          </a:xfrm>
          <a:prstGeom prst="roundRect">
            <a:avLst>
              <a:gd name="adj" fmla="val 0"/>
            </a:avLst>
          </a:prstGeom>
          <a:solidFill>
            <a:srgbClr val="38B2AC">
              <a:alpha val="1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7493000" y="5207000"/>
            <a:ext cx="381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2D3748"/>
                </a:solidFill>
                <a:latin typeface="Poppins"/>
                <a:ea typeface="Poppins"/>
                <a:cs typeface="Poppins"/>
                <a:sym typeface="Poppins"/>
              </a:rPr>
              <a:t>Actionable Insight:</a:t>
            </a:r>
            <a:r>
              <a:rPr lang="en-US" sz="1300" b="0" i="0" u="none" strike="noStrike">
                <a:solidFill>
                  <a:srgbClr val="4A5568"/>
                </a:solidFill>
                <a:latin typeface="Poppins"/>
                <a:ea typeface="Poppins"/>
                <a:cs typeface="Poppins"/>
                <a:sym typeface="Poppins"/>
              </a:rPr>
              <a:t>Implement transparent shipping cost calculators early in the journey and simplify the checkout form fields.</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Target Audience &amp; Market Landscape</a:t>
            </a:r>
            <a:endParaRPr lang="en-US" sz="1100"/>
          </a:p>
        </p:txBody>
      </p:sp>
      <p:sp>
        <p:nvSpPr>
          <p:cNvPr id="4" name="AutoShape 4"/>
          <p:cNvSpPr/>
          <p:nvPr/>
        </p:nvSpPr>
        <p:spPr>
          <a:xfrm>
            <a:off x="762000" y="1524000"/>
            <a:ext cx="5207000" cy="3302000"/>
          </a:xfrm>
          <a:prstGeom prst="roundRect">
            <a:avLst>
              <a:gd name="adj" fmla="val 0"/>
            </a:avLst>
          </a:prstGeom>
          <a:solidFill>
            <a:srgbClr val="FFFFFF">
              <a:alpha val="6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Persona Profile: “Tech-Savvy Tina”</a:t>
            </a: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11400"/>
            <a:ext cx="254000" cy="254000"/>
          </a:xfrm>
          <a:prstGeom prst="rect">
            <a:avLst/>
          </a:prstGeom>
        </p:spPr>
      </p:pic>
      <p:sp>
        <p:nvSpPr>
          <p:cNvPr id="7" name="AutoShape 7"/>
          <p:cNvSpPr/>
          <p:nvPr/>
        </p:nvSpPr>
        <p:spPr>
          <a:xfrm>
            <a:off x="1333500" y="2286000"/>
            <a:ext cx="450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a:ea typeface="Noto Sans SC"/>
                <a:cs typeface="Noto Sans SC"/>
                <a:sym typeface="Noto Sans SC"/>
              </a:rPr>
              <a:t>Demographics:</a:t>
            </a:r>
            <a:r>
              <a:rPr lang="en-US" sz="1400" b="0" i="0" u="none" strike="noStrike">
                <a:solidFill>
                  <a:srgbClr val="4A5568"/>
                </a:solidFill>
                <a:latin typeface="Noto Sans SC"/>
                <a:ea typeface="Noto Sans SC"/>
                <a:cs typeface="Noto Sans SC"/>
                <a:sym typeface="Noto Sans SC"/>
              </a:rPr>
              <a:t>28-35, Urban Professional (tech/finance), High disposable income, values career &amp; lifestyle balance.</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882900"/>
            <a:ext cx="254000" cy="254000"/>
          </a:xfrm>
          <a:prstGeom prst="rect">
            <a:avLst/>
          </a:prstGeom>
        </p:spPr>
      </p:pic>
      <p:sp>
        <p:nvSpPr>
          <p:cNvPr id="9" name="AutoShape 9"/>
          <p:cNvSpPr/>
          <p:nvPr/>
        </p:nvSpPr>
        <p:spPr>
          <a:xfrm>
            <a:off x="1333500" y="2857500"/>
            <a:ext cx="450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a:ea typeface="Noto Sans SC"/>
                <a:cs typeface="Noto Sans SC"/>
                <a:sym typeface="Noto Sans SC"/>
              </a:rPr>
              <a:t>Core Goals:</a:t>
            </a:r>
            <a:r>
              <a:rPr lang="en-US" sz="1400" b="0" i="0" u="none" strike="noStrike">
                <a:solidFill>
                  <a:srgbClr val="4A5568"/>
                </a:solidFill>
                <a:latin typeface="Noto Sans SC"/>
                <a:ea typeface="Noto Sans SC"/>
                <a:cs typeface="Noto Sans SC"/>
                <a:sym typeface="Noto Sans SC"/>
              </a:rPr>
              <a:t>Seeks efficient, premium products that save time; prioritizes quality over quantity; early adopter of new tech.</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54400"/>
            <a:ext cx="254000" cy="254000"/>
          </a:xfrm>
          <a:prstGeom prst="rect">
            <a:avLst/>
          </a:prstGeom>
        </p:spPr>
      </p:pic>
      <p:sp>
        <p:nvSpPr>
          <p:cNvPr id="11" name="AutoShape 11"/>
          <p:cNvSpPr/>
          <p:nvPr/>
        </p:nvSpPr>
        <p:spPr>
          <a:xfrm>
            <a:off x="1333500" y="3429000"/>
            <a:ext cx="450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a:ea typeface="Noto Sans SC"/>
                <a:cs typeface="Noto Sans SC"/>
                <a:sym typeface="Noto Sans SC"/>
              </a:rPr>
              <a:t>Key Challenges:</a:t>
            </a:r>
            <a:r>
              <a:rPr lang="en-US" sz="1400" b="0" i="0" u="none" strike="noStrike">
                <a:solidFill>
                  <a:srgbClr val="4A5568"/>
                </a:solidFill>
                <a:latin typeface="Noto Sans SC"/>
                <a:ea typeface="Noto Sans SC"/>
                <a:cs typeface="Noto Sans SC"/>
                <a:sym typeface="Noto Sans SC"/>
              </a:rPr>
              <a:t>Decision fatigue from oversaturation; distrusts greenwashing; craves authentic, sustainable brands.</a:t>
            </a:r>
            <a:endParaRPr lang="en-US" sz="1100"/>
          </a:p>
        </p:txBody>
      </p:sp>
      <p:pic>
        <p:nvPicPr>
          <p:cNvPr id="12" name="Picture 12"/>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025900"/>
            <a:ext cx="254000" cy="254000"/>
          </a:xfrm>
          <a:prstGeom prst="rect">
            <a:avLst/>
          </a:prstGeom>
        </p:spPr>
      </p:pic>
      <p:sp>
        <p:nvSpPr>
          <p:cNvPr id="13" name="AutoShape 13"/>
          <p:cNvSpPr/>
          <p:nvPr/>
        </p:nvSpPr>
        <p:spPr>
          <a:xfrm>
            <a:off x="1333500" y="4000500"/>
            <a:ext cx="4508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2D3748"/>
                </a:solidFill>
                <a:latin typeface="Noto Sans SC"/>
                <a:ea typeface="Noto Sans SC"/>
                <a:cs typeface="Noto Sans SC"/>
                <a:sym typeface="Noto Sans SC"/>
              </a:rPr>
              <a:t>Media Habits:</a:t>
            </a:r>
            <a:r>
              <a:rPr lang="en-US" sz="1400" b="0" i="0" u="none" strike="noStrike">
                <a:solidFill>
                  <a:srgbClr val="4A5568"/>
                </a:solidFill>
                <a:latin typeface="Noto Sans SC"/>
                <a:ea typeface="Noto Sans SC"/>
                <a:cs typeface="Noto Sans SC"/>
                <a:sym typeface="Noto Sans SC"/>
              </a:rPr>
              <a:t>Active on LinkedIn/Twitter; reads Wired/The Verge; listens to tech/leadership podcasts during commutes.</a:t>
            </a:r>
            <a:endParaRPr lang="en-US" sz="1100"/>
          </a:p>
        </p:txBody>
      </p:sp>
      <p:sp>
        <p:nvSpPr>
          <p:cNvPr id="14" name="AutoShape 14"/>
          <p:cNvSpPr/>
          <p:nvPr/>
        </p:nvSpPr>
        <p:spPr>
          <a:xfrm>
            <a:off x="6223000" y="1524000"/>
            <a:ext cx="5207000" cy="3302000"/>
          </a:xfrm>
          <a:prstGeom prst="roundRect">
            <a:avLst>
              <a:gd name="adj" fmla="val 0"/>
            </a:avLst>
          </a:prstGeom>
          <a:solidFill>
            <a:srgbClr val="FFFFFF">
              <a:alpha val="65000"/>
            </a:srgbClr>
          </a:solidFill>
          <a:ln w="12700" cap="flat" cmpd="sng">
            <a:solidFill>
              <a:srgbClr val="2D3748">
                <a:alpha val="1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13500" y="1714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Poppins"/>
                <a:ea typeface="Poppins"/>
                <a:cs typeface="Poppins"/>
                <a:sym typeface="Poppins"/>
              </a:rPr>
              <a:t>Competitive Positioning (Innovation vs. Price)</a:t>
            </a:r>
            <a:endParaRPr lang="en-US" sz="1100"/>
          </a:p>
        </p:txBody>
      </p:sp>
      <p:cxnSp>
        <p:nvCxnSpPr>
          <p:cNvPr id="16" name="Connector 16"/>
          <p:cNvCxnSpPr/>
          <p:nvPr/>
        </p:nvCxnSpPr>
        <p:spPr>
          <a:xfrm rot="5379165">
            <a:off x="7778750" y="3454419"/>
            <a:ext cx="20955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cxnSp>
        <p:nvCxnSpPr>
          <p:cNvPr id="17" name="Connector 17"/>
          <p:cNvCxnSpPr/>
          <p:nvPr/>
        </p:nvCxnSpPr>
        <p:spPr>
          <a:xfrm rot="-9291">
            <a:off x="6477009" y="3448050"/>
            <a:ext cx="4699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8" name="AutoShape 18"/>
          <p:cNvSpPr/>
          <p:nvPr/>
        </p:nvSpPr>
        <p:spPr>
          <a:xfrm>
            <a:off x="6477000" y="4572000"/>
            <a:ext cx="1270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a:ea typeface="Noto Sans SC"/>
                <a:cs typeface="Noto Sans SC"/>
                <a:sym typeface="Noto Sans SC"/>
              </a:rPr>
              <a:t>Low Price Point</a:t>
            </a:r>
            <a:endParaRPr lang="en-US" sz="1100"/>
          </a:p>
        </p:txBody>
      </p:sp>
      <p:sp>
        <p:nvSpPr>
          <p:cNvPr id="19" name="AutoShape 19"/>
          <p:cNvSpPr/>
          <p:nvPr/>
        </p:nvSpPr>
        <p:spPr>
          <a:xfrm>
            <a:off x="9906000" y="4572000"/>
            <a:ext cx="1270000" cy="254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718096"/>
                </a:solidFill>
                <a:latin typeface="Noto Sans SC"/>
                <a:ea typeface="Noto Sans SC"/>
                <a:cs typeface="Noto Sans SC"/>
                <a:sym typeface="Noto Sans SC"/>
              </a:rPr>
              <a:t>Premium Pricing</a:t>
            </a:r>
            <a:endParaRPr lang="en-US" sz="1100"/>
          </a:p>
        </p:txBody>
      </p:sp>
      <p:sp>
        <p:nvSpPr>
          <p:cNvPr id="20" name="AutoShape 20"/>
          <p:cNvSpPr/>
          <p:nvPr/>
        </p:nvSpPr>
        <p:spPr>
          <a:xfrm>
            <a:off x="6477000" y="2159000"/>
            <a:ext cx="1524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718096"/>
                </a:solidFill>
                <a:latin typeface="Noto Sans SC"/>
                <a:ea typeface="Noto Sans SC"/>
                <a:cs typeface="Noto Sans SC"/>
                <a:sym typeface="Noto Sans SC"/>
              </a:rPr>
              <a:t>Basic/Standard</a:t>
            </a:r>
            <a:endParaRPr lang="en-US" sz="1100"/>
          </a:p>
        </p:txBody>
      </p:sp>
      <p:sp>
        <p:nvSpPr>
          <p:cNvPr id="21" name="AutoShape 21"/>
          <p:cNvSpPr/>
          <p:nvPr/>
        </p:nvSpPr>
        <p:spPr>
          <a:xfrm>
            <a:off x="9652000" y="2159000"/>
            <a:ext cx="1524000" cy="2540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718096"/>
                </a:solidFill>
                <a:latin typeface="Noto Sans SC"/>
                <a:ea typeface="Noto Sans SC"/>
                <a:cs typeface="Noto Sans SC"/>
                <a:sym typeface="Noto Sans SC"/>
              </a:rPr>
              <a:t>High Innovation</a:t>
            </a:r>
            <a:endParaRPr lang="en-US" sz="1100"/>
          </a:p>
        </p:txBody>
      </p:sp>
      <p:sp>
        <p:nvSpPr>
          <p:cNvPr id="22" name="AutoShape 22"/>
          <p:cNvSpPr/>
          <p:nvPr/>
        </p:nvSpPr>
        <p:spPr>
          <a:xfrm>
            <a:off x="9334500" y="2540000"/>
            <a:ext cx="914400" cy="914400"/>
          </a:xfrm>
          <a:prstGeom prst="ellipse">
            <a:avLst/>
          </a:prstGeom>
          <a:solidFill>
            <a:srgbClr val="38B2AC">
              <a:alpha val="85000"/>
            </a:srgbClr>
          </a:solidFill>
          <a:ln cap="flat" cmpd="sng">
            <a:solidFill>
              <a:srgbClr val="219993">
                <a:alpha val="85000"/>
              </a:srgbClr>
            </a:solidFill>
            <a:prstDash val="solid"/>
            <a:round/>
          </a:ln>
        </p:spPr>
        <p:txBody>
          <a:bodyPr vert="horz" wrap="square" lIns="63500" tIns="63500" rIns="63500" bIns="63500" rtlCol="0" anchor="ctr"/>
          <a:lstStyle/>
          <a:p>
            <a:pPr algn="ctr">
              <a:defRPr/>
            </a:pPr>
          </a:p>
        </p:txBody>
      </p:sp>
      <p:sp>
        <p:nvSpPr>
          <p:cNvPr id="23" name="AutoShape 23"/>
          <p:cNvSpPr/>
          <p:nvPr/>
        </p:nvSpPr>
        <p:spPr>
          <a:xfrm>
            <a:off x="9334500" y="2743200"/>
            <a:ext cx="9144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ans SC"/>
                <a:ea typeface="Noto Sans SC"/>
                <a:cs typeface="Noto Sans SC"/>
                <a:sym typeface="Noto Sans SC"/>
              </a:rPr>
              <a:t>Our</a:t>
            </a:r>
            <a:br>
              <a:rPr lang="en-US" sz="1300" b="1" i="0" u="none" strike="noStrike">
                <a:solidFill>
                  <a:srgbClr val="FFFFFF"/>
                </a:solidFill>
                <a:latin typeface="Noto Sans SC"/>
                <a:ea typeface="Noto Sans SC"/>
                <a:cs typeface="Noto Sans SC"/>
                <a:sym typeface="Noto Sans SC"/>
              </a:rPr>
            </a:br>
            <a:r>
              <a:rPr lang="en-US" sz="1300" b="1" i="0" u="none" strike="noStrike">
                <a:solidFill>
                  <a:srgbClr val="FFFFFF"/>
                </a:solidFill>
                <a:latin typeface="Noto Sans SC"/>
                <a:ea typeface="Noto Sans SC"/>
                <a:cs typeface="Noto Sans SC"/>
                <a:sym typeface="Noto Sans SC"/>
              </a:rPr>
              <a:t>Brand</a:t>
            </a:r>
            <a:endParaRPr lang="en-US" sz="1100"/>
          </a:p>
        </p:txBody>
      </p:sp>
      <p:sp>
        <p:nvSpPr>
          <p:cNvPr id="24" name="AutoShape 24"/>
          <p:cNvSpPr/>
          <p:nvPr/>
        </p:nvSpPr>
        <p:spPr>
          <a:xfrm>
            <a:off x="6985000" y="2603500"/>
            <a:ext cx="812800" cy="812800"/>
          </a:xfrm>
          <a:prstGeom prst="ellipse">
            <a:avLst/>
          </a:prstGeom>
          <a:solidFill>
            <a:srgbClr val="ED8936">
              <a:alpha val="80000"/>
            </a:srgbClr>
          </a:solidFill>
          <a:ln cap="flat" cmpd="sng">
            <a:solidFill>
              <a:srgbClr val="D36F1B">
                <a:alpha val="80000"/>
              </a:srgbClr>
            </a:solidFill>
            <a:prstDash val="solid"/>
            <a:round/>
          </a:ln>
        </p:spPr>
        <p:txBody>
          <a:bodyPr vert="horz" wrap="square" lIns="63500" tIns="63500" rIns="63500" bIns="63500" rtlCol="0" anchor="ctr"/>
          <a:lstStyle/>
          <a:p>
            <a:pPr algn="ctr">
              <a:defRPr/>
            </a:pPr>
          </a:p>
        </p:txBody>
      </p:sp>
      <p:sp>
        <p:nvSpPr>
          <p:cNvPr id="25" name="AutoShape 25"/>
          <p:cNvSpPr/>
          <p:nvPr/>
        </p:nvSpPr>
        <p:spPr>
          <a:xfrm>
            <a:off x="6985000" y="2819400"/>
            <a:ext cx="8128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1" i="0" u="none" strike="noStrike">
                <a:solidFill>
                  <a:srgbClr val="FFFFFF"/>
                </a:solidFill>
                <a:latin typeface="Noto Sans SC"/>
                <a:ea typeface="Noto Sans SC"/>
                <a:cs typeface="Noto Sans SC"/>
                <a:sym typeface="Noto Sans SC"/>
              </a:rPr>
              <a:t>Comp</a:t>
            </a:r>
            <a:br>
              <a:rPr lang="en-US" sz="1300" b="1" i="0" u="none" strike="noStrike">
                <a:solidFill>
                  <a:srgbClr val="FFFFFF"/>
                </a:solidFill>
                <a:latin typeface="Noto Sans SC"/>
                <a:ea typeface="Noto Sans SC"/>
                <a:cs typeface="Noto Sans SC"/>
                <a:sym typeface="Noto Sans SC"/>
              </a:rPr>
            </a:br>
            <a:r>
              <a:rPr lang="en-US" sz="1300" b="1" i="0" u="none" strike="noStrike">
                <a:solidFill>
                  <a:srgbClr val="FFFFFF"/>
                </a:solidFill>
                <a:latin typeface="Noto Sans SC"/>
                <a:ea typeface="Noto Sans SC"/>
                <a:cs typeface="Noto Sans SC"/>
                <a:sym typeface="Noto Sans SC"/>
              </a:rPr>
              <a:t>A</a:t>
            </a:r>
            <a:endParaRPr lang="en-US" sz="1100"/>
          </a:p>
        </p:txBody>
      </p:sp>
      <p:sp>
        <p:nvSpPr>
          <p:cNvPr id="26" name="AutoShape 26"/>
          <p:cNvSpPr/>
          <p:nvPr/>
        </p:nvSpPr>
        <p:spPr>
          <a:xfrm>
            <a:off x="7048500" y="3683000"/>
            <a:ext cx="685800" cy="685800"/>
          </a:xfrm>
          <a:prstGeom prst="ellipse">
            <a:avLst/>
          </a:prstGeom>
          <a:solidFill>
            <a:srgbClr val="A0AEC0">
              <a:alpha val="70000"/>
            </a:srgbClr>
          </a:solidFill>
          <a:ln cap="flat" cmpd="sng">
            <a:solidFill>
              <a:srgbClr val="7A8EA7">
                <a:alpha val="70000"/>
              </a:srgbClr>
            </a:solidFill>
            <a:prstDash val="solid"/>
            <a:round/>
          </a:ln>
        </p:spPr>
        <p:txBody>
          <a:bodyPr vert="horz" wrap="square" lIns="63500" tIns="63500" rIns="63500" bIns="63500" rtlCol="0" anchor="ctr"/>
          <a:lstStyle/>
          <a:p>
            <a:pPr algn="ctr">
              <a:defRPr/>
            </a:pPr>
          </a:p>
        </p:txBody>
      </p:sp>
      <p:sp>
        <p:nvSpPr>
          <p:cNvPr id="27" name="AutoShape 27"/>
          <p:cNvSpPr/>
          <p:nvPr/>
        </p:nvSpPr>
        <p:spPr>
          <a:xfrm>
            <a:off x="7048500" y="3898900"/>
            <a:ext cx="6858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solidFill>
                <a:latin typeface="Noto Sans SC"/>
                <a:ea typeface="Noto Sans SC"/>
                <a:cs typeface="Noto Sans SC"/>
                <a:sym typeface="Noto Sans SC"/>
              </a:rPr>
              <a:t>Comp B</a:t>
            </a:r>
            <a:endParaRPr lang="en-US" sz="1100"/>
          </a:p>
        </p:txBody>
      </p:sp>
      <p:sp>
        <p:nvSpPr>
          <p:cNvPr id="28" name="AutoShape 28"/>
          <p:cNvSpPr/>
          <p:nvPr/>
        </p:nvSpPr>
        <p:spPr>
          <a:xfrm>
            <a:off x="9398000" y="3683000"/>
            <a:ext cx="685800" cy="685800"/>
          </a:xfrm>
          <a:prstGeom prst="ellipse">
            <a:avLst/>
          </a:prstGeom>
          <a:solidFill>
            <a:srgbClr val="A0AEC0">
              <a:alpha val="70000"/>
            </a:srgbClr>
          </a:solidFill>
          <a:ln cap="flat" cmpd="sng">
            <a:solidFill>
              <a:srgbClr val="7A8EA7">
                <a:alpha val="70000"/>
              </a:srgbClr>
            </a:solidFill>
            <a:prstDash val="solid"/>
            <a:round/>
          </a:ln>
        </p:spPr>
        <p:txBody>
          <a:bodyPr vert="horz" wrap="square" lIns="63500" tIns="63500" rIns="63500" bIns="63500" rtlCol="0" anchor="ctr"/>
          <a:lstStyle/>
          <a:p>
            <a:pPr algn="ctr">
              <a:defRPr/>
            </a:pPr>
          </a:p>
        </p:txBody>
      </p:sp>
      <p:sp>
        <p:nvSpPr>
          <p:cNvPr id="29" name="AutoShape 29"/>
          <p:cNvSpPr/>
          <p:nvPr/>
        </p:nvSpPr>
        <p:spPr>
          <a:xfrm>
            <a:off x="9398000" y="3898900"/>
            <a:ext cx="685800" cy="25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FFFFFF"/>
                </a:solidFill>
                <a:latin typeface="Noto Sans SC"/>
                <a:ea typeface="Noto Sans SC"/>
                <a:cs typeface="Noto Sans SC"/>
                <a:sym typeface="Noto Sans SC"/>
              </a:rPr>
              <a:t>Comp C</a:t>
            </a:r>
            <a:endParaRPr lang="en-US" sz="1100"/>
          </a:p>
        </p:txBody>
      </p:sp>
      <p:sp>
        <p:nvSpPr>
          <p:cNvPr id="30" name="AutoShape 30"/>
          <p:cNvSpPr/>
          <p:nvPr/>
        </p:nvSpPr>
        <p:spPr>
          <a:xfrm>
            <a:off x="762000" y="5143500"/>
            <a:ext cx="10668000" cy="1206500"/>
          </a:xfrm>
          <a:prstGeom prst="roundRect">
            <a:avLst>
              <a:gd name="adj" fmla="val 0"/>
            </a:avLst>
          </a:prstGeom>
          <a:solidFill>
            <a:srgbClr val="2D3748">
              <a:alpha val="8000"/>
            </a:srgbClr>
          </a:solidFill>
          <a:ln w="12700" cap="flat" cmpd="sng">
            <a:solidFill>
              <a:srgbClr val="38B2AC">
                <a:alpha val="30000"/>
              </a:srgbClr>
            </a:solidFill>
            <a:prstDash val="solid"/>
            <a:round/>
          </a:ln>
        </p:spPr>
        <p:txBody>
          <a:bodyPr vert="horz" wrap="square" lIns="63500" tIns="63500" rIns="63500" bIns="63500" rtlCol="0" anchor="ctr"/>
          <a:lstStyle/>
          <a:p>
            <a:pPr algn="ctr">
              <a:defRPr/>
            </a:pPr>
          </a:p>
        </p:txBody>
      </p:sp>
      <p:pic>
        <p:nvPicPr>
          <p:cNvPr id="31" name="Picture 3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397500"/>
            <a:ext cx="279400" cy="279400"/>
          </a:xfrm>
          <a:prstGeom prst="rect">
            <a:avLst/>
          </a:prstGeom>
        </p:spPr>
      </p:pic>
      <p:sp>
        <p:nvSpPr>
          <p:cNvPr id="32" name="AutoShape 32"/>
          <p:cNvSpPr/>
          <p:nvPr/>
        </p:nvSpPr>
        <p:spPr>
          <a:xfrm>
            <a:off x="1460500" y="5372100"/>
            <a:ext cx="9652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Strategic Takeaway</a:t>
            </a:r>
            <a:endParaRPr lang="en-US" sz="1100"/>
          </a:p>
        </p:txBody>
      </p:sp>
      <p:sp>
        <p:nvSpPr>
          <p:cNvPr id="33" name="AutoShape 33"/>
          <p:cNvSpPr/>
          <p:nvPr/>
        </p:nvSpPr>
        <p:spPr>
          <a:xfrm>
            <a:off x="1016000" y="5753100"/>
            <a:ext cx="10033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4A5568"/>
                </a:solidFill>
                <a:latin typeface="Noto Sans SC"/>
                <a:ea typeface="Noto Sans SC"/>
                <a:cs typeface="Noto Sans SC"/>
                <a:sym typeface="Noto Sans SC"/>
              </a:rPr>
              <a:t>While we dominate the premium innovation space, Competitor A is directly targeting our audience segment with similar features at a lower cost. This necessitates a focus on storytelling that emphasizes our unique brand authenticity and superior user experience to justify the price premium.</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Strategic Plan &amp; Roadmap - 2026-2027</a:t>
            </a:r>
            <a:endParaRPr lang="en-US" sz="1100"/>
          </a:p>
        </p:txBody>
      </p: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Key Marketing Initiatives (Q3 '26 – Q2 '27)</a:t>
            </a:r>
            <a:endParaRPr lang="en-US" sz="1100"/>
          </a:p>
        </p:txBody>
      </p:sp>
      <p:sp>
        <p:nvSpPr>
          <p:cNvPr id="5" name="AutoShape 5"/>
          <p:cNvSpPr/>
          <p:nvPr/>
        </p:nvSpPr>
        <p:spPr>
          <a:xfrm>
            <a:off x="762000" y="2159000"/>
            <a:ext cx="3378200" cy="1778000"/>
          </a:xfrm>
          <a:prstGeom prst="roundRect">
            <a:avLst>
              <a:gd name="adj" fmla="val 0"/>
            </a:avLst>
          </a:prstGeom>
          <a:solidFill>
            <a:srgbClr val="FFFFFF">
              <a:alpha val="6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2349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8B2AC"/>
                </a:solidFill>
                <a:latin typeface="Poppins"/>
                <a:ea typeface="Poppins"/>
                <a:cs typeface="Poppins"/>
                <a:sym typeface="Poppins"/>
              </a:rPr>
              <a:t>Q3 '26 | Foundation</a:t>
            </a:r>
            <a:endParaRPr lang="en-US" sz="1100"/>
          </a:p>
        </p:txBody>
      </p:sp>
      <p:sp>
        <p:nvSpPr>
          <p:cNvPr id="7" name="AutoShape 7"/>
          <p:cNvSpPr/>
          <p:nvPr/>
        </p:nvSpPr>
        <p:spPr>
          <a:xfrm>
            <a:off x="952500" y="2794000"/>
            <a:ext cx="152400" cy="152400"/>
          </a:xfrm>
          <a:prstGeom prst="diamond">
            <a:avLst/>
          </a:prstGeom>
          <a:solidFill>
            <a:srgbClr val="38B2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68400" y="27686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D3748"/>
                </a:solidFill>
                <a:latin typeface="Poppins"/>
                <a:ea typeface="Poppins"/>
                <a:cs typeface="Poppins"/>
                <a:sym typeface="Poppins"/>
              </a:rPr>
              <a:t>New Website Beta Launch</a:t>
            </a:r>
            <a:br>
              <a:rPr lang="en-US" sz="1600" b="0" i="0" u="none" strike="noStrike">
                <a:solidFill>
                  <a:srgbClr val="1F2329"/>
                </a:solidFill>
                <a:latin typeface="Poppins"/>
                <a:ea typeface="Poppins"/>
                <a:cs typeface="Poppins"/>
                <a:sym typeface="Poppins"/>
              </a:rPr>
            </a:br>
            <a:r>
              <a:rPr lang="en-US" sz="1300" b="0" i="0" u="none" strike="noStrike">
                <a:solidFill>
                  <a:srgbClr val="4A5568"/>
                </a:solidFill>
                <a:latin typeface="Poppins"/>
                <a:ea typeface="Poppins"/>
                <a:cs typeface="Poppins"/>
                <a:sym typeface="Poppins"/>
              </a:rPr>
              <a:t>Finalize UX/UI, migrate core content, and begin internal &amp; beta testing with select users.</a:t>
            </a:r>
            <a:endParaRPr lang="en-US" sz="1100"/>
          </a:p>
        </p:txBody>
      </p:sp>
      <p:sp>
        <p:nvSpPr>
          <p:cNvPr id="9" name="AutoShape 9"/>
          <p:cNvSpPr/>
          <p:nvPr/>
        </p:nvSpPr>
        <p:spPr>
          <a:xfrm>
            <a:off x="4406900" y="2159000"/>
            <a:ext cx="3378200" cy="1778000"/>
          </a:xfrm>
          <a:prstGeom prst="roundRect">
            <a:avLst>
              <a:gd name="adj" fmla="val 0"/>
            </a:avLst>
          </a:prstGeom>
          <a:solidFill>
            <a:srgbClr val="FFFFFF">
              <a:alpha val="6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597400" y="2349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8B2AC"/>
                </a:solidFill>
                <a:latin typeface="Poppins"/>
                <a:ea typeface="Poppins"/>
                <a:cs typeface="Poppins"/>
                <a:sym typeface="Poppins"/>
              </a:rPr>
              <a:t>Q4 '26 | Acceleration</a:t>
            </a:r>
            <a:endParaRPr lang="en-US" sz="1100"/>
          </a:p>
        </p:txBody>
      </p:sp>
      <p:sp>
        <p:nvSpPr>
          <p:cNvPr id="11" name="AutoShape 11"/>
          <p:cNvSpPr/>
          <p:nvPr/>
        </p:nvSpPr>
        <p:spPr>
          <a:xfrm>
            <a:off x="4597400" y="2794000"/>
            <a:ext cx="152400" cy="152400"/>
          </a:xfrm>
          <a:prstGeom prst="diamond">
            <a:avLst/>
          </a:prstGeom>
          <a:solidFill>
            <a:srgbClr val="38B2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4813300" y="27686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D3748"/>
                </a:solidFill>
                <a:latin typeface="Poppins"/>
                <a:ea typeface="Poppins"/>
                <a:cs typeface="Poppins"/>
                <a:sym typeface="Poppins"/>
              </a:rPr>
              <a:t>Holiday Campaign Go-Live</a:t>
            </a:r>
            <a:br>
              <a:rPr lang="en-US" sz="1600" b="0" i="0" u="none" strike="noStrike">
                <a:solidFill>
                  <a:srgbClr val="1F2329"/>
                </a:solidFill>
                <a:latin typeface="Poppins"/>
                <a:ea typeface="Poppins"/>
                <a:cs typeface="Poppins"/>
                <a:sym typeface="Poppins"/>
              </a:rPr>
            </a:br>
            <a:r>
              <a:rPr lang="en-US" sz="1300" b="0" i="0" u="none" strike="noStrike">
                <a:solidFill>
                  <a:srgbClr val="4A5568"/>
                </a:solidFill>
                <a:latin typeface="Poppins"/>
                <a:ea typeface="Poppins"/>
                <a:cs typeface="Poppins"/>
                <a:sym typeface="Poppins"/>
              </a:rPr>
              <a:t>Omni-channel push with targeted promotions, influencer collabs, and retargeting ads.</a:t>
            </a:r>
            <a:endParaRPr lang="en-US" sz="1100"/>
          </a:p>
        </p:txBody>
      </p:sp>
      <p:sp>
        <p:nvSpPr>
          <p:cNvPr id="13" name="AutoShape 13"/>
          <p:cNvSpPr/>
          <p:nvPr/>
        </p:nvSpPr>
        <p:spPr>
          <a:xfrm>
            <a:off x="8051800" y="2159000"/>
            <a:ext cx="3378200" cy="1778000"/>
          </a:xfrm>
          <a:prstGeom prst="roundRect">
            <a:avLst>
              <a:gd name="adj" fmla="val 0"/>
            </a:avLst>
          </a:prstGeom>
          <a:solidFill>
            <a:srgbClr val="FFFFFF">
              <a:alpha val="60000"/>
            </a:srgbClr>
          </a:solidFill>
          <a:ln w="12700" cap="flat" cmpd="sng">
            <a:solidFill>
              <a:srgbClr val="E2E8F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8242300" y="2349500"/>
            <a:ext cx="2921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38B2AC"/>
                </a:solidFill>
                <a:latin typeface="Poppins"/>
                <a:ea typeface="Poppins"/>
                <a:cs typeface="Poppins"/>
                <a:sym typeface="Poppins"/>
              </a:rPr>
              <a:t>H1 '27 | Expansion</a:t>
            </a:r>
            <a:endParaRPr lang="en-US" sz="1100"/>
          </a:p>
        </p:txBody>
      </p:sp>
      <p:sp>
        <p:nvSpPr>
          <p:cNvPr id="15" name="AutoShape 15"/>
          <p:cNvSpPr/>
          <p:nvPr/>
        </p:nvSpPr>
        <p:spPr>
          <a:xfrm>
            <a:off x="8242300" y="2794000"/>
            <a:ext cx="152400" cy="152400"/>
          </a:xfrm>
          <a:prstGeom prst="diamond">
            <a:avLst/>
          </a:prstGeom>
          <a:solidFill>
            <a:srgbClr val="38B2AC">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8458200" y="2768600"/>
            <a:ext cx="2857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2D3748"/>
                </a:solidFill>
                <a:latin typeface="Poppins"/>
                <a:ea typeface="Poppins"/>
                <a:cs typeface="Poppins"/>
                <a:sym typeface="Poppins"/>
              </a:rPr>
              <a:t>Product Line Extension</a:t>
            </a:r>
            <a:br>
              <a:rPr lang="en-US" sz="1600" b="0" i="0" u="none" strike="noStrike">
                <a:solidFill>
                  <a:srgbClr val="1F2329"/>
                </a:solidFill>
                <a:latin typeface="Poppins"/>
                <a:ea typeface="Poppins"/>
                <a:cs typeface="Poppins"/>
                <a:sym typeface="Poppins"/>
              </a:rPr>
            </a:br>
            <a:r>
              <a:rPr lang="en-US" sz="1300" b="0" i="0" u="none" strike="noStrike">
                <a:solidFill>
                  <a:srgbClr val="4A5568"/>
                </a:solidFill>
                <a:latin typeface="Poppins"/>
                <a:ea typeface="Poppins"/>
                <a:cs typeface="Poppins"/>
                <a:sym typeface="Poppins"/>
              </a:rPr>
              <a:t>Launch new SKUs, expand into adjacent markets, and optimize supply chain for scale.</a:t>
            </a:r>
            <a:endParaRPr lang="en-US" sz="1100"/>
          </a:p>
        </p:txBody>
      </p:sp>
      <p:sp>
        <p:nvSpPr>
          <p:cNvPr id="17" name="AutoShape 17"/>
          <p:cNvSpPr/>
          <p:nvPr/>
        </p:nvSpPr>
        <p:spPr>
          <a:xfrm>
            <a:off x="762000" y="42545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Poppins"/>
                <a:ea typeface="Poppins"/>
                <a:cs typeface="Poppins"/>
                <a:sym typeface="Poppins"/>
              </a:rPr>
              <a:t>Core Strategic Pillars</a:t>
            </a:r>
            <a:endParaRPr lang="en-US" sz="1100"/>
          </a:p>
        </p:txBody>
      </p:sp>
      <p:sp>
        <p:nvSpPr>
          <p:cNvPr id="18" name="AutoShape 18"/>
          <p:cNvSpPr/>
          <p:nvPr/>
        </p:nvSpPr>
        <p:spPr>
          <a:xfrm>
            <a:off x="762000" y="4826000"/>
            <a:ext cx="3378200" cy="1714500"/>
          </a:xfrm>
          <a:prstGeom prst="roundRect">
            <a:avLst>
              <a:gd name="adj" fmla="val 0"/>
            </a:avLst>
          </a:prstGeom>
          <a:solidFill>
            <a:srgbClr val="2D3748">
              <a:alpha val="5000"/>
            </a:srgbClr>
          </a:solidFill>
          <a:ln w="12700" cap="flat" cmpd="sng">
            <a:solidFill>
              <a:srgbClr val="38B2AC">
                <a:alpha val="3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016500"/>
            <a:ext cx="304800" cy="304800"/>
          </a:xfrm>
          <a:prstGeom prst="rect">
            <a:avLst/>
          </a:prstGeom>
        </p:spPr>
      </p:pic>
      <p:sp>
        <p:nvSpPr>
          <p:cNvPr id="20" name="AutoShape 20"/>
          <p:cNvSpPr/>
          <p:nvPr/>
        </p:nvSpPr>
        <p:spPr>
          <a:xfrm>
            <a:off x="1333500" y="50165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Content Excellence</a:t>
            </a:r>
            <a:endParaRPr lang="en-US" sz="1100"/>
          </a:p>
        </p:txBody>
      </p:sp>
      <p:sp>
        <p:nvSpPr>
          <p:cNvPr id="21" name="AutoShape 21"/>
          <p:cNvSpPr/>
          <p:nvPr/>
        </p:nvSpPr>
        <p:spPr>
          <a:xfrm>
            <a:off x="952500" y="5461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Build authority with SEO-optimized, data-backed content. Focus on thought leadership to drive organic traffic and brand trust.</a:t>
            </a:r>
            <a:endParaRPr lang="en-US" sz="1100"/>
          </a:p>
        </p:txBody>
      </p:sp>
      <p:sp>
        <p:nvSpPr>
          <p:cNvPr id="22" name="AutoShape 22"/>
          <p:cNvSpPr/>
          <p:nvPr/>
        </p:nvSpPr>
        <p:spPr>
          <a:xfrm>
            <a:off x="4406900" y="4826000"/>
            <a:ext cx="3378200" cy="1714500"/>
          </a:xfrm>
          <a:prstGeom prst="roundRect">
            <a:avLst>
              <a:gd name="adj" fmla="val 0"/>
            </a:avLst>
          </a:prstGeom>
          <a:solidFill>
            <a:srgbClr val="2D3748">
              <a:alpha val="5000"/>
            </a:srgbClr>
          </a:solidFill>
          <a:ln w="12700" cap="flat" cmpd="sng">
            <a:solidFill>
              <a:srgbClr val="38B2AC">
                <a:alpha val="3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97400" y="5016500"/>
            <a:ext cx="304800" cy="304800"/>
          </a:xfrm>
          <a:prstGeom prst="rect">
            <a:avLst/>
          </a:prstGeom>
        </p:spPr>
      </p:pic>
      <p:sp>
        <p:nvSpPr>
          <p:cNvPr id="24" name="AutoShape 24"/>
          <p:cNvSpPr/>
          <p:nvPr/>
        </p:nvSpPr>
        <p:spPr>
          <a:xfrm>
            <a:off x="4978400" y="50165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Audience-Centric Growth</a:t>
            </a:r>
            <a:endParaRPr lang="en-US" sz="1100"/>
          </a:p>
        </p:txBody>
      </p:sp>
      <p:sp>
        <p:nvSpPr>
          <p:cNvPr id="25" name="AutoShape 25"/>
          <p:cNvSpPr/>
          <p:nvPr/>
        </p:nvSpPr>
        <p:spPr>
          <a:xfrm>
            <a:off x="4597400" y="5461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Reallocate budget to high-ROI channels (TikTok, Email). Refine targeting with analytics to reach and convert high-intent users.</a:t>
            </a:r>
            <a:endParaRPr lang="en-US" sz="1100"/>
          </a:p>
        </p:txBody>
      </p:sp>
      <p:sp>
        <p:nvSpPr>
          <p:cNvPr id="26" name="AutoShape 26"/>
          <p:cNvSpPr/>
          <p:nvPr/>
        </p:nvSpPr>
        <p:spPr>
          <a:xfrm>
            <a:off x="8051800" y="4826000"/>
            <a:ext cx="3378200" cy="1714500"/>
          </a:xfrm>
          <a:prstGeom prst="roundRect">
            <a:avLst>
              <a:gd name="adj" fmla="val 0"/>
            </a:avLst>
          </a:prstGeom>
          <a:solidFill>
            <a:srgbClr val="2D3748">
              <a:alpha val="5000"/>
            </a:srgbClr>
          </a:solidFill>
          <a:ln w="12700" cap="flat" cmpd="sng">
            <a:solidFill>
              <a:srgbClr val="38B2AC">
                <a:alpha val="3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42300" y="5016500"/>
            <a:ext cx="304800" cy="304800"/>
          </a:xfrm>
          <a:prstGeom prst="rect">
            <a:avLst/>
          </a:prstGeom>
        </p:spPr>
      </p:pic>
      <p:sp>
        <p:nvSpPr>
          <p:cNvPr id="28" name="AutoShape 28"/>
          <p:cNvSpPr/>
          <p:nvPr/>
        </p:nvSpPr>
        <p:spPr>
          <a:xfrm>
            <a:off x="8623300" y="5016500"/>
            <a:ext cx="2730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Poppins"/>
                <a:ea typeface="Poppins"/>
                <a:cs typeface="Poppins"/>
                <a:sym typeface="Poppins"/>
              </a:rPr>
              <a:t>Seamless CX Journey</a:t>
            </a:r>
            <a:endParaRPr lang="en-US" sz="1100"/>
          </a:p>
        </p:txBody>
      </p:sp>
      <p:sp>
        <p:nvSpPr>
          <p:cNvPr id="29" name="AutoShape 29"/>
          <p:cNvSpPr/>
          <p:nvPr/>
        </p:nvSpPr>
        <p:spPr>
          <a:xfrm>
            <a:off x="8242300" y="5461000"/>
            <a:ext cx="2997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A5568"/>
                </a:solidFill>
                <a:latin typeface="Poppins"/>
                <a:ea typeface="Poppins"/>
                <a:cs typeface="Poppins"/>
                <a:sym typeface="Poppins"/>
              </a:rPr>
              <a:t>Optimize every touchpoint from discovery to post-purchase. Reduce friction in the funnel and enhance retention with personalized care.</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cap="flat" cmpd="sng">
            <a:solidFill>
              <a:srgbClr val="E6CFCF">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Poppins"/>
                <a:ea typeface="Poppins"/>
                <a:cs typeface="Poppins"/>
                <a:sym typeface="Poppins"/>
              </a:rPr>
              <a:t>Key Initiatives &amp; Action Plan</a:t>
            </a:r>
            <a:endParaRPr lang="en-US" sz="1100"/>
          </a:p>
        </p:txBody>
      </p:sp>
      <p:graphicFrame>
        <p:nvGraphicFramePr>
          <p:cNvPr id="4" name="Table 4"/>
          <p:cNvGraphicFramePr>
            <a:graphicFrameLocks noGrp="1"/>
          </p:cNvGraphicFramePr>
          <p:nvPr/>
        </p:nvGraphicFramePr>
        <p:xfrm>
          <a:off x="762000" y="1651000"/>
          <a:ext cx="10668000" cy="2667000"/>
        </p:xfrm>
        <a:graphic>
          <a:graphicData uri="http://schemas.openxmlformats.org/drawingml/2006/table">
            <a:tbl>
              <a:tblPr>
                <a:effectLst/>
              </a:tblPr>
              <a:tblGrid>
                <a:gridCol w="2032000"/>
                <a:gridCol w="3302000"/>
                <a:gridCol w="1524000"/>
                <a:gridCol w="1778000"/>
                <a:gridCol w="2032000"/>
              </a:tblGrid>
              <a:tr h="571500">
                <a:tc>
                  <a:txBody>
                    <a:bodyPr rtlCol="0"/>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Initiative</a:t>
                      </a:r>
                      <a:endParaRPr lang="en-US" sz="1100"/>
                    </a:p>
                  </a:txBody>
                  <a:tcPr marL="101600" marR="101600" marT="101600" marB="101600" anchor="t" anchorCtr="0">
                    <a:lnL>
                      <a:noFill/>
                    </a:lnL>
                    <a:lnR>
                      <a:noFill/>
                    </a:lnR>
                    <a:lnT>
                      <a:noFill/>
                    </a:lnT>
                    <a:lnB>
                      <a:noFill/>
                    </a:lnB>
                    <a:solidFill>
                      <a:srgbClr val="2D3748">
                        <a:alpha val="90000"/>
                      </a:srgbClr>
                    </a:solidFill>
                  </a:tcPr>
                </a:tc>
                <a:tc>
                  <a:txBody>
                    <a:bodyPr rtlCol="0"/>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Action Item</a:t>
                      </a:r>
                      <a:endParaRPr lang="en-US" sz="1100"/>
                    </a:p>
                  </a:txBody>
                  <a:tcPr marL="101600" marR="101600" marT="101600" marB="101600" anchor="t" anchorCtr="0">
                    <a:lnL>
                      <a:noFill/>
                    </a:lnL>
                    <a:lnR>
                      <a:noFill/>
                    </a:lnR>
                    <a:lnT>
                      <a:noFill/>
                    </a:lnT>
                    <a:lnB>
                      <a:noFill/>
                    </a:lnB>
                    <a:solidFill>
                      <a:srgbClr val="2D3748">
                        <a:alpha val="90000"/>
                      </a:srgbClr>
                    </a:solidFill>
                  </a:tcPr>
                </a:tc>
                <a:tc>
                  <a:txBody>
                    <a:bodyPr rtlCol="0"/>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Owner</a:t>
                      </a:r>
                      <a:endParaRPr lang="en-US" sz="1100"/>
                    </a:p>
                  </a:txBody>
                  <a:tcPr marL="101600" marR="101600" marT="101600" marB="101600" anchor="t" anchorCtr="0">
                    <a:lnL>
                      <a:noFill/>
                    </a:lnL>
                    <a:lnR>
                      <a:noFill/>
                    </a:lnR>
                    <a:lnT>
                      <a:noFill/>
                    </a:lnT>
                    <a:lnB>
                      <a:noFill/>
                    </a:lnB>
                    <a:solidFill>
                      <a:srgbClr val="2D3748">
                        <a:alpha val="90000"/>
                      </a:srgbClr>
                    </a:solidFill>
                  </a:tcPr>
                </a:tc>
                <a:tc>
                  <a:txBody>
                    <a:bodyPr rtlCol="0"/>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Deadline</a:t>
                      </a:r>
                      <a:endParaRPr lang="en-US" sz="1100"/>
                    </a:p>
                  </a:txBody>
                  <a:tcPr marL="101600" marR="101600" marT="101600" marB="101600" anchor="t" anchorCtr="0">
                    <a:lnL>
                      <a:noFill/>
                    </a:lnL>
                    <a:lnR>
                      <a:noFill/>
                    </a:lnR>
                    <a:lnT>
                      <a:noFill/>
                    </a:lnT>
                    <a:lnB>
                      <a:noFill/>
                    </a:lnB>
                    <a:solidFill>
                      <a:srgbClr val="2D3748">
                        <a:alpha val="90000"/>
                      </a:srgbClr>
                    </a:solidFill>
                  </a:tcPr>
                </a:tc>
                <a:tc>
                  <a:txBody>
                    <a:bodyPr rtlCol="0"/>
                    <a:lstStyle/>
                    <a:p>
                      <a:pPr marL="0" indent="0" algn="ctr">
                        <a:lnSpc>
                          <a:spcPct val="100000"/>
                        </a:lnSpc>
                        <a:defRPr/>
                      </a:pPr>
                      <a:r>
                        <a:rPr lang="en-US" sz="1400" b="1" i="0" u="none" strike="noStrike">
                          <a:solidFill>
                            <a:srgbClr val="FFFFFF"/>
                          </a:solidFill>
                          <a:latin typeface="Noto Sans SC"/>
                          <a:ea typeface="Noto Sans SC"/>
                          <a:cs typeface="Noto Sans SC"/>
                          <a:sym typeface="Noto Sans SC"/>
                        </a:rPr>
                        <a:t>Status</a:t>
                      </a:r>
                      <a:endParaRPr lang="en-US" sz="1100"/>
                    </a:p>
                  </a:txBody>
                  <a:tcPr marL="101600" marR="101600" marT="101600" marB="101600" anchor="t" anchorCtr="0">
                    <a:lnL>
                      <a:noFill/>
                    </a:lnL>
                    <a:lnR>
                      <a:noFill/>
                    </a:lnR>
                    <a:lnT>
                      <a:noFill/>
                    </a:lnT>
                    <a:lnB>
                      <a:noFill/>
                    </a:lnB>
                    <a:solidFill>
                      <a:srgbClr val="2D3748">
                        <a:alpha val="90000"/>
                      </a:srgbClr>
                    </a:solidFill>
                  </a:tcPr>
                </a:tc>
              </a:tr>
              <a:tr h="698500">
                <a:tc rowSpan="2">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Q4 Holiday Campaign</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127000" indent="0" algn="ctr">
                        <a:lnSpc>
                          <a:spcPct val="100000"/>
                        </a:lnSpc>
                        <a:defRPr/>
                      </a:pPr>
                      <a:r>
                        <a:rPr lang="en-US" sz="1300" b="0" i="0" u="none" strike="noStrike">
                          <a:solidFill>
                            <a:srgbClr val="2D3748"/>
                          </a:solidFill>
                          <a:latin typeface="Noto Sans SC"/>
                          <a:ea typeface="Noto Sans SC"/>
                          <a:cs typeface="Noto Sans SC"/>
                          <a:sym typeface="Noto Sans SC"/>
                        </a:rPr>
                        <a:t>Finalize campaign theme &amp; messaging</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0" i="0" u="none" strike="noStrike">
                          <a:solidFill>
                            <a:srgbClr val="2D3748"/>
                          </a:solidFill>
                          <a:latin typeface="Noto Sans SC"/>
                          <a:ea typeface="Noto Sans SC"/>
                          <a:cs typeface="Noto Sans SC"/>
                          <a:sym typeface="Noto Sans SC"/>
                        </a:rPr>
                        <a:t>Jane D.</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0" i="0" u="none" strike="noStrike">
                          <a:solidFill>
                            <a:srgbClr val="2D3748"/>
                          </a:solidFill>
                          <a:latin typeface="Noto Sans SC"/>
                          <a:ea typeface="Noto Sans SC"/>
                          <a:cs typeface="Noto Sans SC"/>
                          <a:sym typeface="Noto Sans SC"/>
                        </a:rPr>
                        <a:t>Aug 15, 2026</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1" i="0" u="none" strike="noStrike">
                          <a:solidFill>
                            <a:srgbClr val="DC2626"/>
                          </a:solidFill>
                          <a:latin typeface="Noto Sans SC"/>
                          <a:ea typeface="Noto Sans SC"/>
                          <a:cs typeface="Noto Sans SC"/>
                          <a:sym typeface="Noto Sans SC"/>
                        </a:rPr>
                        <a:t>Not Started</a:t>
                      </a:r>
                      <a:endParaRPr lang="en-US" sz="1100"/>
                    </a:p>
                  </a:txBody>
                  <a:tcPr marL="101600" marR="101600" marT="101600" marB="101600" anchor="t" anchorCtr="0">
                    <a:lnL>
                      <a:noFill/>
                    </a:lnL>
                    <a:lnR>
                      <a:noFill/>
                    </a:lnR>
                    <a:lnT>
                      <a:noFill/>
                    </a:lnT>
                    <a:lnB>
                      <a:noFill/>
                    </a:lnB>
                    <a:solidFill>
                      <a:srgbClr val="FFFFFF">
                        <a:alpha val="60000"/>
                      </a:srgbClr>
                    </a:solidFill>
                  </a:tcPr>
                </a:tc>
              </a:tr>
              <a:tr h="698500">
                <a:tc vMerge="1">
                  <a:tcPr marL="101600" marR="101600" marT="101600" marB="101600" anchor="ctr">
                    <a:lnL>
                      <a:noFill/>
                    </a:lnL>
                    <a:lnR>
                      <a:noFill/>
                    </a:lnR>
                    <a:lnT>
                      <a:noFill/>
                    </a:lnT>
                    <a:lnB>
                      <a:noFill/>
                    </a:lnB>
                    <a:noFill/>
                  </a:tcPr>
                </a:tc>
                <a:tc>
                  <a:txBody>
                    <a:bodyPr rtlCol="0"/>
                    <a:lstStyle/>
                    <a:p>
                      <a:pPr marL="127000" indent="0" algn="ctr">
                        <a:lnSpc>
                          <a:spcPct val="100000"/>
                        </a:lnSpc>
                        <a:defRPr/>
                      </a:pPr>
                      <a:r>
                        <a:rPr lang="en-US" sz="1300" b="0" i="0" u="none" strike="noStrike">
                          <a:solidFill>
                            <a:srgbClr val="2D3748"/>
                          </a:solidFill>
                          <a:latin typeface="Noto Sans SC"/>
                          <a:ea typeface="Noto Sans SC"/>
                          <a:cs typeface="Noto Sans SC"/>
                          <a:sym typeface="Noto Sans SC"/>
                        </a:rPr>
                        <a:t>Develop email campaign sequence</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0" i="0" u="none" strike="noStrike">
                          <a:solidFill>
                            <a:srgbClr val="2D3748"/>
                          </a:solidFill>
                          <a:latin typeface="Noto Sans SC"/>
                          <a:ea typeface="Noto Sans SC"/>
                          <a:cs typeface="Noto Sans SC"/>
                          <a:sym typeface="Noto Sans SC"/>
                        </a:rPr>
                        <a:t>Mike S.</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0" i="0" u="none" strike="noStrike">
                          <a:solidFill>
                            <a:srgbClr val="2D3748"/>
                          </a:solidFill>
                          <a:latin typeface="Noto Sans SC"/>
                          <a:ea typeface="Noto Sans SC"/>
                          <a:cs typeface="Noto Sans SC"/>
                          <a:sym typeface="Noto Sans SC"/>
                        </a:rPr>
                        <a:t>Sep 1, 2026</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1" i="0" u="none" strike="noStrike">
                          <a:solidFill>
                            <a:srgbClr val="DC2626"/>
                          </a:solidFill>
                          <a:latin typeface="Noto Sans SC"/>
                          <a:ea typeface="Noto Sans SC"/>
                          <a:cs typeface="Noto Sans SC"/>
                          <a:sym typeface="Noto Sans SC"/>
                        </a:rPr>
                        <a:t>Not Started</a:t>
                      </a:r>
                      <a:endParaRPr lang="en-US" sz="1100"/>
                    </a:p>
                  </a:txBody>
                  <a:tcPr marL="101600" marR="101600" marT="101600" marB="101600" anchor="t" anchorCtr="0">
                    <a:lnL>
                      <a:noFill/>
                    </a:lnL>
                    <a:lnR>
                      <a:noFill/>
                    </a:lnR>
                    <a:lnT>
                      <a:noFill/>
                    </a:lnT>
                    <a:lnB>
                      <a:noFill/>
                    </a:lnB>
                    <a:solidFill>
                      <a:srgbClr val="FFFFFF">
                        <a:alpha val="60000"/>
                      </a:srgbClr>
                    </a:solidFill>
                  </a:tcPr>
                </a:tc>
              </a:tr>
              <a:tr h="698500">
                <a:tc>
                  <a:txBody>
                    <a:bodyPr rtlCol="0"/>
                    <a:lstStyle/>
                    <a:p>
                      <a:pPr marL="0" indent="0" algn="ctr">
                        <a:lnSpc>
                          <a:spcPct val="100000"/>
                        </a:lnSpc>
                        <a:defRPr/>
                      </a:pPr>
                      <a:r>
                        <a:rPr lang="en-US" sz="1300" b="1" i="0" u="none" strike="noStrike">
                          <a:solidFill>
                            <a:srgbClr val="2D3748"/>
                          </a:solidFill>
                          <a:latin typeface="Noto Sans SC"/>
                          <a:ea typeface="Noto Sans SC"/>
                          <a:cs typeface="Noto Sans SC"/>
                          <a:sym typeface="Noto Sans SC"/>
                        </a:rPr>
                        <a:t>TikTok Content Series</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127000" indent="0" algn="ctr">
                        <a:lnSpc>
                          <a:spcPct val="100000"/>
                        </a:lnSpc>
                        <a:defRPr/>
                      </a:pPr>
                      <a:r>
                        <a:rPr lang="en-US" sz="1300" b="0" i="0" u="none" strike="noStrike">
                          <a:solidFill>
                            <a:srgbClr val="2D3748"/>
                          </a:solidFill>
                          <a:latin typeface="Noto Sans SC"/>
                          <a:ea typeface="Noto Sans SC"/>
                          <a:cs typeface="Noto Sans SC"/>
                          <a:sym typeface="Noto Sans SC"/>
                        </a:rPr>
                        <a:t>Identify 5 new content creators</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0" i="0" u="none" strike="noStrike">
                          <a:solidFill>
                            <a:srgbClr val="2D3748"/>
                          </a:solidFill>
                          <a:latin typeface="Noto Sans SC"/>
                          <a:ea typeface="Noto Sans SC"/>
                          <a:cs typeface="Noto Sans SC"/>
                          <a:sym typeface="Noto Sans SC"/>
                        </a:rPr>
                        <a:t>Sarah L.</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0" i="0" u="none" strike="noStrike">
                          <a:solidFill>
                            <a:srgbClr val="2D3748"/>
                          </a:solidFill>
                          <a:latin typeface="Noto Sans SC"/>
                          <a:ea typeface="Noto Sans SC"/>
                          <a:cs typeface="Noto Sans SC"/>
                          <a:sym typeface="Noto Sans SC"/>
                        </a:rPr>
                        <a:t>Jul 31, 2026</a:t>
                      </a:r>
                      <a:endParaRPr lang="en-US" sz="1100"/>
                    </a:p>
                  </a:txBody>
                  <a:tcPr marL="101600" marR="101600" marT="101600" marB="101600" anchor="t" anchorCtr="0">
                    <a:lnL>
                      <a:noFill/>
                    </a:lnL>
                    <a:lnR>
                      <a:noFill/>
                    </a:lnR>
                    <a:lnT>
                      <a:noFill/>
                    </a:lnT>
                    <a:lnB>
                      <a:noFill/>
                    </a:lnB>
                    <a:solidFill>
                      <a:srgbClr val="FFFFFF">
                        <a:alpha val="60000"/>
                      </a:srgbClr>
                    </a:solidFill>
                  </a:tcPr>
                </a:tc>
                <a:tc>
                  <a:txBody>
                    <a:bodyPr rtlCol="0"/>
                    <a:lstStyle/>
                    <a:p>
                      <a:pPr marL="0" indent="0" algn="ctr">
                        <a:lnSpc>
                          <a:spcPct val="100000"/>
                        </a:lnSpc>
                        <a:defRPr/>
                      </a:pPr>
                      <a:r>
                        <a:rPr lang="en-US" sz="1300" b="1" i="0" u="none" strike="noStrike">
                          <a:solidFill>
                            <a:srgbClr val="2563EB"/>
                          </a:solidFill>
                          <a:latin typeface="Noto Sans SC"/>
                          <a:ea typeface="Noto Sans SC"/>
                          <a:cs typeface="Noto Sans SC"/>
                          <a:sym typeface="Noto Sans SC"/>
                        </a:rPr>
                        <a:t>In Progress</a:t>
                      </a:r>
                      <a:endParaRPr lang="en-US" sz="1100"/>
                    </a:p>
                  </a:txBody>
                  <a:tcPr marL="101600" marR="101600" marT="101600" marB="101600" anchor="t" anchorCtr="0">
                    <a:lnL>
                      <a:noFill/>
                    </a:lnL>
                    <a:lnR>
                      <a:noFill/>
                    </a:lnR>
                    <a:lnT>
                      <a:noFill/>
                    </a:lnT>
                    <a:lnB>
                      <a:noFill/>
                    </a:lnB>
                    <a:solidFill>
                      <a:srgbClr val="FFFFFF">
                        <a:alpha val="60000"/>
                      </a:srgbClr>
                    </a:solidFill>
                  </a:tcPr>
                </a:tc>
              </a:tr>
            </a:tbl>
          </a:graphicData>
        </a:graphic>
      </p:graphicFrame>
      <p:sp>
        <p:nvSpPr>
          <p:cNvPr id="5" name="AutoShape 5"/>
          <p:cNvSpPr/>
          <p:nvPr/>
        </p:nvSpPr>
        <p:spPr>
          <a:xfrm>
            <a:off x="762000" y="4953000"/>
            <a:ext cx="3429000" cy="1460500"/>
          </a:xfrm>
          <a:prstGeom prst="roundRect">
            <a:avLst>
              <a:gd name="adj" fmla="val 0"/>
            </a:avLst>
          </a:prstGeom>
          <a:solidFill>
            <a:srgbClr val="FFFFFF">
              <a:alpha val="5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5143500"/>
            <a:ext cx="304800" cy="304800"/>
          </a:xfrm>
          <a:prstGeom prst="rect">
            <a:avLst/>
          </a:prstGeom>
        </p:spPr>
      </p:pic>
      <p:sp>
        <p:nvSpPr>
          <p:cNvPr id="7" name="AutoShape 7"/>
          <p:cNvSpPr/>
          <p:nvPr/>
        </p:nvSpPr>
        <p:spPr>
          <a:xfrm>
            <a:off x="1333500" y="5143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Total Allocated Budget</a:t>
            </a:r>
            <a:endParaRPr lang="en-US" sz="1100"/>
          </a:p>
        </p:txBody>
      </p:sp>
      <p:sp>
        <p:nvSpPr>
          <p:cNvPr id="8" name="AutoShape 8"/>
          <p:cNvSpPr/>
          <p:nvPr/>
        </p:nvSpPr>
        <p:spPr>
          <a:xfrm>
            <a:off x="952500" y="5486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a:ea typeface="Noto Sans SC"/>
                <a:cs typeface="Noto Sans SC"/>
                <a:sym typeface="Noto Sans SC"/>
              </a:rPr>
              <a:t>$50,000</a:t>
            </a:r>
            <a:endParaRPr lang="en-US" sz="1100"/>
          </a:p>
        </p:txBody>
      </p:sp>
      <p:sp>
        <p:nvSpPr>
          <p:cNvPr id="9" name="AutoShape 9"/>
          <p:cNvSpPr/>
          <p:nvPr/>
        </p:nvSpPr>
        <p:spPr>
          <a:xfrm>
            <a:off x="952500" y="5867400"/>
            <a:ext cx="304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A5568"/>
                </a:solidFill>
                <a:latin typeface="Noto Sans SC"/>
                <a:ea typeface="Noto Sans SC"/>
                <a:cs typeface="Noto Sans SC"/>
                <a:sym typeface="Noto Sans SC"/>
              </a:rPr>
              <a:t>Base funding for all marketing initiatives</a:t>
            </a:r>
            <a:endParaRPr lang="en-US" sz="1100"/>
          </a:p>
        </p:txBody>
      </p:sp>
      <p:sp>
        <p:nvSpPr>
          <p:cNvPr id="10" name="AutoShape 10"/>
          <p:cNvSpPr/>
          <p:nvPr/>
        </p:nvSpPr>
        <p:spPr>
          <a:xfrm>
            <a:off x="4381500" y="4953000"/>
            <a:ext cx="3429000" cy="1460500"/>
          </a:xfrm>
          <a:prstGeom prst="roundRect">
            <a:avLst>
              <a:gd name="adj" fmla="val 0"/>
            </a:avLst>
          </a:prstGeom>
          <a:solidFill>
            <a:srgbClr val="FFFFFF">
              <a:alpha val="5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5143500"/>
            <a:ext cx="304800" cy="304800"/>
          </a:xfrm>
          <a:prstGeom prst="rect">
            <a:avLst/>
          </a:prstGeom>
        </p:spPr>
      </p:pic>
      <p:sp>
        <p:nvSpPr>
          <p:cNvPr id="12" name="AutoShape 12"/>
          <p:cNvSpPr/>
          <p:nvPr/>
        </p:nvSpPr>
        <p:spPr>
          <a:xfrm>
            <a:off x="4953000" y="5143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Paid Media Spend</a:t>
            </a:r>
            <a:endParaRPr lang="en-US" sz="1100"/>
          </a:p>
        </p:txBody>
      </p:sp>
      <p:sp>
        <p:nvSpPr>
          <p:cNvPr id="13" name="AutoShape 13"/>
          <p:cNvSpPr/>
          <p:nvPr/>
        </p:nvSpPr>
        <p:spPr>
          <a:xfrm>
            <a:off x="4572000" y="5486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a:ea typeface="Noto Sans SC"/>
                <a:cs typeface="Noto Sans SC"/>
                <a:sym typeface="Noto Sans SC"/>
              </a:rPr>
              <a:t>$25,000</a:t>
            </a:r>
            <a:endParaRPr lang="en-US" sz="1100"/>
          </a:p>
        </p:txBody>
      </p:sp>
      <p:sp>
        <p:nvSpPr>
          <p:cNvPr id="14" name="AutoShape 14"/>
          <p:cNvSpPr/>
          <p:nvPr/>
        </p:nvSpPr>
        <p:spPr>
          <a:xfrm>
            <a:off x="4572000" y="5867400"/>
            <a:ext cx="304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A5568"/>
                </a:solidFill>
                <a:latin typeface="Noto Sans SC"/>
                <a:ea typeface="Noto Sans SC"/>
                <a:cs typeface="Noto Sans SC"/>
                <a:sym typeface="Noto Sans SC"/>
              </a:rPr>
              <a:t>Targeted social ads &amp; influencer boosts</a:t>
            </a:r>
            <a:endParaRPr lang="en-US" sz="1100"/>
          </a:p>
        </p:txBody>
      </p:sp>
      <p:sp>
        <p:nvSpPr>
          <p:cNvPr id="15" name="AutoShape 15"/>
          <p:cNvSpPr/>
          <p:nvPr/>
        </p:nvSpPr>
        <p:spPr>
          <a:xfrm>
            <a:off x="8001000" y="4953000"/>
            <a:ext cx="3429000" cy="1460500"/>
          </a:xfrm>
          <a:prstGeom prst="roundRect">
            <a:avLst>
              <a:gd name="adj" fmla="val 0"/>
            </a:avLst>
          </a:prstGeom>
          <a:solidFill>
            <a:srgbClr val="FFFFFF">
              <a:alpha val="55000"/>
            </a:srgbClr>
          </a:solidFill>
          <a:ln w="12700" cap="flat" cmpd="sng">
            <a:solidFill>
              <a:srgbClr val="2D3748">
                <a:alpha val="15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5143500"/>
            <a:ext cx="304800" cy="304800"/>
          </a:xfrm>
          <a:prstGeom prst="rect">
            <a:avLst/>
          </a:prstGeom>
        </p:spPr>
      </p:pic>
      <p:sp>
        <p:nvSpPr>
          <p:cNvPr id="17" name="AutoShape 17"/>
          <p:cNvSpPr/>
          <p:nvPr/>
        </p:nvSpPr>
        <p:spPr>
          <a:xfrm>
            <a:off x="8572500" y="5143500"/>
            <a:ext cx="2667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Content Creation</a:t>
            </a:r>
            <a:endParaRPr lang="en-US" sz="1100"/>
          </a:p>
        </p:txBody>
      </p:sp>
      <p:sp>
        <p:nvSpPr>
          <p:cNvPr id="18" name="AutoShape 18"/>
          <p:cNvSpPr/>
          <p:nvPr/>
        </p:nvSpPr>
        <p:spPr>
          <a:xfrm>
            <a:off x="8191500" y="5486400"/>
            <a:ext cx="304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563EB"/>
                </a:solidFill>
                <a:latin typeface="Noto Sans SC"/>
                <a:ea typeface="Noto Sans SC"/>
                <a:cs typeface="Noto Sans SC"/>
                <a:sym typeface="Noto Sans SC"/>
              </a:rPr>
              <a:t>$20,000</a:t>
            </a:r>
            <a:endParaRPr lang="en-US" sz="1100"/>
          </a:p>
        </p:txBody>
      </p:sp>
      <p:sp>
        <p:nvSpPr>
          <p:cNvPr id="19" name="AutoShape 19"/>
          <p:cNvSpPr/>
          <p:nvPr/>
        </p:nvSpPr>
        <p:spPr>
          <a:xfrm>
            <a:off x="8191500" y="5867400"/>
            <a:ext cx="3048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4A5568"/>
                </a:solidFill>
                <a:latin typeface="Noto Sans SC"/>
                <a:ea typeface="Noto Sans SC"/>
                <a:cs typeface="Noto Sans SC"/>
                <a:sym typeface="Noto Sans SC"/>
              </a:rPr>
              <a:t>Production costs &amp; creator collaboration fees</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1905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FFFFFF"/>
                </a:solidFill>
                <a:latin typeface="Poppins"/>
                <a:ea typeface="Poppins"/>
                <a:cs typeface="Poppins"/>
                <a:sym typeface="Poppins"/>
              </a:rPr>
              <a:t>Q&amp;A / Thank You</a:t>
            </a:r>
            <a:endParaRPr lang="en-US" sz="1100"/>
          </a:p>
        </p:txBody>
      </p:sp>
      <p:sp>
        <p:nvSpPr>
          <p:cNvPr id="4" name="AutoShape 4"/>
          <p:cNvSpPr/>
          <p:nvPr/>
        </p:nvSpPr>
        <p:spPr>
          <a:xfrm>
            <a:off x="762000" y="3429000"/>
            <a:ext cx="33782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657600"/>
            <a:ext cx="355600" cy="355600"/>
          </a:xfrm>
          <a:prstGeom prst="rect">
            <a:avLst/>
          </a:prstGeom>
        </p:spPr>
      </p:pic>
      <p:sp>
        <p:nvSpPr>
          <p:cNvPr id="6" name="AutoShape 6"/>
          <p:cNvSpPr/>
          <p:nvPr/>
        </p:nvSpPr>
        <p:spPr>
          <a:xfrm>
            <a:off x="1473200" y="36576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01 Follow-up Report</a:t>
            </a:r>
            <a:endParaRPr lang="en-US" sz="1100"/>
          </a:p>
        </p:txBody>
      </p:sp>
      <p:sp>
        <p:nvSpPr>
          <p:cNvPr id="7" name="AutoShape 7"/>
          <p:cNvSpPr/>
          <p:nvPr/>
        </p:nvSpPr>
        <p:spPr>
          <a:xfrm>
            <a:off x="1016000" y="41275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2E8F0">
                    <a:alpha val="80000"/>
                  </a:srgbClr>
                </a:solidFill>
                <a:latin typeface="Poppins"/>
                <a:ea typeface="Poppins"/>
                <a:cs typeface="Poppins"/>
                <a:sym typeface="Poppins"/>
              </a:rPr>
              <a:t>A comprehensive post-presentation report, including detailed metrics and analysis, will be shared via email by EOD tomorrow.</a:t>
            </a:r>
            <a:endParaRPr lang="en-US" sz="1100"/>
          </a:p>
        </p:txBody>
      </p:sp>
      <p:sp>
        <p:nvSpPr>
          <p:cNvPr id="8" name="AutoShape 8"/>
          <p:cNvSpPr/>
          <p:nvPr/>
        </p:nvSpPr>
        <p:spPr>
          <a:xfrm>
            <a:off x="4406900" y="3429000"/>
            <a:ext cx="33782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3657600"/>
            <a:ext cx="355600" cy="355600"/>
          </a:xfrm>
          <a:prstGeom prst="rect">
            <a:avLst/>
          </a:prstGeom>
        </p:spPr>
      </p:pic>
      <p:sp>
        <p:nvSpPr>
          <p:cNvPr id="10" name="AutoShape 10"/>
          <p:cNvSpPr/>
          <p:nvPr/>
        </p:nvSpPr>
        <p:spPr>
          <a:xfrm>
            <a:off x="5118100" y="36576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02 Budget Approval</a:t>
            </a:r>
            <a:endParaRPr lang="en-US" sz="1100"/>
          </a:p>
        </p:txBody>
      </p:sp>
      <p:sp>
        <p:nvSpPr>
          <p:cNvPr id="11" name="AutoShape 11"/>
          <p:cNvSpPr/>
          <p:nvPr/>
        </p:nvSpPr>
        <p:spPr>
          <a:xfrm>
            <a:off x="4660900" y="41275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2E8F0">
                    <a:alpha val="80000"/>
                  </a:srgbClr>
                </a:solidFill>
                <a:latin typeface="Poppins"/>
                <a:ea typeface="Poppins"/>
                <a:cs typeface="Poppins"/>
                <a:sym typeface="Poppins"/>
              </a:rPr>
              <a:t>Seeking formal sign-off for the proposed Q4 campaign budget allocation by this Friday to ensure timely execution.</a:t>
            </a:r>
            <a:endParaRPr lang="en-US" sz="1100"/>
          </a:p>
        </p:txBody>
      </p:sp>
      <p:sp>
        <p:nvSpPr>
          <p:cNvPr id="12" name="AutoShape 12"/>
          <p:cNvSpPr/>
          <p:nvPr/>
        </p:nvSpPr>
        <p:spPr>
          <a:xfrm>
            <a:off x="8051800" y="3429000"/>
            <a:ext cx="3378200" cy="1714500"/>
          </a:xfrm>
          <a:prstGeom prst="roundRect">
            <a:avLst>
              <a:gd name="adj" fmla="val 0"/>
            </a:avLst>
          </a:prstGeom>
          <a:solidFill>
            <a:srgbClr val="FFFFFF">
              <a:alpha val="8000"/>
            </a:srgbClr>
          </a:solidFill>
          <a:ln w="12700" cap="flat" cmpd="sng">
            <a:solidFill>
              <a:srgbClr val="FFFFFF">
                <a:alpha val="15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3657600"/>
            <a:ext cx="355600" cy="355600"/>
          </a:xfrm>
          <a:prstGeom prst="rect">
            <a:avLst/>
          </a:prstGeom>
        </p:spPr>
      </p:pic>
      <p:sp>
        <p:nvSpPr>
          <p:cNvPr id="14" name="AutoShape 14"/>
          <p:cNvSpPr/>
          <p:nvPr/>
        </p:nvSpPr>
        <p:spPr>
          <a:xfrm>
            <a:off x="8763000" y="3657600"/>
            <a:ext cx="25400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Poppins"/>
                <a:ea typeface="Poppins"/>
                <a:cs typeface="Poppins"/>
                <a:sym typeface="Poppins"/>
              </a:rPr>
              <a:t>03 Team Sync Meeting</a:t>
            </a:r>
            <a:endParaRPr lang="en-US" sz="1100"/>
          </a:p>
        </p:txBody>
      </p:sp>
      <p:sp>
        <p:nvSpPr>
          <p:cNvPr id="15" name="AutoShape 15"/>
          <p:cNvSpPr/>
          <p:nvPr/>
        </p:nvSpPr>
        <p:spPr>
          <a:xfrm>
            <a:off x="8305800" y="4127500"/>
            <a:ext cx="28702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2E8F0">
                    <a:alpha val="80000"/>
                  </a:srgbClr>
                </a:solidFill>
                <a:latin typeface="Poppins"/>
                <a:ea typeface="Poppins"/>
                <a:cs typeface="Poppins"/>
                <a:sym typeface="Poppins"/>
              </a:rPr>
              <a:t>Next cross-functional marketing alignment is scheduled for Wednesday, 10:00 AM (GMT+8) to review next steps.</a:t>
            </a:r>
            <a:endParaRPr lang="en-US" sz="1100"/>
          </a:p>
        </p:txBody>
      </p:sp>
      <p:sp>
        <p:nvSpPr>
          <p:cNvPr id="16" name="AutoShape 16"/>
          <p:cNvSpPr/>
          <p:nvPr/>
        </p:nvSpPr>
        <p:spPr>
          <a:xfrm>
            <a:off x="762000" y="5461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alpha val="94902"/>
                  </a:srgbClr>
                </a:solidFill>
                <a:latin typeface="Poppins"/>
                <a:ea typeface="Poppins"/>
                <a:cs typeface="Poppins"/>
                <a:sym typeface="Poppins"/>
              </a:rPr>
              <a:t>Thank you for your time and attention.</a:t>
            </a:r>
            <a:endParaRPr lang="en-US" sz="1100"/>
          </a:p>
        </p:txBody>
      </p:sp>
      <p:sp>
        <p:nvSpPr>
          <p:cNvPr id="17" name="AutoShape 17"/>
          <p:cNvSpPr/>
          <p:nvPr/>
        </p:nvSpPr>
        <p:spPr>
          <a:xfrm>
            <a:off x="762000" y="5969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alpha val="60000"/>
                  </a:srgbClr>
                </a:solidFill>
                <a:latin typeface="Poppins"/>
                <a:ea typeface="Poppins"/>
                <a:cs typeface="Poppins"/>
                <a:sym typeface="Poppins"/>
              </a:rPr>
              <a:t>Alex Chen | Senior Marketing Director | alex.c@marketing.com</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6684</Words>
  <Application>WPS 演示</Application>
  <PresentationFormat/>
  <Paragraphs>312</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10</vt:i4>
      </vt:variant>
    </vt:vector>
  </HeadingPairs>
  <TitlesOfParts>
    <vt:vector size="24" baseType="lpstr">
      <vt:lpstr>Arial</vt:lpstr>
      <vt:lpstr>宋体</vt:lpstr>
      <vt:lpstr>Wingdings</vt:lpstr>
      <vt:lpstr>Arial</vt:lpstr>
      <vt:lpstr>Poppins</vt:lpstr>
      <vt:lpstr>Thonburi</vt:lpstr>
      <vt:lpstr>Noto Sans SC</vt:lpstr>
      <vt:lpstr>微软雅黑</vt:lpstr>
      <vt:lpstr>汉仪旗黑</vt:lpstr>
      <vt:lpstr>宋体</vt:lpstr>
      <vt:lpstr>Arial Unicode MS</vt:lpstr>
      <vt:lpstr>汉仪书宋二KW</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黄卓辉</cp:lastModifiedBy>
  <cp:revision>1</cp:revision>
  <dcterms:created xsi:type="dcterms:W3CDTF">2026-07-04T08:29:29Z</dcterms:created>
  <dcterms:modified xsi:type="dcterms:W3CDTF">2026-07-04T08:29:29Z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{"Label":"1","ContentProducer":"001191110102MACQD9K64010000","ProduceID":"7658586977339788493","ReservedCode1":"","ContentPropagator":"","PropagateID":"","ReservedCode2":""}</vt:lpwstr>
  </property>
  <property fmtid="{D5CDD505-2E9C-101B-9397-08002B2CF9AE}" pid="3" name="ICV">
    <vt:lpwstr>C1A0BD9B4BF3683F69C4486A51A089FA_42</vt:lpwstr>
  </property>
  <property fmtid="{D5CDD505-2E9C-101B-9397-08002B2CF9AE}" pid="4" name="KSOProductBuildVer">
    <vt:lpwstr>2052-5.3.0.7863</vt:lpwstr>
  </property>
</Properties>
</file>
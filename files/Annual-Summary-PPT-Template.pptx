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everyone. My name is [Your Name], and I am from the [Your Department] department. Today, I will be presenting the annual summary for [Year]. This presentation will cover our key achievements, challenges, and future strategic plans. I hope this overview will provide valuable insights into our performance and direction for the coming year.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Here's the agenda for today's presentation. We'll start with an overview of the annual performance, followed by a detailed look at our Key Performance Indicators, or KPIs. Then, we'll deep dive into two of our major projects. After that, we'll review the financial performance and budget. Finally, we'll discuss the challenges we faced, the lessons learned, and conclude with our strategic outlook for the next year.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begin with the executive summary. Overall, this has been a year of significant growth. We successfully delivered on the majority of our strategic objectives. The top three highlights include exceeding our revenue target by 15%, improving operational efficiency by 20%, and establishing a new market presence. These achievements demonstrate our strong financial performance and set a solid foundation for the future.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look at the data. This slide presents our key performance indicators across three categories: financial metrics, operational efficiency, and growth metrics. As you can see, we've exceeded our targets in revenue and profit margin. Operationally, we've improved customer satisfaction and reduced project delivery time. And in terms of growth, we've successfully acquired new users and increased our market share.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take a closer look at one of our key projects this year: the launch of our new mobile app. The objective was clear: to develop and launch a successful app. We led a cross-functional team, conducted extensive user research, and managed the budget effectively. The results were impressive: the app was downloaded X times in the first month, user engagement increased by Y%, and it generated significant incremental revenue. The key to our success was early stakeholder alignment and using an agile approach.</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second project spotlight is the streamlining of our supply chain process. The goal was to improve efficiency. We identified key inefficiencies, implemented a new automated system, and trained our staff. The results speak for themselves: we reduced order fulfillment time, lowered costs, and improved supplier delivery rates. A key learning from this project was the critical role of change management and user training to ensure successful adoption of new systems.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review our financial performance. We generated $4.2M in total revenue against $3.1M in expenses, resulting in a net profit of $1.1M, which is a 12% increase year-over-year. Our budget utilization was efficient, with total spending at $2.9M against an allocated budget of $3.5M, leaving us 17% under budget. The pie chart shows the breakdown of our key expenditures, with R&amp;D taking the largest share at 40%, followed by Marketing at 35% and Operations at 25%. Notably, our AI-Driven Marketing Initiative delivered an impressive ROI of 185%.</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Of course, it wasn't without challenges. We faced significant supply chain disruptions which impacted our product launches. In response, we diversified our supplier base and improved our risk management. We also encountered intense market competition, which slowed user growth. Our response included a targeted marketing campaign and product enhancements. These challenges were tough, but they provided valuable lessons and made our strategic planning stronger for the future.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Looking ahead to next year, our vision is to become the leader in our market through customer-centric innovation. To achieve this, we have three key strategic priorities: driving product innovation, expanding our market reach, and optimizing operational excellence. We have a clear roadmap of key initiatives planned for each quarter to ensure we stay on track to meet these goals.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That concludes my presentation. Thank you for your time and attention. I believe the coming year holds great promise, and I'm excited to continue working with this team to achieve our ambitious goals. Now, I'd be happy to answer any questions you may have.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3.svg"/><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4.png"/><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6.svg"/><Relationship Id="rId6" Type="http://schemas.openxmlformats.org/officeDocument/2006/relationships/image" Target="../media/image8.png"/><Relationship Id="rId5" Type="http://schemas.openxmlformats.org/officeDocument/2006/relationships/image" Target="../media/image5.svg"/><Relationship Id="rId4" Type="http://schemas.openxmlformats.org/officeDocument/2006/relationships/image" Target="../media/image7.png"/><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2.xml"/><Relationship Id="rId5" Type="http://schemas.openxmlformats.org/officeDocument/2006/relationships/image" Target="../media/image8.svg"/><Relationship Id="rId4" Type="http://schemas.openxmlformats.org/officeDocument/2006/relationships/image" Target="../media/image10.png"/><Relationship Id="rId3" Type="http://schemas.openxmlformats.org/officeDocument/2006/relationships/image" Target="../media/image7.svg"/><Relationship Id="rId2" Type="http://schemas.openxmlformats.org/officeDocument/2006/relationships/image" Target="../media/image9.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11.svg"/><Relationship Id="rId8" Type="http://schemas.openxmlformats.org/officeDocument/2006/relationships/image" Target="../media/image13.png"/><Relationship Id="rId7" Type="http://schemas.openxmlformats.org/officeDocument/2006/relationships/image" Target="../media/image6.svg"/><Relationship Id="rId6" Type="http://schemas.openxmlformats.org/officeDocument/2006/relationships/image" Target="../media/image8.png"/><Relationship Id="rId5" Type="http://schemas.openxmlformats.org/officeDocument/2006/relationships/image" Target="../media/image10.svg"/><Relationship Id="rId4" Type="http://schemas.openxmlformats.org/officeDocument/2006/relationships/image" Target="../media/image12.png"/><Relationship Id="rId3" Type="http://schemas.openxmlformats.org/officeDocument/2006/relationships/image" Target="../media/image9.svg"/><Relationship Id="rId2" Type="http://schemas.openxmlformats.org/officeDocument/2006/relationships/image" Target="../media/image11.png"/><Relationship Id="rId11" Type="http://schemas.openxmlformats.org/officeDocument/2006/relationships/notesSlide" Target="../notesSlides/notesSlide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12.sv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12.svg"/><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8.png"/><Relationship Id="rId3" Type="http://schemas.openxmlformats.org/officeDocument/2006/relationships/image" Target="../media/image13.svg"/><Relationship Id="rId2" Type="http://schemas.openxmlformats.org/officeDocument/2006/relationships/image" Target="../media/image16.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15.svg"/><Relationship Id="rId6" Type="http://schemas.openxmlformats.org/officeDocument/2006/relationships/image" Target="../media/image18.png"/><Relationship Id="rId5" Type="http://schemas.openxmlformats.org/officeDocument/2006/relationships/image" Target="../media/image3.svg"/><Relationship Id="rId4" Type="http://schemas.openxmlformats.org/officeDocument/2006/relationships/image" Target="../media/image5.png"/><Relationship Id="rId3" Type="http://schemas.openxmlformats.org/officeDocument/2006/relationships/image" Target="../media/image14.svg"/><Relationship Id="rId2" Type="http://schemas.openxmlformats.org/officeDocument/2006/relationships/image" Target="../media/image17.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333333"/>
                </a:solidFill>
                <a:latin typeface="Poppins"/>
                <a:ea typeface="Poppins"/>
                <a:cs typeface="Poppins"/>
                <a:sym typeface="Poppins"/>
              </a:rPr>
              <a:t>Annual Summary [YEAR]</a:t>
            </a:r>
            <a:endParaRPr lang="en-US" sz="1100"/>
          </a:p>
        </p:txBody>
      </p:sp>
      <p:sp>
        <p:nvSpPr>
          <p:cNvPr id="4" name="AutoShape 4"/>
          <p:cNvSpPr/>
          <p:nvPr/>
        </p:nvSpPr>
        <p:spPr>
          <a:xfrm>
            <a:off x="1016000" y="3302000"/>
            <a:ext cx="1270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4064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0" i="0" u="none" strike="noStrike">
                <a:solidFill>
                  <a:srgbClr val="4A6A6A"/>
                </a:solidFill>
                <a:latin typeface="Poppins"/>
                <a:ea typeface="Poppins"/>
                <a:cs typeface="Poppins"/>
                <a:sym typeface="Poppins"/>
              </a:rPr>
              <a:t>[Your Name] / [Your Department]</a:t>
            </a:r>
            <a:endParaRPr lang="en-US" sz="1100"/>
          </a:p>
        </p:txBody>
      </p:sp>
      <p:cxnSp>
        <p:nvCxnSpPr>
          <p:cNvPr id="6" name="Connector 6"/>
          <p:cNvCxnSpPr/>
          <p:nvPr/>
        </p:nvCxnSpPr>
        <p:spPr>
          <a:xfrm rot="-4297">
            <a:off x="1016004" y="5200650"/>
            <a:ext cx="10160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7" name="AutoShape 7"/>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555555"/>
                </a:solidFill>
                <a:latin typeface="Poppins"/>
                <a:ea typeface="Poppins"/>
                <a:cs typeface="Poppins"/>
                <a:sym typeface="Poppins"/>
              </a:rPr>
              <a:t>Presented on: [Month], [Year]</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Agenda</a:t>
            </a:r>
            <a:endParaRPr lang="en-US" sz="1100"/>
          </a:p>
        </p:txBody>
      </p:sp>
      <p:sp>
        <p:nvSpPr>
          <p:cNvPr id="4" name="AutoShape 4"/>
          <p:cNvSpPr/>
          <p:nvPr/>
        </p:nvSpPr>
        <p:spPr>
          <a:xfrm>
            <a:off x="762000" y="1397000"/>
            <a:ext cx="10668000" cy="25400"/>
          </a:xfrm>
          <a:prstGeom prst="roundRect">
            <a:avLst>
              <a:gd name="adj" fmla="val 0"/>
            </a:avLst>
          </a:prstGeom>
          <a:solidFill>
            <a:srgbClr val="4A6A6A">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76200" cy="1143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32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A6A6A"/>
                </a:solidFill>
                <a:latin typeface="Poppins"/>
                <a:ea typeface="Poppins"/>
                <a:cs typeface="Poppins"/>
                <a:sym typeface="Poppins"/>
              </a:rPr>
              <a:t>01. Annual Performance Overview</a:t>
            </a:r>
            <a:endParaRPr lang="en-US" sz="1100"/>
          </a:p>
          <a:p>
            <a:pPr marL="0" indent="0" algn="l">
              <a:lnSpc>
                <a:spcPct val="117000"/>
              </a:lnSpc>
            </a:pPr>
            <a:r>
              <a:rPr lang="en-US" sz="1400" b="0" i="0" u="none" strike="noStrike">
                <a:solidFill>
                  <a:srgbClr val="525252"/>
                </a:solidFill>
                <a:latin typeface="Poppins"/>
                <a:ea typeface="Poppins"/>
                <a:cs typeface="Poppins"/>
                <a:sym typeface="Poppins"/>
              </a:rPr>
              <a:t>A high-level summary of achievements and key highlights from the past year, encapsulating our core milestones and organizational progress.</a:t>
            </a:r>
            <a:endParaRPr lang="en-US" sz="1400" b="0" i="0" u="none" strike="noStrike">
              <a:solidFill>
                <a:srgbClr val="525252"/>
              </a:solidFill>
              <a:latin typeface="Poppins"/>
              <a:ea typeface="Poppins"/>
              <a:cs typeface="Poppins"/>
              <a:sym typeface="Poppins"/>
            </a:endParaRPr>
          </a:p>
        </p:txBody>
      </p:sp>
      <p:sp>
        <p:nvSpPr>
          <p:cNvPr id="7" name="AutoShape 7"/>
          <p:cNvSpPr/>
          <p:nvPr/>
        </p:nvSpPr>
        <p:spPr>
          <a:xfrm>
            <a:off x="762000" y="3556000"/>
            <a:ext cx="76200" cy="1143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3556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A6A6A"/>
                </a:solidFill>
                <a:latin typeface="Poppins"/>
                <a:ea typeface="Poppins"/>
                <a:cs typeface="Poppins"/>
                <a:sym typeface="Poppins"/>
              </a:rPr>
              <a:t>02. Key Performance Indicators (KPIs)</a:t>
            </a:r>
            <a:endParaRPr lang="en-US" sz="1100"/>
          </a:p>
          <a:p>
            <a:pPr marL="0" indent="0" algn="l">
              <a:lnSpc>
                <a:spcPct val="117000"/>
              </a:lnSpc>
            </a:pPr>
            <a:r>
              <a:rPr lang="en-US" sz="1400" b="0" i="0" u="none" strike="noStrike">
                <a:solidFill>
                  <a:srgbClr val="525252"/>
                </a:solidFill>
                <a:latin typeface="Poppins"/>
                <a:ea typeface="Poppins"/>
                <a:cs typeface="Poppins"/>
                <a:sym typeface="Poppins"/>
              </a:rPr>
              <a:t>Comprehensive review of core metrics, including growth rates, efficiency scores, and user engagement, and an analysis of their year-over-year results.</a:t>
            </a:r>
            <a:endParaRPr lang="en-US" sz="1400" b="0" i="0" u="none" strike="noStrike">
              <a:solidFill>
                <a:srgbClr val="525252"/>
              </a:solidFill>
              <a:latin typeface="Poppins"/>
              <a:ea typeface="Poppins"/>
              <a:cs typeface="Poppins"/>
              <a:sym typeface="Poppins"/>
            </a:endParaRPr>
          </a:p>
        </p:txBody>
      </p:sp>
      <p:sp>
        <p:nvSpPr>
          <p:cNvPr id="9" name="AutoShape 9"/>
          <p:cNvSpPr/>
          <p:nvPr/>
        </p:nvSpPr>
        <p:spPr>
          <a:xfrm>
            <a:off x="762000" y="5080000"/>
            <a:ext cx="76200" cy="1143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5080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A6A6A"/>
                </a:solidFill>
                <a:latin typeface="Poppins"/>
                <a:ea typeface="Poppins"/>
                <a:cs typeface="Poppins"/>
                <a:sym typeface="Poppins"/>
              </a:rPr>
              <a:t>03. Key Project Deep Dive</a:t>
            </a:r>
            <a:endParaRPr lang="en-US" sz="1100"/>
          </a:p>
          <a:p>
            <a:pPr marL="0" indent="0" algn="l">
              <a:lnSpc>
                <a:spcPct val="117000"/>
              </a:lnSpc>
            </a:pPr>
            <a:r>
              <a:rPr lang="en-US" sz="1400" b="0" i="0" u="none" strike="noStrike">
                <a:solidFill>
                  <a:srgbClr val="525252"/>
                </a:solidFill>
                <a:latin typeface="Poppins"/>
                <a:ea typeface="Poppins"/>
                <a:cs typeface="Poppins"/>
                <a:sym typeface="Poppins"/>
              </a:rPr>
              <a:t>In-depth analysis of our flagship projects, examining their execution, cross-team collaboration, and the tangible impact on business objectives.</a:t>
            </a:r>
            <a:endParaRPr lang="en-US" sz="1400" b="0" i="0" u="none" strike="noStrike">
              <a:solidFill>
                <a:srgbClr val="525252"/>
              </a:solidFill>
              <a:latin typeface="Poppins"/>
              <a:ea typeface="Poppins"/>
              <a:cs typeface="Poppins"/>
              <a:sym typeface="Poppins"/>
            </a:endParaRPr>
          </a:p>
        </p:txBody>
      </p:sp>
      <p:cxnSp>
        <p:nvCxnSpPr>
          <p:cNvPr id="11" name="Connector 11"/>
          <p:cNvCxnSpPr/>
          <p:nvPr/>
        </p:nvCxnSpPr>
        <p:spPr>
          <a:xfrm rot="5389582">
            <a:off x="4064000" y="4121160"/>
            <a:ext cx="41910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12" name="AutoShape 12"/>
          <p:cNvSpPr/>
          <p:nvPr/>
        </p:nvSpPr>
        <p:spPr>
          <a:xfrm>
            <a:off x="6350000" y="2032000"/>
            <a:ext cx="76200" cy="1143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2032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A6A6A"/>
                </a:solidFill>
                <a:latin typeface="Poppins"/>
                <a:ea typeface="Poppins"/>
                <a:cs typeface="Poppins"/>
                <a:sym typeface="Poppins"/>
              </a:rPr>
              <a:t>04. Financial Performance &amp; Budget</a:t>
            </a:r>
            <a:endParaRPr lang="en-US" sz="1100"/>
          </a:p>
          <a:p>
            <a:pPr marL="0" indent="0" algn="l">
              <a:lnSpc>
                <a:spcPct val="117000"/>
              </a:lnSpc>
            </a:pPr>
            <a:r>
              <a:rPr lang="en-US" sz="1400" b="0" i="0" u="none" strike="noStrike">
                <a:solidFill>
                  <a:srgbClr val="525252"/>
                </a:solidFill>
                <a:latin typeface="Poppins"/>
                <a:ea typeface="Poppins"/>
                <a:cs typeface="Poppins"/>
                <a:sym typeface="Poppins"/>
              </a:rPr>
              <a:t>Detailed breakdown of revenue streams, expense management, and budget allocation. An assessment of financial health and ROI on strategic investments.</a:t>
            </a:r>
            <a:endParaRPr lang="en-US" sz="1400" b="0" i="0" u="none" strike="noStrike">
              <a:solidFill>
                <a:srgbClr val="525252"/>
              </a:solidFill>
              <a:latin typeface="Poppins"/>
              <a:ea typeface="Poppins"/>
              <a:cs typeface="Poppins"/>
              <a:sym typeface="Poppins"/>
            </a:endParaRPr>
          </a:p>
        </p:txBody>
      </p:sp>
      <p:sp>
        <p:nvSpPr>
          <p:cNvPr id="14" name="AutoShape 14"/>
          <p:cNvSpPr/>
          <p:nvPr/>
        </p:nvSpPr>
        <p:spPr>
          <a:xfrm>
            <a:off x="6350000" y="3556000"/>
            <a:ext cx="76200" cy="1143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3556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A6A6A"/>
                </a:solidFill>
                <a:latin typeface="Poppins"/>
                <a:ea typeface="Poppins"/>
                <a:cs typeface="Poppins"/>
                <a:sym typeface="Poppins"/>
              </a:rPr>
              <a:t>05. Challenges &amp; Lessons Learned</a:t>
            </a:r>
            <a:endParaRPr lang="en-US" sz="1100"/>
          </a:p>
          <a:p>
            <a:pPr marL="0" indent="0" algn="l">
              <a:lnSpc>
                <a:spcPct val="117000"/>
              </a:lnSpc>
            </a:pPr>
            <a:r>
              <a:rPr lang="en-US" sz="1400" b="0" i="0" u="none" strike="noStrike">
                <a:solidFill>
                  <a:srgbClr val="525252"/>
                </a:solidFill>
                <a:latin typeface="Poppins"/>
                <a:ea typeface="Poppins"/>
                <a:cs typeface="Poppins"/>
                <a:sym typeface="Poppins"/>
              </a:rPr>
              <a:t>Reflection on obstacles encountered, from market volatility to operational bottlenecks, and the key insights gained to inform future decision-making.</a:t>
            </a:r>
            <a:endParaRPr lang="en-US" sz="1400" b="0" i="0" u="none" strike="noStrike">
              <a:solidFill>
                <a:srgbClr val="525252"/>
              </a:solidFill>
              <a:latin typeface="Poppins"/>
              <a:ea typeface="Poppins"/>
              <a:cs typeface="Poppins"/>
              <a:sym typeface="Poppins"/>
            </a:endParaRPr>
          </a:p>
        </p:txBody>
      </p:sp>
      <p:sp>
        <p:nvSpPr>
          <p:cNvPr id="16" name="AutoShape 16"/>
          <p:cNvSpPr/>
          <p:nvPr/>
        </p:nvSpPr>
        <p:spPr>
          <a:xfrm>
            <a:off x="6350000" y="5080000"/>
            <a:ext cx="76200" cy="1143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5080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4A6A6A"/>
                </a:solidFill>
                <a:latin typeface="Poppins"/>
                <a:ea typeface="Poppins"/>
                <a:cs typeface="Poppins"/>
                <a:sym typeface="Poppins"/>
              </a:rPr>
              <a:t>06. Future Strategy &amp; Outlook</a:t>
            </a:r>
            <a:endParaRPr lang="en-US" sz="1100"/>
          </a:p>
          <a:p>
            <a:pPr marL="0" indent="0" algn="l">
              <a:lnSpc>
                <a:spcPct val="117000"/>
              </a:lnSpc>
            </a:pPr>
            <a:r>
              <a:rPr lang="en-US" sz="1400" b="0" i="0" u="none" strike="noStrike">
                <a:solidFill>
                  <a:srgbClr val="525252"/>
                </a:solidFill>
                <a:latin typeface="Poppins"/>
                <a:ea typeface="Poppins"/>
                <a:cs typeface="Poppins"/>
                <a:sym typeface="Poppins"/>
              </a:rPr>
              <a:t>Strategic roadmap for the upcoming year, outlining key goals, market expansion plans, and initiatives to drive sustainable growth and innovation.</a:t>
            </a:r>
            <a:endParaRPr lang="en-US" sz="1400" b="0" i="0" u="none" strike="noStrike">
              <a:solidFill>
                <a:srgbClr val="525252"/>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Executive Summary: A Year of Growth</a:t>
            </a:r>
            <a:endParaRPr lang="en-US" sz="1100"/>
          </a:p>
        </p:txBody>
      </p:sp>
      <p:sp>
        <p:nvSpPr>
          <p:cNvPr id="4" name="AutoShape 4"/>
          <p:cNvSpPr/>
          <p:nvPr/>
        </p:nvSpPr>
        <p:spPr>
          <a:xfrm>
            <a:off x="762000" y="165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A6A6A"/>
                </a:solidFill>
                <a:latin typeface="Poppins"/>
                <a:ea typeface="Poppins"/>
                <a:cs typeface="Poppins"/>
                <a:sym typeface="Poppins"/>
              </a:rPr>
              <a:t>This year, we successfully delivered on the vast majority of our annual strategic objectives, driving measurable progress across key business pillars and positioning the company for sustained expansion in the coming fiscal period.</a:t>
            </a:r>
            <a:endParaRPr lang="en-US" sz="1100"/>
          </a:p>
        </p:txBody>
      </p:sp>
      <p:cxnSp>
        <p:nvCxnSpPr>
          <p:cNvPr id="5" name="Connector 5"/>
          <p:cNvCxnSpPr/>
          <p:nvPr/>
        </p:nvCxnSpPr>
        <p:spPr>
          <a:xfrm rot="-4092">
            <a:off x="762004" y="2787650"/>
            <a:ext cx="10668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6" name="AutoShape 6"/>
          <p:cNvSpPr/>
          <p:nvPr/>
        </p:nvSpPr>
        <p:spPr>
          <a:xfrm>
            <a:off x="762000" y="3175000"/>
            <a:ext cx="3429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175000"/>
            <a:ext cx="3429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365500"/>
            <a:ext cx="355600" cy="355600"/>
          </a:xfrm>
          <a:prstGeom prst="rect">
            <a:avLst/>
          </a:prstGeom>
        </p:spPr>
      </p:pic>
      <p:sp>
        <p:nvSpPr>
          <p:cNvPr id="9" name="AutoShape 9"/>
          <p:cNvSpPr/>
          <p:nvPr/>
        </p:nvSpPr>
        <p:spPr>
          <a:xfrm>
            <a:off x="1397000" y="332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Revenue Excellence</a:t>
            </a:r>
            <a:endParaRPr lang="en-US" sz="1100"/>
          </a:p>
        </p:txBody>
      </p:sp>
      <p:sp>
        <p:nvSpPr>
          <p:cNvPr id="10" name="AutoShape 10"/>
          <p:cNvSpPr/>
          <p:nvPr/>
        </p:nvSpPr>
        <p:spPr>
          <a:xfrm>
            <a:off x="952500" y="3937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Poppins"/>
                <a:ea typeface="Poppins"/>
                <a:cs typeface="Poppins"/>
                <a:sym typeface="Poppins"/>
              </a:rPr>
              <a:t>Exceeded annual revenue targets by 15% ($12.8M vs. $11.1M) through the successful Q3 launch of Product X, which quickly captured market attention and drove upsell opportunities across existing client accounts.</a:t>
            </a:r>
            <a:endParaRPr lang="en-US" sz="1100"/>
          </a:p>
        </p:txBody>
      </p:sp>
      <p:sp>
        <p:nvSpPr>
          <p:cNvPr id="11" name="AutoShape 11"/>
          <p:cNvSpPr/>
          <p:nvPr/>
        </p:nvSpPr>
        <p:spPr>
          <a:xfrm>
            <a:off x="4445000" y="3175000"/>
            <a:ext cx="3429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3175000"/>
            <a:ext cx="3429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3365500"/>
            <a:ext cx="355600" cy="355600"/>
          </a:xfrm>
          <a:prstGeom prst="rect">
            <a:avLst/>
          </a:prstGeom>
        </p:spPr>
      </p:pic>
      <p:sp>
        <p:nvSpPr>
          <p:cNvPr id="14" name="AutoShape 14"/>
          <p:cNvSpPr/>
          <p:nvPr/>
        </p:nvSpPr>
        <p:spPr>
          <a:xfrm>
            <a:off x="5080000" y="332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Operational Agility</a:t>
            </a:r>
            <a:endParaRPr lang="en-US" sz="1100"/>
          </a:p>
        </p:txBody>
      </p:sp>
      <p:sp>
        <p:nvSpPr>
          <p:cNvPr id="15" name="AutoShape 15"/>
          <p:cNvSpPr/>
          <p:nvPr/>
        </p:nvSpPr>
        <p:spPr>
          <a:xfrm>
            <a:off x="4635500" y="3937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Poppins"/>
                <a:ea typeface="Poppins"/>
                <a:cs typeface="Poppins"/>
                <a:sym typeface="Poppins"/>
              </a:rPr>
              <a:t>Achieved a 20% improvement in cross-departmental workflow efficiency following the full rollout of our new CRM system. Automation of routine tasks reduced manual errors by 30% and freed up 120+ weekly hours for high-value activities.</a:t>
            </a:r>
            <a:endParaRPr lang="en-US" sz="1100"/>
          </a:p>
        </p:txBody>
      </p:sp>
      <p:sp>
        <p:nvSpPr>
          <p:cNvPr id="16" name="AutoShape 16"/>
          <p:cNvSpPr/>
          <p:nvPr/>
        </p:nvSpPr>
        <p:spPr>
          <a:xfrm>
            <a:off x="8001000" y="3175000"/>
            <a:ext cx="3429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01000" y="3175000"/>
            <a:ext cx="3429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365500"/>
            <a:ext cx="355600" cy="355600"/>
          </a:xfrm>
          <a:prstGeom prst="rect">
            <a:avLst/>
          </a:prstGeom>
        </p:spPr>
      </p:pic>
      <p:sp>
        <p:nvSpPr>
          <p:cNvPr id="19" name="AutoShape 19"/>
          <p:cNvSpPr/>
          <p:nvPr/>
        </p:nvSpPr>
        <p:spPr>
          <a:xfrm>
            <a:off x="8636000" y="3327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Poppins"/>
                <a:ea typeface="Poppins"/>
                <a:cs typeface="Poppins"/>
                <a:sym typeface="Poppins"/>
              </a:rPr>
              <a:t>Global Market Penetration</a:t>
            </a:r>
            <a:endParaRPr lang="en-US" sz="1100"/>
          </a:p>
        </p:txBody>
      </p:sp>
      <p:sp>
        <p:nvSpPr>
          <p:cNvPr id="20" name="AutoShape 20"/>
          <p:cNvSpPr/>
          <p:nvPr/>
        </p:nvSpPr>
        <p:spPr>
          <a:xfrm>
            <a:off x="8191500" y="3937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25252"/>
                </a:solidFill>
                <a:latin typeface="Poppins"/>
                <a:ea typeface="Poppins"/>
                <a:cs typeface="Poppins"/>
                <a:sym typeface="Poppins"/>
              </a:rPr>
              <a:t>Established a sustainable foothold in the European market, securing a 5% market share within 9 months of entry. Strategic partnerships with local distributors and a localized marketing campaign were key to this rapid adoption.</a:t>
            </a:r>
            <a:endParaRPr lang="en-US" sz="1100"/>
          </a:p>
        </p:txBody>
      </p:sp>
      <p:sp>
        <p:nvSpPr>
          <p:cNvPr id="21" name="AutoShape 21"/>
          <p:cNvSpPr/>
          <p:nvPr/>
        </p:nvSpPr>
        <p:spPr>
          <a:xfrm>
            <a:off x="762000" y="5588000"/>
            <a:ext cx="10668000" cy="889000"/>
          </a:xfrm>
          <a:prstGeom prst="roundRect">
            <a:avLst>
              <a:gd name="adj" fmla="val 0"/>
            </a:avLst>
          </a:prstGeom>
          <a:solidFill>
            <a:srgbClr val="4A6A6A">
              <a:alpha val="1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5588000"/>
            <a:ext cx="76200" cy="889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689600"/>
            <a:ext cx="10160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4A6A6A"/>
                </a:solidFill>
                <a:latin typeface="Poppins"/>
                <a:ea typeface="Poppins"/>
                <a:cs typeface="Poppins"/>
                <a:sym typeface="Poppins"/>
              </a:rPr>
              <a:t>CORE TAKEAWAY:</a:t>
            </a:r>
            <a:r>
              <a:rPr lang="en-US" sz="1400" b="0" i="0" u="none" strike="noStrike">
                <a:solidFill>
                  <a:srgbClr val="333333"/>
                </a:solidFill>
                <a:latin typeface="Poppins"/>
                <a:ea typeface="Poppins"/>
                <a:cs typeface="Poppins"/>
                <a:sym typeface="Poppins"/>
              </a:rPr>
              <a:t>The business demonstrated robust financial health and operational maturity this year. These foundational achievements not only validate our strategic direction but also provide the capital and infrastructure necessary to accelerate growth initiatives in emerging sectors.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Key Performance Indicators: Data-Driven Results</a:t>
            </a:r>
            <a:endParaRPr lang="en-US" sz="1100"/>
          </a:p>
        </p:txBody>
      </p:sp>
      <p:sp>
        <p:nvSpPr>
          <p:cNvPr id="4" name="AutoShape 4"/>
          <p:cNvSpPr/>
          <p:nvPr/>
        </p:nvSpPr>
        <p:spPr>
          <a:xfrm>
            <a:off x="762000" y="2032000"/>
            <a:ext cx="3429000" cy="3683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3429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406400" cy="406400"/>
          </a:xfrm>
          <a:prstGeom prst="rect">
            <a:avLst/>
          </a:prstGeom>
        </p:spPr>
      </p:pic>
      <p:sp>
        <p:nvSpPr>
          <p:cNvPr id="7" name="AutoShape 7"/>
          <p:cNvSpPr/>
          <p:nvPr/>
        </p:nvSpPr>
        <p:spPr>
          <a:xfrm>
            <a:off x="1524000" y="22606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6A6A"/>
                </a:solidFill>
                <a:latin typeface="Poppins"/>
                <a:ea typeface="Poppins"/>
                <a:cs typeface="Poppins"/>
                <a:sym typeface="Poppins"/>
              </a:rPr>
              <a:t>Financial Metrics</a:t>
            </a:r>
            <a:endParaRPr lang="en-US" sz="1100"/>
          </a:p>
        </p:txBody>
      </p:sp>
      <p:cxnSp>
        <p:nvCxnSpPr>
          <p:cNvPr id="8" name="Connector 8"/>
          <p:cNvCxnSpPr/>
          <p:nvPr/>
        </p:nvCxnSpPr>
        <p:spPr>
          <a:xfrm rot="-14946">
            <a:off x="1016014" y="2914650"/>
            <a:ext cx="2921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9" name="AutoShape 9"/>
          <p:cNvSpPr/>
          <p:nvPr/>
        </p:nvSpPr>
        <p:spPr>
          <a:xfrm>
            <a:off x="1016000" y="31750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Poppins"/>
                <a:ea typeface="Poppins"/>
                <a:cs typeface="Poppins"/>
                <a:sym typeface="Poppins"/>
              </a:rPr>
              <a:t>Revenue Variance</a:t>
            </a:r>
            <a:endParaRPr lang="en-US" sz="1100"/>
          </a:p>
          <a:p>
            <a:pPr marL="0" indent="0" algn="l">
              <a:lnSpc>
                <a:spcPct val="125000"/>
              </a:lnSpc>
            </a:pPr>
            <a:r>
              <a:rPr lang="en-US" sz="2800" b="1" i="0" u="none" strike="noStrike">
                <a:solidFill>
                  <a:srgbClr val="4A6A6A"/>
                </a:solidFill>
                <a:latin typeface="Poppins"/>
                <a:ea typeface="Poppins"/>
                <a:cs typeface="Poppins"/>
                <a:sym typeface="Poppins"/>
              </a:rPr>
              <a:t>+15%</a:t>
            </a:r>
            <a:endParaRPr lang="en-US" sz="2800" b="1" i="0" u="none" strike="noStrike">
              <a:solidFill>
                <a:srgbClr val="4A6A6A"/>
              </a:solidFill>
              <a:latin typeface="Poppins"/>
              <a:ea typeface="Poppins"/>
              <a:cs typeface="Poppins"/>
              <a:sym typeface="Poppins"/>
            </a:endParaRPr>
          </a:p>
        </p:txBody>
      </p:sp>
      <p:cxnSp>
        <p:nvCxnSpPr>
          <p:cNvPr id="10" name="Connector 10"/>
          <p:cNvCxnSpPr/>
          <p:nvPr/>
        </p:nvCxnSpPr>
        <p:spPr>
          <a:xfrm rot="-14946">
            <a:off x="1016014" y="4565650"/>
            <a:ext cx="29210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11" name="AutoShape 11"/>
          <p:cNvSpPr/>
          <p:nvPr/>
        </p:nvSpPr>
        <p:spPr>
          <a:xfrm>
            <a:off x="1016000" y="48260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66666"/>
                </a:solidFill>
                <a:latin typeface="Poppins"/>
                <a:ea typeface="Poppins"/>
                <a:cs typeface="Poppins"/>
                <a:sym typeface="Poppins"/>
              </a:rPr>
              <a:t>Profit Margin exceeded targets by</a:t>
            </a:r>
            <a:r>
              <a:rPr lang="en-US" sz="1300" b="1" i="0" u="none" strike="noStrike">
                <a:solidFill>
                  <a:srgbClr val="4A6A6A"/>
                </a:solidFill>
                <a:latin typeface="Poppins"/>
                <a:ea typeface="Poppins"/>
                <a:cs typeface="Poppins"/>
                <a:sym typeface="Poppins"/>
              </a:rPr>
              <a:t>+5%</a:t>
            </a:r>
            <a:r>
              <a:rPr lang="en-US" sz="1300" b="0" i="0" u="none" strike="noStrike">
                <a:solidFill>
                  <a:srgbClr val="666666"/>
                </a:solidFill>
                <a:latin typeface="Poppins"/>
                <a:ea typeface="Poppins"/>
                <a:cs typeface="Poppins"/>
                <a:sym typeface="Poppins"/>
              </a:rPr>
              <a:t>, driven by optimized cost structures and higher-margin service adoption.</a:t>
            </a:r>
            <a:endParaRPr lang="en-US" sz="1100"/>
          </a:p>
        </p:txBody>
      </p:sp>
      <p:sp>
        <p:nvSpPr>
          <p:cNvPr id="12" name="AutoShape 12"/>
          <p:cNvSpPr/>
          <p:nvPr/>
        </p:nvSpPr>
        <p:spPr>
          <a:xfrm>
            <a:off x="4381500" y="2032000"/>
            <a:ext cx="3429000" cy="3683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81500" y="2032000"/>
            <a:ext cx="3429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286000"/>
            <a:ext cx="406400" cy="406400"/>
          </a:xfrm>
          <a:prstGeom prst="rect">
            <a:avLst/>
          </a:prstGeom>
        </p:spPr>
      </p:pic>
      <p:sp>
        <p:nvSpPr>
          <p:cNvPr id="15" name="AutoShape 15"/>
          <p:cNvSpPr/>
          <p:nvPr/>
        </p:nvSpPr>
        <p:spPr>
          <a:xfrm>
            <a:off x="5143500" y="22606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6A6A"/>
                </a:solidFill>
                <a:latin typeface="Poppins"/>
                <a:ea typeface="Poppins"/>
                <a:cs typeface="Poppins"/>
                <a:sym typeface="Poppins"/>
              </a:rPr>
              <a:t>Operational Efficiency</a:t>
            </a:r>
            <a:endParaRPr lang="en-US" sz="1100"/>
          </a:p>
        </p:txBody>
      </p:sp>
      <p:cxnSp>
        <p:nvCxnSpPr>
          <p:cNvPr id="16" name="Connector 16"/>
          <p:cNvCxnSpPr/>
          <p:nvPr/>
        </p:nvCxnSpPr>
        <p:spPr>
          <a:xfrm rot="-14946">
            <a:off x="4635514" y="2914650"/>
            <a:ext cx="2921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17" name="AutoShape 17"/>
          <p:cNvSpPr/>
          <p:nvPr/>
        </p:nvSpPr>
        <p:spPr>
          <a:xfrm>
            <a:off x="4635500" y="31750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Poppins"/>
                <a:ea typeface="Poppins"/>
                <a:cs typeface="Poppins"/>
                <a:sym typeface="Poppins"/>
              </a:rPr>
              <a:t>Project Delivery Time</a:t>
            </a:r>
            <a:endParaRPr lang="en-US" sz="1100"/>
          </a:p>
          <a:p>
            <a:pPr marL="0" indent="0" algn="l">
              <a:lnSpc>
                <a:spcPct val="125000"/>
              </a:lnSpc>
            </a:pPr>
            <a:r>
              <a:rPr lang="en-US" sz="2800" b="1" i="0" u="none" strike="noStrike">
                <a:solidFill>
                  <a:srgbClr val="4A6A6A"/>
                </a:solidFill>
                <a:latin typeface="Poppins"/>
                <a:ea typeface="Poppins"/>
                <a:cs typeface="Poppins"/>
                <a:sym typeface="Poppins"/>
              </a:rPr>
              <a:t>20% Faster</a:t>
            </a:r>
            <a:endParaRPr lang="en-US" sz="2800" b="1" i="0" u="none" strike="noStrike">
              <a:solidFill>
                <a:srgbClr val="4A6A6A"/>
              </a:solidFill>
              <a:latin typeface="Poppins"/>
              <a:ea typeface="Poppins"/>
              <a:cs typeface="Poppins"/>
              <a:sym typeface="Poppins"/>
            </a:endParaRPr>
          </a:p>
        </p:txBody>
      </p:sp>
      <p:cxnSp>
        <p:nvCxnSpPr>
          <p:cNvPr id="18" name="Connector 18"/>
          <p:cNvCxnSpPr/>
          <p:nvPr/>
        </p:nvCxnSpPr>
        <p:spPr>
          <a:xfrm rot="-14946">
            <a:off x="4635514" y="4565650"/>
            <a:ext cx="29210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19" name="AutoShape 19"/>
          <p:cNvSpPr/>
          <p:nvPr/>
        </p:nvSpPr>
        <p:spPr>
          <a:xfrm>
            <a:off x="4635500" y="48260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66666"/>
                </a:solidFill>
                <a:latin typeface="Poppins"/>
                <a:ea typeface="Poppins"/>
                <a:cs typeface="Poppins"/>
                <a:sym typeface="Poppins"/>
              </a:rPr>
              <a:t>Customer Satisfaction Score (CSAT) reached a record high, reflecting streamlined workflows and proactive client support.</a:t>
            </a:r>
            <a:endParaRPr lang="en-US" sz="1100"/>
          </a:p>
        </p:txBody>
      </p:sp>
      <p:sp>
        <p:nvSpPr>
          <p:cNvPr id="20" name="AutoShape 20"/>
          <p:cNvSpPr/>
          <p:nvPr/>
        </p:nvSpPr>
        <p:spPr>
          <a:xfrm>
            <a:off x="8001000" y="2032000"/>
            <a:ext cx="3429000" cy="3683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001000" y="2032000"/>
            <a:ext cx="3429000" cy="508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286000"/>
            <a:ext cx="406400" cy="406400"/>
          </a:xfrm>
          <a:prstGeom prst="rect">
            <a:avLst/>
          </a:prstGeom>
        </p:spPr>
      </p:pic>
      <p:sp>
        <p:nvSpPr>
          <p:cNvPr id="23" name="AutoShape 23"/>
          <p:cNvSpPr/>
          <p:nvPr/>
        </p:nvSpPr>
        <p:spPr>
          <a:xfrm>
            <a:off x="8763000" y="22606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6A6A"/>
                </a:solidFill>
                <a:latin typeface="Poppins"/>
                <a:ea typeface="Poppins"/>
                <a:cs typeface="Poppins"/>
                <a:sym typeface="Poppins"/>
              </a:rPr>
              <a:t>Growth Metrics</a:t>
            </a:r>
            <a:endParaRPr lang="en-US" sz="1100"/>
          </a:p>
        </p:txBody>
      </p:sp>
      <p:cxnSp>
        <p:nvCxnSpPr>
          <p:cNvPr id="24" name="Connector 24"/>
          <p:cNvCxnSpPr/>
          <p:nvPr/>
        </p:nvCxnSpPr>
        <p:spPr>
          <a:xfrm rot="-14946">
            <a:off x="8255014" y="2914650"/>
            <a:ext cx="2921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25" name="AutoShape 25"/>
          <p:cNvSpPr/>
          <p:nvPr/>
        </p:nvSpPr>
        <p:spPr>
          <a:xfrm>
            <a:off x="8255000" y="31750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Poppins"/>
                <a:ea typeface="Poppins"/>
                <a:cs typeface="Poppins"/>
                <a:sym typeface="Poppins"/>
              </a:rPr>
              <a:t>Market Share Growth</a:t>
            </a:r>
            <a:endParaRPr lang="en-US" sz="1100"/>
          </a:p>
          <a:p>
            <a:pPr marL="0" indent="0" algn="l">
              <a:lnSpc>
                <a:spcPct val="125000"/>
              </a:lnSpc>
            </a:pPr>
            <a:r>
              <a:rPr lang="en-US" sz="2800" b="1" i="0" u="none" strike="noStrike">
                <a:solidFill>
                  <a:srgbClr val="4A6A6A"/>
                </a:solidFill>
                <a:latin typeface="Poppins"/>
                <a:ea typeface="Poppins"/>
                <a:cs typeface="Poppins"/>
                <a:sym typeface="Poppins"/>
              </a:rPr>
              <a:t>+5% YoY</a:t>
            </a:r>
            <a:endParaRPr lang="en-US" sz="2800" b="1" i="0" u="none" strike="noStrike">
              <a:solidFill>
                <a:srgbClr val="4A6A6A"/>
              </a:solidFill>
              <a:latin typeface="Poppins"/>
              <a:ea typeface="Poppins"/>
              <a:cs typeface="Poppins"/>
              <a:sym typeface="Poppins"/>
            </a:endParaRPr>
          </a:p>
        </p:txBody>
      </p:sp>
      <p:cxnSp>
        <p:nvCxnSpPr>
          <p:cNvPr id="26" name="Connector 26"/>
          <p:cNvCxnSpPr/>
          <p:nvPr/>
        </p:nvCxnSpPr>
        <p:spPr>
          <a:xfrm rot="-14946">
            <a:off x="8255014" y="4565650"/>
            <a:ext cx="29210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27" name="AutoShape 27"/>
          <p:cNvSpPr/>
          <p:nvPr/>
        </p:nvSpPr>
        <p:spPr>
          <a:xfrm>
            <a:off x="8255000" y="48260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66666"/>
                </a:solidFill>
                <a:latin typeface="Poppins"/>
                <a:ea typeface="Poppins"/>
                <a:cs typeface="Poppins"/>
                <a:sym typeface="Poppins"/>
              </a:rPr>
              <a:t>New user acquisition outperformed projections, expanding our footprint in key regional markets.</a:t>
            </a:r>
            <a:endParaRPr lang="en-US" sz="1100"/>
          </a:p>
        </p:txBody>
      </p:sp>
      <p:sp>
        <p:nvSpPr>
          <p:cNvPr id="28" name="AutoShape 28"/>
          <p:cNvSpPr/>
          <p:nvPr/>
        </p:nvSpPr>
        <p:spPr>
          <a:xfrm>
            <a:off x="762000" y="5969000"/>
            <a:ext cx="10668000" cy="508000"/>
          </a:xfrm>
          <a:prstGeom prst="roundRect">
            <a:avLst>
              <a:gd name="adj" fmla="val 0"/>
            </a:avLst>
          </a:prstGeom>
          <a:solidFill>
            <a:srgbClr val="4A6A6A">
              <a:alpha val="1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52500" y="60452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6A6A"/>
                </a:solidFill>
                <a:latin typeface="Poppins"/>
                <a:ea typeface="Poppins"/>
                <a:cs typeface="Poppins"/>
                <a:sym typeface="Poppins"/>
              </a:rPr>
              <a:t>Summary: Cross-functional alignment and data-led decision-making have driven consistent improvement across all core business pillars.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Project Spotlight: [Project Name]</a:t>
            </a:r>
            <a:endParaRPr lang="en-US" sz="1100"/>
          </a:p>
        </p:txBody>
      </p:sp>
      <p:cxnSp>
        <p:nvCxnSpPr>
          <p:cNvPr id="4" name="Connector 4"/>
          <p:cNvCxnSpPr/>
          <p:nvPr/>
        </p:nvCxnSpPr>
        <p:spPr>
          <a:xfrm rot="5387722">
            <a:off x="2540000" y="3803661"/>
            <a:ext cx="3556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cxnSp>
        <p:nvCxnSpPr>
          <p:cNvPr id="5" name="Connector 5"/>
          <p:cNvCxnSpPr/>
          <p:nvPr/>
        </p:nvCxnSpPr>
        <p:spPr>
          <a:xfrm rot="5387722">
            <a:off x="6096000" y="3803661"/>
            <a:ext cx="35560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6" name="AutoShape 6"/>
          <p:cNvSpPr/>
          <p:nvPr/>
        </p:nvSpPr>
        <p:spPr>
          <a:xfrm>
            <a:off x="762000" y="2032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01 / Core Objective</a:t>
            </a:r>
            <a:endParaRPr lang="en-US" sz="1100"/>
          </a:p>
        </p:txBody>
      </p:sp>
      <p:cxnSp>
        <p:nvCxnSpPr>
          <p:cNvPr id="7" name="Connector 7"/>
          <p:cNvCxnSpPr/>
          <p:nvPr/>
        </p:nvCxnSpPr>
        <p:spPr>
          <a:xfrm rot="-13222">
            <a:off x="762012" y="2533650"/>
            <a:ext cx="3302000" cy="12700"/>
          </a:xfrm>
          <a:prstGeom prst="straightConnector1">
            <a:avLst/>
          </a:prstGeom>
          <a:solidFill>
            <a:srgbClr val="DEE0E3">
              <a:alpha val="100000"/>
            </a:srgbClr>
          </a:solidFill>
          <a:ln w="25400" cap="flat" cmpd="sng">
            <a:solidFill>
              <a:srgbClr val="4A6A6A">
                <a:alpha val="60000"/>
              </a:srgbClr>
            </a:solidFill>
            <a:prstDash val="solid"/>
            <a:round/>
            <a:headEnd type="none" w="lg" len="lg"/>
            <a:tailEnd type="none" w="lg" len="lg"/>
          </a:ln>
        </p:spPr>
      </p:cxnSp>
      <p:sp>
        <p:nvSpPr>
          <p:cNvPr id="8" name="AutoShape 8"/>
          <p:cNvSpPr/>
          <p:nvPr/>
        </p:nvSpPr>
        <p:spPr>
          <a:xfrm>
            <a:off x="762000" y="2794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4444"/>
                </a:solidFill>
                <a:latin typeface="Poppins"/>
                <a:ea typeface="Poppins"/>
                <a:cs typeface="Poppins"/>
                <a:sym typeface="Poppins"/>
              </a:rPr>
              <a:t>To end-to-end develop and successfully launch a new mobile application, aligning with market needs and user-centric design principles to capture a new segment of the audience.</a:t>
            </a:r>
            <a:endParaRPr lang="en-US" sz="1100"/>
          </a:p>
        </p:txBody>
      </p:sp>
      <p:cxnSp>
        <p:nvCxnSpPr>
          <p:cNvPr id="9" name="Connector 9"/>
          <p:cNvCxnSpPr/>
          <p:nvPr/>
        </p:nvCxnSpPr>
        <p:spPr>
          <a:xfrm rot="-13222">
            <a:off x="762012" y="4311650"/>
            <a:ext cx="33020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10" name="AutoShape 10"/>
          <p:cNvSpPr/>
          <p:nvPr/>
        </p:nvSpPr>
        <p:spPr>
          <a:xfrm>
            <a:off x="762000" y="4572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4A6A6A"/>
                </a:solidFill>
                <a:latin typeface="Poppins"/>
                <a:ea typeface="Poppins"/>
                <a:cs typeface="Poppins"/>
                <a:sym typeface="Poppins"/>
              </a:rPr>
              <a:t>Key to Success:</a:t>
            </a:r>
            <a:r>
              <a:rPr lang="en-US" sz="1300" b="0" i="0" u="none" strike="noStrike">
                <a:solidFill>
                  <a:srgbClr val="555555"/>
                </a:solidFill>
                <a:latin typeface="Poppins"/>
                <a:ea typeface="Poppins"/>
                <a:cs typeface="Poppins"/>
                <a:sym typeface="Poppins"/>
              </a:rPr>
              <a:t>Early alignment with stakeholders ensured clear goals, while an Agile development methodology enabled rapid iteration and adaptability to feedback.</a:t>
            </a:r>
            <a:endParaRPr lang="en-US" sz="1100"/>
          </a:p>
        </p:txBody>
      </p:sp>
      <p:sp>
        <p:nvSpPr>
          <p:cNvPr id="11" name="AutoShape 11"/>
          <p:cNvSpPr/>
          <p:nvPr/>
        </p:nvSpPr>
        <p:spPr>
          <a:xfrm>
            <a:off x="4445000" y="2032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02 / Strategic Execution</a:t>
            </a:r>
            <a:endParaRPr lang="en-US" sz="1100"/>
          </a:p>
        </p:txBody>
      </p:sp>
      <p:cxnSp>
        <p:nvCxnSpPr>
          <p:cNvPr id="12" name="Connector 12"/>
          <p:cNvCxnSpPr/>
          <p:nvPr/>
        </p:nvCxnSpPr>
        <p:spPr>
          <a:xfrm rot="-13222">
            <a:off x="4445012" y="2533650"/>
            <a:ext cx="3302000" cy="12700"/>
          </a:xfrm>
          <a:prstGeom prst="straightConnector1">
            <a:avLst/>
          </a:prstGeom>
          <a:solidFill>
            <a:srgbClr val="DEE0E3">
              <a:alpha val="100000"/>
            </a:srgbClr>
          </a:solidFill>
          <a:ln w="25400" cap="flat" cmpd="sng">
            <a:solidFill>
              <a:srgbClr val="4A6A6A">
                <a:alpha val="60000"/>
              </a:srgbClr>
            </a:solidFill>
            <a:prstDash val="solid"/>
            <a:round/>
            <a:headEnd type="none" w="lg" len="lg"/>
            <a:tailEnd type="none" w="lg" len="lg"/>
          </a:ln>
        </p:spPr>
      </p:cxn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45000" y="2921000"/>
            <a:ext cx="304800" cy="304800"/>
          </a:xfrm>
          <a:prstGeom prst="rect">
            <a:avLst/>
          </a:prstGeom>
        </p:spPr>
      </p:pic>
      <p:sp>
        <p:nvSpPr>
          <p:cNvPr id="14" name="AutoShape 14"/>
          <p:cNvSpPr/>
          <p:nvPr/>
        </p:nvSpPr>
        <p:spPr>
          <a:xfrm>
            <a:off x="4889500" y="28956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33333"/>
                </a:solidFill>
                <a:latin typeface="Poppins"/>
                <a:ea typeface="Poppins"/>
                <a:cs typeface="Poppins"/>
                <a:sym typeface="Poppins"/>
              </a:rPr>
              <a:t>Team Leadership</a:t>
            </a:r>
            <a:br>
              <a:rPr lang="en-US" sz="1600" b="0" i="0" u="none" strike="noStrike">
                <a:solidFill>
                  <a:srgbClr val="1F2329"/>
                </a:solidFill>
                <a:latin typeface="Poppins"/>
                <a:ea typeface="Poppins"/>
                <a:cs typeface="Poppins"/>
                <a:sym typeface="Poppins"/>
              </a:rPr>
            </a:br>
            <a:r>
              <a:rPr lang="en-US" sz="1300" b="0" i="0" u="none" strike="noStrike">
                <a:solidFill>
                  <a:srgbClr val="555555"/>
                </a:solidFill>
                <a:latin typeface="Poppins"/>
                <a:ea typeface="Poppins"/>
                <a:cs typeface="Poppins"/>
                <a:sym typeface="Poppins"/>
              </a:rPr>
              <a:t>Led a cross-functional team of [X] members, fostering collaboration between design, engineering, and marketing to drive project milestones.</a:t>
            </a:r>
            <a:endParaRPr lang="en-US" sz="1100"/>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000" y="4064000"/>
            <a:ext cx="304800" cy="304800"/>
          </a:xfrm>
          <a:prstGeom prst="rect">
            <a:avLst/>
          </a:prstGeom>
        </p:spPr>
      </p:pic>
      <p:sp>
        <p:nvSpPr>
          <p:cNvPr id="16" name="AutoShape 16"/>
          <p:cNvSpPr/>
          <p:nvPr/>
        </p:nvSpPr>
        <p:spPr>
          <a:xfrm>
            <a:off x="4889500" y="4038600"/>
            <a:ext cx="2857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33333"/>
                </a:solidFill>
                <a:latin typeface="Poppins"/>
                <a:ea typeface="Poppins"/>
                <a:cs typeface="Poppins"/>
                <a:sym typeface="Poppins"/>
              </a:rPr>
              <a:t>Research &amp; Analysis</a:t>
            </a:r>
            <a:br>
              <a:rPr lang="en-US" sz="1600" b="0" i="0" u="none" strike="noStrike">
                <a:solidFill>
                  <a:srgbClr val="1F2329"/>
                </a:solidFill>
                <a:latin typeface="Poppins"/>
                <a:ea typeface="Poppins"/>
                <a:cs typeface="Poppins"/>
                <a:sym typeface="Poppins"/>
              </a:rPr>
            </a:br>
            <a:r>
              <a:rPr lang="en-US" sz="1300" b="0" i="0" u="none" strike="noStrike">
                <a:solidFill>
                  <a:srgbClr val="555555"/>
                </a:solidFill>
                <a:latin typeface="Poppins"/>
                <a:ea typeface="Poppins"/>
                <a:cs typeface="Poppins"/>
                <a:sym typeface="Poppins"/>
              </a:rPr>
              <a:t>Conducted [X] user research sessions and analyzed [Y] critical data points to inform feature prioritization and UX decisions.</a:t>
            </a:r>
            <a:endParaRPr lang="en-US" sz="1100"/>
          </a:p>
        </p:txBody>
      </p:sp>
      <p:sp>
        <p:nvSpPr>
          <p:cNvPr id="17" name="AutoShape 17"/>
          <p:cNvSpPr/>
          <p:nvPr/>
        </p:nvSpPr>
        <p:spPr>
          <a:xfrm>
            <a:off x="4445000" y="520700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33333"/>
                </a:solidFill>
                <a:latin typeface="Poppins"/>
                <a:ea typeface="Poppins"/>
                <a:cs typeface="Poppins"/>
                <a:sym typeface="Poppins"/>
              </a:rPr>
              <a:t>Budget Stewardship:</a:t>
            </a:r>
            <a:r>
              <a:rPr lang="en-US" sz="1300" b="0" i="0" u="none" strike="noStrike">
                <a:solidFill>
                  <a:srgbClr val="555555"/>
                </a:solidFill>
                <a:latin typeface="Poppins"/>
                <a:ea typeface="Poppins"/>
                <a:cs typeface="Poppins"/>
                <a:sym typeface="Poppins"/>
              </a:rPr>
              <a:t>Managed a [Amount] budget, delivering the project under budget by [Z]% through efficient resource allocation.</a:t>
            </a:r>
            <a:endParaRPr lang="en-US" sz="1100"/>
          </a:p>
        </p:txBody>
      </p:sp>
      <p:sp>
        <p:nvSpPr>
          <p:cNvPr id="18" name="AutoShape 18"/>
          <p:cNvSpPr/>
          <p:nvPr/>
        </p:nvSpPr>
        <p:spPr>
          <a:xfrm>
            <a:off x="8001000" y="20320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03 / Impact &amp; Outcomes</a:t>
            </a:r>
            <a:endParaRPr lang="en-US" sz="1100"/>
          </a:p>
        </p:txBody>
      </p:sp>
      <p:cxnSp>
        <p:nvCxnSpPr>
          <p:cNvPr id="19" name="Connector 19"/>
          <p:cNvCxnSpPr/>
          <p:nvPr/>
        </p:nvCxnSpPr>
        <p:spPr>
          <a:xfrm rot="-12732">
            <a:off x="8001012" y="2533650"/>
            <a:ext cx="3429000" cy="12700"/>
          </a:xfrm>
          <a:prstGeom prst="straightConnector1">
            <a:avLst/>
          </a:prstGeom>
          <a:solidFill>
            <a:srgbClr val="DEE0E3">
              <a:alpha val="100000"/>
            </a:srgbClr>
          </a:solidFill>
          <a:ln w="25400" cap="flat" cmpd="sng">
            <a:solidFill>
              <a:srgbClr val="4A6A6A">
                <a:alpha val="60000"/>
              </a:srgbClr>
            </a:solidFill>
            <a:prstDash val="solid"/>
            <a:round/>
            <a:headEnd type="none" w="lg" len="lg"/>
            <a:tailEnd type="none" w="lg" len="lg"/>
          </a:ln>
        </p:spPr>
      </p:cxnSp>
      <p:sp>
        <p:nvSpPr>
          <p:cNvPr id="20" name="AutoShape 20"/>
          <p:cNvSpPr/>
          <p:nvPr/>
        </p:nvSpPr>
        <p:spPr>
          <a:xfrm>
            <a:off x="8001000" y="2857500"/>
            <a:ext cx="3429000" cy="952500"/>
          </a:xfrm>
          <a:prstGeom prst="roundRect">
            <a:avLst>
              <a:gd name="adj" fmla="val 0"/>
            </a:avLst>
          </a:prstGeom>
          <a:solidFill>
            <a:srgbClr val="4A6A6A">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2921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4A6A6A"/>
                </a:solidFill>
                <a:latin typeface="Poppins"/>
                <a:ea typeface="Poppins"/>
                <a:cs typeface="Poppins"/>
                <a:sym typeface="Poppins"/>
              </a:rPr>
              <a:t>[X] Downloads</a:t>
            </a:r>
            <a:br>
              <a:rPr lang="en-US" sz="1600" b="0" i="0" u="none" strike="noStrike">
                <a:solidFill>
                  <a:srgbClr val="1F2329"/>
                </a:solidFill>
                <a:latin typeface="Poppins"/>
                <a:ea typeface="Poppins"/>
                <a:cs typeface="Poppins"/>
                <a:sym typeface="Poppins"/>
              </a:rPr>
            </a:br>
            <a:r>
              <a:rPr lang="en-US" sz="1300" b="0" i="0" u="none" strike="noStrike">
                <a:solidFill>
                  <a:srgbClr val="555555"/>
                </a:solidFill>
                <a:latin typeface="Poppins"/>
                <a:ea typeface="Poppins"/>
                <a:cs typeface="Poppins"/>
                <a:sym typeface="Poppins"/>
              </a:rPr>
              <a:t>Achieved in the first month of launch, exceeding initial projections by 15%.</a:t>
            </a:r>
            <a:endParaRPr lang="en-US" sz="1100"/>
          </a:p>
        </p:txBody>
      </p:sp>
      <p:sp>
        <p:nvSpPr>
          <p:cNvPr id="22" name="AutoShape 22"/>
          <p:cNvSpPr/>
          <p:nvPr/>
        </p:nvSpPr>
        <p:spPr>
          <a:xfrm>
            <a:off x="8001000" y="4000500"/>
            <a:ext cx="3429000" cy="952500"/>
          </a:xfrm>
          <a:prstGeom prst="roundRect">
            <a:avLst>
              <a:gd name="adj" fmla="val 0"/>
            </a:avLst>
          </a:prstGeom>
          <a:solidFill>
            <a:srgbClr val="4A6A6A">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28000" y="4064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4A6A6A"/>
                </a:solidFill>
                <a:latin typeface="Poppins"/>
                <a:ea typeface="Poppins"/>
                <a:cs typeface="Poppins"/>
                <a:sym typeface="Poppins"/>
              </a:rPr>
              <a:t>+[Y]% Engagement</a:t>
            </a:r>
            <a:br>
              <a:rPr lang="en-US" sz="1600" b="0" i="0" u="none" strike="noStrike">
                <a:solidFill>
                  <a:srgbClr val="1F2329"/>
                </a:solidFill>
                <a:latin typeface="Poppins"/>
                <a:ea typeface="Poppins"/>
                <a:cs typeface="Poppins"/>
                <a:sym typeface="Poppins"/>
              </a:rPr>
            </a:br>
            <a:r>
              <a:rPr lang="en-US" sz="1300" b="0" i="0" u="none" strike="noStrike">
                <a:solidFill>
                  <a:srgbClr val="555555"/>
                </a:solidFill>
                <a:latin typeface="Poppins"/>
                <a:ea typeface="Poppins"/>
                <a:cs typeface="Poppins"/>
                <a:sym typeface="Poppins"/>
              </a:rPr>
              <a:t>Driven by intuitive UI/UX and targeted in-app campaigns, boosting daily active users.</a:t>
            </a:r>
            <a:endParaRPr lang="en-US" sz="1100"/>
          </a:p>
        </p:txBody>
      </p:sp>
      <p:sp>
        <p:nvSpPr>
          <p:cNvPr id="24" name="AutoShape 24"/>
          <p:cNvSpPr/>
          <p:nvPr/>
        </p:nvSpPr>
        <p:spPr>
          <a:xfrm>
            <a:off x="8001000" y="5143500"/>
            <a:ext cx="3429000" cy="952500"/>
          </a:xfrm>
          <a:prstGeom prst="roundRect">
            <a:avLst>
              <a:gd name="adj" fmla="val 0"/>
            </a:avLst>
          </a:prstGeom>
          <a:solidFill>
            <a:srgbClr val="4A6A6A">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128000" y="5207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200" b="1" i="0" u="none" strike="noStrike">
                <a:solidFill>
                  <a:srgbClr val="4A6A6A"/>
                </a:solidFill>
                <a:latin typeface="Poppins"/>
                <a:ea typeface="Poppins"/>
                <a:cs typeface="Poppins"/>
                <a:sym typeface="Poppins"/>
              </a:rPr>
              <a:t>$[Amount] Revenue</a:t>
            </a:r>
            <a:br>
              <a:rPr lang="en-US" sz="1600" b="0" i="0" u="none" strike="noStrike">
                <a:solidFill>
                  <a:srgbClr val="1F2329"/>
                </a:solidFill>
                <a:latin typeface="Poppins"/>
                <a:ea typeface="Poppins"/>
                <a:cs typeface="Poppins"/>
                <a:sym typeface="Poppins"/>
              </a:rPr>
            </a:br>
            <a:r>
              <a:rPr lang="en-US" sz="1300" b="0" i="0" u="none" strike="noStrike">
                <a:solidFill>
                  <a:srgbClr val="555555"/>
                </a:solidFill>
                <a:latin typeface="Poppins"/>
                <a:ea typeface="Poppins"/>
                <a:cs typeface="Poppins"/>
                <a:sym typeface="Poppins"/>
              </a:rPr>
              <a:t>Generated incremental revenue from premium features and in-app purchases.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Project Deep Dive: Supply Chain Optimization</a:t>
            </a:r>
            <a:endParaRPr lang="en-US" sz="1100"/>
          </a:p>
        </p:txBody>
      </p:sp>
      <p:sp>
        <p:nvSpPr>
          <p:cNvPr id="4" name="AutoShape 4"/>
          <p:cNvSpPr/>
          <p:nvPr/>
        </p:nvSpPr>
        <p:spPr>
          <a:xfrm>
            <a:off x="762000" y="1524000"/>
            <a:ext cx="10668000" cy="381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207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762000" y="2032000"/>
            <a:ext cx="50800" cy="2032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304800" cy="304800"/>
          </a:xfrm>
          <a:prstGeom prst="rect">
            <a:avLst/>
          </a:prstGeom>
        </p:spPr>
      </p:pic>
      <p:sp>
        <p:nvSpPr>
          <p:cNvPr id="8" name="AutoShape 8"/>
          <p:cNvSpPr/>
          <p:nvPr/>
        </p:nvSpPr>
        <p:spPr>
          <a:xfrm>
            <a:off x="1460500" y="2184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CORE OBJECTIVE</a:t>
            </a:r>
            <a:endParaRPr lang="en-US" sz="1100"/>
          </a:p>
        </p:txBody>
      </p:sp>
      <p:cxnSp>
        <p:nvCxnSpPr>
          <p:cNvPr id="9" name="Connector 9"/>
          <p:cNvCxnSpPr/>
          <p:nvPr/>
        </p:nvCxnSpPr>
        <p:spPr>
          <a:xfrm rot="-9291">
            <a:off x="1016009" y="2724150"/>
            <a:ext cx="4699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10" name="AutoShape 10"/>
          <p:cNvSpPr/>
          <p:nvPr/>
        </p:nvSpPr>
        <p:spPr>
          <a:xfrm>
            <a:off x="1016000" y="2921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4444"/>
                </a:solidFill>
                <a:latin typeface="Poppins"/>
                <a:ea typeface="Poppins"/>
                <a:cs typeface="Poppins"/>
                <a:sym typeface="Poppins"/>
              </a:rPr>
              <a:t>To comprehensively streamline the end-to-end supply chain process, eliminating bottlenecks and aligning workflows to enhance overall operational efficiency and responsiveness to market demands.</a:t>
            </a:r>
            <a:endParaRPr lang="en-US" sz="1100"/>
          </a:p>
        </p:txBody>
      </p:sp>
      <p:sp>
        <p:nvSpPr>
          <p:cNvPr id="11" name="AutoShape 11"/>
          <p:cNvSpPr/>
          <p:nvPr/>
        </p:nvSpPr>
        <p:spPr>
          <a:xfrm>
            <a:off x="6223000" y="2032000"/>
            <a:ext cx="5207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223000" y="2032000"/>
            <a:ext cx="50800" cy="2032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22500"/>
            <a:ext cx="304800" cy="304800"/>
          </a:xfrm>
          <a:prstGeom prst="rect">
            <a:avLst/>
          </a:prstGeom>
        </p:spPr>
      </p:pic>
      <p:sp>
        <p:nvSpPr>
          <p:cNvPr id="14" name="AutoShape 14"/>
          <p:cNvSpPr/>
          <p:nvPr/>
        </p:nvSpPr>
        <p:spPr>
          <a:xfrm>
            <a:off x="6921500" y="2184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KEY STRATEGIC ACTIVITIES</a:t>
            </a:r>
            <a:endParaRPr lang="en-US" sz="1100"/>
          </a:p>
        </p:txBody>
      </p:sp>
      <p:cxnSp>
        <p:nvCxnSpPr>
          <p:cNvPr id="15" name="Connector 15"/>
          <p:cNvCxnSpPr/>
          <p:nvPr/>
        </p:nvCxnSpPr>
        <p:spPr>
          <a:xfrm rot="-9291">
            <a:off x="6477009" y="2724150"/>
            <a:ext cx="4699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16" name="AutoShape 16"/>
          <p:cNvSpPr/>
          <p:nvPr/>
        </p:nvSpPr>
        <p:spPr>
          <a:xfrm>
            <a:off x="6477000" y="2857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44444"/>
                </a:solidFill>
                <a:latin typeface="Poppins"/>
                <a:ea typeface="Poppins"/>
                <a:cs typeface="Poppins"/>
                <a:sym typeface="Poppins"/>
              </a:rPr>
              <a:t>Identified critical workflow inefficiencies, deployed a fully automated inventory management system, and conducted hands-on training sessions for 45+ staff members to ensure seamless integration of new protocols.</a:t>
            </a:r>
            <a:endParaRPr lang="en-US" sz="1100"/>
          </a:p>
        </p:txBody>
      </p:sp>
      <p:sp>
        <p:nvSpPr>
          <p:cNvPr id="17" name="AutoShape 17"/>
          <p:cNvSpPr/>
          <p:nvPr/>
        </p:nvSpPr>
        <p:spPr>
          <a:xfrm>
            <a:off x="762000" y="4381500"/>
            <a:ext cx="5207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62000" y="4381500"/>
            <a:ext cx="50800" cy="2032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72000"/>
            <a:ext cx="304800" cy="304800"/>
          </a:xfrm>
          <a:prstGeom prst="rect">
            <a:avLst/>
          </a:prstGeom>
        </p:spPr>
      </p:pic>
      <p:sp>
        <p:nvSpPr>
          <p:cNvPr id="20" name="AutoShape 20"/>
          <p:cNvSpPr/>
          <p:nvPr/>
        </p:nvSpPr>
        <p:spPr>
          <a:xfrm>
            <a:off x="1460500" y="45339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MEASURABLE IMPACT</a:t>
            </a:r>
            <a:endParaRPr lang="en-US" sz="1100"/>
          </a:p>
        </p:txBody>
      </p:sp>
      <p:cxnSp>
        <p:nvCxnSpPr>
          <p:cNvPr id="21" name="Connector 21"/>
          <p:cNvCxnSpPr/>
          <p:nvPr/>
        </p:nvCxnSpPr>
        <p:spPr>
          <a:xfrm rot="-9291">
            <a:off x="1016009" y="5073650"/>
            <a:ext cx="4699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22" name="AutoShape 22"/>
          <p:cNvSpPr/>
          <p:nvPr/>
        </p:nvSpPr>
        <p:spPr>
          <a:xfrm>
            <a:off x="1016000" y="5270500"/>
            <a:ext cx="1460500" cy="952500"/>
          </a:xfrm>
          <a:prstGeom prst="roundRect">
            <a:avLst>
              <a:gd name="adj" fmla="val 0"/>
            </a:avLst>
          </a:prstGeom>
          <a:solidFill>
            <a:srgbClr val="4A6A6A">
              <a:alpha val="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334000"/>
            <a:ext cx="1460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4A6A6A"/>
                </a:solidFill>
                <a:latin typeface="Poppins"/>
                <a:ea typeface="Poppins"/>
                <a:cs typeface="Poppins"/>
                <a:sym typeface="Poppins"/>
              </a:rPr>
              <a:t>-14 Days</a:t>
            </a:r>
            <a:endParaRPr lang="en-US" sz="1100"/>
          </a:p>
          <a:p>
            <a:pPr marL="0" indent="0" algn="ctr">
              <a:lnSpc>
                <a:spcPct val="125000"/>
              </a:lnSpc>
            </a:pPr>
            <a:r>
              <a:rPr lang="en-US" sz="1100" b="0" i="0" u="none" strike="noStrike">
                <a:solidFill>
                  <a:srgbClr val="555555"/>
                </a:solidFill>
                <a:latin typeface="Poppins"/>
                <a:ea typeface="Poppins"/>
                <a:cs typeface="Poppins"/>
                <a:sym typeface="Poppins"/>
              </a:rPr>
              <a:t>Order Fulfillment</a:t>
            </a:r>
            <a:endParaRPr lang="en-US" sz="1100" b="0" i="0" u="none" strike="noStrike">
              <a:solidFill>
                <a:srgbClr val="555555"/>
              </a:solidFill>
              <a:latin typeface="Poppins"/>
              <a:ea typeface="Poppins"/>
              <a:cs typeface="Poppins"/>
              <a:sym typeface="Poppins"/>
            </a:endParaRPr>
          </a:p>
        </p:txBody>
      </p:sp>
      <p:sp>
        <p:nvSpPr>
          <p:cNvPr id="24" name="AutoShape 24"/>
          <p:cNvSpPr/>
          <p:nvPr/>
        </p:nvSpPr>
        <p:spPr>
          <a:xfrm>
            <a:off x="2603500" y="5270500"/>
            <a:ext cx="1460500" cy="952500"/>
          </a:xfrm>
          <a:prstGeom prst="roundRect">
            <a:avLst>
              <a:gd name="adj" fmla="val 0"/>
            </a:avLst>
          </a:prstGeom>
          <a:solidFill>
            <a:srgbClr val="4A6A6A">
              <a:alpha val="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2603500" y="5334000"/>
            <a:ext cx="1460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4A6A6A"/>
                </a:solidFill>
                <a:latin typeface="Poppins"/>
                <a:ea typeface="Poppins"/>
                <a:cs typeface="Poppins"/>
                <a:sym typeface="Poppins"/>
              </a:rPr>
              <a:t>-22%</a:t>
            </a:r>
            <a:endParaRPr lang="en-US" sz="1100"/>
          </a:p>
          <a:p>
            <a:pPr marL="0" indent="0" algn="ctr">
              <a:lnSpc>
                <a:spcPct val="125000"/>
              </a:lnSpc>
            </a:pPr>
            <a:r>
              <a:rPr lang="en-US" sz="1100" b="0" i="0" u="none" strike="noStrike">
                <a:solidFill>
                  <a:srgbClr val="555555"/>
                </a:solidFill>
                <a:latin typeface="Poppins"/>
                <a:ea typeface="Poppins"/>
                <a:cs typeface="Poppins"/>
                <a:sym typeface="Poppins"/>
              </a:rPr>
              <a:t>Inventory Costs</a:t>
            </a:r>
            <a:endParaRPr lang="en-US" sz="1100" b="0" i="0" u="none" strike="noStrike">
              <a:solidFill>
                <a:srgbClr val="555555"/>
              </a:solidFill>
              <a:latin typeface="Poppins"/>
              <a:ea typeface="Poppins"/>
              <a:cs typeface="Poppins"/>
              <a:sym typeface="Poppins"/>
            </a:endParaRPr>
          </a:p>
        </p:txBody>
      </p:sp>
      <p:sp>
        <p:nvSpPr>
          <p:cNvPr id="26" name="AutoShape 26"/>
          <p:cNvSpPr/>
          <p:nvPr/>
        </p:nvSpPr>
        <p:spPr>
          <a:xfrm>
            <a:off x="4191000" y="5270500"/>
            <a:ext cx="1460500" cy="952500"/>
          </a:xfrm>
          <a:prstGeom prst="roundRect">
            <a:avLst>
              <a:gd name="adj" fmla="val 0"/>
            </a:avLst>
          </a:prstGeom>
          <a:solidFill>
            <a:srgbClr val="4A6A6A">
              <a:alpha val="5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4191000" y="5334000"/>
            <a:ext cx="1460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4A6A6A"/>
                </a:solidFill>
                <a:latin typeface="Poppins"/>
                <a:ea typeface="Poppins"/>
                <a:cs typeface="Poppins"/>
                <a:sym typeface="Poppins"/>
              </a:rPr>
              <a:t>98%</a:t>
            </a:r>
            <a:endParaRPr lang="en-US" sz="1100"/>
          </a:p>
          <a:p>
            <a:pPr marL="0" indent="0" algn="ctr">
              <a:lnSpc>
                <a:spcPct val="125000"/>
              </a:lnSpc>
            </a:pPr>
            <a:r>
              <a:rPr lang="en-US" sz="1100" b="0" i="0" u="none" strike="noStrike">
                <a:solidFill>
                  <a:srgbClr val="555555"/>
                </a:solidFill>
                <a:latin typeface="Poppins"/>
                <a:ea typeface="Poppins"/>
                <a:cs typeface="Poppins"/>
                <a:sym typeface="Poppins"/>
              </a:rPr>
              <a:t>On-time Delivery</a:t>
            </a:r>
            <a:endParaRPr lang="en-US" sz="1100" b="0" i="0" u="none" strike="noStrike">
              <a:solidFill>
                <a:srgbClr val="555555"/>
              </a:solidFill>
              <a:latin typeface="Poppins"/>
              <a:ea typeface="Poppins"/>
              <a:cs typeface="Poppins"/>
              <a:sym typeface="Poppins"/>
            </a:endParaRPr>
          </a:p>
        </p:txBody>
      </p:sp>
      <p:sp>
        <p:nvSpPr>
          <p:cNvPr id="28" name="AutoShape 28"/>
          <p:cNvSpPr/>
          <p:nvPr/>
        </p:nvSpPr>
        <p:spPr>
          <a:xfrm>
            <a:off x="6223000" y="4381500"/>
            <a:ext cx="5207000" cy="20320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223000" y="4381500"/>
            <a:ext cx="50800" cy="2032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572000"/>
            <a:ext cx="304800" cy="304800"/>
          </a:xfrm>
          <a:prstGeom prst="rect">
            <a:avLst/>
          </a:prstGeom>
        </p:spPr>
      </p:pic>
      <p:sp>
        <p:nvSpPr>
          <p:cNvPr id="31" name="AutoShape 31"/>
          <p:cNvSpPr/>
          <p:nvPr/>
        </p:nvSpPr>
        <p:spPr>
          <a:xfrm>
            <a:off x="6921500" y="45339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KEY STRATEGIC LEARNING</a:t>
            </a:r>
            <a:endParaRPr lang="en-US" sz="1100"/>
          </a:p>
        </p:txBody>
      </p:sp>
      <p:cxnSp>
        <p:nvCxnSpPr>
          <p:cNvPr id="32" name="Connector 32"/>
          <p:cNvCxnSpPr/>
          <p:nvPr/>
        </p:nvCxnSpPr>
        <p:spPr>
          <a:xfrm rot="-9291">
            <a:off x="6477009" y="5073650"/>
            <a:ext cx="4699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33" name="AutoShape 33"/>
          <p:cNvSpPr/>
          <p:nvPr/>
        </p:nvSpPr>
        <p:spPr>
          <a:xfrm>
            <a:off x="6477000" y="5270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44444"/>
                </a:solidFill>
                <a:latin typeface="Poppins"/>
                <a:ea typeface="Poppins"/>
                <a:cs typeface="Poppins"/>
                <a:sym typeface="Poppins"/>
              </a:rPr>
              <a:t>The success of technological implementation hinges on robust change management. Investing in comprehensive user training and fostering stakeholder buy-in at every stage is critical for the seamless adoption and long-term sustainability of new systems.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Financial Performance &amp; Budget Allocation</a:t>
            </a:r>
            <a:endParaRPr lang="en-US" sz="1100"/>
          </a:p>
        </p:txBody>
      </p:sp>
      <p:sp>
        <p:nvSpPr>
          <p:cNvPr id="4" name="AutoShape 4"/>
          <p:cNvSpPr/>
          <p:nvPr/>
        </p:nvSpPr>
        <p:spPr>
          <a:xfrm>
            <a:off x="762000" y="1778000"/>
            <a:ext cx="5270500" cy="1905000"/>
          </a:xfrm>
          <a:prstGeom prst="roundRect">
            <a:avLst>
              <a:gd name="adj" fmla="val 0"/>
            </a:avLst>
          </a:prstGeom>
          <a:solidFill>
            <a:srgbClr val="FFFFFF">
              <a:alpha val="75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905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Revenue vs. Expenses</a:t>
            </a:r>
            <a:endParaRPr lang="en-US" sz="1100"/>
          </a:p>
        </p:txBody>
      </p:sp>
      <p:cxnSp>
        <p:nvCxnSpPr>
          <p:cNvPr id="7" name="Connector 7"/>
          <p:cNvCxnSpPr/>
          <p:nvPr/>
        </p:nvCxnSpPr>
        <p:spPr>
          <a:xfrm rot="-9167">
            <a:off x="1016008" y="2406650"/>
            <a:ext cx="47625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8" name="AutoShape 8"/>
          <p:cNvSpPr/>
          <p:nvPr/>
        </p:nvSpPr>
        <p:spPr>
          <a:xfrm>
            <a:off x="1016000" y="2603500"/>
            <a:ext cx="158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Noto Sans SC"/>
                <a:ea typeface="Noto Sans SC"/>
                <a:cs typeface="Noto Sans SC"/>
                <a:sym typeface="Noto Sans SC"/>
              </a:rPr>
              <a:t>Total Revenue</a:t>
            </a:r>
            <a:endParaRPr lang="en-US" sz="1100"/>
          </a:p>
          <a:p>
            <a:pPr marL="0" indent="0" algn="l">
              <a:lnSpc>
                <a:spcPct val="125000"/>
              </a:lnSpc>
            </a:pPr>
            <a:r>
              <a:rPr lang="en-US" sz="2000" b="1" i="0" u="none" strike="noStrike">
                <a:solidFill>
                  <a:srgbClr val="333333"/>
                </a:solidFill>
                <a:latin typeface="Poppins"/>
                <a:ea typeface="Poppins"/>
                <a:cs typeface="Poppins"/>
                <a:sym typeface="Poppins"/>
              </a:rPr>
              <a:t>$4.2M</a:t>
            </a:r>
            <a:endParaRPr lang="en-US" sz="2000" b="1" i="0" u="none" strike="noStrike">
              <a:solidFill>
                <a:srgbClr val="333333"/>
              </a:solidFill>
              <a:latin typeface="Poppins"/>
              <a:ea typeface="Poppins"/>
              <a:cs typeface="Poppins"/>
              <a:sym typeface="Poppins"/>
            </a:endParaRPr>
          </a:p>
        </p:txBody>
      </p:sp>
      <p:cxnSp>
        <p:nvCxnSpPr>
          <p:cNvPr id="9" name="Connector 9"/>
          <p:cNvCxnSpPr/>
          <p:nvPr/>
        </p:nvCxnSpPr>
        <p:spPr>
          <a:xfrm rot="5342709">
            <a:off x="2222500" y="3041703"/>
            <a:ext cx="762000" cy="12700"/>
          </a:xfrm>
          <a:prstGeom prst="straightConnector1">
            <a:avLst/>
          </a:prstGeom>
          <a:solidFill>
            <a:srgbClr val="DEE0E3">
              <a:alpha val="100000"/>
            </a:srgbClr>
          </a:solidFill>
          <a:ln w="12700" cap="flat" cmpd="sng">
            <a:solidFill>
              <a:srgbClr val="4A6A6A">
                <a:alpha val="15000"/>
              </a:srgbClr>
            </a:solidFill>
            <a:prstDash val="solid"/>
            <a:round/>
            <a:headEnd type="none" w="med" len="med"/>
            <a:tailEnd type="none" w="med" len="med"/>
          </a:ln>
        </p:spPr>
      </p:cxnSp>
      <p:sp>
        <p:nvSpPr>
          <p:cNvPr id="10" name="AutoShape 10"/>
          <p:cNvSpPr/>
          <p:nvPr/>
        </p:nvSpPr>
        <p:spPr>
          <a:xfrm>
            <a:off x="2730500" y="2603500"/>
            <a:ext cx="152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Noto Sans SC"/>
                <a:ea typeface="Noto Sans SC"/>
                <a:cs typeface="Noto Sans SC"/>
                <a:sym typeface="Noto Sans SC"/>
              </a:rPr>
              <a:t>Total Expenses</a:t>
            </a:r>
            <a:endParaRPr lang="en-US" sz="1100"/>
          </a:p>
          <a:p>
            <a:pPr marL="0" indent="0" algn="l">
              <a:lnSpc>
                <a:spcPct val="125000"/>
              </a:lnSpc>
            </a:pPr>
            <a:r>
              <a:rPr lang="en-US" sz="2000" b="1" i="0" u="none" strike="noStrike">
                <a:solidFill>
                  <a:srgbClr val="333333"/>
                </a:solidFill>
                <a:latin typeface="Poppins"/>
                <a:ea typeface="Poppins"/>
                <a:cs typeface="Poppins"/>
                <a:sym typeface="Poppins"/>
              </a:rPr>
              <a:t>$3.1M</a:t>
            </a:r>
            <a:endParaRPr lang="en-US" sz="2000" b="1" i="0" u="none" strike="noStrike">
              <a:solidFill>
                <a:srgbClr val="333333"/>
              </a:solidFill>
              <a:latin typeface="Poppins"/>
              <a:ea typeface="Poppins"/>
              <a:cs typeface="Poppins"/>
              <a:sym typeface="Poppins"/>
            </a:endParaRPr>
          </a:p>
        </p:txBody>
      </p:sp>
      <p:cxnSp>
        <p:nvCxnSpPr>
          <p:cNvPr id="11" name="Connector 11"/>
          <p:cNvCxnSpPr/>
          <p:nvPr/>
        </p:nvCxnSpPr>
        <p:spPr>
          <a:xfrm rot="5342709">
            <a:off x="3873500" y="3041703"/>
            <a:ext cx="762000" cy="12700"/>
          </a:xfrm>
          <a:prstGeom prst="straightConnector1">
            <a:avLst/>
          </a:prstGeom>
          <a:solidFill>
            <a:srgbClr val="DEE0E3">
              <a:alpha val="100000"/>
            </a:srgbClr>
          </a:solidFill>
          <a:ln w="12700" cap="flat" cmpd="sng">
            <a:solidFill>
              <a:srgbClr val="4A6A6A">
                <a:alpha val="15000"/>
              </a:srgbClr>
            </a:solidFill>
            <a:prstDash val="solid"/>
            <a:round/>
            <a:headEnd type="none" w="med" len="med"/>
            <a:tailEnd type="none" w="med" len="med"/>
          </a:ln>
        </p:spPr>
      </p:cxnSp>
      <p:sp>
        <p:nvSpPr>
          <p:cNvPr id="12" name="AutoShape 12"/>
          <p:cNvSpPr/>
          <p:nvPr/>
        </p:nvSpPr>
        <p:spPr>
          <a:xfrm>
            <a:off x="4318000" y="2603500"/>
            <a:ext cx="158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Noto Sans SC"/>
                <a:ea typeface="Noto Sans SC"/>
                <a:cs typeface="Noto Sans SC"/>
                <a:sym typeface="Noto Sans SC"/>
              </a:rPr>
              <a:t>Net Profit (YoY)</a:t>
            </a:r>
            <a:endParaRPr lang="en-US" sz="1100"/>
          </a:p>
          <a:p>
            <a:pPr marL="0" indent="0" algn="l">
              <a:lnSpc>
                <a:spcPct val="125000"/>
              </a:lnSpc>
            </a:pPr>
            <a:r>
              <a:rPr lang="en-US" sz="2000" b="1" i="0" u="none" strike="noStrike">
                <a:solidFill>
                  <a:srgbClr val="4A6A6A"/>
                </a:solidFill>
                <a:latin typeface="Poppins"/>
                <a:ea typeface="Poppins"/>
                <a:cs typeface="Poppins"/>
                <a:sym typeface="Poppins"/>
              </a:rPr>
              <a:t>$1.1M</a:t>
            </a:r>
            <a:r>
              <a:rPr lang="en-US" sz="1200" b="0" i="0" u="none" strike="noStrike">
                <a:solidFill>
                  <a:srgbClr val="10B981"/>
                </a:solidFill>
                <a:latin typeface="Noto Sans SC"/>
                <a:ea typeface="Noto Sans SC"/>
                <a:cs typeface="Noto Sans SC"/>
                <a:sym typeface="Noto Sans SC"/>
              </a:rPr>
              <a:t>↑12%</a:t>
            </a:r>
            <a:endParaRPr lang="en-US" sz="1200" b="0" i="0" u="none" strike="noStrike">
              <a:solidFill>
                <a:srgbClr val="10B981"/>
              </a:solidFill>
              <a:latin typeface="Noto Sans SC"/>
              <a:ea typeface="Noto Sans SC"/>
              <a:cs typeface="Noto Sans SC"/>
              <a:sym typeface="Noto Sans SC"/>
            </a:endParaRPr>
          </a:p>
        </p:txBody>
      </p:sp>
      <p:sp>
        <p:nvSpPr>
          <p:cNvPr id="13" name="AutoShape 13"/>
          <p:cNvSpPr/>
          <p:nvPr/>
        </p:nvSpPr>
        <p:spPr>
          <a:xfrm>
            <a:off x="6286500" y="1778000"/>
            <a:ext cx="5270500" cy="1905000"/>
          </a:xfrm>
          <a:prstGeom prst="roundRect">
            <a:avLst>
              <a:gd name="adj" fmla="val 0"/>
            </a:avLst>
          </a:prstGeom>
          <a:solidFill>
            <a:srgbClr val="FFFFFF">
              <a:alpha val="75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86500" y="1778000"/>
            <a:ext cx="76200" cy="19050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19050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Budget Utilization</a:t>
            </a:r>
            <a:endParaRPr lang="en-US" sz="1100"/>
          </a:p>
        </p:txBody>
      </p:sp>
      <p:cxnSp>
        <p:nvCxnSpPr>
          <p:cNvPr id="16" name="Connector 16"/>
          <p:cNvCxnSpPr/>
          <p:nvPr/>
        </p:nvCxnSpPr>
        <p:spPr>
          <a:xfrm rot="-9167">
            <a:off x="6540508" y="2406650"/>
            <a:ext cx="4762500" cy="12700"/>
          </a:xfrm>
          <a:prstGeom prst="straightConnector1">
            <a:avLst/>
          </a:prstGeom>
          <a:solidFill>
            <a:srgbClr val="DEE0E3">
              <a:alpha val="100000"/>
            </a:srgbClr>
          </a:solidFill>
          <a:ln w="12700" cap="flat" cmpd="sng">
            <a:solidFill>
              <a:srgbClr val="4A6A6A">
                <a:alpha val="20000"/>
              </a:srgbClr>
            </a:solidFill>
            <a:prstDash val="dash"/>
            <a:round/>
            <a:headEnd type="none" w="med" len="med"/>
            <a:tailEnd type="none" w="med" len="med"/>
          </a:ln>
        </p:spPr>
      </p:cxnSp>
      <p:sp>
        <p:nvSpPr>
          <p:cNvPr id="17" name="AutoShape 17"/>
          <p:cNvSpPr/>
          <p:nvPr/>
        </p:nvSpPr>
        <p:spPr>
          <a:xfrm>
            <a:off x="6540500" y="2603500"/>
            <a:ext cx="158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Noto Sans SC"/>
                <a:ea typeface="Noto Sans SC"/>
                <a:cs typeface="Noto Sans SC"/>
                <a:sym typeface="Noto Sans SC"/>
              </a:rPr>
              <a:t>Total Allocated</a:t>
            </a:r>
            <a:endParaRPr lang="en-US" sz="1100"/>
          </a:p>
          <a:p>
            <a:pPr marL="0" indent="0" algn="l">
              <a:lnSpc>
                <a:spcPct val="125000"/>
              </a:lnSpc>
            </a:pPr>
            <a:r>
              <a:rPr lang="en-US" sz="2000" b="1" i="0" u="none" strike="noStrike">
                <a:solidFill>
                  <a:srgbClr val="333333"/>
                </a:solidFill>
                <a:latin typeface="Poppins"/>
                <a:ea typeface="Poppins"/>
                <a:cs typeface="Poppins"/>
                <a:sym typeface="Poppins"/>
              </a:rPr>
              <a:t>$3.5M</a:t>
            </a:r>
            <a:endParaRPr lang="en-US" sz="2000" b="1" i="0" u="none" strike="noStrike">
              <a:solidFill>
                <a:srgbClr val="333333"/>
              </a:solidFill>
              <a:latin typeface="Poppins"/>
              <a:ea typeface="Poppins"/>
              <a:cs typeface="Poppins"/>
              <a:sym typeface="Poppins"/>
            </a:endParaRPr>
          </a:p>
        </p:txBody>
      </p:sp>
      <p:cxnSp>
        <p:nvCxnSpPr>
          <p:cNvPr id="18" name="Connector 18"/>
          <p:cNvCxnSpPr/>
          <p:nvPr/>
        </p:nvCxnSpPr>
        <p:spPr>
          <a:xfrm rot="5342709">
            <a:off x="7747000" y="3041703"/>
            <a:ext cx="762000" cy="12700"/>
          </a:xfrm>
          <a:prstGeom prst="straightConnector1">
            <a:avLst/>
          </a:prstGeom>
          <a:solidFill>
            <a:srgbClr val="DEE0E3">
              <a:alpha val="100000"/>
            </a:srgbClr>
          </a:solidFill>
          <a:ln w="12700" cap="flat" cmpd="sng">
            <a:solidFill>
              <a:srgbClr val="4A6A6A">
                <a:alpha val="15000"/>
              </a:srgbClr>
            </a:solidFill>
            <a:prstDash val="solid"/>
            <a:round/>
            <a:headEnd type="none" w="med" len="med"/>
            <a:tailEnd type="none" w="med" len="med"/>
          </a:ln>
        </p:spPr>
      </p:cxnSp>
      <p:sp>
        <p:nvSpPr>
          <p:cNvPr id="19" name="AutoShape 19"/>
          <p:cNvSpPr/>
          <p:nvPr/>
        </p:nvSpPr>
        <p:spPr>
          <a:xfrm>
            <a:off x="8255000" y="2603500"/>
            <a:ext cx="152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Noto Sans SC"/>
                <a:ea typeface="Noto Sans SC"/>
                <a:cs typeface="Noto Sans SC"/>
                <a:sym typeface="Noto Sans SC"/>
              </a:rPr>
              <a:t>Total Spent</a:t>
            </a:r>
            <a:endParaRPr lang="en-US" sz="1100"/>
          </a:p>
          <a:p>
            <a:pPr marL="0" indent="0" algn="l">
              <a:lnSpc>
                <a:spcPct val="125000"/>
              </a:lnSpc>
            </a:pPr>
            <a:r>
              <a:rPr lang="en-US" sz="2000" b="1" i="0" u="none" strike="noStrike">
                <a:solidFill>
                  <a:srgbClr val="333333"/>
                </a:solidFill>
                <a:latin typeface="Poppins"/>
                <a:ea typeface="Poppins"/>
                <a:cs typeface="Poppins"/>
                <a:sym typeface="Poppins"/>
              </a:rPr>
              <a:t>$2.9M</a:t>
            </a:r>
            <a:endParaRPr lang="en-US" sz="2000" b="1" i="0" u="none" strike="noStrike">
              <a:solidFill>
                <a:srgbClr val="333333"/>
              </a:solidFill>
              <a:latin typeface="Poppins"/>
              <a:ea typeface="Poppins"/>
              <a:cs typeface="Poppins"/>
              <a:sym typeface="Poppins"/>
            </a:endParaRPr>
          </a:p>
        </p:txBody>
      </p:sp>
      <p:cxnSp>
        <p:nvCxnSpPr>
          <p:cNvPr id="20" name="Connector 20"/>
          <p:cNvCxnSpPr/>
          <p:nvPr/>
        </p:nvCxnSpPr>
        <p:spPr>
          <a:xfrm rot="5342709">
            <a:off x="9398000" y="3041703"/>
            <a:ext cx="762000" cy="12700"/>
          </a:xfrm>
          <a:prstGeom prst="straightConnector1">
            <a:avLst/>
          </a:prstGeom>
          <a:solidFill>
            <a:srgbClr val="DEE0E3">
              <a:alpha val="100000"/>
            </a:srgbClr>
          </a:solidFill>
          <a:ln w="12700" cap="flat" cmpd="sng">
            <a:solidFill>
              <a:srgbClr val="4A6A6A">
                <a:alpha val="15000"/>
              </a:srgbClr>
            </a:solidFill>
            <a:prstDash val="solid"/>
            <a:round/>
            <a:headEnd type="none" w="med" len="med"/>
            <a:tailEnd type="none" w="med" len="med"/>
          </a:ln>
        </p:spPr>
      </p:cxnSp>
      <p:sp>
        <p:nvSpPr>
          <p:cNvPr id="21" name="AutoShape 21"/>
          <p:cNvSpPr/>
          <p:nvPr/>
        </p:nvSpPr>
        <p:spPr>
          <a:xfrm>
            <a:off x="9842500" y="2603500"/>
            <a:ext cx="158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Noto Sans SC"/>
                <a:ea typeface="Noto Sans SC"/>
                <a:cs typeface="Noto Sans SC"/>
                <a:sym typeface="Noto Sans SC"/>
              </a:rPr>
              <a:t>Budget Variance</a:t>
            </a:r>
            <a:endParaRPr lang="en-US" sz="1100"/>
          </a:p>
          <a:p>
            <a:pPr marL="0" indent="0" algn="l">
              <a:lnSpc>
                <a:spcPct val="125000"/>
              </a:lnSpc>
            </a:pPr>
            <a:r>
              <a:rPr lang="en-US" sz="2000" b="1" i="0" u="none" strike="noStrike">
                <a:solidFill>
                  <a:srgbClr val="4A6A6A"/>
                </a:solidFill>
                <a:latin typeface="Poppins"/>
                <a:ea typeface="Poppins"/>
                <a:cs typeface="Poppins"/>
                <a:sym typeface="Poppins"/>
              </a:rPr>
              <a:t>-17%</a:t>
            </a:r>
            <a:r>
              <a:rPr lang="en-US" sz="1200" b="0" i="0" u="none" strike="noStrike">
                <a:solidFill>
                  <a:srgbClr val="666666"/>
                </a:solidFill>
                <a:latin typeface="Noto Sans SC"/>
                <a:ea typeface="Noto Sans SC"/>
                <a:cs typeface="Noto Sans SC"/>
                <a:sym typeface="Noto Sans SC"/>
              </a:rPr>
              <a:t>(Under)</a:t>
            </a:r>
            <a:endParaRPr lang="en-US" sz="1200" b="0" i="0" u="none" strike="noStrike">
              <a:solidFill>
                <a:srgbClr val="666666"/>
              </a:solidFill>
              <a:latin typeface="Noto Sans SC"/>
              <a:ea typeface="Noto Sans SC"/>
              <a:cs typeface="Noto Sans SC"/>
              <a:sym typeface="Noto Sans SC"/>
            </a:endParaRPr>
          </a:p>
        </p:txBody>
      </p:sp>
      <p:pic>
        <p:nvPicPr>
          <p:cNvPr id="22" name="Picture 22"/>
          <p:cNvPicPr>
            <a:picLocks noChangeAspect="1"/>
          </p:cNvPicPr>
          <p:nvPr/>
        </p:nvPicPr>
        <p:blipFill>
          <a:blip r:embed="rId2"/>
          <a:stretch>
            <a:fillRect/>
          </a:stretch>
        </p:blipFill>
        <p:spPr>
          <a:xfrm>
            <a:off x="762000" y="4064000"/>
            <a:ext cx="5270500" cy="2286000"/>
          </a:xfrm>
          <a:prstGeom prst="rect">
            <a:avLst/>
          </a:prstGeom>
          <a:ln w="12700">
            <a:noFill/>
            <a:prstDash val="solid"/>
          </a:ln>
        </p:spPr>
      </p:pic>
      <p:sp>
        <p:nvSpPr>
          <p:cNvPr id="23" name="AutoShape 23"/>
          <p:cNvSpPr/>
          <p:nvPr/>
        </p:nvSpPr>
        <p:spPr>
          <a:xfrm>
            <a:off x="6286500" y="4064000"/>
            <a:ext cx="5270500" cy="2286000"/>
          </a:xfrm>
          <a:prstGeom prst="roundRect">
            <a:avLst>
              <a:gd name="adj" fmla="val 0"/>
            </a:avLst>
          </a:prstGeom>
          <a:solidFill>
            <a:srgbClr val="4A6A6A">
              <a:alpha val="8000"/>
            </a:srgbClr>
          </a:solidFill>
          <a:ln w="12700" cap="flat" cmpd="sng">
            <a:solidFill>
              <a:srgbClr val="4A6A6A">
                <a:alpha val="2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4254500"/>
            <a:ext cx="406400" cy="406400"/>
          </a:xfrm>
          <a:prstGeom prst="rect">
            <a:avLst/>
          </a:prstGeom>
        </p:spPr>
      </p:pic>
      <p:sp>
        <p:nvSpPr>
          <p:cNvPr id="25" name="AutoShape 25"/>
          <p:cNvSpPr/>
          <p:nvPr/>
        </p:nvSpPr>
        <p:spPr>
          <a:xfrm>
            <a:off x="7112000" y="42545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ROI Highlights: AI-Driven Marketing Initiative</a:t>
            </a:r>
            <a:endParaRPr lang="en-US" sz="1100"/>
          </a:p>
        </p:txBody>
      </p:sp>
      <p:cxnSp>
        <p:nvCxnSpPr>
          <p:cNvPr id="26" name="Connector 26"/>
          <p:cNvCxnSpPr/>
          <p:nvPr/>
        </p:nvCxnSpPr>
        <p:spPr>
          <a:xfrm rot="-9167">
            <a:off x="6540508" y="4819650"/>
            <a:ext cx="4762500" cy="12700"/>
          </a:xfrm>
          <a:prstGeom prst="straightConnector1">
            <a:avLst/>
          </a:prstGeom>
          <a:solidFill>
            <a:srgbClr val="DEE0E3">
              <a:alpha val="100000"/>
            </a:srgbClr>
          </a:solidFill>
          <a:ln w="12700" cap="flat" cmpd="sng">
            <a:solidFill>
              <a:srgbClr val="4A6A6A">
                <a:alpha val="30000"/>
              </a:srgbClr>
            </a:solidFill>
            <a:prstDash val="solid"/>
            <a:round/>
            <a:headEnd type="none" w="med" len="med"/>
            <a:tailEnd type="none" w="med" len="med"/>
          </a:ln>
        </p:spPr>
      </p:cxnSp>
      <p:sp>
        <p:nvSpPr>
          <p:cNvPr id="27" name="AutoShape 27"/>
          <p:cNvSpPr/>
          <p:nvPr/>
        </p:nvSpPr>
        <p:spPr>
          <a:xfrm>
            <a:off x="6540500" y="50800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C3C3C"/>
                </a:solidFill>
                <a:latin typeface="Noto Sans SC"/>
                <a:ea typeface="Noto Sans SC"/>
                <a:cs typeface="Noto Sans SC"/>
                <a:sym typeface="Noto Sans SC"/>
              </a:rPr>
              <a:t>The strategic pivot to AI optimization in Q3 delivered an exceptional ROI of</a:t>
            </a:r>
            <a:r>
              <a:rPr lang="en-US" sz="1600" b="1" i="0" u="none" strike="noStrike">
                <a:solidFill>
                  <a:srgbClr val="4A6A6A"/>
                </a:solidFill>
                <a:latin typeface="Noto Sans SC"/>
                <a:ea typeface="Noto Sans SC"/>
                <a:cs typeface="Noto Sans SC"/>
                <a:sym typeface="Noto Sans SC"/>
              </a:rPr>
              <a:t>185%</a:t>
            </a:r>
            <a:r>
              <a:rPr lang="en-US" sz="1400" b="0" i="0" u="none" strike="noStrike">
                <a:solidFill>
                  <a:srgbClr val="3C3C3C"/>
                </a:solidFill>
                <a:latin typeface="Noto Sans SC"/>
                <a:ea typeface="Noto Sans SC"/>
                <a:cs typeface="Noto Sans SC"/>
                <a:sym typeface="Noto Sans SC"/>
              </a:rPr>
              <a:t>, significantly outperforming the projected 120% target. This initiative maximized conversion rates while reducing customer acquisition costs by 22%.</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Challenges &amp; Key Learnings</a:t>
            </a:r>
            <a:endParaRPr lang="en-US" sz="1100"/>
          </a:p>
        </p:txBody>
      </p:sp>
      <p:sp>
        <p:nvSpPr>
          <p:cNvPr id="4" name="AutoShape 4"/>
          <p:cNvSpPr/>
          <p:nvPr/>
        </p:nvSpPr>
        <p:spPr>
          <a:xfrm>
            <a:off x="762000" y="2032000"/>
            <a:ext cx="5207000" cy="3048000"/>
          </a:xfrm>
          <a:prstGeom prst="roundRect">
            <a:avLst>
              <a:gd name="adj" fmla="val 0"/>
            </a:avLst>
          </a:prstGeom>
          <a:solidFill>
            <a:srgbClr val="FFFFFF">
              <a:alpha val="85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2032000"/>
            <a:ext cx="5207000" cy="762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355600" cy="355600"/>
          </a:xfrm>
          <a:prstGeom prst="rect">
            <a:avLst/>
          </a:prstGeom>
        </p:spPr>
      </p:pic>
      <p:sp>
        <p:nvSpPr>
          <p:cNvPr id="7" name="AutoShape 7"/>
          <p:cNvSpPr/>
          <p:nvPr/>
        </p:nvSpPr>
        <p:spPr>
          <a:xfrm>
            <a:off x="1524000" y="2311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6A6A"/>
                </a:solidFill>
                <a:latin typeface="Poppins"/>
                <a:ea typeface="Poppins"/>
                <a:cs typeface="Poppins"/>
                <a:sym typeface="Poppins"/>
              </a:rPr>
              <a:t>Supply Chain Disruptions</a:t>
            </a:r>
            <a:endParaRPr lang="en-US" sz="1100"/>
          </a:p>
        </p:txBody>
      </p:sp>
      <p:cxnSp>
        <p:nvCxnSpPr>
          <p:cNvPr id="8" name="Connector 8"/>
          <p:cNvCxnSpPr/>
          <p:nvPr/>
        </p:nvCxnSpPr>
        <p:spPr>
          <a:xfrm rot="-9291">
            <a:off x="1016009" y="2914650"/>
            <a:ext cx="4699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9" name="AutoShape 9"/>
          <p:cNvSpPr/>
          <p:nvPr/>
        </p:nvSpPr>
        <p:spPr>
          <a:xfrm>
            <a:off x="1016000" y="3111500"/>
            <a:ext cx="4699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Poppins"/>
                <a:ea typeface="Poppins"/>
                <a:cs typeface="Poppins"/>
                <a:sym typeface="Poppins"/>
              </a:rPr>
              <a:t>Impact:</a:t>
            </a:r>
            <a:r>
              <a:rPr lang="en-US" sz="1400" b="0" i="0" u="none" strike="noStrike">
                <a:solidFill>
                  <a:srgbClr val="525252"/>
                </a:solidFill>
                <a:latin typeface="Poppins"/>
                <a:ea typeface="Poppins"/>
                <a:cs typeface="Poppins"/>
                <a:sym typeface="Poppins"/>
              </a:rPr>
              <a:t>Delayed product launches by an average of 3 weeks, affecting initial market momentum.</a:t>
            </a:r>
            <a:endParaRPr lang="en-US" sz="1100"/>
          </a:p>
          <a:p>
            <a:pPr marL="0" indent="0" algn="l">
              <a:lnSpc>
                <a:spcPct val="117000"/>
              </a:lnSpc>
            </a:pPr>
            <a:r>
              <a:rPr lang="en-US" sz="1400" b="1" i="0" u="none" strike="noStrike">
                <a:solidFill>
                  <a:srgbClr val="333333"/>
                </a:solidFill>
                <a:latin typeface="Poppins"/>
                <a:ea typeface="Poppins"/>
                <a:cs typeface="Poppins"/>
                <a:sym typeface="Poppins"/>
              </a:rPr>
              <a:t>Response:</a:t>
            </a:r>
            <a:r>
              <a:rPr lang="en-US" sz="1400" b="0" i="0" u="none" strike="noStrike">
                <a:solidFill>
                  <a:srgbClr val="525252"/>
                </a:solidFill>
                <a:latin typeface="Poppins"/>
                <a:ea typeface="Poppins"/>
                <a:cs typeface="Poppins"/>
                <a:sym typeface="Poppins"/>
              </a:rPr>
              <a:t>Diversified supplier base across regions and implemented a proactive risk management plan.</a:t>
            </a:r>
            <a:endParaRPr lang="en-US" sz="1400" b="0" i="0" u="none" strike="noStrike">
              <a:solidFill>
                <a:srgbClr val="525252"/>
              </a:solidFill>
              <a:latin typeface="Poppins"/>
              <a:ea typeface="Poppins"/>
              <a:cs typeface="Poppins"/>
              <a:sym typeface="Poppins"/>
            </a:endParaRPr>
          </a:p>
          <a:p>
            <a:pPr marL="0" indent="0" algn="l">
              <a:lnSpc>
                <a:spcPct val="117000"/>
              </a:lnSpc>
            </a:pPr>
            <a:r>
              <a:rPr lang="en-US" sz="1400" b="1" i="0" u="none" strike="noStrike">
                <a:solidFill>
                  <a:srgbClr val="4A6A6A"/>
                </a:solidFill>
                <a:latin typeface="Poppins"/>
                <a:ea typeface="Poppins"/>
                <a:cs typeface="Poppins"/>
                <a:sym typeface="Poppins"/>
              </a:rPr>
              <a:t>Key Takeaway:</a:t>
            </a:r>
            <a:r>
              <a:rPr lang="en-US" sz="1400" b="0" i="0" u="none" strike="noStrike">
                <a:solidFill>
                  <a:srgbClr val="525252"/>
                </a:solidFill>
                <a:latin typeface="Poppins"/>
                <a:ea typeface="Poppins"/>
                <a:cs typeface="Poppins"/>
                <a:sym typeface="Poppins"/>
              </a:rPr>
              <a:t>Agility and redundancy are non-negotiable for a resilient supply chain strategy.</a:t>
            </a:r>
            <a:endParaRPr lang="en-US" sz="1400" b="0" i="0" u="none" strike="noStrike">
              <a:solidFill>
                <a:srgbClr val="525252"/>
              </a:solidFill>
              <a:latin typeface="Poppins"/>
              <a:ea typeface="Poppins"/>
              <a:cs typeface="Poppins"/>
              <a:sym typeface="Poppins"/>
            </a:endParaRPr>
          </a:p>
        </p:txBody>
      </p:sp>
      <p:sp>
        <p:nvSpPr>
          <p:cNvPr id="10" name="AutoShape 10"/>
          <p:cNvSpPr/>
          <p:nvPr/>
        </p:nvSpPr>
        <p:spPr>
          <a:xfrm>
            <a:off x="6223000" y="2032000"/>
            <a:ext cx="5207000" cy="3048000"/>
          </a:xfrm>
          <a:prstGeom prst="roundRect">
            <a:avLst>
              <a:gd name="adj" fmla="val 0"/>
            </a:avLst>
          </a:prstGeom>
          <a:solidFill>
            <a:srgbClr val="FFFFFF">
              <a:alpha val="85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2032000"/>
            <a:ext cx="5207000" cy="762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349500"/>
            <a:ext cx="355600" cy="355600"/>
          </a:xfrm>
          <a:prstGeom prst="rect">
            <a:avLst/>
          </a:prstGeom>
        </p:spPr>
      </p:pic>
      <p:sp>
        <p:nvSpPr>
          <p:cNvPr id="13" name="AutoShape 13"/>
          <p:cNvSpPr/>
          <p:nvPr/>
        </p:nvSpPr>
        <p:spPr>
          <a:xfrm>
            <a:off x="6985000" y="2311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A6A6A"/>
                </a:solidFill>
                <a:latin typeface="Poppins"/>
                <a:ea typeface="Poppins"/>
                <a:cs typeface="Poppins"/>
                <a:sym typeface="Poppins"/>
              </a:rPr>
              <a:t>Intense Market Competition</a:t>
            </a:r>
            <a:endParaRPr lang="en-US" sz="1100"/>
          </a:p>
        </p:txBody>
      </p:sp>
      <p:cxnSp>
        <p:nvCxnSpPr>
          <p:cNvPr id="14" name="Connector 14"/>
          <p:cNvCxnSpPr/>
          <p:nvPr/>
        </p:nvCxnSpPr>
        <p:spPr>
          <a:xfrm rot="-9291">
            <a:off x="6477009" y="2914650"/>
            <a:ext cx="4699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15" name="AutoShape 15"/>
          <p:cNvSpPr/>
          <p:nvPr/>
        </p:nvSpPr>
        <p:spPr>
          <a:xfrm>
            <a:off x="6477000" y="3111500"/>
            <a:ext cx="4699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Poppins"/>
                <a:ea typeface="Poppins"/>
                <a:cs typeface="Poppins"/>
                <a:sym typeface="Poppins"/>
              </a:rPr>
              <a:t>Impact:</a:t>
            </a:r>
            <a:r>
              <a:rPr lang="en-US" sz="1400" b="0" i="0" u="none" strike="noStrike">
                <a:solidFill>
                  <a:srgbClr val="525252"/>
                </a:solidFill>
                <a:latin typeface="Poppins"/>
                <a:ea typeface="Poppins"/>
                <a:cs typeface="Poppins"/>
                <a:sym typeface="Poppins"/>
              </a:rPr>
              <a:t>Slower than projected user acquisition and market share growth in the third quarter.</a:t>
            </a:r>
            <a:endParaRPr lang="en-US" sz="1100"/>
          </a:p>
          <a:p>
            <a:pPr marL="0" indent="0" algn="l">
              <a:lnSpc>
                <a:spcPct val="117000"/>
              </a:lnSpc>
            </a:pPr>
            <a:r>
              <a:rPr lang="en-US" sz="1400" b="1" i="0" u="none" strike="noStrike">
                <a:solidFill>
                  <a:srgbClr val="333333"/>
                </a:solidFill>
                <a:latin typeface="Poppins"/>
                <a:ea typeface="Poppins"/>
                <a:cs typeface="Poppins"/>
                <a:sym typeface="Poppins"/>
              </a:rPr>
              <a:t>Response:</a:t>
            </a:r>
            <a:r>
              <a:rPr lang="en-US" sz="1400" b="0" i="0" u="none" strike="noStrike">
                <a:solidFill>
                  <a:srgbClr val="525252"/>
                </a:solidFill>
                <a:latin typeface="Poppins"/>
                <a:ea typeface="Poppins"/>
                <a:cs typeface="Poppins"/>
                <a:sym typeface="Poppins"/>
              </a:rPr>
              <a:t>Launched hyper-targeted marketing campaigns and accelerated key product feature enhancements.</a:t>
            </a:r>
            <a:endParaRPr lang="en-US" sz="1400" b="0" i="0" u="none" strike="noStrike">
              <a:solidFill>
                <a:srgbClr val="525252"/>
              </a:solidFill>
              <a:latin typeface="Poppins"/>
              <a:ea typeface="Poppins"/>
              <a:cs typeface="Poppins"/>
              <a:sym typeface="Poppins"/>
            </a:endParaRPr>
          </a:p>
          <a:p>
            <a:pPr marL="0" indent="0" algn="l">
              <a:lnSpc>
                <a:spcPct val="117000"/>
              </a:lnSpc>
            </a:pPr>
            <a:r>
              <a:rPr lang="en-US" sz="1400" b="1" i="0" u="none" strike="noStrike">
                <a:solidFill>
                  <a:srgbClr val="4A6A6A"/>
                </a:solidFill>
                <a:latin typeface="Poppins"/>
                <a:ea typeface="Poppins"/>
                <a:cs typeface="Poppins"/>
                <a:sym typeface="Poppins"/>
              </a:rPr>
              <a:t>Key Takeaway:</a:t>
            </a:r>
            <a:r>
              <a:rPr lang="en-US" sz="1400" b="0" i="0" u="none" strike="noStrike">
                <a:solidFill>
                  <a:srgbClr val="525252"/>
                </a:solidFill>
                <a:latin typeface="Poppins"/>
                <a:ea typeface="Poppins"/>
                <a:cs typeface="Poppins"/>
                <a:sym typeface="Poppins"/>
              </a:rPr>
              <a:t>Continuous innovation and proactive positioning are critical to standing out in a crowded market.</a:t>
            </a:r>
            <a:endParaRPr lang="en-US" sz="1400" b="0" i="0" u="none" strike="noStrike">
              <a:solidFill>
                <a:srgbClr val="525252"/>
              </a:solidFill>
              <a:latin typeface="Poppins"/>
              <a:ea typeface="Poppins"/>
              <a:cs typeface="Poppins"/>
              <a:sym typeface="Poppins"/>
            </a:endParaRPr>
          </a:p>
        </p:txBody>
      </p:sp>
      <p:sp>
        <p:nvSpPr>
          <p:cNvPr id="16" name="AutoShape 16"/>
          <p:cNvSpPr/>
          <p:nvPr/>
        </p:nvSpPr>
        <p:spPr>
          <a:xfrm>
            <a:off x="762000" y="5461000"/>
            <a:ext cx="10668000" cy="1016000"/>
          </a:xfrm>
          <a:prstGeom prst="roundRect">
            <a:avLst>
              <a:gd name="adj" fmla="val 0"/>
            </a:avLst>
          </a:prstGeom>
          <a:solidFill>
            <a:srgbClr val="4A6A6A">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689600"/>
            <a:ext cx="558800" cy="558800"/>
          </a:xfrm>
          <a:prstGeom prst="rect">
            <a:avLst/>
          </a:prstGeom>
        </p:spPr>
      </p:pic>
      <p:sp>
        <p:nvSpPr>
          <p:cNvPr id="18" name="AutoShape 18"/>
          <p:cNvSpPr/>
          <p:nvPr/>
        </p:nvSpPr>
        <p:spPr>
          <a:xfrm>
            <a:off x="1905000" y="5588000"/>
            <a:ext cx="927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4A6A6A"/>
                </a:solidFill>
                <a:latin typeface="Poppins"/>
                <a:ea typeface="Poppins"/>
                <a:cs typeface="Poppins"/>
                <a:sym typeface="Poppins"/>
              </a:rPr>
              <a:t>Overall Growth &amp; Strategic Refinement:</a:t>
            </a:r>
            <a:r>
              <a:rPr lang="en-US" sz="1500" b="0" i="0" u="none" strike="noStrike">
                <a:solidFill>
                  <a:srgbClr val="3C3C3C"/>
                </a:solidFill>
                <a:latin typeface="Poppins"/>
                <a:ea typeface="Poppins"/>
                <a:cs typeface="Poppins"/>
                <a:sym typeface="Poppins"/>
              </a:rPr>
              <a:t>While these obstacles presented significant hurdles, they provided invaluable insights that have strengthened our strategic planning framework, ensuring greater preparedness and adaptability for future market dynamics.</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Poppins"/>
                <a:ea typeface="Poppins"/>
                <a:cs typeface="Poppins"/>
                <a:sym typeface="Poppins"/>
              </a:rPr>
              <a:t>Strategic Goals for [Next Year]</a:t>
            </a:r>
            <a:endParaRPr lang="en-US" sz="1100"/>
          </a:p>
        </p:txBody>
      </p:sp>
      <p:sp>
        <p:nvSpPr>
          <p:cNvPr id="4" name="AutoShape 4"/>
          <p:cNvSpPr/>
          <p:nvPr/>
        </p:nvSpPr>
        <p:spPr>
          <a:xfrm>
            <a:off x="762000" y="1778000"/>
            <a:ext cx="10668000" cy="1079500"/>
          </a:xfrm>
          <a:prstGeom prst="roundRect">
            <a:avLst>
              <a:gd name="adj" fmla="val 0"/>
            </a:avLst>
          </a:prstGeom>
          <a:solidFill>
            <a:srgbClr val="4A6A6A">
              <a:alpha val="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76200" cy="10795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05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4A6A6A"/>
                </a:solidFill>
                <a:latin typeface="Poppins"/>
                <a:ea typeface="Poppins"/>
                <a:cs typeface="Poppins"/>
                <a:sym typeface="Poppins"/>
              </a:rPr>
              <a:t>OUR VISION:</a:t>
            </a:r>
            <a:r>
              <a:rPr lang="en-US" sz="1600" b="0" i="0" u="none" strike="noStrike">
                <a:solidFill>
                  <a:srgbClr val="444444"/>
                </a:solidFill>
                <a:latin typeface="Poppins"/>
                <a:ea typeface="Poppins"/>
                <a:cs typeface="Poppins"/>
                <a:sym typeface="Poppins"/>
              </a:rPr>
              <a:t>To become the leader in [specific market/industry] by focusing on customer-centric innovation, delivering value that resonates with our audience and differentiates us in the competitive landscape.</a:t>
            </a:r>
            <a:endParaRPr lang="en-US" sz="1100"/>
          </a:p>
        </p:txBody>
      </p:sp>
      <p:sp>
        <p:nvSpPr>
          <p:cNvPr id="7" name="AutoShape 7"/>
          <p:cNvSpPr/>
          <p:nvPr/>
        </p:nvSpPr>
        <p:spPr>
          <a:xfrm>
            <a:off x="762000" y="3302000"/>
            <a:ext cx="3429000" cy="1841500"/>
          </a:xfrm>
          <a:prstGeom prst="roundRect">
            <a:avLst>
              <a:gd name="adj" fmla="val 0"/>
            </a:avLst>
          </a:prstGeom>
          <a:solidFill>
            <a:srgbClr val="FFFFFF">
              <a:alpha val="60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492500"/>
            <a:ext cx="355600" cy="355600"/>
          </a:xfrm>
          <a:prstGeom prst="rect">
            <a:avLst/>
          </a:prstGeom>
        </p:spPr>
      </p:pic>
      <p:sp>
        <p:nvSpPr>
          <p:cNvPr id="9" name="AutoShape 9"/>
          <p:cNvSpPr/>
          <p:nvPr/>
        </p:nvSpPr>
        <p:spPr>
          <a:xfrm>
            <a:off x="1397000" y="3454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Drive Product Innovation</a:t>
            </a:r>
            <a:endParaRPr lang="en-US" sz="1100"/>
          </a:p>
        </p:txBody>
      </p:sp>
      <p:cxnSp>
        <p:nvCxnSpPr>
          <p:cNvPr id="10" name="Connector 10"/>
          <p:cNvCxnSpPr/>
          <p:nvPr/>
        </p:nvCxnSpPr>
        <p:spPr>
          <a:xfrm rot="-14323">
            <a:off x="952513" y="3994150"/>
            <a:ext cx="3048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11" name="AutoShape 11"/>
          <p:cNvSpPr/>
          <p:nvPr/>
        </p:nvSpPr>
        <p:spPr>
          <a:xfrm>
            <a:off x="952500" y="412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Poppins"/>
                <a:ea typeface="Poppins"/>
                <a:cs typeface="Poppins"/>
                <a:sym typeface="Poppins"/>
              </a:rPr>
              <a:t>Launch [X] high-impact new features/products and allocate [Amount] in dedicated R&amp;D investment to foster cutting-edge solutions for evolving customer needs.</a:t>
            </a:r>
            <a:endParaRPr lang="en-US" sz="1100"/>
          </a:p>
        </p:txBody>
      </p:sp>
      <p:sp>
        <p:nvSpPr>
          <p:cNvPr id="12" name="AutoShape 12"/>
          <p:cNvSpPr/>
          <p:nvPr/>
        </p:nvSpPr>
        <p:spPr>
          <a:xfrm>
            <a:off x="4381500" y="3302000"/>
            <a:ext cx="3429000" cy="1841500"/>
          </a:xfrm>
          <a:prstGeom prst="roundRect">
            <a:avLst>
              <a:gd name="adj" fmla="val 0"/>
            </a:avLst>
          </a:prstGeom>
          <a:solidFill>
            <a:srgbClr val="FFFFFF">
              <a:alpha val="60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492500"/>
            <a:ext cx="355600" cy="355600"/>
          </a:xfrm>
          <a:prstGeom prst="rect">
            <a:avLst/>
          </a:prstGeom>
        </p:spPr>
      </p:pic>
      <p:sp>
        <p:nvSpPr>
          <p:cNvPr id="14" name="AutoShape 14"/>
          <p:cNvSpPr/>
          <p:nvPr/>
        </p:nvSpPr>
        <p:spPr>
          <a:xfrm>
            <a:off x="5016500" y="3454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Expand Market Reach</a:t>
            </a:r>
            <a:endParaRPr lang="en-US" sz="1100"/>
          </a:p>
        </p:txBody>
      </p:sp>
      <p:cxnSp>
        <p:nvCxnSpPr>
          <p:cNvPr id="15" name="Connector 15"/>
          <p:cNvCxnSpPr/>
          <p:nvPr/>
        </p:nvCxnSpPr>
        <p:spPr>
          <a:xfrm rot="-14323">
            <a:off x="4572013" y="3994150"/>
            <a:ext cx="3048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16" name="AutoShape 16"/>
          <p:cNvSpPr/>
          <p:nvPr/>
        </p:nvSpPr>
        <p:spPr>
          <a:xfrm>
            <a:off x="4572000" y="412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Poppins"/>
                <a:ea typeface="Poppins"/>
                <a:cs typeface="Poppins"/>
                <a:sym typeface="Poppins"/>
              </a:rPr>
              <a:t>Penetrate [X] new geographic markets and execute targeted campaigns to boost our overall market share by [Y]%, solidifying our global footprint.</a:t>
            </a:r>
            <a:endParaRPr lang="en-US" sz="1100"/>
          </a:p>
        </p:txBody>
      </p:sp>
      <p:sp>
        <p:nvSpPr>
          <p:cNvPr id="17" name="AutoShape 17"/>
          <p:cNvSpPr/>
          <p:nvPr/>
        </p:nvSpPr>
        <p:spPr>
          <a:xfrm>
            <a:off x="8001000" y="3302000"/>
            <a:ext cx="3429000" cy="1841500"/>
          </a:xfrm>
          <a:prstGeom prst="roundRect">
            <a:avLst>
              <a:gd name="adj" fmla="val 0"/>
            </a:avLst>
          </a:prstGeom>
          <a:solidFill>
            <a:srgbClr val="FFFFFF">
              <a:alpha val="60000"/>
            </a:srgbClr>
          </a:solidFill>
          <a:ln w="12700" cap="flat" cmpd="sng">
            <a:solidFill>
              <a:srgbClr val="4A6A6A">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492500"/>
            <a:ext cx="355600" cy="355600"/>
          </a:xfrm>
          <a:prstGeom prst="rect">
            <a:avLst/>
          </a:prstGeom>
        </p:spPr>
      </p:pic>
      <p:sp>
        <p:nvSpPr>
          <p:cNvPr id="19" name="AutoShape 19"/>
          <p:cNvSpPr/>
          <p:nvPr/>
        </p:nvSpPr>
        <p:spPr>
          <a:xfrm>
            <a:off x="8636000" y="3454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4A6A6A"/>
                </a:solidFill>
                <a:latin typeface="Poppins"/>
                <a:ea typeface="Poppins"/>
                <a:cs typeface="Poppins"/>
                <a:sym typeface="Poppins"/>
              </a:rPr>
              <a:t>Optimize Operational Excellence</a:t>
            </a:r>
            <a:endParaRPr lang="en-US" sz="1100"/>
          </a:p>
        </p:txBody>
      </p:sp>
      <p:cxnSp>
        <p:nvCxnSpPr>
          <p:cNvPr id="20" name="Connector 20"/>
          <p:cNvCxnSpPr/>
          <p:nvPr/>
        </p:nvCxnSpPr>
        <p:spPr>
          <a:xfrm rot="-14323">
            <a:off x="8191513" y="3994150"/>
            <a:ext cx="3048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21" name="AutoShape 21"/>
          <p:cNvSpPr/>
          <p:nvPr/>
        </p:nvSpPr>
        <p:spPr>
          <a:xfrm>
            <a:off x="8191500" y="4127500"/>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555555"/>
                </a:solidFill>
                <a:latin typeface="Poppins"/>
                <a:ea typeface="Poppins"/>
                <a:cs typeface="Poppins"/>
                <a:sym typeface="Poppins"/>
              </a:rPr>
              <a:t>Streamline workflows to reduce operational costs by [X]% while implementing retention strategies that increase customer loyalty and satisfaction by [Y]%.</a:t>
            </a:r>
            <a:endParaRPr lang="en-US" sz="1100"/>
          </a:p>
        </p:txBody>
      </p:sp>
      <p:cxnSp>
        <p:nvCxnSpPr>
          <p:cNvPr id="22" name="Connector 22"/>
          <p:cNvCxnSpPr/>
          <p:nvPr/>
        </p:nvCxnSpPr>
        <p:spPr>
          <a:xfrm rot="-4092">
            <a:off x="762004" y="5518150"/>
            <a:ext cx="10668000" cy="12700"/>
          </a:xfrm>
          <a:prstGeom prst="straightConnector1">
            <a:avLst/>
          </a:prstGeom>
          <a:solidFill>
            <a:srgbClr val="DEE0E3">
              <a:alpha val="100000"/>
            </a:srgbClr>
          </a:solidFill>
          <a:ln w="12700" cap="flat" cmpd="sng">
            <a:solidFill>
              <a:srgbClr val="4A6A6A">
                <a:alpha val="40000"/>
              </a:srgbClr>
            </a:solidFill>
            <a:prstDash val="dash"/>
            <a:round/>
            <a:headEnd type="none" w="med" len="med"/>
            <a:tailEnd type="none" w="med" len="med"/>
          </a:ln>
        </p:spPr>
      </p:cxnSp>
      <p:sp>
        <p:nvSpPr>
          <p:cNvPr id="23" name="AutoShape 23"/>
          <p:cNvSpPr/>
          <p:nvPr/>
        </p:nvSpPr>
        <p:spPr>
          <a:xfrm>
            <a:off x="762000" y="5715000"/>
            <a:ext cx="342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A6A6A"/>
                </a:solidFill>
                <a:latin typeface="Poppins"/>
                <a:ea typeface="Poppins"/>
                <a:cs typeface="Poppins"/>
                <a:sym typeface="Poppins"/>
              </a:rPr>
              <a:t>Q1: Foundation &amp; Planning</a:t>
            </a:r>
            <a:endParaRPr lang="en-US" sz="1100"/>
          </a:p>
          <a:p>
            <a:pPr marL="0" indent="0" algn="l">
              <a:lnSpc>
                <a:spcPct val="100000"/>
              </a:lnSpc>
            </a:pPr>
            <a:r>
              <a:rPr lang="en-US" sz="1200" b="0" i="0" u="none" strike="noStrike">
                <a:solidFill>
                  <a:srgbClr val="666666"/>
                </a:solidFill>
                <a:latin typeface="Poppins"/>
                <a:ea typeface="Poppins"/>
                <a:cs typeface="Poppins"/>
                <a:sym typeface="Poppins"/>
              </a:rPr>
              <a:t>Finalize R&amp;D roadmap, establish local teams for new markets, and audit current operational workflows for efficiency gaps.</a:t>
            </a:r>
            <a:endParaRPr lang="en-US" sz="1200" b="0" i="0" u="none" strike="noStrike">
              <a:solidFill>
                <a:srgbClr val="666666"/>
              </a:solidFill>
              <a:latin typeface="Poppins"/>
              <a:ea typeface="Poppins"/>
              <a:cs typeface="Poppins"/>
              <a:sym typeface="Poppins"/>
            </a:endParaRPr>
          </a:p>
        </p:txBody>
      </p:sp>
      <p:cxnSp>
        <p:nvCxnSpPr>
          <p:cNvPr id="24" name="Connector 24"/>
          <p:cNvCxnSpPr/>
          <p:nvPr/>
        </p:nvCxnSpPr>
        <p:spPr>
          <a:xfrm rot="5342709">
            <a:off x="3937000" y="6153203"/>
            <a:ext cx="762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25" name="AutoShape 25"/>
          <p:cNvSpPr/>
          <p:nvPr/>
        </p:nvSpPr>
        <p:spPr>
          <a:xfrm>
            <a:off x="4508500" y="5715000"/>
            <a:ext cx="342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A6A6A"/>
                </a:solidFill>
                <a:latin typeface="Poppins"/>
                <a:ea typeface="Poppins"/>
                <a:cs typeface="Poppins"/>
                <a:sym typeface="Poppins"/>
              </a:rPr>
              <a:t>Q2: Execution &amp; Launch</a:t>
            </a:r>
            <a:endParaRPr lang="en-US" sz="1100"/>
          </a:p>
          <a:p>
            <a:pPr marL="0" indent="0" algn="l">
              <a:lnSpc>
                <a:spcPct val="100000"/>
              </a:lnSpc>
            </a:pPr>
            <a:r>
              <a:rPr lang="en-US" sz="1200" b="0" i="0" u="none" strike="noStrike">
                <a:solidFill>
                  <a:srgbClr val="666666"/>
                </a:solidFill>
                <a:latin typeface="Poppins"/>
                <a:ea typeface="Poppins"/>
                <a:cs typeface="Poppins"/>
                <a:sym typeface="Poppins"/>
              </a:rPr>
              <a:t>Release initial beta features, commence soft launches in target regions, and roll out phase-one operational cost-saving measures.</a:t>
            </a:r>
            <a:endParaRPr lang="en-US" sz="1200" b="0" i="0" u="none" strike="noStrike">
              <a:solidFill>
                <a:srgbClr val="666666"/>
              </a:solidFill>
              <a:latin typeface="Poppins"/>
              <a:ea typeface="Poppins"/>
              <a:cs typeface="Poppins"/>
              <a:sym typeface="Poppins"/>
            </a:endParaRPr>
          </a:p>
        </p:txBody>
      </p:sp>
      <p:cxnSp>
        <p:nvCxnSpPr>
          <p:cNvPr id="26" name="Connector 26"/>
          <p:cNvCxnSpPr/>
          <p:nvPr/>
        </p:nvCxnSpPr>
        <p:spPr>
          <a:xfrm rot="5342709">
            <a:off x="7556500" y="6153203"/>
            <a:ext cx="762000" cy="12700"/>
          </a:xfrm>
          <a:prstGeom prst="straightConnector1">
            <a:avLst/>
          </a:prstGeom>
          <a:solidFill>
            <a:srgbClr val="DEE0E3">
              <a:alpha val="100000"/>
            </a:srgbClr>
          </a:solidFill>
          <a:ln w="12700" cap="flat" cmpd="sng">
            <a:solidFill>
              <a:srgbClr val="4A6A6A">
                <a:alpha val="20000"/>
              </a:srgbClr>
            </a:solidFill>
            <a:prstDash val="solid"/>
            <a:round/>
            <a:headEnd type="none" w="med" len="med"/>
            <a:tailEnd type="none" w="med" len="med"/>
          </a:ln>
        </p:spPr>
      </p:cxnSp>
      <p:sp>
        <p:nvSpPr>
          <p:cNvPr id="27" name="AutoShape 27"/>
          <p:cNvSpPr/>
          <p:nvPr/>
        </p:nvSpPr>
        <p:spPr>
          <a:xfrm>
            <a:off x="8128000" y="5715000"/>
            <a:ext cx="330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A6A6A"/>
                </a:solidFill>
                <a:latin typeface="Poppins"/>
                <a:ea typeface="Poppins"/>
                <a:cs typeface="Poppins"/>
                <a:sym typeface="Poppins"/>
              </a:rPr>
              <a:t>H2: Scale &amp; Optimize</a:t>
            </a:r>
            <a:endParaRPr lang="en-US" sz="1100"/>
          </a:p>
          <a:p>
            <a:pPr marL="0" indent="0" algn="l">
              <a:lnSpc>
                <a:spcPct val="100000"/>
              </a:lnSpc>
            </a:pPr>
            <a:r>
              <a:rPr lang="en-US" sz="1200" b="0" i="0" u="none" strike="noStrike">
                <a:solidFill>
                  <a:srgbClr val="666666"/>
                </a:solidFill>
                <a:latin typeface="Poppins"/>
                <a:ea typeface="Poppins"/>
                <a:cs typeface="Poppins"/>
                <a:sym typeface="Poppins"/>
              </a:rPr>
              <a:t>Full product launch, aggressive market expansion campaigns, and refine retention programs to maximize long-term customer lifetime value.</a:t>
            </a:r>
            <a:endParaRPr lang="en-US" sz="1200" b="0" i="0" u="none" strike="noStrike">
              <a:solidFill>
                <a:srgbClr val="666666"/>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333333"/>
                </a:solidFill>
                <a:latin typeface="Poppins"/>
                <a:ea typeface="Poppins"/>
                <a:cs typeface="Poppins"/>
                <a:sym typeface="Poppins"/>
              </a:rPr>
              <a:t>Thank You</a:t>
            </a:r>
            <a:endParaRPr lang="en-US" sz="1100"/>
          </a:p>
        </p:txBody>
      </p:sp>
      <p:sp>
        <p:nvSpPr>
          <p:cNvPr id="4" name="AutoShape 4"/>
          <p:cNvSpPr/>
          <p:nvPr/>
        </p:nvSpPr>
        <p:spPr>
          <a:xfrm>
            <a:off x="5461000" y="4064000"/>
            <a:ext cx="1270000" cy="38100"/>
          </a:xfrm>
          <a:prstGeom prst="roundRect">
            <a:avLst>
              <a:gd name="adj" fmla="val 0"/>
            </a:avLst>
          </a:prstGeom>
          <a:solidFill>
            <a:srgbClr val="4A6A6A">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445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A6A6A"/>
                </a:solidFill>
                <a:latin typeface="Poppins"/>
                <a:ea typeface="Poppins"/>
                <a:cs typeface="Poppins"/>
                <a:sym typeface="Poppins"/>
              </a:rPr>
              <a:t>Questions &amp; Discussion</a:t>
            </a:r>
            <a:endParaRPr lang="en-US" sz="1100"/>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333333">
                    <a:alpha val="80000"/>
                  </a:srgbClr>
                </a:solidFill>
                <a:latin typeface="Poppins"/>
                <a:ea typeface="Poppins"/>
                <a:cs typeface="Poppins"/>
                <a:sym typeface="Poppins"/>
              </a:rPr>
              <a:t>[Your Name]  |  [Your Position]  |  [Contact Information]</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7753</Words>
  <Application>WPS 演示</Application>
  <PresentationFormat/>
  <Paragraphs>193</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10</vt:i4>
      </vt:variant>
    </vt:vector>
  </HeadingPairs>
  <TitlesOfParts>
    <vt:vector size="24" baseType="lpstr">
      <vt:lpstr>Arial</vt:lpstr>
      <vt:lpstr>宋体</vt:lpstr>
      <vt:lpstr>Wingdings</vt:lpstr>
      <vt:lpstr>Arial</vt:lpstr>
      <vt:lpstr>Poppins</vt:lpstr>
      <vt:lpstr>Thonburi</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2026-06-19T03:05:09Z</dcterms:created>
  <dcterms:modified xsi:type="dcterms:W3CDTF">2026-06-19T03:05:09Z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{"Label":"1","ContentProducer":"001191110102MACQD9K64010000","ProduceID":"7651413316989291734","ReservedCode1":"","ContentPropagator":"","PropagateID":"","ReservedCode2":""}</vt:lpwstr>
  </property>
  <property fmtid="{D5CDD505-2E9C-101B-9397-08002B2CF9AE}" pid="3" name="ICV">
    <vt:lpwstr>3964982277C56BC3E5B1346A8B689278_42</vt:lpwstr>
  </property>
  <property fmtid="{D5CDD505-2E9C-101B-9397-08002B2CF9AE}" pid="4" name="KSOProductBuildVer">
    <vt:lpwstr>2052-5.3.0.7863</vt:lpwstr>
  </property>
</Properties>
</file>
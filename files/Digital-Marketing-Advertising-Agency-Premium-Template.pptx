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Welcome to our premium presentation template, designed for the modern digital marketing professional. This template is your blueprint for crafting compelling narratives, showcasing data-driven strategies, and winning over clients in the competitive world of digital advertising. Let's begin.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comprehensive template covers six essential scenarios in digital marketing. From crafting a winning campaign proposal to analyzing ROI and building detailed consumer personas, each section is designed to equip you with the tools and language to excel in your field.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first section focuses on the Marketing Campaign Proposal. This is your playbook for structuring a compelling argument that not only addresses the client's challenges but also presents a clear, data-backed path to success.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executive summary is your elevator pitch. It must clearly state the problem, our strategic solution, and the quantifiable results we expect to achieve. This sets the stage for the detailed proposal that follows.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Understanding the market is crucial. We analyze macro trends to identify shifts like the rise of AI personalization and the move from rented to owned audiences. This allows us to pinpoint strategic opportunities in content, channels, and technology that our competitors may have missed.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channel strategy is multi-pronged. For programmatic advertising, we leverage AI to target effectively across emerging channels like CTV and DOOH. For SEO, we're moving beyond traditional keyword chasing to build content that becomes an authoritative source for AI search engines.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Content is the fuel for community. We'll create engaging content like podcasts to foster a loyal user base. On social media, we'll use a mix of platforms to achieve both broad reach and targeted professional networking, ensuring our message resonates across different audiences.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 solid plan needs a clear roadmap and a robust measurement framework. We use a phased approach to execution and define a North Star metric to keep everyone aligned. Our KPI pyramid ensures we track performance at every level, from channel-specific metrics up to business outcomes.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Next, we move to the Social Media Post-Mortem. This section is all about learning from past campaigns. We'll dissect what worked, what didn't, and provide actionable insights for future optimizations.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 start by reviewing the initial goals and then present the key performance metrics. This dashboard view provides a quick, high-level understanding of the campaign's overall success against our targets.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devil is in the details. We analyze performance by platform to understand where our budget was most effective. We also break down results by content format, revealing that video and a specific copy structure were key drivers of success.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Every campaign is a learning opportunity. We identify what worked, such as the power of user stories and optimal posting times. Equally important, we highlight what didn't work, like the poor landing page experience for TikTok users, which is crucial for future improvements.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Based on our analysis, we provide clear, actionable recommendations. Strategically, we'll shift our creative approach and budget allocation. Operationally, we'll fix the landing page and simplify the conversion path. Finally, we'll implement a rigorous testing plan to continuously improve performance.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we turn to Brand Strategy. This section moves beyond tactical execution to the strategic level, focusing on building a brand that endures and thrives in the long term by creating a permanent ecosystem of value.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 strong brand strategy starts with an honest assessment of the current state. We evaluate brand equity and confront the hard truths: Is the brand story stale? Is exclusivity being diluted? Is technology eroding the human connection? These are the challenges we aim to address.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future strategy is built on five pillars. We'll turn the brand into a cultural franchise, use AI to orchestrate seamless experiences, create exclusive participation, build trust as an asset, and ensure commerce is seamless across all touchpoints. This moves us from marketing to ecosystem building.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Strategy comes to life at the touchpoint level. We'll upgrade the website and app with immersive tech, transform social media into a community hub, reimagine physical stores as experience centers, and empower customer service to deliver magical moments.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 great brand strategy is never static. We'll continuously track brand health metrics and cultural impact. Most importantly, we'll establish a regular review process to ensure the strategy evolves and stays relevant in a dynamic market.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fourth section is the Advertising ROI Report. This is where we get scientific. We'll dive deep into attribution models, cross-channel contribution, and incrementality analysis to uncover the true return on your advertising investment.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first step in understanding ROI is choosing the right attribution model. We move beyond the simplistic last-click model to more sophisticated models like U-Shape, which give credit to both the first interaction that creates awareness and the last interaction that drives conversion.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Not all channels are created equal. We identify which channels are "Closers" that finalize sales and which are "Influencers" that build interest. Using visualizations like Sankey diagrams, we can see the customer journey and understand the true contribution of each touchpoint.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gold standard for measuring ROI is incrementality analysis. Through Lift Tests, we can determine the true value of a channel. By analyzing Marginal ROAS, we can optimize the budget, moving it from saturated channels to those that still offer high growth potential, maximizing overall return.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maintain a competitive edge, we recommend investing in technology like a CDP, establishing a regular testing cadence, and empowering the team with the skills to interpret data. This ensures that ROI analysis becomes a core, ongoing capability of the organization.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Understanding your audience is the foundation of all effective marketing. In this section, we create detailed consumer personas to help the team truly "see" and empathize with the people they are trying to reach.</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Meet Alex Chen, the "Value-Driven Autonomist." He's a tech-savvy professional who values authenticity and substance over flashy marketing. To reach him, we need to engage through trusted, niche channels and demonstrate our brand's values and quality.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meet Margaret Reynolds, the "Experience-Oriented Luminary." She represents the high-net-worth consumer who values personalized service and unique experiences. Reaching her requires a high-touch approach, emphasizing exclusivity and human connection.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Finally, we have the E-commerce Promotion Plan. This is a tactical playbook designed to drive sales by combining urgency, belonging, and personalization in a multi-layered promotional matrix.</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goal is clear: drive sales and attract new customers. The core strategy is to create a dynamic promotion plan that uses urgency, a sense of belonging, and personalization to motivate different types of shoppers.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is our promotion matrix. It's a toolkit of tactics designed for different user segments. From flash sales for impulse buyers to AR try-ons for visual shoppers, each tactic serves a specific purpose in driving conversions.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Timing is everything. We've laid out a clear execution calendar with distinct phases: pre-launch for building anticipation, launch for maximum impact, mid-campaign for maintaining engagement, and a final push for a strong finish.</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for your time. This template is more than just a set of slides; it's a strategic framework to guide your decisions and elevate your marketing efforts. We look forward to partnering with you to build the future of marketing together.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3.svg"/><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5.png"/><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svg"/><Relationship Id="rId7" Type="http://schemas.openxmlformats.org/officeDocument/2006/relationships/image" Target="../media/image10.png"/><Relationship Id="rId6" Type="http://schemas.openxmlformats.org/officeDocument/2006/relationships/image" Target="../media/image5.svg"/><Relationship Id="rId5" Type="http://schemas.openxmlformats.org/officeDocument/2006/relationships/image" Target="../media/image9.png"/><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7.jpeg"/><Relationship Id="rId10" Type="http://schemas.openxmlformats.org/officeDocument/2006/relationships/notesSlide" Target="../notesSlides/notesSlide5.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2.xml"/><Relationship Id="rId5" Type="http://schemas.openxmlformats.org/officeDocument/2006/relationships/image" Target="../media/image1.svg"/><Relationship Id="rId4" Type="http://schemas.openxmlformats.org/officeDocument/2006/relationships/image" Target="../media/image4.pn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15.png"/><Relationship Id="rId4" Type="http://schemas.openxmlformats.org/officeDocument/2006/relationships/image" Target="../media/image7.svg"/><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2.xml"/><Relationship Id="rId5" Type="http://schemas.openxmlformats.org/officeDocument/2006/relationships/image" Target="../media/image10.svg"/><Relationship Id="rId4" Type="http://schemas.openxmlformats.org/officeDocument/2006/relationships/image" Target="../media/image17.png"/><Relationship Id="rId3" Type="http://schemas.openxmlformats.org/officeDocument/2006/relationships/image" Target="../media/image9.svg"/><Relationship Id="rId2" Type="http://schemas.openxmlformats.org/officeDocument/2006/relationships/image" Target="../media/image16.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18.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14.svg"/><Relationship Id="rId8" Type="http://schemas.openxmlformats.org/officeDocument/2006/relationships/image" Target="../media/image22.png"/><Relationship Id="rId7" Type="http://schemas.openxmlformats.org/officeDocument/2006/relationships/image" Target="../media/image13.svg"/><Relationship Id="rId6" Type="http://schemas.openxmlformats.org/officeDocument/2006/relationships/image" Target="../media/image21.png"/><Relationship Id="rId5" Type="http://schemas.openxmlformats.org/officeDocument/2006/relationships/image" Target="../media/image12.svg"/><Relationship Id="rId4" Type="http://schemas.openxmlformats.org/officeDocument/2006/relationships/image" Target="../media/image20.png"/><Relationship Id="rId3" Type="http://schemas.openxmlformats.org/officeDocument/2006/relationships/image" Target="../media/image11.svg"/><Relationship Id="rId2" Type="http://schemas.openxmlformats.org/officeDocument/2006/relationships/image" Target="../media/image19.png"/><Relationship Id="rId15" Type="http://schemas.openxmlformats.org/officeDocument/2006/relationships/notesSlide" Target="../notesSlides/notesSlide11.xml"/><Relationship Id="rId14" Type="http://schemas.openxmlformats.org/officeDocument/2006/relationships/slideLayout" Target="../slideLayouts/slideLayout12.xml"/><Relationship Id="rId13" Type="http://schemas.openxmlformats.org/officeDocument/2006/relationships/image" Target="../media/image16.svg"/><Relationship Id="rId12" Type="http://schemas.openxmlformats.org/officeDocument/2006/relationships/image" Target="../media/image24.png"/><Relationship Id="rId11" Type="http://schemas.openxmlformats.org/officeDocument/2006/relationships/image" Target="../media/image15.svg"/><Relationship Id="rId10" Type="http://schemas.openxmlformats.org/officeDocument/2006/relationships/image" Target="../media/image23.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image" Target="../media/image18.svg"/><Relationship Id="rId8" Type="http://schemas.openxmlformats.org/officeDocument/2006/relationships/image" Target="../media/image26.png"/><Relationship Id="rId7" Type="http://schemas.openxmlformats.org/officeDocument/2006/relationships/image" Target="../media/image10.svg"/><Relationship Id="rId6" Type="http://schemas.openxmlformats.org/officeDocument/2006/relationships/image" Target="../media/image17.png"/><Relationship Id="rId5" Type="http://schemas.openxmlformats.org/officeDocument/2006/relationships/image" Target="../media/image17.svg"/><Relationship Id="rId4" Type="http://schemas.openxmlformats.org/officeDocument/2006/relationships/image" Target="../media/image25.png"/><Relationship Id="rId3" Type="http://schemas.openxmlformats.org/officeDocument/2006/relationships/image" Target="../media/image9.svg"/><Relationship Id="rId2" Type="http://schemas.openxmlformats.org/officeDocument/2006/relationships/image" Target="../media/image16.png"/><Relationship Id="rId15" Type="http://schemas.openxmlformats.org/officeDocument/2006/relationships/notesSlide" Target="../notesSlides/notesSlide12.xml"/><Relationship Id="rId14" Type="http://schemas.openxmlformats.org/officeDocument/2006/relationships/slideLayout" Target="../slideLayouts/slideLayout12.xml"/><Relationship Id="rId13" Type="http://schemas.openxmlformats.org/officeDocument/2006/relationships/image" Target="../media/image20.svg"/><Relationship Id="rId12" Type="http://schemas.openxmlformats.org/officeDocument/2006/relationships/image" Target="../media/image28.png"/><Relationship Id="rId11" Type="http://schemas.openxmlformats.org/officeDocument/2006/relationships/image" Target="../media/image19.svg"/><Relationship Id="rId10" Type="http://schemas.openxmlformats.org/officeDocument/2006/relationships/image" Target="../media/image27.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2.xml"/><Relationship Id="rId7" Type="http://schemas.openxmlformats.org/officeDocument/2006/relationships/image" Target="../media/image22.svg"/><Relationship Id="rId6" Type="http://schemas.openxmlformats.org/officeDocument/2006/relationships/image" Target="../media/image30.png"/><Relationship Id="rId5" Type="http://schemas.openxmlformats.org/officeDocument/2006/relationships/image" Target="../media/image21.svg"/><Relationship Id="rId4" Type="http://schemas.openxmlformats.org/officeDocument/2006/relationships/image" Target="../media/image29.png"/><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31.jpe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9" Type="http://schemas.openxmlformats.org/officeDocument/2006/relationships/image" Target="../media/image24.svg"/><Relationship Id="rId8" Type="http://schemas.openxmlformats.org/officeDocument/2006/relationships/image" Target="../media/image33.png"/><Relationship Id="rId7" Type="http://schemas.openxmlformats.org/officeDocument/2006/relationships/image" Target="../media/image7.svg"/><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8.png"/><Relationship Id="rId3" Type="http://schemas.openxmlformats.org/officeDocument/2006/relationships/image" Target="../media/image23.svg"/><Relationship Id="rId2" Type="http://schemas.openxmlformats.org/officeDocument/2006/relationships/image" Target="../media/image32.png"/><Relationship Id="rId13" Type="http://schemas.openxmlformats.org/officeDocument/2006/relationships/notesSlide" Target="../notesSlides/notesSlide16.xml"/><Relationship Id="rId12" Type="http://schemas.openxmlformats.org/officeDocument/2006/relationships/slideLayout" Target="../slideLayouts/slideLayout12.xml"/><Relationship Id="rId11" Type="http://schemas.openxmlformats.org/officeDocument/2006/relationships/image" Target="../media/image10.svg"/><Relationship Id="rId10" Type="http://schemas.openxmlformats.org/officeDocument/2006/relationships/image" Target="../media/image17.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34.jpe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12.xml"/><Relationship Id="rId7" Type="http://schemas.openxmlformats.org/officeDocument/2006/relationships/image" Target="../media/image26.svg"/><Relationship Id="rId6" Type="http://schemas.openxmlformats.org/officeDocument/2006/relationships/image" Target="../media/image36.png"/><Relationship Id="rId5" Type="http://schemas.openxmlformats.org/officeDocument/2006/relationships/image" Target="../media/image25.svg"/><Relationship Id="rId4" Type="http://schemas.openxmlformats.org/officeDocument/2006/relationships/image" Target="../media/image35.png"/><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17.png"/><Relationship Id="rId7" Type="http://schemas.openxmlformats.org/officeDocument/2006/relationships/image" Target="../media/image2.svg"/><Relationship Id="rId6" Type="http://schemas.openxmlformats.org/officeDocument/2006/relationships/image" Target="../media/image5.png"/><Relationship Id="rId5" Type="http://schemas.openxmlformats.org/officeDocument/2006/relationships/image" Target="../media/image28.svg"/><Relationship Id="rId4" Type="http://schemas.openxmlformats.org/officeDocument/2006/relationships/image" Target="../media/image38.png"/><Relationship Id="rId3" Type="http://schemas.openxmlformats.org/officeDocument/2006/relationships/image" Target="../media/image27.svg"/><Relationship Id="rId2" Type="http://schemas.openxmlformats.org/officeDocument/2006/relationships/image" Target="../media/image37.png"/><Relationship Id="rId11" Type="http://schemas.openxmlformats.org/officeDocument/2006/relationships/notesSlide" Target="../notesSlides/notesSlide20.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41.png"/><Relationship Id="rId4" Type="http://schemas.openxmlformats.org/officeDocument/2006/relationships/image" Target="../media/image29.svg"/><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2.xml"/><Relationship Id="rId7" Type="http://schemas.openxmlformats.org/officeDocument/2006/relationships/image" Target="../media/image31.svg"/><Relationship Id="rId6" Type="http://schemas.openxmlformats.org/officeDocument/2006/relationships/image" Target="../media/image42.png"/><Relationship Id="rId5" Type="http://schemas.openxmlformats.org/officeDocument/2006/relationships/image" Target="../media/image2.svg"/><Relationship Id="rId4" Type="http://schemas.openxmlformats.org/officeDocument/2006/relationships/image" Target="../media/image5.png"/><Relationship Id="rId3" Type="http://schemas.openxmlformats.org/officeDocument/2006/relationships/image" Target="../media/image22.svg"/><Relationship Id="rId2" Type="http://schemas.openxmlformats.org/officeDocument/2006/relationships/image" Target="../media/image30.pn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svg"/><Relationship Id="rId7" Type="http://schemas.openxmlformats.org/officeDocument/2006/relationships/image" Target="../media/image21.png"/><Relationship Id="rId6" Type="http://schemas.openxmlformats.org/officeDocument/2006/relationships/image" Target="../media/image22.svg"/><Relationship Id="rId5" Type="http://schemas.openxmlformats.org/officeDocument/2006/relationships/image" Target="../media/image30.png"/><Relationship Id="rId4" Type="http://schemas.openxmlformats.org/officeDocument/2006/relationships/image" Target="../media/image32.svg"/><Relationship Id="rId3" Type="http://schemas.openxmlformats.org/officeDocument/2006/relationships/image" Target="../media/image44.png"/><Relationship Id="rId2" Type="http://schemas.openxmlformats.org/officeDocument/2006/relationships/image" Target="../media/image43.jpeg"/><Relationship Id="rId10" Type="http://schemas.openxmlformats.org/officeDocument/2006/relationships/notesSlide" Target="../notesSlides/notesSlide23.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35.svg"/><Relationship Id="rId7" Type="http://schemas.openxmlformats.org/officeDocument/2006/relationships/image" Target="../media/image48.png"/><Relationship Id="rId6" Type="http://schemas.openxmlformats.org/officeDocument/2006/relationships/image" Target="../media/image34.svg"/><Relationship Id="rId5" Type="http://schemas.openxmlformats.org/officeDocument/2006/relationships/image" Target="../media/image47.png"/><Relationship Id="rId4" Type="http://schemas.openxmlformats.org/officeDocument/2006/relationships/image" Target="../media/image33.svg"/><Relationship Id="rId3" Type="http://schemas.openxmlformats.org/officeDocument/2006/relationships/image" Target="../media/image46.png"/><Relationship Id="rId2" Type="http://schemas.openxmlformats.org/officeDocument/2006/relationships/image" Target="../media/image45.jpeg"/><Relationship Id="rId12" Type="http://schemas.openxmlformats.org/officeDocument/2006/relationships/notesSlide" Target="../notesSlides/notesSlide25.xml"/><Relationship Id="rId11" Type="http://schemas.openxmlformats.org/officeDocument/2006/relationships/slideLayout" Target="../slideLayouts/slideLayout12.xml"/><Relationship Id="rId10" Type="http://schemas.openxmlformats.org/officeDocument/2006/relationships/image" Target="../media/image36.sv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2.xml"/><Relationship Id="rId6" Type="http://schemas.openxmlformats.org/officeDocument/2006/relationships/image" Target="../media/image52.jpeg"/><Relationship Id="rId5" Type="http://schemas.openxmlformats.org/officeDocument/2006/relationships/image" Target="../media/image38.svg"/><Relationship Id="rId4" Type="http://schemas.openxmlformats.org/officeDocument/2006/relationships/image" Target="../media/image51.png"/><Relationship Id="rId3" Type="http://schemas.openxmlformats.org/officeDocument/2006/relationships/image" Target="../media/image37.svg"/><Relationship Id="rId2" Type="http://schemas.openxmlformats.org/officeDocument/2006/relationships/image" Target="../media/image50.pn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9" Type="http://schemas.openxmlformats.org/officeDocument/2006/relationships/image" Target="../media/image7.svg"/><Relationship Id="rId8" Type="http://schemas.openxmlformats.org/officeDocument/2006/relationships/image" Target="../media/image14.png"/><Relationship Id="rId7" Type="http://schemas.openxmlformats.org/officeDocument/2006/relationships/image" Target="../media/image40.svg"/><Relationship Id="rId6" Type="http://schemas.openxmlformats.org/officeDocument/2006/relationships/image" Target="../media/image54.png"/><Relationship Id="rId5" Type="http://schemas.openxmlformats.org/officeDocument/2006/relationships/image" Target="../media/image39.svg"/><Relationship Id="rId4" Type="http://schemas.openxmlformats.org/officeDocument/2006/relationships/image" Target="../media/image53.png"/><Relationship Id="rId3" Type="http://schemas.openxmlformats.org/officeDocument/2006/relationships/image" Target="../media/image2.svg"/><Relationship Id="rId2" Type="http://schemas.openxmlformats.org/officeDocument/2006/relationships/image" Target="../media/image5.png"/><Relationship Id="rId13" Type="http://schemas.openxmlformats.org/officeDocument/2006/relationships/notesSlide" Target="../notesSlides/notesSlide28.xml"/><Relationship Id="rId12" Type="http://schemas.openxmlformats.org/officeDocument/2006/relationships/slideLayout" Target="../slideLayouts/slideLayout12.xml"/><Relationship Id="rId11" Type="http://schemas.openxmlformats.org/officeDocument/2006/relationships/image" Target="../media/image41.svg"/><Relationship Id="rId10" Type="http://schemas.openxmlformats.org/officeDocument/2006/relationships/image" Target="../media/image55.pn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2.xml"/><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90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200" b="1" i="0" u="none" strike="noStrike">
                <a:solidFill>
                  <a:srgbClr val="FFFFFF"/>
                </a:solidFill>
                <a:latin typeface="Poppins"/>
                <a:ea typeface="Poppins"/>
                <a:cs typeface="Poppins"/>
                <a:sym typeface="Poppins"/>
              </a:rPr>
              <a:t>Digital Marketing Excellence</a:t>
            </a:r>
            <a:endParaRPr lang="en-US" sz="1100"/>
          </a:p>
        </p:txBody>
      </p:sp>
      <p:sp>
        <p:nvSpPr>
          <p:cNvPr id="4" name="AutoShape 4"/>
          <p:cNvSpPr/>
          <p:nvPr/>
        </p:nvSpPr>
        <p:spPr>
          <a:xfrm>
            <a:off x="762000" y="3302000"/>
            <a:ext cx="1270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3810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FFFFFF">
                    <a:alpha val="90196"/>
                  </a:srgbClr>
                </a:solidFill>
                <a:latin typeface="Poppins"/>
                <a:ea typeface="Poppins"/>
                <a:cs typeface="Poppins"/>
                <a:sym typeface="Poppins"/>
              </a:rPr>
              <a:t>A Premium Template for Agencies &amp; Brands — Crafting compelling narratives, showcasing data-driven strategies, and elevating client engagement in the competitive digital landscape.</a:t>
            </a:r>
            <a:endParaRPr lang="en-US" sz="1100"/>
          </a:p>
        </p:txBody>
      </p:sp>
      <p:sp>
        <p:nvSpPr>
          <p:cNvPr id="6" name="AutoShape 6"/>
          <p:cNvSpPr/>
          <p:nvPr/>
        </p:nvSpPr>
        <p:spPr>
          <a:xfrm>
            <a:off x="762000" y="5588000"/>
            <a:ext cx="10668000" cy="12700"/>
          </a:xfrm>
          <a:prstGeom prst="roundRect">
            <a:avLst>
              <a:gd name="adj" fmla="val 0"/>
            </a:avLst>
          </a:prstGeom>
          <a:solidFill>
            <a:srgbClr val="D4AF37">
              <a:alpha val="3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5842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70196"/>
                  </a:srgbClr>
                </a:solidFill>
                <a:latin typeface="Poppins"/>
                <a:ea typeface="Poppins"/>
                <a:cs typeface="Poppins"/>
                <a:sym typeface="Poppins"/>
              </a:rPr>
              <a:t>STRATEGIC GROWTH &amp; CREATIVE INNOVATION</a:t>
            </a:r>
            <a:endParaRPr lang="en-US" sz="1100"/>
          </a:p>
        </p:txBody>
      </p:sp>
      <p:sp>
        <p:nvSpPr>
          <p:cNvPr id="8" name="AutoShape 8"/>
          <p:cNvSpPr/>
          <p:nvPr/>
        </p:nvSpPr>
        <p:spPr>
          <a:xfrm>
            <a:off x="6223000" y="5842000"/>
            <a:ext cx="5207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400" b="0" i="0" u="none" strike="noStrike">
                <a:solidFill>
                  <a:srgbClr val="D4AF37">
                    <a:alpha val="90196"/>
                  </a:srgbClr>
                </a:solidFill>
                <a:latin typeface="Poppins"/>
                <a:ea typeface="Poppins"/>
                <a:cs typeface="Poppins"/>
                <a:sym typeface="Poppins"/>
              </a:rPr>
              <a:t>DESIGNED FOR THE MODERN MARKETING PROFESSIONAL</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CONTENTS</a:t>
            </a:r>
            <a:endParaRPr lang="en-US" sz="1100"/>
          </a:p>
        </p:txBody>
      </p:sp>
      <p:sp>
        <p:nvSpPr>
          <p:cNvPr id="4" name="AutoShape 4"/>
          <p:cNvSpPr/>
          <p:nvPr/>
        </p:nvSpPr>
        <p:spPr>
          <a:xfrm>
            <a:off x="762000" y="1333500"/>
            <a:ext cx="10668000" cy="12700"/>
          </a:xfrm>
          <a:prstGeom prst="roundRect">
            <a:avLst>
              <a:gd name="adj" fmla="val 0"/>
            </a:avLst>
          </a:prstGeom>
          <a:solidFill>
            <a:srgbClr val="D4AF37">
              <a:alpha val="5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50800" cy="1143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32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D4AF37"/>
                </a:solidFill>
                <a:latin typeface="Poppins"/>
                <a:ea typeface="Poppins"/>
                <a:cs typeface="Poppins"/>
                <a:sym typeface="Poppins"/>
              </a:rPr>
              <a:t>01.</a:t>
            </a:r>
            <a:r>
              <a:rPr lang="en-US" sz="1800" b="1" i="0" u="none" strike="noStrike">
                <a:solidFill>
                  <a:srgbClr val="FFFFFF"/>
                </a:solidFill>
                <a:latin typeface="Poppins"/>
                <a:ea typeface="Poppins"/>
                <a:cs typeface="Poppins"/>
                <a:sym typeface="Poppins"/>
              </a:rPr>
              <a:t>Marketing Campaign Proposal</a:t>
            </a:r>
            <a:endParaRPr lang="en-US" sz="1100"/>
          </a:p>
          <a:p>
            <a:pPr marL="0" indent="0" algn="l">
              <a:lnSpc>
                <a:spcPct val="117000"/>
              </a:lnSpc>
            </a:pPr>
            <a:r>
              <a:rPr lang="en-US" sz="1300" b="0" i="0" u="none" strike="noStrike">
                <a:solidFill>
                  <a:srgbClr val="FFFFFF">
                    <a:alpha val="80000"/>
                  </a:srgbClr>
                </a:solidFill>
                <a:latin typeface="Poppins"/>
                <a:ea typeface="Poppins"/>
                <a:cs typeface="Poppins"/>
                <a:sym typeface="Poppins"/>
              </a:rPr>
              <a:t>A strategic framework for winning pitches, outlining actionable steps to captivate stakeholders and align creative vision with business objectives.</a:t>
            </a:r>
            <a:endParaRPr lang="en-US" sz="1300" b="0" i="0" u="none" strike="noStrike">
              <a:solidFill>
                <a:srgbClr val="FFFFFF">
                  <a:alpha val="80000"/>
                </a:srgbClr>
              </a:solidFill>
              <a:latin typeface="Poppins"/>
              <a:ea typeface="Poppins"/>
              <a:cs typeface="Poppins"/>
              <a:sym typeface="Poppins"/>
            </a:endParaRPr>
          </a:p>
        </p:txBody>
      </p:sp>
      <p:sp>
        <p:nvSpPr>
          <p:cNvPr id="7" name="AutoShape 7"/>
          <p:cNvSpPr/>
          <p:nvPr/>
        </p:nvSpPr>
        <p:spPr>
          <a:xfrm>
            <a:off x="762000" y="3683000"/>
            <a:ext cx="50800" cy="1143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3683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D4AF37"/>
                </a:solidFill>
                <a:latin typeface="Poppins"/>
                <a:ea typeface="Poppins"/>
                <a:cs typeface="Poppins"/>
                <a:sym typeface="Poppins"/>
              </a:rPr>
              <a:t>02.</a:t>
            </a:r>
            <a:r>
              <a:rPr lang="en-US" sz="1800" b="1" i="0" u="none" strike="noStrike">
                <a:solidFill>
                  <a:srgbClr val="FFFFFF"/>
                </a:solidFill>
                <a:latin typeface="Poppins"/>
                <a:ea typeface="Poppins"/>
                <a:cs typeface="Poppins"/>
                <a:sym typeface="Poppins"/>
              </a:rPr>
              <a:t>Social Media Post-Mortem</a:t>
            </a:r>
            <a:endParaRPr lang="en-US" sz="1100"/>
          </a:p>
          <a:p>
            <a:pPr marL="0" indent="0" algn="l">
              <a:lnSpc>
                <a:spcPct val="117000"/>
              </a:lnSpc>
            </a:pPr>
            <a:r>
              <a:rPr lang="en-US" sz="1300" b="0" i="0" u="none" strike="noStrike">
                <a:solidFill>
                  <a:srgbClr val="FFFFFF">
                    <a:alpha val="80000"/>
                  </a:srgbClr>
                </a:solidFill>
                <a:latin typeface="Poppins"/>
                <a:ea typeface="Poppins"/>
                <a:cs typeface="Poppins"/>
                <a:sym typeface="Poppins"/>
              </a:rPr>
              <a:t>Data-driven analysis for continuous improvement, dissecting campaign performance to identify successes, gaps, and opportunities for future growth.</a:t>
            </a:r>
            <a:endParaRPr lang="en-US" sz="1300" b="0" i="0" u="none" strike="noStrike">
              <a:solidFill>
                <a:srgbClr val="FFFFFF">
                  <a:alpha val="80000"/>
                </a:srgbClr>
              </a:solidFill>
              <a:latin typeface="Poppins"/>
              <a:ea typeface="Poppins"/>
              <a:cs typeface="Poppins"/>
              <a:sym typeface="Poppins"/>
            </a:endParaRPr>
          </a:p>
        </p:txBody>
      </p:sp>
      <p:sp>
        <p:nvSpPr>
          <p:cNvPr id="9" name="AutoShape 9"/>
          <p:cNvSpPr/>
          <p:nvPr/>
        </p:nvSpPr>
        <p:spPr>
          <a:xfrm>
            <a:off x="762000" y="5207000"/>
            <a:ext cx="50800" cy="1143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5207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D4AF37"/>
                </a:solidFill>
                <a:latin typeface="Poppins"/>
                <a:ea typeface="Poppins"/>
                <a:cs typeface="Poppins"/>
                <a:sym typeface="Poppins"/>
              </a:rPr>
              <a:t>03.</a:t>
            </a:r>
            <a:r>
              <a:rPr lang="en-US" sz="1800" b="1" i="0" u="none" strike="noStrike">
                <a:solidFill>
                  <a:srgbClr val="FFFFFF"/>
                </a:solidFill>
                <a:latin typeface="Poppins"/>
                <a:ea typeface="Poppins"/>
                <a:cs typeface="Poppins"/>
                <a:sym typeface="Poppins"/>
              </a:rPr>
              <a:t>Brand Strategy</a:t>
            </a:r>
            <a:endParaRPr lang="en-US" sz="1100"/>
          </a:p>
          <a:p>
            <a:pPr marL="0" indent="0" algn="l">
              <a:lnSpc>
                <a:spcPct val="117000"/>
              </a:lnSpc>
            </a:pPr>
            <a:r>
              <a:rPr lang="en-US" sz="1300" b="0" i="0" u="none" strike="noStrike">
                <a:solidFill>
                  <a:srgbClr val="FFFFFF">
                    <a:alpha val="80000"/>
                  </a:srgbClr>
                </a:solidFill>
                <a:latin typeface="Poppins"/>
                <a:ea typeface="Poppins"/>
                <a:cs typeface="Poppins"/>
                <a:sym typeface="Poppins"/>
              </a:rPr>
              <a:t>Building a permanent ecosystem for brand loyalty, crafting a cohesive identity that resonates deeply and fosters long-term customer connection.</a:t>
            </a:r>
            <a:endParaRPr lang="en-US" sz="1300" b="0" i="0" u="none" strike="noStrike">
              <a:solidFill>
                <a:srgbClr val="FFFFFF">
                  <a:alpha val="80000"/>
                </a:srgbClr>
              </a:solidFill>
              <a:latin typeface="Poppins"/>
              <a:ea typeface="Poppins"/>
              <a:cs typeface="Poppins"/>
              <a:sym typeface="Poppins"/>
            </a:endParaRPr>
          </a:p>
        </p:txBody>
      </p:sp>
      <p:cxnSp>
        <p:nvCxnSpPr>
          <p:cNvPr id="11" name="Connector 11"/>
          <p:cNvCxnSpPr/>
          <p:nvPr/>
        </p:nvCxnSpPr>
        <p:spPr>
          <a:xfrm rot="5389889">
            <a:off x="4127500" y="4184659"/>
            <a:ext cx="4318000" cy="12700"/>
          </a:xfrm>
          <a:prstGeom prst="straightConnector1">
            <a:avLst/>
          </a:prstGeom>
          <a:solidFill>
            <a:srgbClr val="DEE0E3">
              <a:alpha val="100000"/>
            </a:srgbClr>
          </a:solidFill>
          <a:ln w="12700" cap="flat" cmpd="sng">
            <a:solidFill>
              <a:srgbClr val="D4AF37">
                <a:alpha val="25000"/>
              </a:srgbClr>
            </a:solidFill>
            <a:prstDash val="solid"/>
            <a:round/>
            <a:headEnd type="none" w="med" len="med"/>
            <a:tailEnd type="none" w="med" len="med"/>
          </a:ln>
        </p:spPr>
      </p:cxnSp>
      <p:sp>
        <p:nvSpPr>
          <p:cNvPr id="12" name="AutoShape 12"/>
          <p:cNvSpPr/>
          <p:nvPr/>
        </p:nvSpPr>
        <p:spPr>
          <a:xfrm>
            <a:off x="6477000" y="2032000"/>
            <a:ext cx="50800" cy="1143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731000" y="2032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D4AF37"/>
                </a:solidFill>
                <a:latin typeface="Poppins"/>
                <a:ea typeface="Poppins"/>
                <a:cs typeface="Poppins"/>
                <a:sym typeface="Poppins"/>
              </a:rPr>
              <a:t>04.</a:t>
            </a:r>
            <a:r>
              <a:rPr lang="en-US" sz="1800" b="1" i="0" u="none" strike="noStrike">
                <a:solidFill>
                  <a:srgbClr val="FFFFFF"/>
                </a:solidFill>
                <a:latin typeface="Poppins"/>
                <a:ea typeface="Poppins"/>
                <a:cs typeface="Poppins"/>
                <a:sym typeface="Poppins"/>
              </a:rPr>
              <a:t>Advertising ROI Report</a:t>
            </a:r>
            <a:endParaRPr lang="en-US" sz="1100"/>
          </a:p>
          <a:p>
            <a:pPr marL="0" indent="0" algn="l">
              <a:lnSpc>
                <a:spcPct val="117000"/>
              </a:lnSpc>
            </a:pPr>
            <a:r>
              <a:rPr lang="en-US" sz="1300" b="0" i="0" u="none" strike="noStrike">
                <a:solidFill>
                  <a:srgbClr val="FFFFFF">
                    <a:alpha val="80000"/>
                  </a:srgbClr>
                </a:solidFill>
                <a:latin typeface="Poppins"/>
                <a:ea typeface="Poppins"/>
                <a:cs typeface="Poppins"/>
                <a:sym typeface="Poppins"/>
              </a:rPr>
              <a:t>Uncovering the true value of your ad spend, translating complex metrics into clear insights that demonstrate tangible returns and guide budget allocation.</a:t>
            </a:r>
            <a:endParaRPr lang="en-US" sz="1300" b="0" i="0" u="none" strike="noStrike">
              <a:solidFill>
                <a:srgbClr val="FFFFFF">
                  <a:alpha val="80000"/>
                </a:srgbClr>
              </a:solidFill>
              <a:latin typeface="Poppins"/>
              <a:ea typeface="Poppins"/>
              <a:cs typeface="Poppins"/>
              <a:sym typeface="Poppins"/>
            </a:endParaRPr>
          </a:p>
        </p:txBody>
      </p:sp>
      <p:sp>
        <p:nvSpPr>
          <p:cNvPr id="14" name="AutoShape 14"/>
          <p:cNvSpPr/>
          <p:nvPr/>
        </p:nvSpPr>
        <p:spPr>
          <a:xfrm>
            <a:off x="6477000" y="3683000"/>
            <a:ext cx="50800" cy="1143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731000" y="3683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D4AF37"/>
                </a:solidFill>
                <a:latin typeface="Poppins"/>
                <a:ea typeface="Poppins"/>
                <a:cs typeface="Poppins"/>
                <a:sym typeface="Poppins"/>
              </a:rPr>
              <a:t>05.</a:t>
            </a:r>
            <a:r>
              <a:rPr lang="en-US" sz="1800" b="1" i="0" u="none" strike="noStrike">
                <a:solidFill>
                  <a:srgbClr val="FFFFFF"/>
                </a:solidFill>
                <a:latin typeface="Poppins"/>
                <a:ea typeface="Poppins"/>
                <a:cs typeface="Poppins"/>
                <a:sym typeface="Poppins"/>
              </a:rPr>
              <a:t>Consumer Persona</a:t>
            </a:r>
            <a:endParaRPr lang="en-US" sz="1100"/>
          </a:p>
          <a:p>
            <a:pPr marL="0" indent="0" algn="l">
              <a:lnSpc>
                <a:spcPct val="117000"/>
              </a:lnSpc>
            </a:pPr>
            <a:r>
              <a:rPr lang="en-US" sz="1300" b="0" i="0" u="none" strike="noStrike">
                <a:solidFill>
                  <a:srgbClr val="FFFFFF">
                    <a:alpha val="80000"/>
                  </a:srgbClr>
                </a:solidFill>
                <a:latin typeface="Poppins"/>
                <a:ea typeface="Poppins"/>
                <a:cs typeface="Poppins"/>
                <a:sym typeface="Poppins"/>
              </a:rPr>
              <a:t>Deep diving into your audience's psyche, creating detailed profiles to understand motivations, behaviors, and pain points for hyper-targeted messaging.</a:t>
            </a:r>
            <a:endParaRPr lang="en-US" sz="1300" b="0" i="0" u="none" strike="noStrike">
              <a:solidFill>
                <a:srgbClr val="FFFFFF">
                  <a:alpha val="80000"/>
                </a:srgbClr>
              </a:solidFill>
              <a:latin typeface="Poppins"/>
              <a:ea typeface="Poppins"/>
              <a:cs typeface="Poppins"/>
              <a:sym typeface="Poppins"/>
            </a:endParaRPr>
          </a:p>
        </p:txBody>
      </p:sp>
      <p:sp>
        <p:nvSpPr>
          <p:cNvPr id="16" name="AutoShape 16"/>
          <p:cNvSpPr/>
          <p:nvPr/>
        </p:nvSpPr>
        <p:spPr>
          <a:xfrm>
            <a:off x="6477000" y="5207000"/>
            <a:ext cx="50800" cy="1143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731000" y="5207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D4AF37"/>
                </a:solidFill>
                <a:latin typeface="Poppins"/>
                <a:ea typeface="Poppins"/>
                <a:cs typeface="Poppins"/>
                <a:sym typeface="Poppins"/>
              </a:rPr>
              <a:t>06.</a:t>
            </a:r>
            <a:r>
              <a:rPr lang="en-US" sz="1800" b="1" i="0" u="none" strike="noStrike">
                <a:solidFill>
                  <a:srgbClr val="FFFFFF"/>
                </a:solidFill>
                <a:latin typeface="Poppins"/>
                <a:ea typeface="Poppins"/>
                <a:cs typeface="Poppins"/>
                <a:sym typeface="Poppins"/>
              </a:rPr>
              <a:t>E-commerce Promotion Plan</a:t>
            </a:r>
            <a:endParaRPr lang="en-US" sz="1100"/>
          </a:p>
          <a:p>
            <a:pPr marL="0" indent="0" algn="l">
              <a:lnSpc>
                <a:spcPct val="117000"/>
              </a:lnSpc>
            </a:pPr>
            <a:r>
              <a:rPr lang="en-US" sz="1300" b="0" i="0" u="none" strike="noStrike">
                <a:solidFill>
                  <a:srgbClr val="FFFFFF">
                    <a:alpha val="80000"/>
                  </a:srgbClr>
                </a:solidFill>
                <a:latin typeface="Poppins"/>
                <a:ea typeface="Poppins"/>
                <a:cs typeface="Poppins"/>
                <a:sym typeface="Poppins"/>
              </a:rPr>
              <a:t>A tactical playbook for driving sales, combining promotional calendar planning, channel optimization, and conversion strategies to boost revenue.</a:t>
            </a:r>
            <a:endParaRPr lang="en-US" sz="1300" b="0" i="0" u="none" strike="noStrike">
              <a:solidFill>
                <a:srgbClr val="FFFFFF">
                  <a:alpha val="80000"/>
                </a:srgbClr>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90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0" b="1" i="0" u="none" strike="noStrike">
                <a:solidFill>
                  <a:srgbClr val="D4AF37"/>
                </a:solidFill>
                <a:latin typeface="Poppins"/>
                <a:ea typeface="Poppins"/>
                <a:cs typeface="Poppins"/>
                <a:sym typeface="Poppins"/>
              </a:rPr>
              <a:t>01</a:t>
            </a:r>
            <a:endParaRPr lang="en-US" sz="1100"/>
          </a:p>
        </p:txBody>
      </p:sp>
      <p:sp>
        <p:nvSpPr>
          <p:cNvPr id="4" name="AutoShape 4"/>
          <p:cNvSpPr/>
          <p:nvPr/>
        </p:nvSpPr>
        <p:spPr>
          <a:xfrm>
            <a:off x="5461000" y="4572000"/>
            <a:ext cx="1270000" cy="254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508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Poppins"/>
                <a:ea typeface="Poppins"/>
                <a:cs typeface="Poppins"/>
                <a:sym typeface="Poppins"/>
              </a:rPr>
              <a:t>Marketing Campaign Proposal</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Executive Summary: Our Strategic Thesis</a:t>
            </a:r>
            <a:endParaRPr lang="en-US" sz="1100"/>
          </a:p>
        </p:txBody>
      </p:sp>
      <p:sp>
        <p:nvSpPr>
          <p:cNvPr id="4" name="AutoShape 4"/>
          <p:cNvSpPr/>
          <p:nvPr/>
        </p:nvSpPr>
        <p:spPr>
          <a:xfrm>
            <a:off x="762000" y="1651000"/>
            <a:ext cx="5270500" cy="1778000"/>
          </a:xfrm>
          <a:prstGeom prst="roundRect">
            <a:avLst>
              <a:gd name="adj" fmla="val 0"/>
            </a:avLst>
          </a:prstGeom>
          <a:solidFill>
            <a:srgbClr val="FFFFFF">
              <a:alpha val="7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76200" cy="1778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01 / THE IMPERATIVE: THE 2026 LANDSCAPE</a:t>
            </a:r>
            <a:endParaRPr lang="en-US" sz="1100"/>
          </a:p>
        </p:txBody>
      </p:sp>
      <p:cxnSp>
        <p:nvCxnSpPr>
          <p:cNvPr id="7" name="Connector 7"/>
          <p:cNvCxnSpPr/>
          <p:nvPr/>
        </p:nvCxnSpPr>
        <p:spPr>
          <a:xfrm rot="-9167">
            <a:off x="1016008" y="2216150"/>
            <a:ext cx="4762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8" name="AutoShape 8"/>
          <p:cNvSpPr/>
          <p:nvPr/>
        </p:nvSpPr>
        <p:spPr>
          <a:xfrm>
            <a:off x="1016000" y="2349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44444"/>
                </a:solidFill>
                <a:latin typeface="Poppins"/>
                <a:ea typeface="Poppins"/>
                <a:cs typeface="Poppins"/>
                <a:sym typeface="Poppins"/>
              </a:rPr>
              <a:t>The digital realm is defined by AI-driven hyper-personalization and fragmented consumer attention. Brands grapple with escalating Customer Acquisition Costs (CAC), a diluted brand voice across cluttered channels, and rapidly declining user loyalty in an experience-first market.</a:t>
            </a:r>
            <a:endParaRPr lang="en-US" sz="1100"/>
          </a:p>
        </p:txBody>
      </p:sp>
      <p:sp>
        <p:nvSpPr>
          <p:cNvPr id="9" name="AutoShape 9"/>
          <p:cNvSpPr/>
          <p:nvPr/>
        </p:nvSpPr>
        <p:spPr>
          <a:xfrm>
            <a:off x="6286500" y="1651000"/>
            <a:ext cx="5270500" cy="1778000"/>
          </a:xfrm>
          <a:prstGeom prst="roundRect">
            <a:avLst>
              <a:gd name="adj" fmla="val 0"/>
            </a:avLst>
          </a:prstGeom>
          <a:solidFill>
            <a:srgbClr val="FFFFFF">
              <a:alpha val="7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286500" y="1651000"/>
            <a:ext cx="76200" cy="1778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540500" y="1778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02 / STRATEGIC THESIS: COMMUNITY-LED GROWTH</a:t>
            </a:r>
            <a:endParaRPr lang="en-US" sz="1100"/>
          </a:p>
        </p:txBody>
      </p:sp>
      <p:cxnSp>
        <p:nvCxnSpPr>
          <p:cNvPr id="12" name="Connector 12"/>
          <p:cNvCxnSpPr/>
          <p:nvPr/>
        </p:nvCxnSpPr>
        <p:spPr>
          <a:xfrm rot="-9167">
            <a:off x="6540508" y="2216150"/>
            <a:ext cx="4762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3" name="AutoShape 13"/>
          <p:cNvSpPr/>
          <p:nvPr/>
        </p:nvSpPr>
        <p:spPr>
          <a:xfrm>
            <a:off x="6540500" y="2349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44444"/>
                </a:solidFill>
                <a:latin typeface="Poppins"/>
                <a:ea typeface="Poppins"/>
                <a:cs typeface="Poppins"/>
                <a:sym typeface="Poppins"/>
              </a:rPr>
              <a:t>We propose an integrated ecosystem that unites AI-powered hyper-personalization with cross-channel attribution optimization. By centering the strategy on building authentic, value-driven communities, we create a sustainable growth flywheel that aligns brand purpose with consumer identity.</a:t>
            </a:r>
            <a:endParaRPr lang="en-US" sz="1100"/>
          </a:p>
        </p:txBody>
      </p:sp>
      <p:sp>
        <p:nvSpPr>
          <p:cNvPr id="14" name="AutoShape 14"/>
          <p:cNvSpPr/>
          <p:nvPr/>
        </p:nvSpPr>
        <p:spPr>
          <a:xfrm>
            <a:off x="762000" y="3937000"/>
            <a:ext cx="3492500" cy="1397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127500"/>
            <a:ext cx="304800" cy="304800"/>
          </a:xfrm>
          <a:prstGeom prst="rect">
            <a:avLst/>
          </a:prstGeom>
        </p:spPr>
      </p:pic>
      <p:sp>
        <p:nvSpPr>
          <p:cNvPr id="16" name="AutoShape 16"/>
          <p:cNvSpPr/>
          <p:nvPr/>
        </p:nvSpPr>
        <p:spPr>
          <a:xfrm>
            <a:off x="1397000" y="40894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Brand Resonance</a:t>
            </a:r>
            <a:endParaRPr lang="en-US" sz="1100"/>
          </a:p>
        </p:txBody>
      </p:sp>
      <p:cxnSp>
        <p:nvCxnSpPr>
          <p:cNvPr id="17" name="Connector 17"/>
          <p:cNvCxnSpPr/>
          <p:nvPr/>
        </p:nvCxnSpPr>
        <p:spPr>
          <a:xfrm rot="-14031">
            <a:off x="952513" y="4565650"/>
            <a:ext cx="31115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18" name="AutoShape 18"/>
          <p:cNvSpPr/>
          <p:nvPr/>
        </p:nvSpPr>
        <p:spPr>
          <a:xfrm>
            <a:off x="952500" y="4699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55555"/>
                </a:solidFill>
                <a:latin typeface="Poppins"/>
                <a:ea typeface="Poppins"/>
                <a:cs typeface="Poppins"/>
                <a:sym typeface="Poppins"/>
              </a:rPr>
              <a:t>+30% organic brand search volume and 75% positive social sentiment, establishing market authority.</a:t>
            </a:r>
            <a:endParaRPr lang="en-US" sz="1100"/>
          </a:p>
        </p:txBody>
      </p:sp>
      <p:sp>
        <p:nvSpPr>
          <p:cNvPr id="19" name="AutoShape 19"/>
          <p:cNvSpPr/>
          <p:nvPr/>
        </p:nvSpPr>
        <p:spPr>
          <a:xfrm>
            <a:off x="4470400" y="3937000"/>
            <a:ext cx="3492500" cy="1397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4127500"/>
            <a:ext cx="304800" cy="304800"/>
          </a:xfrm>
          <a:prstGeom prst="rect">
            <a:avLst/>
          </a:prstGeom>
        </p:spPr>
      </p:pic>
      <p:sp>
        <p:nvSpPr>
          <p:cNvPr id="21" name="AutoShape 21"/>
          <p:cNvSpPr/>
          <p:nvPr/>
        </p:nvSpPr>
        <p:spPr>
          <a:xfrm>
            <a:off x="5105400" y="40894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Efficient Acquisition</a:t>
            </a:r>
            <a:endParaRPr lang="en-US" sz="1100"/>
          </a:p>
        </p:txBody>
      </p:sp>
      <p:cxnSp>
        <p:nvCxnSpPr>
          <p:cNvPr id="22" name="Connector 22"/>
          <p:cNvCxnSpPr/>
          <p:nvPr/>
        </p:nvCxnSpPr>
        <p:spPr>
          <a:xfrm rot="-14031">
            <a:off x="4660913" y="4565650"/>
            <a:ext cx="31115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23" name="AutoShape 23"/>
          <p:cNvSpPr/>
          <p:nvPr/>
        </p:nvSpPr>
        <p:spPr>
          <a:xfrm>
            <a:off x="4660900" y="4699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55555"/>
                </a:solidFill>
                <a:latin typeface="Poppins"/>
                <a:ea typeface="Poppins"/>
                <a:cs typeface="Poppins"/>
                <a:sym typeface="Poppins"/>
              </a:rPr>
              <a:t>20% reduction in CAC paired with a 15% lift in new customer conversion via high-intent targeting.</a:t>
            </a:r>
            <a:endParaRPr lang="en-US" sz="1100"/>
          </a:p>
        </p:txBody>
      </p:sp>
      <p:sp>
        <p:nvSpPr>
          <p:cNvPr id="24" name="AutoShape 24"/>
          <p:cNvSpPr/>
          <p:nvPr/>
        </p:nvSpPr>
        <p:spPr>
          <a:xfrm>
            <a:off x="8064500" y="3937000"/>
            <a:ext cx="3492500" cy="1397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4127500"/>
            <a:ext cx="304800" cy="304800"/>
          </a:xfrm>
          <a:prstGeom prst="rect">
            <a:avLst/>
          </a:prstGeom>
        </p:spPr>
      </p:pic>
      <p:sp>
        <p:nvSpPr>
          <p:cNvPr id="26" name="AutoShape 26"/>
          <p:cNvSpPr/>
          <p:nvPr/>
        </p:nvSpPr>
        <p:spPr>
          <a:xfrm>
            <a:off x="8699500" y="40894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Revenue Optimization</a:t>
            </a:r>
            <a:endParaRPr lang="en-US" sz="1100"/>
          </a:p>
        </p:txBody>
      </p:sp>
      <p:cxnSp>
        <p:nvCxnSpPr>
          <p:cNvPr id="27" name="Connector 27"/>
          <p:cNvCxnSpPr/>
          <p:nvPr/>
        </p:nvCxnSpPr>
        <p:spPr>
          <a:xfrm rot="-14031">
            <a:off x="8255013" y="4565650"/>
            <a:ext cx="31115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28" name="AutoShape 28"/>
          <p:cNvSpPr/>
          <p:nvPr/>
        </p:nvSpPr>
        <p:spPr>
          <a:xfrm>
            <a:off x="8255000" y="4699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55555"/>
                </a:solidFill>
                <a:latin typeface="Poppins"/>
                <a:ea typeface="Poppins"/>
                <a:cs typeface="Poppins"/>
                <a:sym typeface="Poppins"/>
              </a:rPr>
              <a:t>Achieving a 6:1 ROAS and driving a 25% increase in Customer Lifetime Value (LTV) through retention.</a:t>
            </a:r>
            <a:endParaRPr lang="en-US" sz="1100"/>
          </a:p>
        </p:txBody>
      </p:sp>
      <p:cxnSp>
        <p:nvCxnSpPr>
          <p:cNvPr id="29" name="Connector 29"/>
          <p:cNvCxnSpPr/>
          <p:nvPr/>
        </p:nvCxnSpPr>
        <p:spPr>
          <a:xfrm rot="-4092">
            <a:off x="762004" y="5645150"/>
            <a:ext cx="1066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30" name="AutoShape 30"/>
          <p:cNvSpPr/>
          <p:nvPr/>
        </p:nvSpPr>
        <p:spPr>
          <a:xfrm>
            <a:off x="762000" y="5842000"/>
            <a:ext cx="260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40%</a:t>
            </a:r>
            <a:r>
              <a:rPr lang="en-US" sz="1300" b="0" i="0" u="none" strike="noStrike">
                <a:solidFill>
                  <a:srgbClr val="333333"/>
                </a:solidFill>
                <a:latin typeface="Poppins"/>
                <a:ea typeface="Poppins"/>
                <a:cs typeface="Poppins"/>
                <a:sym typeface="Poppins"/>
              </a:rPr>
              <a:t>Programmatic Ads</a:t>
            </a:r>
            <a:endParaRPr lang="en-US" sz="1100"/>
          </a:p>
          <a:p>
            <a:pPr marL="0" indent="0" algn="l">
              <a:lnSpc>
                <a:spcPct val="100000"/>
              </a:lnSpc>
            </a:pPr>
            <a:r>
              <a:rPr lang="en-US" sz="1100" b="0" i="0" u="none" strike="noStrike">
                <a:solidFill>
                  <a:srgbClr val="666666"/>
                </a:solidFill>
                <a:latin typeface="Poppins"/>
                <a:ea typeface="Poppins"/>
                <a:cs typeface="Poppins"/>
                <a:sym typeface="Poppins"/>
              </a:rPr>
              <a:t>Data-driven, hyper-targeted media placement for maximum reach efficiency.</a:t>
            </a:r>
            <a:endParaRPr lang="en-US" sz="1100" b="0" i="0" u="none" strike="noStrike">
              <a:solidFill>
                <a:srgbClr val="666666"/>
              </a:solidFill>
              <a:latin typeface="Poppins"/>
              <a:ea typeface="Poppins"/>
              <a:cs typeface="Poppins"/>
              <a:sym typeface="Poppins"/>
            </a:endParaRPr>
          </a:p>
        </p:txBody>
      </p:sp>
      <p:cxnSp>
        <p:nvCxnSpPr>
          <p:cNvPr id="31" name="Connector 31"/>
          <p:cNvCxnSpPr/>
          <p:nvPr/>
        </p:nvCxnSpPr>
        <p:spPr>
          <a:xfrm rot="5331254">
            <a:off x="3175000" y="6216713"/>
            <a:ext cx="635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32" name="AutoShape 32"/>
          <p:cNvSpPr/>
          <p:nvPr/>
        </p:nvSpPr>
        <p:spPr>
          <a:xfrm>
            <a:off x="3619500" y="5842000"/>
            <a:ext cx="260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30%</a:t>
            </a:r>
            <a:r>
              <a:rPr lang="en-US" sz="1300" b="0" i="0" u="none" strike="noStrike">
                <a:solidFill>
                  <a:srgbClr val="333333"/>
                </a:solidFill>
                <a:latin typeface="Poppins"/>
                <a:ea typeface="Poppins"/>
                <a:cs typeface="Poppins"/>
                <a:sym typeface="Poppins"/>
              </a:rPr>
              <a:t>Content &amp; Community</a:t>
            </a:r>
            <a:endParaRPr lang="en-US" sz="1100"/>
          </a:p>
          <a:p>
            <a:pPr marL="0" indent="0" algn="l">
              <a:lnSpc>
                <a:spcPct val="100000"/>
              </a:lnSpc>
            </a:pPr>
            <a:r>
              <a:rPr lang="en-US" sz="1100" b="0" i="0" u="none" strike="noStrike">
                <a:solidFill>
                  <a:srgbClr val="666666"/>
                </a:solidFill>
                <a:latin typeface="Poppins"/>
                <a:ea typeface="Poppins"/>
                <a:cs typeface="Poppins"/>
                <a:sym typeface="Poppins"/>
              </a:rPr>
              <a:t>Authentic storytelling and platform cultivation to build loyal user bases.</a:t>
            </a:r>
            <a:endParaRPr lang="en-US" sz="1100" b="0" i="0" u="none" strike="noStrike">
              <a:solidFill>
                <a:srgbClr val="666666"/>
              </a:solidFill>
              <a:latin typeface="Poppins"/>
              <a:ea typeface="Poppins"/>
              <a:cs typeface="Poppins"/>
              <a:sym typeface="Poppins"/>
            </a:endParaRPr>
          </a:p>
        </p:txBody>
      </p:sp>
      <p:cxnSp>
        <p:nvCxnSpPr>
          <p:cNvPr id="33" name="Connector 33"/>
          <p:cNvCxnSpPr/>
          <p:nvPr/>
        </p:nvCxnSpPr>
        <p:spPr>
          <a:xfrm rot="5331254">
            <a:off x="6032500" y="6216713"/>
            <a:ext cx="635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34" name="AutoShape 34"/>
          <p:cNvSpPr/>
          <p:nvPr/>
        </p:nvSpPr>
        <p:spPr>
          <a:xfrm>
            <a:off x="6477000" y="5842000"/>
            <a:ext cx="260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20%</a:t>
            </a:r>
            <a:r>
              <a:rPr lang="en-US" sz="1300" b="0" i="0" u="none" strike="noStrike">
                <a:solidFill>
                  <a:srgbClr val="333333"/>
                </a:solidFill>
                <a:latin typeface="Poppins"/>
                <a:ea typeface="Poppins"/>
                <a:cs typeface="Poppins"/>
                <a:sym typeface="Poppins"/>
              </a:rPr>
              <a:t>SEO &amp; Technology</a:t>
            </a:r>
            <a:endParaRPr lang="en-US" sz="1100"/>
          </a:p>
          <a:p>
            <a:pPr marL="0" indent="0" algn="l">
              <a:lnSpc>
                <a:spcPct val="100000"/>
              </a:lnSpc>
            </a:pPr>
            <a:r>
              <a:rPr lang="en-US" sz="1100" b="0" i="0" u="none" strike="noStrike">
                <a:solidFill>
                  <a:srgbClr val="666666"/>
                </a:solidFill>
                <a:latin typeface="Poppins"/>
                <a:ea typeface="Poppins"/>
                <a:cs typeface="Poppins"/>
                <a:sym typeface="Poppins"/>
              </a:rPr>
              <a:t>Technical infrastructure and organic search dominance for sustainable visibility.</a:t>
            </a:r>
            <a:endParaRPr lang="en-US" sz="1100" b="0" i="0" u="none" strike="noStrike">
              <a:solidFill>
                <a:srgbClr val="666666"/>
              </a:solidFill>
              <a:latin typeface="Poppins"/>
              <a:ea typeface="Poppins"/>
              <a:cs typeface="Poppins"/>
              <a:sym typeface="Poppins"/>
            </a:endParaRPr>
          </a:p>
        </p:txBody>
      </p:sp>
      <p:cxnSp>
        <p:nvCxnSpPr>
          <p:cNvPr id="35" name="Connector 35"/>
          <p:cNvCxnSpPr/>
          <p:nvPr/>
        </p:nvCxnSpPr>
        <p:spPr>
          <a:xfrm rot="5331254">
            <a:off x="8763000" y="6216713"/>
            <a:ext cx="635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36" name="AutoShape 36"/>
          <p:cNvSpPr/>
          <p:nvPr/>
        </p:nvSpPr>
        <p:spPr>
          <a:xfrm>
            <a:off x="9207500" y="5842000"/>
            <a:ext cx="260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10%</a:t>
            </a:r>
            <a:r>
              <a:rPr lang="en-US" sz="1300" b="0" i="0" u="none" strike="noStrike">
                <a:solidFill>
                  <a:srgbClr val="333333"/>
                </a:solidFill>
                <a:latin typeface="Poppins"/>
                <a:ea typeface="Poppins"/>
                <a:cs typeface="Poppins"/>
                <a:sym typeface="Poppins"/>
              </a:rPr>
              <a:t>KOL Partnerships</a:t>
            </a:r>
            <a:endParaRPr lang="en-US" sz="1100"/>
          </a:p>
          <a:p>
            <a:pPr marL="0" indent="0" algn="l">
              <a:lnSpc>
                <a:spcPct val="100000"/>
              </a:lnSpc>
            </a:pPr>
            <a:r>
              <a:rPr lang="en-US" sz="1100" b="0" i="0" u="none" strike="noStrike">
                <a:solidFill>
                  <a:srgbClr val="666666"/>
                </a:solidFill>
                <a:latin typeface="Poppins"/>
                <a:ea typeface="Poppins"/>
                <a:cs typeface="Poppins"/>
                <a:sym typeface="Poppins"/>
              </a:rPr>
              <a:t>Micro-influencer collaborations to amplify reach and credibility in niche markets.</a:t>
            </a:r>
            <a:endParaRPr lang="en-US" sz="1100" b="0" i="0" u="none" strike="noStrike">
              <a:solidFill>
                <a:srgbClr val="666666"/>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Market Insight &amp; Opportunity Analysis</a:t>
            </a:r>
            <a:endParaRPr lang="en-US" sz="1100"/>
          </a:p>
        </p:txBody>
      </p:sp>
      <p:pic>
        <p:nvPicPr>
          <p:cNvPr id="4" name="Picture 4"/>
          <p:cNvPicPr>
            <a:picLocks noChangeAspect="1"/>
          </p:cNvPicPr>
          <p:nvPr/>
        </p:nvPicPr>
        <p:blipFill>
          <a:blip r:embed="rId2"/>
          <a:srcRect t="7870" b="7870"/>
          <a:stretch>
            <a:fillRect/>
          </a:stretch>
        </p:blipFill>
        <p:spPr>
          <a:xfrm>
            <a:off x="762000" y="1651000"/>
            <a:ext cx="4318000" cy="3302000"/>
          </a:xfrm>
          <a:prstGeom prst="rect">
            <a:avLst/>
          </a:prstGeom>
          <a:noFill/>
          <a:ln w="12700" cap="flat" cmpd="sng">
            <a:solidFill>
              <a:srgbClr val="D4AF37">
                <a:alpha val="100000"/>
              </a:srgbClr>
            </a:solidFill>
            <a:prstDash val="solid"/>
            <a:round/>
          </a:ln>
        </p:spPr>
      </p:pic>
      <p:sp>
        <p:nvSpPr>
          <p:cNvPr id="5" name="AutoShape 5"/>
          <p:cNvSpPr/>
          <p:nvPr/>
        </p:nvSpPr>
        <p:spPr>
          <a:xfrm>
            <a:off x="762000" y="5207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25252"/>
                </a:solidFill>
                <a:latin typeface="Poppins"/>
                <a:ea typeface="Poppins"/>
                <a:cs typeface="Poppins"/>
                <a:sym typeface="Poppins"/>
              </a:rPr>
              <a:t>The modern marketing landscape is defined by data-driven precision and technological innovation. The dashboard above represents the real-time analytics and AI modeling that now underpins every strategic decision, moving beyond intuition to actionable, hyper-targeted insights.</a:t>
            </a:r>
            <a:endParaRPr lang="en-US" sz="1100"/>
          </a:p>
        </p:txBody>
      </p:sp>
      <p:cxnSp>
        <p:nvCxnSpPr>
          <p:cNvPr id="6" name="Connector 6"/>
          <p:cNvCxnSpPr/>
          <p:nvPr/>
        </p:nvCxnSpPr>
        <p:spPr>
          <a:xfrm rot="5390708">
            <a:off x="3238500" y="3994159"/>
            <a:ext cx="4699000" cy="12700"/>
          </a:xfrm>
          <a:prstGeom prst="straightConnector1">
            <a:avLst/>
          </a:prstGeom>
          <a:solidFill>
            <a:srgbClr val="DEE0E3">
              <a:alpha val="100000"/>
            </a:srgbClr>
          </a:solidFill>
          <a:ln w="12700" cap="flat" cmpd="sng">
            <a:solidFill>
              <a:srgbClr val="D4AF37">
                <a:alpha val="40000"/>
              </a:srgbClr>
            </a:solidFill>
            <a:prstDash val="solid"/>
            <a:round/>
            <a:headEnd type="none" w="med" len="med"/>
            <a:tailEnd type="none" w="med" len="med"/>
          </a:ln>
        </p:spPr>
      </p:cxnSp>
      <p:sp>
        <p:nvSpPr>
          <p:cNvPr id="7" name="AutoShape 7"/>
          <p:cNvSpPr/>
          <p:nvPr/>
        </p:nvSpPr>
        <p:spPr>
          <a:xfrm>
            <a:off x="5842000" y="1651000"/>
            <a:ext cx="584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01 / MACRO TRENDS</a:t>
            </a:r>
            <a:endParaRPr lang="en-US" sz="1100"/>
          </a:p>
        </p:txBody>
      </p:sp>
      <p:cxnSp>
        <p:nvCxnSpPr>
          <p:cNvPr id="8" name="Connector 8"/>
          <p:cNvCxnSpPr/>
          <p:nvPr/>
        </p:nvCxnSpPr>
        <p:spPr>
          <a:xfrm rot="-7813">
            <a:off x="5842007" y="2089150"/>
            <a:ext cx="5588000" cy="12700"/>
          </a:xfrm>
          <a:prstGeom prst="straightConnector1">
            <a:avLst/>
          </a:prstGeom>
          <a:solidFill>
            <a:srgbClr val="DEE0E3">
              <a:alpha val="100000"/>
            </a:srgbClr>
          </a:solidFill>
          <a:ln w="12700" cap="flat" cmpd="sng">
            <a:solidFill>
              <a:srgbClr val="D4AF37">
                <a:alpha val="60000"/>
              </a:srgbClr>
            </a:solidFill>
            <a:prstDash val="solid"/>
            <a:round/>
            <a:headEnd type="none" w="med" len="med"/>
            <a:tailEnd type="none" w="med" len="med"/>
          </a:ln>
        </p:spPr>
      </p:cxnSp>
      <p:sp>
        <p:nvSpPr>
          <p:cNvPr id="9" name="AutoShape 9"/>
          <p:cNvSpPr/>
          <p:nvPr/>
        </p:nvSpPr>
        <p:spPr>
          <a:xfrm>
            <a:off x="5842000" y="2349500"/>
            <a:ext cx="1841500" cy="1587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9000" y="2476500"/>
            <a:ext cx="304800" cy="304800"/>
          </a:xfrm>
          <a:prstGeom prst="rect">
            <a:avLst/>
          </a:prstGeom>
        </p:spPr>
      </p:pic>
      <p:sp>
        <p:nvSpPr>
          <p:cNvPr id="11" name="AutoShape 11"/>
          <p:cNvSpPr/>
          <p:nvPr/>
        </p:nvSpPr>
        <p:spPr>
          <a:xfrm>
            <a:off x="5969000" y="2921000"/>
            <a:ext cx="139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Poppins"/>
                <a:ea typeface="Poppins"/>
                <a:cs typeface="Poppins"/>
                <a:sym typeface="Poppins"/>
              </a:rPr>
              <a:t>AI Hyper-Personalization</a:t>
            </a:r>
            <a:endParaRPr lang="en-US" sz="1100"/>
          </a:p>
          <a:p>
            <a:pPr marL="0" indent="0" algn="l">
              <a:lnSpc>
                <a:spcPct val="100000"/>
              </a:lnSpc>
            </a:pPr>
            <a:r>
              <a:rPr lang="en-US" sz="1100" b="0" i="0" u="none" strike="noStrike">
                <a:solidFill>
                  <a:srgbClr val="666666"/>
                </a:solidFill>
                <a:latin typeface="Poppins"/>
                <a:ea typeface="Poppins"/>
                <a:cs typeface="Poppins"/>
                <a:sym typeface="Poppins"/>
              </a:rPr>
              <a:t>70%+ ads use AI for real-time optimization, delivering seamless "segment-of-one" consumer experiences.</a:t>
            </a:r>
            <a:endParaRPr lang="en-US" sz="1100" b="0" i="0" u="none" strike="noStrike">
              <a:solidFill>
                <a:srgbClr val="666666"/>
              </a:solidFill>
              <a:latin typeface="Poppins"/>
              <a:ea typeface="Poppins"/>
              <a:cs typeface="Poppins"/>
              <a:sym typeface="Poppins"/>
            </a:endParaRPr>
          </a:p>
        </p:txBody>
      </p:sp>
      <p:sp>
        <p:nvSpPr>
          <p:cNvPr id="12" name="AutoShape 12"/>
          <p:cNvSpPr/>
          <p:nvPr/>
        </p:nvSpPr>
        <p:spPr>
          <a:xfrm>
            <a:off x="7772400" y="2349500"/>
            <a:ext cx="1841500" cy="1587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9400" y="2476500"/>
            <a:ext cx="304800" cy="304800"/>
          </a:xfrm>
          <a:prstGeom prst="rect">
            <a:avLst/>
          </a:prstGeom>
        </p:spPr>
      </p:pic>
      <p:sp>
        <p:nvSpPr>
          <p:cNvPr id="14" name="AutoShape 14"/>
          <p:cNvSpPr/>
          <p:nvPr/>
        </p:nvSpPr>
        <p:spPr>
          <a:xfrm>
            <a:off x="7899400" y="2921000"/>
            <a:ext cx="139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Poppins"/>
                <a:ea typeface="Poppins"/>
                <a:cs typeface="Poppins"/>
                <a:sym typeface="Poppins"/>
              </a:rPr>
              <a:t>Owned Community Shift</a:t>
            </a:r>
            <a:endParaRPr lang="en-US" sz="1100"/>
          </a:p>
          <a:p>
            <a:pPr marL="0" indent="0" algn="l">
              <a:lnSpc>
                <a:spcPct val="100000"/>
              </a:lnSpc>
            </a:pPr>
            <a:r>
              <a:rPr lang="en-US" sz="1100" b="0" i="0" u="none" strike="noStrike">
                <a:solidFill>
                  <a:srgbClr val="666666"/>
                </a:solidFill>
                <a:latin typeface="Poppins"/>
                <a:ea typeface="Poppins"/>
                <a:cs typeface="Poppins"/>
                <a:sym typeface="Poppins"/>
              </a:rPr>
              <a:t>As social algorithm红利 fades, brands build owned communities to reduce costs and retain high-value users.</a:t>
            </a:r>
            <a:endParaRPr lang="en-US" sz="1100" b="0" i="0" u="none" strike="noStrike">
              <a:solidFill>
                <a:srgbClr val="666666"/>
              </a:solidFill>
              <a:latin typeface="Poppins"/>
              <a:ea typeface="Poppins"/>
              <a:cs typeface="Poppins"/>
              <a:sym typeface="Poppins"/>
            </a:endParaRPr>
          </a:p>
        </p:txBody>
      </p:sp>
      <p:sp>
        <p:nvSpPr>
          <p:cNvPr id="15" name="AutoShape 15"/>
          <p:cNvSpPr/>
          <p:nvPr/>
        </p:nvSpPr>
        <p:spPr>
          <a:xfrm>
            <a:off x="9588500" y="2349500"/>
            <a:ext cx="1841500" cy="1587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5500" y="2476500"/>
            <a:ext cx="304800" cy="304800"/>
          </a:xfrm>
          <a:prstGeom prst="rect">
            <a:avLst/>
          </a:prstGeom>
        </p:spPr>
      </p:pic>
      <p:sp>
        <p:nvSpPr>
          <p:cNvPr id="17" name="AutoShape 17"/>
          <p:cNvSpPr/>
          <p:nvPr/>
        </p:nvSpPr>
        <p:spPr>
          <a:xfrm>
            <a:off x="9715500" y="2921000"/>
            <a:ext cx="139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Poppins"/>
                <a:ea typeface="Poppins"/>
                <a:cs typeface="Poppins"/>
                <a:sym typeface="Poppins"/>
              </a:rPr>
              <a:t>Omnichannel Attribution</a:t>
            </a:r>
            <a:endParaRPr lang="en-US" sz="1100"/>
          </a:p>
          <a:p>
            <a:pPr marL="0" indent="0" algn="l">
              <a:lnSpc>
                <a:spcPct val="100000"/>
              </a:lnSpc>
            </a:pPr>
            <a:r>
              <a:rPr lang="en-US" sz="1100" b="0" i="0" u="none" strike="noStrike">
                <a:solidFill>
                  <a:srgbClr val="666666"/>
                </a:solidFill>
                <a:latin typeface="Poppins"/>
                <a:ea typeface="Poppins"/>
                <a:cs typeface="Poppins"/>
                <a:sym typeface="Poppins"/>
              </a:rPr>
              <a:t>Markov Chain models replace last-click logic, providing a "God's eye" view for precise budget allocation.</a:t>
            </a:r>
            <a:endParaRPr lang="en-US" sz="1100" b="0" i="0" u="none" strike="noStrike">
              <a:solidFill>
                <a:srgbClr val="666666"/>
              </a:solidFill>
              <a:latin typeface="Poppins"/>
              <a:ea typeface="Poppins"/>
              <a:cs typeface="Poppins"/>
              <a:sym typeface="Poppins"/>
            </a:endParaRPr>
          </a:p>
        </p:txBody>
      </p:sp>
      <p:cxnSp>
        <p:nvCxnSpPr>
          <p:cNvPr id="18" name="Connector 18"/>
          <p:cNvCxnSpPr/>
          <p:nvPr/>
        </p:nvCxnSpPr>
        <p:spPr>
          <a:xfrm rot="-7813">
            <a:off x="5842007" y="4311650"/>
            <a:ext cx="5588000" cy="12700"/>
          </a:xfrm>
          <a:prstGeom prst="straightConnector1">
            <a:avLst/>
          </a:prstGeom>
          <a:solidFill>
            <a:srgbClr val="DEE0E3">
              <a:alpha val="100000"/>
            </a:srgbClr>
          </a:solidFill>
          <a:ln w="12700" cap="flat" cmpd="sng">
            <a:solidFill>
              <a:srgbClr val="D4AF37">
                <a:alpha val="40000"/>
              </a:srgbClr>
            </a:solidFill>
            <a:prstDash val="dash"/>
            <a:round/>
            <a:headEnd type="none" w="med" len="med"/>
            <a:tailEnd type="none" w="med" len="med"/>
          </a:ln>
        </p:spPr>
      </p:cxnSp>
      <p:sp>
        <p:nvSpPr>
          <p:cNvPr id="19" name="AutoShape 19"/>
          <p:cNvSpPr/>
          <p:nvPr/>
        </p:nvSpPr>
        <p:spPr>
          <a:xfrm>
            <a:off x="5842000" y="4445000"/>
            <a:ext cx="584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02 / STRATEGIC OPPORTUNITIES</a:t>
            </a:r>
            <a:endParaRPr lang="en-US" sz="1100"/>
          </a:p>
        </p:txBody>
      </p:sp>
      <p:sp>
        <p:nvSpPr>
          <p:cNvPr id="20" name="AutoShape 20"/>
          <p:cNvSpPr/>
          <p:nvPr/>
        </p:nvSpPr>
        <p:spPr>
          <a:xfrm>
            <a:off x="5842000" y="5080000"/>
            <a:ext cx="1841500" cy="1397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5905500" y="5207000"/>
            <a:ext cx="1714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Topic Authority</a:t>
            </a:r>
            <a:endParaRPr lang="en-US" sz="1100"/>
          </a:p>
          <a:p>
            <a:pPr marL="0" indent="0" algn="l">
              <a:lnSpc>
                <a:spcPct val="108000"/>
              </a:lnSpc>
            </a:pPr>
            <a:r>
              <a:rPr lang="en-US" sz="1100" b="0" i="0" u="none" strike="noStrike">
                <a:solidFill>
                  <a:srgbClr val="525252"/>
                </a:solidFill>
                <a:latin typeface="Poppins"/>
                <a:ea typeface="Poppins"/>
                <a:cs typeface="Poppins"/>
                <a:sym typeface="Poppins"/>
              </a:rPr>
              <a:t>Identify competitor content gaps and establish thought leadership to capture organic trust and search visibility.</a:t>
            </a:r>
            <a:endParaRPr lang="en-US" sz="1100" b="0" i="0" u="none" strike="noStrike">
              <a:solidFill>
                <a:srgbClr val="525252"/>
              </a:solidFill>
              <a:latin typeface="Poppins"/>
              <a:ea typeface="Poppins"/>
              <a:cs typeface="Poppins"/>
              <a:sym typeface="Poppins"/>
            </a:endParaRPr>
          </a:p>
        </p:txBody>
      </p:sp>
      <p:sp>
        <p:nvSpPr>
          <p:cNvPr id="22" name="AutoShape 22"/>
          <p:cNvSpPr/>
          <p:nvPr/>
        </p:nvSpPr>
        <p:spPr>
          <a:xfrm>
            <a:off x="7772400" y="5080000"/>
            <a:ext cx="1841500" cy="1397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835900" y="5207000"/>
            <a:ext cx="1714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Emerging Channels</a:t>
            </a:r>
            <a:endParaRPr lang="en-US" sz="1100"/>
          </a:p>
          <a:p>
            <a:pPr marL="0" indent="0" algn="l">
              <a:lnSpc>
                <a:spcPct val="108000"/>
              </a:lnSpc>
            </a:pPr>
            <a:r>
              <a:rPr lang="en-US" sz="1100" b="0" i="0" u="none" strike="noStrike">
                <a:solidFill>
                  <a:srgbClr val="525252"/>
                </a:solidFill>
                <a:latin typeface="Poppins"/>
                <a:ea typeface="Poppins"/>
                <a:cs typeface="Poppins"/>
                <a:sym typeface="Poppins"/>
              </a:rPr>
              <a:t>Leverage Connected TV (CTV) and Digital Out-of-Home (DOOH) to reach audiences in immersive, unskippable environments.</a:t>
            </a:r>
            <a:endParaRPr lang="en-US" sz="1100" b="0" i="0" u="none" strike="noStrike">
              <a:solidFill>
                <a:srgbClr val="525252"/>
              </a:solidFill>
              <a:latin typeface="Poppins"/>
              <a:ea typeface="Poppins"/>
              <a:cs typeface="Poppins"/>
              <a:sym typeface="Poppins"/>
            </a:endParaRPr>
          </a:p>
        </p:txBody>
      </p:sp>
      <p:sp>
        <p:nvSpPr>
          <p:cNvPr id="24" name="AutoShape 24"/>
          <p:cNvSpPr/>
          <p:nvPr/>
        </p:nvSpPr>
        <p:spPr>
          <a:xfrm>
            <a:off x="9588500" y="5080000"/>
            <a:ext cx="1841500" cy="1397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652000" y="5207000"/>
            <a:ext cx="1714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Immersive Tech</a:t>
            </a:r>
            <a:endParaRPr lang="en-US" sz="1100"/>
          </a:p>
          <a:p>
            <a:pPr marL="0" indent="0" algn="l">
              <a:lnSpc>
                <a:spcPct val="108000"/>
              </a:lnSpc>
            </a:pPr>
            <a:r>
              <a:rPr lang="en-US" sz="1100" b="0" i="0" u="none" strike="noStrike">
                <a:solidFill>
                  <a:srgbClr val="525252"/>
                </a:solidFill>
                <a:latin typeface="Poppins"/>
                <a:ea typeface="Poppins"/>
                <a:cs typeface="Poppins"/>
                <a:sym typeface="Poppins"/>
              </a:rPr>
              <a:t>Integrate AI and AR tools to enhance user interaction, visualize products dynamically, and boost conversion rates.</a:t>
            </a:r>
            <a:endParaRPr lang="en-US" sz="1100" b="0" i="0" u="none" strike="noStrike">
              <a:solidFill>
                <a:srgbClr val="525252"/>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Integrated Marketing Strategy: Channels</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pic>
        <p:nvPicPr>
          <p:cNvPr id="5" name="Picture 5"/>
          <p:cNvPicPr>
            <a:picLocks noChangeAspect="1"/>
          </p:cNvPicPr>
          <p:nvPr/>
        </p:nvPicPr>
        <p:blipFill>
          <a:blip r:embed="rId2"/>
          <a:srcRect l="4455" r="4455"/>
          <a:stretch>
            <a:fillRect/>
          </a:stretch>
        </p:blipFill>
        <p:spPr>
          <a:xfrm>
            <a:off x="762000" y="1905000"/>
            <a:ext cx="2603500" cy="1905000"/>
          </a:xfrm>
          <a:prstGeom prst="rect">
            <a:avLst/>
          </a:prstGeom>
          <a:noFill/>
          <a:ln w="12700" cap="flat" cmpd="sng">
            <a:solidFill>
              <a:srgbClr val="D4AF37">
                <a:alpha val="60000"/>
              </a:srgbClr>
            </a:solidFill>
            <a:prstDash val="solid"/>
            <a:round/>
          </a:ln>
        </p:spPr>
      </p:pic>
      <p:pic>
        <p:nvPicPr>
          <p:cNvPr id="6" name="Picture 6"/>
          <p:cNvPicPr>
            <a:picLocks noChangeAspect="1"/>
          </p:cNvPicPr>
          <p:nvPr/>
        </p:nvPicPr>
        <p:blipFill>
          <a:blip r:embed="rId3"/>
          <a:srcRect l="9000" r="9000"/>
          <a:stretch>
            <a:fillRect/>
          </a:stretch>
        </p:blipFill>
        <p:spPr>
          <a:xfrm>
            <a:off x="3619500" y="1905000"/>
            <a:ext cx="2603500" cy="1905000"/>
          </a:xfrm>
          <a:prstGeom prst="rect">
            <a:avLst/>
          </a:prstGeom>
          <a:noFill/>
          <a:ln w="12700" cap="flat" cmpd="sng">
            <a:solidFill>
              <a:srgbClr val="D4AF37">
                <a:alpha val="60000"/>
              </a:srgbClr>
            </a:solidFill>
            <a:prstDash val="solid"/>
            <a:round/>
          </a:ln>
        </p:spPr>
      </p:pic>
      <p:sp>
        <p:nvSpPr>
          <p:cNvPr id="7" name="AutoShape 7"/>
          <p:cNvSpPr/>
          <p:nvPr/>
        </p:nvSpPr>
        <p:spPr>
          <a:xfrm>
            <a:off x="762000" y="4191000"/>
            <a:ext cx="5461000" cy="2032000"/>
          </a:xfrm>
          <a:prstGeom prst="roundRect">
            <a:avLst>
              <a:gd name="adj" fmla="val 0"/>
            </a:avLst>
          </a:prstGeom>
          <a:solidFill>
            <a:srgbClr val="FFFFFF">
              <a:alpha val="6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4191000"/>
            <a:ext cx="50800" cy="2032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4318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01. PROGRAMMATIC ADVERTISING</a:t>
            </a:r>
            <a:endParaRPr lang="en-US" sz="1100"/>
          </a:p>
        </p:txBody>
      </p:sp>
      <p:cxnSp>
        <p:nvCxnSpPr>
          <p:cNvPr id="10" name="Connector 10"/>
          <p:cNvCxnSpPr/>
          <p:nvPr/>
        </p:nvCxnSpPr>
        <p:spPr>
          <a:xfrm rot="-8814">
            <a:off x="1016008" y="4819650"/>
            <a:ext cx="4953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1" name="AutoShape 11"/>
          <p:cNvSpPr/>
          <p:nvPr/>
        </p:nvSpPr>
        <p:spPr>
          <a:xfrm>
            <a:off x="1016000" y="4953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33333"/>
                </a:solidFill>
                <a:latin typeface="Poppins"/>
                <a:ea typeface="Poppins"/>
                <a:cs typeface="Poppins"/>
                <a:sym typeface="Poppins"/>
              </a:rPr>
              <a:t>Strategy:</a:t>
            </a:r>
            <a:r>
              <a:rPr lang="en-US" sz="1300" b="0" i="0" u="none" strike="noStrike">
                <a:solidFill>
                  <a:srgbClr val="555555"/>
                </a:solidFill>
                <a:latin typeface="Poppins"/>
                <a:ea typeface="Poppins"/>
                <a:cs typeface="Poppins"/>
                <a:sym typeface="Poppins"/>
              </a:rPr>
              <a:t>Deploy AI predictive targeting across CTV and DOOH for upper-funnel reach, paired with retargeting to capture high-intent users efficiently.</a:t>
            </a:r>
            <a:endParaRPr lang="en-US" sz="1100"/>
          </a:p>
          <a:p>
            <a:pPr marL="0" indent="0" algn="l">
              <a:lnSpc>
                <a:spcPct val="108000"/>
              </a:lnSpc>
            </a:pPr>
            <a:r>
              <a:rPr lang="en-US" sz="1300" b="1" i="0" u="none" strike="noStrike">
                <a:solidFill>
                  <a:srgbClr val="333333"/>
                </a:solidFill>
                <a:latin typeface="Poppins"/>
                <a:ea typeface="Poppins"/>
                <a:cs typeface="Poppins"/>
                <a:sym typeface="Poppins"/>
              </a:rPr>
              <a:t>Measurement:</a:t>
            </a:r>
            <a:r>
              <a:rPr lang="en-US" sz="1300" b="0" i="0" u="none" strike="noStrike">
                <a:solidFill>
                  <a:srgbClr val="555555"/>
                </a:solidFill>
                <a:latin typeface="Poppins"/>
                <a:ea typeface="Poppins"/>
                <a:cs typeface="Poppins"/>
                <a:sym typeface="Poppins"/>
              </a:rPr>
              <a:t>Prioritize Attention Metrics and creative quality over vanity clicks to ensure meaningful engagement.</a:t>
            </a:r>
            <a:endParaRPr lang="en-US" sz="1300" b="0" i="0" u="none" strike="noStrike">
              <a:solidFill>
                <a:srgbClr val="555555"/>
              </a:solidFill>
              <a:latin typeface="Poppins"/>
              <a:ea typeface="Poppins"/>
              <a:cs typeface="Poppins"/>
              <a:sym typeface="Poppins"/>
            </a:endParaRPr>
          </a:p>
        </p:txBody>
      </p:sp>
      <p:cxnSp>
        <p:nvCxnSpPr>
          <p:cNvPr id="12" name="Connector 12"/>
          <p:cNvCxnSpPr/>
          <p:nvPr/>
        </p:nvCxnSpPr>
        <p:spPr>
          <a:xfrm rot="5389889">
            <a:off x="4318000" y="4057659"/>
            <a:ext cx="4318000" cy="12700"/>
          </a:xfrm>
          <a:prstGeom prst="straightConnector1">
            <a:avLst/>
          </a:prstGeom>
          <a:solidFill>
            <a:srgbClr val="DEE0E3">
              <a:alpha val="100000"/>
            </a:srgbClr>
          </a:solidFill>
          <a:ln w="12700" cap="flat" cmpd="sng">
            <a:solidFill>
              <a:srgbClr val="D4AF37">
                <a:alpha val="40000"/>
              </a:srgbClr>
            </a:solidFill>
            <a:prstDash val="dash"/>
            <a:round/>
            <a:headEnd type="none" w="med" len="med"/>
            <a:tailEnd type="none" w="med" len="med"/>
          </a:ln>
        </p:spPr>
      </p:cxnSp>
      <p:sp>
        <p:nvSpPr>
          <p:cNvPr id="13" name="AutoShape 13"/>
          <p:cNvSpPr/>
          <p:nvPr/>
        </p:nvSpPr>
        <p:spPr>
          <a:xfrm>
            <a:off x="6731000" y="1905000"/>
            <a:ext cx="4699000" cy="2032000"/>
          </a:xfrm>
          <a:prstGeom prst="roundRect">
            <a:avLst>
              <a:gd name="adj" fmla="val 0"/>
            </a:avLst>
          </a:prstGeom>
          <a:solidFill>
            <a:srgbClr val="FFFFFF">
              <a:alpha val="6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731000" y="1905000"/>
            <a:ext cx="50800" cy="2032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985000" y="2032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02. ADVANCED SEO &amp; AI RETRIEVAL</a:t>
            </a:r>
            <a:endParaRPr lang="en-US" sz="1100"/>
          </a:p>
        </p:txBody>
      </p:sp>
      <p:cxnSp>
        <p:nvCxnSpPr>
          <p:cNvPr id="16" name="Connector 16"/>
          <p:cNvCxnSpPr/>
          <p:nvPr/>
        </p:nvCxnSpPr>
        <p:spPr>
          <a:xfrm rot="-10417">
            <a:off x="6985010" y="2533650"/>
            <a:ext cx="4191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7" name="AutoShape 17"/>
          <p:cNvSpPr/>
          <p:nvPr/>
        </p:nvSpPr>
        <p:spPr>
          <a:xfrm>
            <a:off x="6985000" y="2667000"/>
            <a:ext cx="419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33333"/>
                </a:solidFill>
                <a:latin typeface="Poppins"/>
                <a:ea typeface="Poppins"/>
                <a:cs typeface="Poppins"/>
                <a:sym typeface="Poppins"/>
              </a:rPr>
              <a:t>Paradigm Shift:</a:t>
            </a:r>
            <a:r>
              <a:rPr lang="en-US" sz="1300" b="0" i="0" u="none" strike="noStrike">
                <a:solidFill>
                  <a:srgbClr val="555555"/>
                </a:solidFill>
                <a:latin typeface="Poppins"/>
                <a:ea typeface="Poppins"/>
                <a:cs typeface="Poppins"/>
                <a:sym typeface="Poppins"/>
              </a:rPr>
              <a:t>Move beyond "keyword ranking" to "AI retrieval &amp; citation." Build comprehensive "Topic Authority" content clusters to become a trusted source for search engines.</a:t>
            </a:r>
            <a:endParaRPr lang="en-US" sz="1100"/>
          </a:p>
        </p:txBody>
      </p:sp>
      <p:sp>
        <p:nvSpPr>
          <p:cNvPr id="18" name="AutoShape 18"/>
          <p:cNvSpPr/>
          <p:nvPr/>
        </p:nvSpPr>
        <p:spPr>
          <a:xfrm>
            <a:off x="6731000" y="4318000"/>
            <a:ext cx="4699000" cy="1905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21500" y="4508500"/>
            <a:ext cx="304800" cy="304800"/>
          </a:xfrm>
          <a:prstGeom prst="rect">
            <a:avLst/>
          </a:prstGeom>
        </p:spPr>
      </p:pic>
      <p:sp>
        <p:nvSpPr>
          <p:cNvPr id="20" name="AutoShape 20"/>
          <p:cNvSpPr/>
          <p:nvPr/>
        </p:nvSpPr>
        <p:spPr>
          <a:xfrm>
            <a:off x="7366000" y="4470400"/>
            <a:ext cx="381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Key Objectives &amp; KPIs</a:t>
            </a:r>
            <a:endParaRPr lang="en-US" sz="1100"/>
          </a:p>
        </p:txBody>
      </p:sp>
      <p:cxnSp>
        <p:nvCxnSpPr>
          <p:cNvPr id="21" name="Connector 21"/>
          <p:cNvCxnSpPr/>
          <p:nvPr/>
        </p:nvCxnSpPr>
        <p:spPr>
          <a:xfrm rot="-10417">
            <a:off x="6985010" y="4946650"/>
            <a:ext cx="41910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22" name="AutoShape 22"/>
          <p:cNvSpPr/>
          <p:nvPr/>
        </p:nvSpPr>
        <p:spPr>
          <a:xfrm>
            <a:off x="6921500" y="5143500"/>
            <a:ext cx="431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Poppins"/>
                <a:ea typeface="Poppins"/>
                <a:cs typeface="Poppins"/>
                <a:sym typeface="Poppins"/>
              </a:rPr>
              <a:t>Earn Featured Snippets and secure AI answer citations. Track success via "Citation Frequency" across platforms and "AI Answer Visibility" to quantify thought leadership impact.</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Integrated Marketing Strategy: Content &amp; Community</a:t>
            </a:r>
            <a:endParaRPr lang="en-US" sz="1100"/>
          </a:p>
        </p:txBody>
      </p:sp>
      <p:pic>
        <p:nvPicPr>
          <p:cNvPr id="4" name="Picture 4"/>
          <p:cNvPicPr>
            <a:picLocks noChangeAspect="1"/>
          </p:cNvPicPr>
          <p:nvPr/>
        </p:nvPicPr>
        <p:blipFill>
          <a:blip r:embed="rId2"/>
          <a:srcRect l="8370" r="8370"/>
          <a:stretch>
            <a:fillRect/>
          </a:stretch>
        </p:blipFill>
        <p:spPr>
          <a:xfrm>
            <a:off x="762000" y="1778000"/>
            <a:ext cx="5080000" cy="3429000"/>
          </a:xfrm>
          <a:prstGeom prst="rect">
            <a:avLst/>
          </a:prstGeom>
          <a:noFill/>
          <a:ln w="25400" cap="flat" cmpd="sng">
            <a:solidFill>
              <a:srgbClr val="D4AF37">
                <a:alpha val="50000"/>
              </a:srgbClr>
            </a:solidFill>
            <a:prstDash val="solid"/>
            <a:round/>
          </a:ln>
        </p:spPr>
      </p:pic>
      <p:sp>
        <p:nvSpPr>
          <p:cNvPr id="5" name="AutoShape 5"/>
          <p:cNvSpPr/>
          <p:nvPr/>
        </p:nvSpPr>
        <p:spPr>
          <a:xfrm>
            <a:off x="762000" y="5461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Poppins"/>
                <a:ea typeface="Poppins"/>
                <a:cs typeface="Poppins"/>
                <a:sym typeface="Poppins"/>
              </a:rPr>
              <a:t>Creating authentic, engaging content—like podcasts and live discussions—fosters deep connections, turning passive audiences into active, loyal brand advocates and community members.</a:t>
            </a:r>
            <a:endParaRPr lang="en-US" sz="1100"/>
          </a:p>
        </p:txBody>
      </p:sp>
      <p:cxnSp>
        <p:nvCxnSpPr>
          <p:cNvPr id="6" name="Connector 6"/>
          <p:cNvCxnSpPr/>
          <p:nvPr/>
        </p:nvCxnSpPr>
        <p:spPr>
          <a:xfrm rot="5390450">
            <a:off x="4064000" y="4057659"/>
            <a:ext cx="4572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7" name="AutoShape 7"/>
          <p:cNvSpPr/>
          <p:nvPr/>
        </p:nvSpPr>
        <p:spPr>
          <a:xfrm>
            <a:off x="6604000" y="1778000"/>
            <a:ext cx="4826000" cy="2095500"/>
          </a:xfrm>
          <a:prstGeom prst="roundRect">
            <a:avLst>
              <a:gd name="adj" fmla="val 0"/>
            </a:avLst>
          </a:prstGeom>
          <a:solidFill>
            <a:srgbClr val="FFFFFF">
              <a:alpha val="6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604000" y="1778000"/>
            <a:ext cx="50800" cy="209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0" y="1968500"/>
            <a:ext cx="304800" cy="304800"/>
          </a:xfrm>
          <a:prstGeom prst="rect">
            <a:avLst/>
          </a:prstGeom>
        </p:spPr>
      </p:pic>
      <p:sp>
        <p:nvSpPr>
          <p:cNvPr id="10" name="AutoShape 10"/>
          <p:cNvSpPr/>
          <p:nvPr/>
        </p:nvSpPr>
        <p:spPr>
          <a:xfrm>
            <a:off x="7302500" y="19304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Content &amp; Community (CLG Strategy)</a:t>
            </a:r>
            <a:endParaRPr lang="en-US" sz="1100"/>
          </a:p>
        </p:txBody>
      </p:sp>
      <p:cxnSp>
        <p:nvCxnSpPr>
          <p:cNvPr id="11" name="Connector 11"/>
          <p:cNvCxnSpPr/>
          <p:nvPr/>
        </p:nvCxnSpPr>
        <p:spPr>
          <a:xfrm rot="-10110">
            <a:off x="6858009" y="2470150"/>
            <a:ext cx="43180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12" name="AutoShape 12"/>
          <p:cNvSpPr/>
          <p:nvPr/>
        </p:nvSpPr>
        <p:spPr>
          <a:xfrm>
            <a:off x="6858000" y="26035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444444"/>
                </a:solidFill>
                <a:latin typeface="Poppins"/>
                <a:ea typeface="Poppins"/>
                <a:cs typeface="Poppins"/>
                <a:sym typeface="Poppins"/>
              </a:rPr>
              <a:t>Strategy:</a:t>
            </a:r>
            <a:r>
              <a:rPr lang="en-US" sz="1300" b="0" i="0" u="none" strike="noStrike">
                <a:solidFill>
                  <a:srgbClr val="555555"/>
                </a:solidFill>
                <a:latin typeface="Poppins"/>
                <a:ea typeface="Poppins"/>
                <a:cs typeface="Poppins"/>
                <a:sym typeface="Poppins"/>
              </a:rPr>
              <a:t>Launch interactive podcasts and live streams to build a private brand community, driving organic growth through shared values and user participation.</a:t>
            </a:r>
            <a:endParaRPr lang="en-US" sz="1100"/>
          </a:p>
          <a:p>
            <a:pPr marL="0" indent="0" algn="l">
              <a:lnSpc>
                <a:spcPct val="108000"/>
              </a:lnSpc>
            </a:pPr>
            <a:r>
              <a:rPr lang="en-US" sz="1300" b="1" i="0" u="none" strike="noStrike">
                <a:solidFill>
                  <a:srgbClr val="444444"/>
                </a:solidFill>
                <a:latin typeface="Poppins"/>
                <a:ea typeface="Poppins"/>
                <a:cs typeface="Poppins"/>
                <a:sym typeface="Poppins"/>
              </a:rPr>
              <a:t>KPIs:</a:t>
            </a:r>
            <a:r>
              <a:rPr lang="en-US" sz="1300" b="0" i="0" u="none" strike="noStrike">
                <a:solidFill>
                  <a:srgbClr val="555555"/>
                </a:solidFill>
                <a:latin typeface="Poppins"/>
                <a:ea typeface="Poppins"/>
                <a:cs typeface="Poppins"/>
                <a:sym typeface="Poppins"/>
              </a:rPr>
              <a:t>Community activity levels, UGC volume, and conversion rates from engaged community members.</a:t>
            </a:r>
            <a:endParaRPr lang="en-US" sz="1300" b="0" i="0" u="none" strike="noStrike">
              <a:solidFill>
                <a:srgbClr val="555555"/>
              </a:solidFill>
              <a:latin typeface="Poppins"/>
              <a:ea typeface="Poppins"/>
              <a:cs typeface="Poppins"/>
              <a:sym typeface="Poppins"/>
            </a:endParaRPr>
          </a:p>
        </p:txBody>
      </p:sp>
      <p:sp>
        <p:nvSpPr>
          <p:cNvPr id="13" name="AutoShape 13"/>
          <p:cNvSpPr/>
          <p:nvPr/>
        </p:nvSpPr>
        <p:spPr>
          <a:xfrm>
            <a:off x="6604000" y="4191000"/>
            <a:ext cx="4826000" cy="2095500"/>
          </a:xfrm>
          <a:prstGeom prst="roundRect">
            <a:avLst>
              <a:gd name="adj" fmla="val 0"/>
            </a:avLst>
          </a:prstGeom>
          <a:solidFill>
            <a:srgbClr val="FFFFFF">
              <a:alpha val="6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604000" y="4191000"/>
            <a:ext cx="50800" cy="209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8000" y="4381500"/>
            <a:ext cx="304800" cy="304800"/>
          </a:xfrm>
          <a:prstGeom prst="rect">
            <a:avLst/>
          </a:prstGeom>
        </p:spPr>
      </p:pic>
      <p:sp>
        <p:nvSpPr>
          <p:cNvPr id="16" name="AutoShape 16"/>
          <p:cNvSpPr/>
          <p:nvPr/>
        </p:nvSpPr>
        <p:spPr>
          <a:xfrm>
            <a:off x="7302500" y="43434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Dual-Channel Social Media Strategy</a:t>
            </a:r>
            <a:endParaRPr lang="en-US" sz="1100"/>
          </a:p>
        </p:txBody>
      </p:sp>
      <p:cxnSp>
        <p:nvCxnSpPr>
          <p:cNvPr id="17" name="Connector 17"/>
          <p:cNvCxnSpPr/>
          <p:nvPr/>
        </p:nvCxnSpPr>
        <p:spPr>
          <a:xfrm rot="-10110">
            <a:off x="6858009" y="4883150"/>
            <a:ext cx="43180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18" name="AutoShape 18"/>
          <p:cNvSpPr/>
          <p:nvPr/>
        </p:nvSpPr>
        <p:spPr>
          <a:xfrm>
            <a:off x="6858000" y="50165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444444"/>
                </a:solidFill>
                <a:latin typeface="Poppins"/>
                <a:ea typeface="Poppins"/>
                <a:cs typeface="Poppins"/>
                <a:sym typeface="Poppins"/>
              </a:rPr>
              <a:t>Strategy:</a:t>
            </a:r>
            <a:r>
              <a:rPr lang="en-US" sz="1300" b="0" i="0" u="none" strike="noStrike">
                <a:solidFill>
                  <a:srgbClr val="555555"/>
                </a:solidFill>
                <a:latin typeface="Poppins"/>
                <a:ea typeface="Poppins"/>
                <a:cs typeface="Poppins"/>
                <a:sym typeface="Poppins"/>
              </a:rPr>
              <a:t>Leverage short-form videos (TikTok/Reels) for viral brand reach, paired with LinkedIn to establish thought leadership and build B2B professional credibility.</a:t>
            </a:r>
            <a:endParaRPr lang="en-US" sz="1100"/>
          </a:p>
          <a:p>
            <a:pPr marL="0" indent="0" algn="l">
              <a:lnSpc>
                <a:spcPct val="108000"/>
              </a:lnSpc>
            </a:pPr>
            <a:r>
              <a:rPr lang="en-US" sz="1300" b="1" i="0" u="none" strike="noStrike">
                <a:solidFill>
                  <a:srgbClr val="444444"/>
                </a:solidFill>
                <a:latin typeface="Poppins"/>
                <a:ea typeface="Poppins"/>
                <a:cs typeface="Poppins"/>
                <a:sym typeface="Poppins"/>
              </a:rPr>
              <a:t>KPIs:</a:t>
            </a:r>
            <a:r>
              <a:rPr lang="en-US" sz="1300" b="0" i="0" u="none" strike="noStrike">
                <a:solidFill>
                  <a:srgbClr val="555555"/>
                </a:solidFill>
                <a:latin typeface="Poppins"/>
                <a:ea typeface="Poppins"/>
                <a:cs typeface="Poppins"/>
                <a:sym typeface="Poppins"/>
              </a:rPr>
              <a:t>Engagement rate, share rate, and Cost Per Lead (CPL) across platforms to optimize ROI.</a:t>
            </a:r>
            <a:endParaRPr lang="en-US" sz="1300" b="0" i="0" u="none" strike="noStrike">
              <a:solidFill>
                <a:srgbClr val="555555"/>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Execution Plan &amp; Measurement Framework</a:t>
            </a:r>
            <a:endParaRPr lang="en-US" sz="1100"/>
          </a:p>
        </p:txBody>
      </p:sp>
      <p:cxnSp>
        <p:nvCxnSpPr>
          <p:cNvPr id="4" name="Connector 4"/>
          <p:cNvCxnSpPr/>
          <p:nvPr/>
        </p:nvCxnSpPr>
        <p:spPr>
          <a:xfrm rot="5389889">
            <a:off x="3937000" y="3930659"/>
            <a:ext cx="43180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5" name="AutoShape 5"/>
          <p:cNvSpPr/>
          <p:nvPr/>
        </p:nvSpPr>
        <p:spPr>
          <a:xfrm>
            <a:off x="762000" y="1778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01 / PROJECT TIMELINE</a:t>
            </a:r>
            <a:endParaRPr lang="en-US" sz="1100"/>
          </a:p>
        </p:txBody>
      </p:sp>
      <p:sp>
        <p:nvSpPr>
          <p:cNvPr id="6" name="AutoShape 6"/>
          <p:cNvSpPr/>
          <p:nvPr/>
        </p:nvSpPr>
        <p:spPr>
          <a:xfrm>
            <a:off x="762000" y="2540000"/>
            <a:ext cx="5080000" cy="1206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2540000"/>
            <a:ext cx="76200" cy="1206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667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Phase 1 (4 Weeks): Foundation &amp; Prep</a:t>
            </a:r>
            <a:endParaRPr lang="en-US" sz="1100"/>
          </a:p>
          <a:p>
            <a:pPr marL="0" indent="0" algn="l">
              <a:lnSpc>
                <a:spcPct val="108000"/>
              </a:lnSpc>
            </a:pPr>
            <a:r>
              <a:rPr lang="en-US" sz="1300" b="0" i="0" u="none" strike="noStrike">
                <a:solidFill>
                  <a:srgbClr val="525252"/>
                </a:solidFill>
                <a:latin typeface="Poppins"/>
                <a:ea typeface="Poppins"/>
                <a:cs typeface="Poppins"/>
                <a:sym typeface="Poppins"/>
              </a:rPr>
              <a:t>Focus on core tech stack setup, content asset creation, and initial stakeholder alignment to ensure a seamless launch of subsequent phases.</a:t>
            </a:r>
            <a:endParaRPr lang="en-US" sz="1300" b="0" i="0" u="none" strike="noStrike">
              <a:solidFill>
                <a:srgbClr val="525252"/>
              </a:solidFill>
              <a:latin typeface="Poppins"/>
              <a:ea typeface="Poppins"/>
              <a:cs typeface="Poppins"/>
              <a:sym typeface="Poppins"/>
            </a:endParaRPr>
          </a:p>
        </p:txBody>
      </p:sp>
      <p:sp>
        <p:nvSpPr>
          <p:cNvPr id="9" name="AutoShape 9"/>
          <p:cNvSpPr/>
          <p:nvPr/>
        </p:nvSpPr>
        <p:spPr>
          <a:xfrm>
            <a:off x="762000" y="3873500"/>
            <a:ext cx="5080000" cy="1206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873500"/>
            <a:ext cx="76200" cy="1206500"/>
          </a:xfrm>
          <a:prstGeom prst="roundRect">
            <a:avLst>
              <a:gd name="adj" fmla="val 0"/>
            </a:avLst>
          </a:prstGeom>
          <a:solidFill>
            <a:srgbClr val="D4AF37">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000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Phase 2 (8 Weeks): Testing &amp; Optimization</a:t>
            </a:r>
            <a:endParaRPr lang="en-US" sz="1100"/>
          </a:p>
          <a:p>
            <a:pPr marL="0" indent="0" algn="l">
              <a:lnSpc>
                <a:spcPct val="108000"/>
              </a:lnSpc>
            </a:pPr>
            <a:r>
              <a:rPr lang="en-US" sz="1300" b="0" i="0" u="none" strike="noStrike">
                <a:solidFill>
                  <a:srgbClr val="525252"/>
                </a:solidFill>
                <a:latin typeface="Poppins"/>
                <a:ea typeface="Poppins"/>
                <a:cs typeface="Poppins"/>
                <a:sym typeface="Poppins"/>
              </a:rPr>
              <a:t>Conduct A/B testing across key channels, refine messaging based on early data signals, and optimize conversion funnels for maximum efficiency.</a:t>
            </a:r>
            <a:endParaRPr lang="en-US" sz="1300" b="0" i="0" u="none" strike="noStrike">
              <a:solidFill>
                <a:srgbClr val="525252"/>
              </a:solidFill>
              <a:latin typeface="Poppins"/>
              <a:ea typeface="Poppins"/>
              <a:cs typeface="Poppins"/>
              <a:sym typeface="Poppins"/>
            </a:endParaRPr>
          </a:p>
        </p:txBody>
      </p:sp>
      <p:sp>
        <p:nvSpPr>
          <p:cNvPr id="12" name="AutoShape 12"/>
          <p:cNvSpPr/>
          <p:nvPr/>
        </p:nvSpPr>
        <p:spPr>
          <a:xfrm>
            <a:off x="762000" y="5207000"/>
            <a:ext cx="5080000" cy="1206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 y="5207000"/>
            <a:ext cx="76200" cy="1206500"/>
          </a:xfrm>
          <a:prstGeom prst="roundRect">
            <a:avLst>
              <a:gd name="adj" fmla="val 0"/>
            </a:avLst>
          </a:prstGeom>
          <a:solidFill>
            <a:srgbClr val="D4AF37">
              <a:alpha val="4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5334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Phase 3 (12 Weeks): Scale &amp; Expansion</a:t>
            </a:r>
            <a:endParaRPr lang="en-US" sz="1100"/>
          </a:p>
          <a:p>
            <a:pPr marL="0" indent="0" algn="l">
              <a:lnSpc>
                <a:spcPct val="108000"/>
              </a:lnSpc>
            </a:pPr>
            <a:r>
              <a:rPr lang="en-US" sz="1300" b="0" i="0" u="none" strike="noStrike">
                <a:solidFill>
                  <a:srgbClr val="525252"/>
                </a:solidFill>
                <a:latin typeface="Poppins"/>
                <a:ea typeface="Poppins"/>
                <a:cs typeface="Poppins"/>
                <a:sym typeface="Poppins"/>
              </a:rPr>
              <a:t>Roll out full-scale promotion across all channels, leverage high-performing tactics, and explore new market segments to drive sustainable growth.</a:t>
            </a:r>
            <a:endParaRPr lang="en-US" sz="1300" b="0" i="0" u="none" strike="noStrike">
              <a:solidFill>
                <a:srgbClr val="525252"/>
              </a:solidFill>
              <a:latin typeface="Poppins"/>
              <a:ea typeface="Poppins"/>
              <a:cs typeface="Poppins"/>
              <a:sym typeface="Poppins"/>
            </a:endParaRPr>
          </a:p>
        </p:txBody>
      </p:sp>
      <p:sp>
        <p:nvSpPr>
          <p:cNvPr id="15" name="AutoShape 15"/>
          <p:cNvSpPr/>
          <p:nvPr/>
        </p:nvSpPr>
        <p:spPr>
          <a:xfrm>
            <a:off x="6477000" y="1778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02 / MEASUREMENT &amp; METRICS</a:t>
            </a:r>
            <a:endParaRPr lang="en-US" sz="1100"/>
          </a:p>
        </p:txBody>
      </p:sp>
      <p:sp>
        <p:nvSpPr>
          <p:cNvPr id="16" name="AutoShape 16"/>
          <p:cNvSpPr/>
          <p:nvPr/>
        </p:nvSpPr>
        <p:spPr>
          <a:xfrm>
            <a:off x="6477000" y="2540000"/>
            <a:ext cx="5080000" cy="952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7500" y="2667000"/>
            <a:ext cx="304800" cy="304800"/>
          </a:xfrm>
          <a:prstGeom prst="rect">
            <a:avLst/>
          </a:prstGeom>
        </p:spPr>
      </p:pic>
      <p:sp>
        <p:nvSpPr>
          <p:cNvPr id="18" name="AutoShape 18"/>
          <p:cNvSpPr/>
          <p:nvPr/>
        </p:nvSpPr>
        <p:spPr>
          <a:xfrm>
            <a:off x="7112000" y="2641600"/>
            <a:ext cx="438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North Star Metric: MAPU</a:t>
            </a:r>
            <a:endParaRPr lang="en-US" sz="1100"/>
          </a:p>
          <a:p>
            <a:pPr marL="0" indent="0" algn="l">
              <a:lnSpc>
                <a:spcPct val="108000"/>
              </a:lnSpc>
            </a:pPr>
            <a:r>
              <a:rPr lang="en-US" sz="1300" b="0" i="0" u="none" strike="noStrike">
                <a:solidFill>
                  <a:srgbClr val="525252"/>
                </a:solidFill>
                <a:latin typeface="Poppins"/>
                <a:ea typeface="Poppins"/>
                <a:cs typeface="Poppins"/>
                <a:sym typeface="Poppins"/>
              </a:rPr>
              <a:t>Monthly Active Paying Users is our primary guiding metric, ensuring all efforts align with driving sustainable, active revenue streams.</a:t>
            </a:r>
            <a:endParaRPr lang="en-US" sz="1300" b="0" i="0" u="none" strike="noStrike">
              <a:solidFill>
                <a:srgbClr val="525252"/>
              </a:solidFill>
              <a:latin typeface="Poppins"/>
              <a:ea typeface="Poppins"/>
              <a:cs typeface="Poppins"/>
              <a:sym typeface="Poppins"/>
            </a:endParaRPr>
          </a:p>
        </p:txBody>
      </p:sp>
      <p:sp>
        <p:nvSpPr>
          <p:cNvPr id="19" name="AutoShape 19"/>
          <p:cNvSpPr/>
          <p:nvPr/>
        </p:nvSpPr>
        <p:spPr>
          <a:xfrm>
            <a:off x="6477000" y="3873500"/>
            <a:ext cx="1600200" cy="1651000"/>
          </a:xfrm>
          <a:prstGeom prst="roundRect">
            <a:avLst>
              <a:gd name="adj" fmla="val 0"/>
            </a:avLst>
          </a:prstGeom>
          <a:solidFill>
            <a:srgbClr val="FFFFFF">
              <a:alpha val="7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540500" y="40005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D4AF37"/>
                </a:solidFill>
                <a:latin typeface="Poppins"/>
                <a:ea typeface="Poppins"/>
                <a:cs typeface="Poppins"/>
                <a:sym typeface="Poppins"/>
              </a:rPr>
              <a:t>BUSINESS LEVEL</a:t>
            </a:r>
            <a:endParaRPr lang="en-US" sz="1100"/>
          </a:p>
          <a:p>
            <a:pPr marL="0" indent="0" algn="l">
              <a:lnSpc>
                <a:spcPct val="100000"/>
              </a:lnSpc>
            </a:pPr>
            <a:r>
              <a:rPr lang="en-US" sz="1200" b="0" i="0" u="none" strike="noStrike">
                <a:solidFill>
                  <a:srgbClr val="333333"/>
                </a:solidFill>
                <a:latin typeface="Poppins"/>
                <a:ea typeface="Poppins"/>
                <a:cs typeface="Poppins"/>
                <a:sym typeface="Poppins"/>
              </a:rPr>
              <a:t>LTV, CAC, ROAS, and Market Share tracking to measure overall profitability and market penetration.</a:t>
            </a:r>
            <a:endParaRPr lang="en-US" sz="1200" b="0" i="0" u="none" strike="noStrike">
              <a:solidFill>
                <a:srgbClr val="333333"/>
              </a:solidFill>
              <a:latin typeface="Poppins"/>
              <a:ea typeface="Poppins"/>
              <a:cs typeface="Poppins"/>
              <a:sym typeface="Poppins"/>
            </a:endParaRPr>
          </a:p>
        </p:txBody>
      </p:sp>
      <p:sp>
        <p:nvSpPr>
          <p:cNvPr id="21" name="AutoShape 21"/>
          <p:cNvSpPr/>
          <p:nvPr/>
        </p:nvSpPr>
        <p:spPr>
          <a:xfrm>
            <a:off x="8204200" y="3873500"/>
            <a:ext cx="1600200" cy="1651000"/>
          </a:xfrm>
          <a:prstGeom prst="roundRect">
            <a:avLst>
              <a:gd name="adj" fmla="val 0"/>
            </a:avLst>
          </a:prstGeom>
          <a:solidFill>
            <a:srgbClr val="FFFFFF">
              <a:alpha val="7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8267700" y="40005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D4AF37"/>
                </a:solidFill>
                <a:latin typeface="Poppins"/>
                <a:ea typeface="Poppins"/>
                <a:cs typeface="Poppins"/>
                <a:sym typeface="Poppins"/>
              </a:rPr>
              <a:t>MARKETING LEVEL</a:t>
            </a:r>
            <a:endParaRPr lang="en-US" sz="1100"/>
          </a:p>
          <a:p>
            <a:pPr marL="0" indent="0" algn="l">
              <a:lnSpc>
                <a:spcPct val="100000"/>
              </a:lnSpc>
            </a:pPr>
            <a:r>
              <a:rPr lang="en-US" sz="1200" b="0" i="0" u="none" strike="noStrike">
                <a:solidFill>
                  <a:srgbClr val="333333"/>
                </a:solidFill>
                <a:latin typeface="Poppins"/>
                <a:ea typeface="Poppins"/>
                <a:cs typeface="Poppins"/>
                <a:sym typeface="Poppins"/>
              </a:rPr>
              <a:t>Conversion Rate (CVR), CTR, CPA, and CPE to optimize campaign efficiency and user acquisition cost.</a:t>
            </a:r>
            <a:endParaRPr lang="en-US" sz="1200" b="0" i="0" u="none" strike="noStrike">
              <a:solidFill>
                <a:srgbClr val="333333"/>
              </a:solidFill>
              <a:latin typeface="Poppins"/>
              <a:ea typeface="Poppins"/>
              <a:cs typeface="Poppins"/>
              <a:sym typeface="Poppins"/>
            </a:endParaRPr>
          </a:p>
        </p:txBody>
      </p:sp>
      <p:sp>
        <p:nvSpPr>
          <p:cNvPr id="23" name="AutoShape 23"/>
          <p:cNvSpPr/>
          <p:nvPr/>
        </p:nvSpPr>
        <p:spPr>
          <a:xfrm>
            <a:off x="9804400" y="3873500"/>
            <a:ext cx="1600200" cy="1651000"/>
          </a:xfrm>
          <a:prstGeom prst="roundRect">
            <a:avLst>
              <a:gd name="adj" fmla="val 0"/>
            </a:avLst>
          </a:prstGeom>
          <a:solidFill>
            <a:srgbClr val="FFFFFF">
              <a:alpha val="7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9867900" y="40005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D4AF37"/>
                </a:solidFill>
                <a:latin typeface="Poppins"/>
                <a:ea typeface="Poppins"/>
                <a:cs typeface="Poppins"/>
                <a:sym typeface="Poppins"/>
              </a:rPr>
              <a:t>CHANNEL LEVEL</a:t>
            </a:r>
            <a:endParaRPr lang="en-US" sz="1100"/>
          </a:p>
          <a:p>
            <a:pPr marL="0" indent="0" algn="l">
              <a:lnSpc>
                <a:spcPct val="100000"/>
              </a:lnSpc>
            </a:pPr>
            <a:r>
              <a:rPr lang="en-US" sz="1200" b="0" i="0" u="none" strike="noStrike">
                <a:solidFill>
                  <a:srgbClr val="333333"/>
                </a:solidFill>
                <a:latin typeface="Poppins"/>
                <a:ea typeface="Poppins"/>
                <a:cs typeface="Poppins"/>
                <a:sym typeface="Poppins"/>
              </a:rPr>
              <a:t>Impressions, Reach, and Video Completion Rate to assess content performance and audience engagement.</a:t>
            </a:r>
            <a:endParaRPr lang="en-US" sz="1200" b="0" i="0" u="none" strike="noStrike">
              <a:solidFill>
                <a:srgbClr val="333333"/>
              </a:solidFill>
              <a:latin typeface="Poppins"/>
              <a:ea typeface="Poppins"/>
              <a:cs typeface="Poppins"/>
              <a:sym typeface="Poppins"/>
            </a:endParaRPr>
          </a:p>
        </p:txBody>
      </p:sp>
      <p:sp>
        <p:nvSpPr>
          <p:cNvPr id="25" name="AutoShape 25"/>
          <p:cNvSpPr/>
          <p:nvPr/>
        </p:nvSpPr>
        <p:spPr>
          <a:xfrm>
            <a:off x="6477000" y="5715000"/>
            <a:ext cx="5080000" cy="952500"/>
          </a:xfrm>
          <a:prstGeom prst="roundRect">
            <a:avLst>
              <a:gd name="adj" fmla="val 0"/>
            </a:avLst>
          </a:prstGeom>
          <a:solidFill>
            <a:srgbClr val="333333">
              <a:alpha val="5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5842000"/>
            <a:ext cx="304800" cy="304800"/>
          </a:xfrm>
          <a:prstGeom prst="rect">
            <a:avLst/>
          </a:prstGeom>
        </p:spPr>
      </p:pic>
      <p:sp>
        <p:nvSpPr>
          <p:cNvPr id="27" name="AutoShape 27"/>
          <p:cNvSpPr/>
          <p:nvPr/>
        </p:nvSpPr>
        <p:spPr>
          <a:xfrm>
            <a:off x="7112000" y="5816600"/>
            <a:ext cx="438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Poppins"/>
                <a:ea typeface="Poppins"/>
                <a:cs typeface="Poppins"/>
                <a:sym typeface="Poppins"/>
              </a:rPr>
              <a:t>Attribution Model: U-Shape Multi-Touch</a:t>
            </a:r>
            <a:endParaRPr lang="en-US" sz="1100"/>
          </a:p>
          <a:p>
            <a:pPr marL="0" indent="0" algn="l">
              <a:lnSpc>
                <a:spcPct val="108000"/>
              </a:lnSpc>
            </a:pPr>
            <a:r>
              <a:rPr lang="en-US" sz="1200" b="0" i="0" u="none" strike="noStrike">
                <a:solidFill>
                  <a:srgbClr val="525252"/>
                </a:solidFill>
                <a:latin typeface="Poppins"/>
                <a:ea typeface="Poppins"/>
                <a:cs typeface="Poppins"/>
                <a:sym typeface="Poppins"/>
              </a:rPr>
              <a:t>Giving weight to both first and last touches, complemented by Lift Tests to validate true incremental impact of marketing efforts.</a:t>
            </a:r>
            <a:endParaRPr lang="en-US" sz="1200" b="0" i="0" u="none" strike="noStrike">
              <a:solidFill>
                <a:srgbClr val="525252"/>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032000"/>
            <a:ext cx="12192000" cy="228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0" b="1" i="0" u="none" strike="noStrike">
                <a:solidFill>
                  <a:srgbClr val="D4AF37">
                    <a:alpha val="70196"/>
                  </a:srgbClr>
                </a:solidFill>
                <a:latin typeface="Poppins"/>
                <a:ea typeface="Poppins"/>
                <a:cs typeface="Poppins"/>
                <a:sym typeface="Poppins"/>
              </a:rPr>
              <a:t>02</a:t>
            </a:r>
            <a:endParaRPr lang="en-US" sz="1100"/>
          </a:p>
        </p:txBody>
      </p:sp>
      <p:sp>
        <p:nvSpPr>
          <p:cNvPr id="4" name="AutoShape 4"/>
          <p:cNvSpPr/>
          <p:nvPr/>
        </p:nvSpPr>
        <p:spPr>
          <a:xfrm>
            <a:off x="0" y="4699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Poppins"/>
                <a:ea typeface="Poppins"/>
                <a:cs typeface="Poppins"/>
                <a:sym typeface="Poppins"/>
              </a:rPr>
              <a:t>Social Media Post-Mortem</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Campaign Overview &amp; Key Performance Metrics</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D4AF37">
                <a:alpha val="100000"/>
              </a:srgbClr>
            </a:solidFill>
            <a:prstDash val="solid"/>
            <a:round/>
            <a:headEnd type="none" w="med" len="med"/>
            <a:tailEnd type="none" w="med" len="med"/>
          </a:ln>
        </p:spPr>
      </p:cxnSp>
      <p:sp>
        <p:nvSpPr>
          <p:cNvPr id="5" name="AutoShape 5"/>
          <p:cNvSpPr/>
          <p:nvPr/>
        </p:nvSpPr>
        <p:spPr>
          <a:xfrm>
            <a:off x="762000" y="1778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01. SMART Goals Recap</a:t>
            </a:r>
            <a:endParaRPr lang="en-US" sz="1100"/>
          </a:p>
        </p:txBody>
      </p:sp>
      <p:sp>
        <p:nvSpPr>
          <p:cNvPr id="6" name="AutoShape 6"/>
          <p:cNvSpPr/>
          <p:nvPr/>
        </p:nvSpPr>
        <p:spPr>
          <a:xfrm>
            <a:off x="762000" y="2413000"/>
            <a:ext cx="2476500" cy="1079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889000" y="2540000"/>
            <a:ext cx="222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Brand Growth</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+20% increase in Instagram mentions, expanding brand visibility across social channels.</a:t>
            </a:r>
            <a:endParaRPr lang="en-US" sz="1300" b="0" i="0" u="none" strike="noStrike">
              <a:solidFill>
                <a:srgbClr val="555555"/>
              </a:solidFill>
              <a:latin typeface="Noto Sans SC"/>
              <a:ea typeface="Noto Sans SC"/>
              <a:cs typeface="Noto Sans SC"/>
              <a:sym typeface="Noto Sans SC"/>
            </a:endParaRPr>
          </a:p>
        </p:txBody>
      </p:sp>
      <p:sp>
        <p:nvSpPr>
          <p:cNvPr id="8" name="AutoShape 8"/>
          <p:cNvSpPr/>
          <p:nvPr/>
        </p:nvSpPr>
        <p:spPr>
          <a:xfrm>
            <a:off x="3429000" y="2413000"/>
            <a:ext cx="2476500" cy="1079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3556000" y="2540000"/>
            <a:ext cx="222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Engagement Rate</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Achieved 3% average engagement rate, fostering deeper connections with the target audience.</a:t>
            </a:r>
            <a:endParaRPr lang="en-US" sz="1300" b="0" i="0" u="none" strike="noStrike">
              <a:solidFill>
                <a:srgbClr val="555555"/>
              </a:solidFill>
              <a:latin typeface="Noto Sans SC"/>
              <a:ea typeface="Noto Sans SC"/>
              <a:cs typeface="Noto Sans SC"/>
              <a:sym typeface="Noto Sans SC"/>
            </a:endParaRPr>
          </a:p>
        </p:txBody>
      </p:sp>
      <p:sp>
        <p:nvSpPr>
          <p:cNvPr id="10" name="AutoShape 10"/>
          <p:cNvSpPr/>
          <p:nvPr/>
        </p:nvSpPr>
        <p:spPr>
          <a:xfrm>
            <a:off x="762000" y="3683000"/>
            <a:ext cx="2476500" cy="1079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89000" y="3810000"/>
            <a:ext cx="222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High-Quality Traffic</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Drove 10,000 qualified visitors to the website, with a low bounce rate and high session duration.</a:t>
            </a:r>
            <a:endParaRPr lang="en-US" sz="1300" b="0" i="0" u="none" strike="noStrike">
              <a:solidFill>
                <a:srgbClr val="555555"/>
              </a:solidFill>
              <a:latin typeface="Noto Sans SC"/>
              <a:ea typeface="Noto Sans SC"/>
              <a:cs typeface="Noto Sans SC"/>
              <a:sym typeface="Noto Sans SC"/>
            </a:endParaRPr>
          </a:p>
        </p:txBody>
      </p:sp>
      <p:sp>
        <p:nvSpPr>
          <p:cNvPr id="12" name="AutoShape 12"/>
          <p:cNvSpPr/>
          <p:nvPr/>
        </p:nvSpPr>
        <p:spPr>
          <a:xfrm>
            <a:off x="3429000" y="3683000"/>
            <a:ext cx="2476500" cy="1079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3556000" y="3810000"/>
            <a:ext cx="222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Sales &amp; ROAS</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Sold 500 units with a ROAS of 5:1, exceeding the initial revenue and profitability targets.</a:t>
            </a:r>
            <a:endParaRPr lang="en-US" sz="1300" b="0" i="0" u="none" strike="noStrike">
              <a:solidFill>
                <a:srgbClr val="555555"/>
              </a:solidFill>
              <a:latin typeface="Noto Sans SC"/>
              <a:ea typeface="Noto Sans SC"/>
              <a:cs typeface="Noto Sans SC"/>
              <a:sym typeface="Noto Sans SC"/>
            </a:endParaRPr>
          </a:p>
        </p:txBody>
      </p:sp>
      <p:sp>
        <p:nvSpPr>
          <p:cNvPr id="14" name="AutoShape 14"/>
          <p:cNvSpPr/>
          <p:nvPr/>
        </p:nvSpPr>
        <p:spPr>
          <a:xfrm>
            <a:off x="762000" y="5080000"/>
            <a:ext cx="5207000" cy="1079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89000" y="5207000"/>
            <a:ext cx="495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3333"/>
                </a:solidFill>
                <a:latin typeface="Noto Sans SC"/>
                <a:ea typeface="Noto Sans SC"/>
                <a:cs typeface="Noto Sans SC"/>
                <a:sym typeface="Noto Sans SC"/>
              </a:rPr>
              <a:t>The campaign's strategic alignment of brand building and direct response tactics has delivered a well-rounded performance, meeting or exceeding all predefined SMART goals across the marketing funnel.</a:t>
            </a:r>
            <a:endParaRPr lang="en-US" sz="1100"/>
          </a:p>
        </p:txBody>
      </p:sp>
      <p:cxnSp>
        <p:nvCxnSpPr>
          <p:cNvPr id="16" name="Connector 16"/>
          <p:cNvCxnSpPr/>
          <p:nvPr/>
        </p:nvCxnSpPr>
        <p:spPr>
          <a:xfrm rot="5389889">
            <a:off x="4191000" y="4057659"/>
            <a:ext cx="4318000" cy="12700"/>
          </a:xfrm>
          <a:prstGeom prst="straightConnector1">
            <a:avLst/>
          </a:prstGeom>
          <a:solidFill>
            <a:srgbClr val="DEE0E3">
              <a:alpha val="100000"/>
            </a:srgbClr>
          </a:solidFill>
          <a:ln w="12700" cap="flat" cmpd="sng">
            <a:solidFill>
              <a:srgbClr val="D4AF37">
                <a:alpha val="50000"/>
              </a:srgbClr>
            </a:solidFill>
            <a:prstDash val="dash"/>
            <a:round/>
            <a:headEnd type="none" w="med" len="med"/>
            <a:tailEnd type="none" w="med" len="med"/>
          </a:ln>
        </p:spPr>
      </p:cxnSp>
      <p:sp>
        <p:nvSpPr>
          <p:cNvPr id="17" name="AutoShape 17"/>
          <p:cNvSpPr/>
          <p:nvPr/>
        </p:nvSpPr>
        <p:spPr>
          <a:xfrm>
            <a:off x="6604000" y="1778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02. Key Performance Metrics</a:t>
            </a:r>
            <a:endParaRPr lang="en-US" sz="1100"/>
          </a:p>
        </p:txBody>
      </p:sp>
      <p:pic>
        <p:nvPicPr>
          <p:cNvPr id="18" name="Picture 18"/>
          <p:cNvPicPr>
            <a:picLocks noChangeAspect="1"/>
          </p:cNvPicPr>
          <p:nvPr/>
        </p:nvPicPr>
        <p:blipFill>
          <a:blip r:embed="rId2"/>
          <a:srcRect t="3153" b="3153"/>
          <a:stretch>
            <a:fillRect/>
          </a:stretch>
        </p:blipFill>
        <p:spPr>
          <a:xfrm>
            <a:off x="6604000" y="2413000"/>
            <a:ext cx="2349500" cy="1651000"/>
          </a:xfrm>
          <a:prstGeom prst="rect">
            <a:avLst/>
          </a:prstGeom>
          <a:noFill/>
          <a:ln w="12700" cap="flat" cmpd="sng">
            <a:solidFill>
              <a:srgbClr val="D4AF37">
                <a:alpha val="40000"/>
              </a:srgbClr>
            </a:solidFill>
            <a:prstDash val="solid"/>
            <a:round/>
          </a:ln>
        </p:spPr>
      </p:pic>
      <p:sp>
        <p:nvSpPr>
          <p:cNvPr id="19" name="AutoShape 19"/>
          <p:cNvSpPr/>
          <p:nvPr/>
        </p:nvSpPr>
        <p:spPr>
          <a:xfrm>
            <a:off x="9144000" y="2413000"/>
            <a:ext cx="2413000" cy="1651000"/>
          </a:xfrm>
          <a:prstGeom prst="roundRect">
            <a:avLst>
              <a:gd name="adj" fmla="val 0"/>
            </a:avLst>
          </a:prstGeom>
          <a:solidFill>
            <a:srgbClr val="FFFFFF">
              <a:alpha val="70000"/>
            </a:srgbClr>
          </a:solidFill>
          <a:ln w="12700" cap="flat" cmpd="sng">
            <a:solidFill>
              <a:srgbClr val="D4AF37">
                <a:alpha val="6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9271000" y="2540000"/>
            <a:ext cx="215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a:ea typeface="Noto Sans SC"/>
                <a:cs typeface="Noto Sans SC"/>
                <a:sym typeface="Noto Sans SC"/>
              </a:rPr>
              <a:t>Total Revenue &amp; Efficiency</a:t>
            </a:r>
            <a:endParaRPr lang="en-US" sz="1100"/>
          </a:p>
          <a:p>
            <a:pPr marL="0" indent="0" algn="l">
              <a:lnSpc>
                <a:spcPct val="125000"/>
              </a:lnSpc>
            </a:pPr>
            <a:r>
              <a:rPr lang="en-US" sz="2200" b="1" i="0" u="none" strike="noStrike">
                <a:solidFill>
                  <a:srgbClr val="D4AF37"/>
                </a:solidFill>
                <a:latin typeface="Noto Sans SC"/>
                <a:ea typeface="Noto Sans SC"/>
                <a:cs typeface="Noto Sans SC"/>
                <a:sym typeface="Noto Sans SC"/>
              </a:rPr>
              <a:t>$XXX,XXX</a:t>
            </a:r>
            <a:endParaRPr lang="en-US" sz="2200" b="1" i="0" u="none" strike="noStrike">
              <a:solidFill>
                <a:srgbClr val="D4AF37"/>
              </a:solidFill>
              <a:latin typeface="Noto Sans SC"/>
              <a:ea typeface="Noto Sans SC"/>
              <a:cs typeface="Noto Sans SC"/>
              <a:sym typeface="Noto Sans SC"/>
            </a:endParaRPr>
          </a:p>
          <a:p>
            <a:pPr marL="0" indent="0" algn="l">
              <a:lnSpc>
                <a:spcPct val="100000"/>
              </a:lnSpc>
            </a:pPr>
            <a:r>
              <a:rPr lang="en-US" sz="1200" b="0" i="0" u="none" strike="noStrike">
                <a:solidFill>
                  <a:srgbClr val="555555"/>
                </a:solidFill>
                <a:latin typeface="Noto Sans SC"/>
                <a:ea typeface="Noto Sans SC"/>
                <a:cs typeface="Noto Sans SC"/>
                <a:sym typeface="Noto Sans SC"/>
              </a:rPr>
              <a:t>Total Sales | ROAS: X:1 (Industry benchmark: 3:1)</a:t>
            </a:r>
            <a:endParaRPr lang="en-US" sz="1200" b="0" i="0" u="none" strike="noStrike">
              <a:solidFill>
                <a:srgbClr val="555555"/>
              </a:solidFill>
              <a:latin typeface="Noto Sans SC"/>
              <a:ea typeface="Noto Sans SC"/>
              <a:cs typeface="Noto Sans SC"/>
              <a:sym typeface="Noto Sans SC"/>
            </a:endParaRPr>
          </a:p>
        </p:txBody>
      </p:sp>
      <p:sp>
        <p:nvSpPr>
          <p:cNvPr id="21" name="AutoShape 21"/>
          <p:cNvSpPr/>
          <p:nvPr/>
        </p:nvSpPr>
        <p:spPr>
          <a:xfrm>
            <a:off x="6604000" y="4318000"/>
            <a:ext cx="2413000" cy="1016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731000" y="44196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Investment &amp; Reach</a:t>
            </a:r>
            <a:endParaRPr lang="en-US" sz="1100"/>
          </a:p>
          <a:p>
            <a:pPr marL="0" indent="0" algn="l">
              <a:lnSpc>
                <a:spcPct val="100000"/>
              </a:lnSpc>
            </a:pPr>
            <a:r>
              <a:rPr lang="en-US" sz="1200" b="0" i="0" u="none" strike="noStrike">
                <a:solidFill>
                  <a:srgbClr val="555555"/>
                </a:solidFill>
                <a:latin typeface="Noto Sans SC"/>
                <a:ea typeface="Noto Sans SC"/>
                <a:cs typeface="Noto Sans SC"/>
                <a:sym typeface="Noto Sans SC"/>
              </a:rPr>
              <a:t>Spend: $XX,XXX | Impressions: X,XXX,XXX – Maximizing brand exposure within budget.</a:t>
            </a:r>
            <a:endParaRPr lang="en-US" sz="1200" b="0" i="0" u="none" strike="noStrike">
              <a:solidFill>
                <a:srgbClr val="555555"/>
              </a:solidFill>
              <a:latin typeface="Noto Sans SC"/>
              <a:ea typeface="Noto Sans SC"/>
              <a:cs typeface="Noto Sans SC"/>
              <a:sym typeface="Noto Sans SC"/>
            </a:endParaRPr>
          </a:p>
        </p:txBody>
      </p:sp>
      <p:sp>
        <p:nvSpPr>
          <p:cNvPr id="23" name="AutoShape 23"/>
          <p:cNvSpPr/>
          <p:nvPr/>
        </p:nvSpPr>
        <p:spPr>
          <a:xfrm>
            <a:off x="9144000" y="4318000"/>
            <a:ext cx="2413000" cy="1016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271000" y="44196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Engagement &amp; CTR</a:t>
            </a:r>
            <a:endParaRPr lang="en-US" sz="1100"/>
          </a:p>
          <a:p>
            <a:pPr marL="0" indent="0" algn="l">
              <a:lnSpc>
                <a:spcPct val="100000"/>
              </a:lnSpc>
            </a:pPr>
            <a:r>
              <a:rPr lang="en-US" sz="1200" b="0" i="0" u="none" strike="noStrike">
                <a:solidFill>
                  <a:srgbClr val="555555"/>
                </a:solidFill>
                <a:latin typeface="Noto Sans SC"/>
                <a:ea typeface="Noto Sans SC"/>
                <a:cs typeface="Noto Sans SC"/>
                <a:sym typeface="Noto Sans SC"/>
              </a:rPr>
              <a:t>Engagement: XX,XXX | CTR: X.X% – Well above the industry average of 2.1%.</a:t>
            </a:r>
            <a:endParaRPr lang="en-US" sz="1200" b="0" i="0" u="none" strike="noStrike">
              <a:solidFill>
                <a:srgbClr val="555555"/>
              </a:solidFill>
              <a:latin typeface="Noto Sans SC"/>
              <a:ea typeface="Noto Sans SC"/>
              <a:cs typeface="Noto Sans SC"/>
              <a:sym typeface="Noto Sans SC"/>
            </a:endParaRPr>
          </a:p>
        </p:txBody>
      </p:sp>
      <p:sp>
        <p:nvSpPr>
          <p:cNvPr id="25" name="AutoShape 25"/>
          <p:cNvSpPr/>
          <p:nvPr/>
        </p:nvSpPr>
        <p:spPr>
          <a:xfrm>
            <a:off x="6604000" y="5524500"/>
            <a:ext cx="4953000" cy="889000"/>
          </a:xfrm>
          <a:prstGeom prst="roundRect">
            <a:avLst>
              <a:gd name="adj" fmla="val 0"/>
            </a:avLst>
          </a:prstGeom>
          <a:solidFill>
            <a:srgbClr val="D4AF37">
              <a:alpha val="1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731000" y="56134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33333"/>
                </a:solidFill>
                <a:latin typeface="Noto Sans SC"/>
                <a:ea typeface="Noto Sans SC"/>
                <a:cs typeface="Noto Sans SC"/>
                <a:sym typeface="Noto Sans SC"/>
              </a:rPr>
              <a:t>Conversion &amp; CPA Performance</a:t>
            </a:r>
            <a:endParaRPr lang="en-US" sz="1100"/>
          </a:p>
          <a:p>
            <a:pPr marL="0" indent="0" algn="l">
              <a:lnSpc>
                <a:spcPct val="125000"/>
              </a:lnSpc>
            </a:pPr>
            <a:r>
              <a:rPr lang="en-US" sz="1200" b="0" i="0" u="none" strike="noStrike">
                <a:solidFill>
                  <a:srgbClr val="555555"/>
                </a:solidFill>
                <a:latin typeface="Noto Sans SC"/>
                <a:ea typeface="Noto Sans SC"/>
                <a:cs typeface="Noto Sans SC"/>
                <a:sym typeface="Noto Sans SC"/>
              </a:rPr>
              <a:t>Total Conversions: XXX | Cost Per Acquisition (CPA): $XXX – Optimized to be 15% lower than forecasted, ensuring cost efficiency.</a:t>
            </a:r>
            <a:endParaRPr lang="en-US" sz="12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Deep Dive Analysis: By Platform &amp; Content</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5" name="AutoShape 5"/>
          <p:cNvSpPr/>
          <p:nvPr/>
        </p:nvSpPr>
        <p:spPr>
          <a:xfrm>
            <a:off x="762000" y="17780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01. PERFORMANCE BY PLATFORM</a:t>
            </a:r>
            <a:endParaRPr lang="en-US" sz="1100"/>
          </a:p>
        </p:txBody>
      </p:sp>
      <p:sp>
        <p:nvSpPr>
          <p:cNvPr id="6" name="AutoShape 6"/>
          <p:cNvSpPr/>
          <p:nvPr/>
        </p:nvSpPr>
        <p:spPr>
          <a:xfrm>
            <a:off x="762000" y="2540000"/>
            <a:ext cx="5207000" cy="12065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730500"/>
            <a:ext cx="355600" cy="355600"/>
          </a:xfrm>
          <a:prstGeom prst="rect">
            <a:avLst/>
          </a:prstGeom>
        </p:spPr>
      </p:pic>
      <p:sp>
        <p:nvSpPr>
          <p:cNvPr id="8" name="AutoShape 8"/>
          <p:cNvSpPr/>
          <p:nvPr/>
        </p:nvSpPr>
        <p:spPr>
          <a:xfrm>
            <a:off x="1524000" y="2667000"/>
            <a:ext cx="425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Instagram: The Best Performer (ROAS 6:1)</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Feed Ads maximized broad reach, while Story Ads drove exceptional user engagement. The platform’s visual focus aligned perfectly with our brand aesthetic.</a:t>
            </a:r>
            <a:endParaRPr lang="en-US" sz="1300" b="0" i="0" u="none" strike="noStrike">
              <a:solidFill>
                <a:srgbClr val="555555"/>
              </a:solidFill>
              <a:latin typeface="Poppins"/>
              <a:ea typeface="Poppins"/>
              <a:cs typeface="Poppins"/>
              <a:sym typeface="Poppins"/>
            </a:endParaRPr>
          </a:p>
        </p:txBody>
      </p:sp>
      <p:sp>
        <p:nvSpPr>
          <p:cNvPr id="9" name="AutoShape 9"/>
          <p:cNvSpPr/>
          <p:nvPr/>
        </p:nvSpPr>
        <p:spPr>
          <a:xfrm>
            <a:off x="762000" y="3937000"/>
            <a:ext cx="5207000" cy="12065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127500"/>
            <a:ext cx="355600" cy="355600"/>
          </a:xfrm>
          <a:prstGeom prst="rect">
            <a:avLst/>
          </a:prstGeom>
        </p:spPr>
      </p:pic>
      <p:sp>
        <p:nvSpPr>
          <p:cNvPr id="11" name="AutoShape 11"/>
          <p:cNvSpPr/>
          <p:nvPr/>
        </p:nvSpPr>
        <p:spPr>
          <a:xfrm>
            <a:off x="1524000" y="4064000"/>
            <a:ext cx="425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TikTok: Most Cost-Effective (Lowest CPA)</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Viral challenges generated massive UGC and awareness at a low cost, though conversion from the app to our website remained a challenge to optimize.</a:t>
            </a:r>
            <a:endParaRPr lang="en-US" sz="1300" b="0" i="0" u="none" strike="noStrike">
              <a:solidFill>
                <a:srgbClr val="555555"/>
              </a:solidFill>
              <a:latin typeface="Poppins"/>
              <a:ea typeface="Poppins"/>
              <a:cs typeface="Poppins"/>
              <a:sym typeface="Poppins"/>
            </a:endParaRPr>
          </a:p>
        </p:txBody>
      </p:sp>
      <p:sp>
        <p:nvSpPr>
          <p:cNvPr id="12" name="AutoShape 12"/>
          <p:cNvSpPr/>
          <p:nvPr/>
        </p:nvSpPr>
        <p:spPr>
          <a:xfrm>
            <a:off x="762000" y="5270500"/>
            <a:ext cx="5207000" cy="12065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461000"/>
            <a:ext cx="355600" cy="355600"/>
          </a:xfrm>
          <a:prstGeom prst="rect">
            <a:avLst/>
          </a:prstGeom>
        </p:spPr>
      </p:pic>
      <p:sp>
        <p:nvSpPr>
          <p:cNvPr id="14" name="AutoShape 14"/>
          <p:cNvSpPr/>
          <p:nvPr/>
        </p:nvSpPr>
        <p:spPr>
          <a:xfrm>
            <a:off x="1524000" y="5397500"/>
            <a:ext cx="425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LinkedIn: High-Quality B2B Decision-Makers</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Successfully reached key stakeholders, but incurred the highest CPM and CPA. Its value lies in long-term relationship building rather than immediate sales.</a:t>
            </a:r>
            <a:endParaRPr lang="en-US" sz="1300" b="0" i="0" u="none" strike="noStrike">
              <a:solidFill>
                <a:srgbClr val="555555"/>
              </a:solidFill>
              <a:latin typeface="Poppins"/>
              <a:ea typeface="Poppins"/>
              <a:cs typeface="Poppins"/>
              <a:sym typeface="Poppins"/>
            </a:endParaRPr>
          </a:p>
        </p:txBody>
      </p:sp>
      <p:cxnSp>
        <p:nvCxnSpPr>
          <p:cNvPr id="15" name="Connector 15"/>
          <p:cNvCxnSpPr/>
          <p:nvPr/>
        </p:nvCxnSpPr>
        <p:spPr>
          <a:xfrm rot="5390177">
            <a:off x="4000500" y="4121159"/>
            <a:ext cx="44450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16" name="AutoShape 16"/>
          <p:cNvSpPr/>
          <p:nvPr/>
        </p:nvSpPr>
        <p:spPr>
          <a:xfrm>
            <a:off x="6477000" y="17780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02. IMPACT BY CONTENT FORMAT</a:t>
            </a:r>
            <a:endParaRPr lang="en-US" sz="1100"/>
          </a:p>
        </p:txBody>
      </p:sp>
      <p:sp>
        <p:nvSpPr>
          <p:cNvPr id="17" name="AutoShape 17"/>
          <p:cNvSpPr/>
          <p:nvPr/>
        </p:nvSpPr>
        <p:spPr>
          <a:xfrm>
            <a:off x="6477000" y="2540000"/>
            <a:ext cx="5207000" cy="12065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2730500"/>
            <a:ext cx="355600" cy="355600"/>
          </a:xfrm>
          <a:prstGeom prst="rect">
            <a:avLst/>
          </a:prstGeom>
        </p:spPr>
      </p:pic>
      <p:sp>
        <p:nvSpPr>
          <p:cNvPr id="19" name="AutoShape 19"/>
          <p:cNvSpPr/>
          <p:nvPr/>
        </p:nvSpPr>
        <p:spPr>
          <a:xfrm>
            <a:off x="7175500" y="2667000"/>
            <a:ext cx="431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Video: Highest Conversion for Demos</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Product demo videos achieved an average watch time of 15s and a 45% completion rate, proving most effective at guiding users to purchase.</a:t>
            </a:r>
            <a:endParaRPr lang="en-US" sz="1300" b="0" i="0" u="none" strike="noStrike">
              <a:solidFill>
                <a:srgbClr val="555555"/>
              </a:solidFill>
              <a:latin typeface="Poppins"/>
              <a:ea typeface="Poppins"/>
              <a:cs typeface="Poppins"/>
              <a:sym typeface="Poppins"/>
            </a:endParaRPr>
          </a:p>
        </p:txBody>
      </p:sp>
      <p:sp>
        <p:nvSpPr>
          <p:cNvPr id="20" name="AutoShape 20"/>
          <p:cNvSpPr/>
          <p:nvPr/>
        </p:nvSpPr>
        <p:spPr>
          <a:xfrm>
            <a:off x="6477000" y="3937000"/>
            <a:ext cx="5207000" cy="12065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67500" y="4127500"/>
            <a:ext cx="355600" cy="355600"/>
          </a:xfrm>
          <a:prstGeom prst="rect">
            <a:avLst/>
          </a:prstGeom>
        </p:spPr>
      </p:pic>
      <p:sp>
        <p:nvSpPr>
          <p:cNvPr id="22" name="AutoShape 22"/>
          <p:cNvSpPr/>
          <p:nvPr/>
        </p:nvSpPr>
        <p:spPr>
          <a:xfrm>
            <a:off x="7175500" y="4064000"/>
            <a:ext cx="431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Carousel: Lowest Engagement Cost</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Ideal for showcasing multiple product details and features in a single ad unit, Carousels delivered strong engagement at the lowest cost per interaction.</a:t>
            </a:r>
            <a:endParaRPr lang="en-US" sz="1300" b="0" i="0" u="none" strike="noStrike">
              <a:solidFill>
                <a:srgbClr val="555555"/>
              </a:solidFill>
              <a:latin typeface="Poppins"/>
              <a:ea typeface="Poppins"/>
              <a:cs typeface="Poppins"/>
              <a:sym typeface="Poppins"/>
            </a:endParaRPr>
          </a:p>
        </p:txBody>
      </p:sp>
      <p:sp>
        <p:nvSpPr>
          <p:cNvPr id="23" name="AutoShape 23"/>
          <p:cNvSpPr/>
          <p:nvPr/>
        </p:nvSpPr>
        <p:spPr>
          <a:xfrm>
            <a:off x="6477000" y="5270500"/>
            <a:ext cx="5207000" cy="12065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7500" y="5461000"/>
            <a:ext cx="355600" cy="355600"/>
          </a:xfrm>
          <a:prstGeom prst="rect">
            <a:avLst/>
          </a:prstGeom>
        </p:spPr>
      </p:pic>
      <p:sp>
        <p:nvSpPr>
          <p:cNvPr id="25" name="AutoShape 25"/>
          <p:cNvSpPr/>
          <p:nvPr/>
        </p:nvSpPr>
        <p:spPr>
          <a:xfrm>
            <a:off x="7175500" y="5397500"/>
            <a:ext cx="431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Ad Copy: "Pain Point + Solution" Wins</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Copy structured around addressing customer pain points and presenting our product as the solution outperformed feature-focused copy by 30% in CTR.</a:t>
            </a:r>
            <a:endParaRPr lang="en-US" sz="1300" b="0" i="0" u="none" strike="noStrike">
              <a:solidFill>
                <a:srgbClr val="555555"/>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Insights &amp; Learnings</a:t>
            </a:r>
            <a:endParaRPr lang="en-US" sz="1100"/>
          </a:p>
        </p:txBody>
      </p:sp>
      <p:sp>
        <p:nvSpPr>
          <p:cNvPr id="4" name="AutoShape 4"/>
          <p:cNvSpPr/>
          <p:nvPr/>
        </p:nvSpPr>
        <p:spPr>
          <a:xfrm>
            <a:off x="762000" y="1651000"/>
            <a:ext cx="5207000" cy="43180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33333"/>
                </a:solidFill>
                <a:latin typeface="Poppins"/>
                <a:ea typeface="Poppins"/>
                <a:cs typeface="Poppins"/>
                <a:sym typeface="Poppins"/>
              </a:rPr>
              <a:t>What Worked</a:t>
            </a:r>
            <a:endParaRPr lang="en-US" sz="1100"/>
          </a:p>
        </p:txBody>
      </p:sp>
      <p:cxnSp>
        <p:nvCxnSpPr>
          <p:cNvPr id="7" name="Connector 7"/>
          <p:cNvCxnSpPr/>
          <p:nvPr/>
        </p:nvCxnSpPr>
        <p:spPr>
          <a:xfrm rot="-9291">
            <a:off x="1016009" y="2597150"/>
            <a:ext cx="4699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921000"/>
            <a:ext cx="304800" cy="304800"/>
          </a:xfrm>
          <a:prstGeom prst="rect">
            <a:avLst/>
          </a:prstGeom>
        </p:spPr>
      </p:pic>
      <p:sp>
        <p:nvSpPr>
          <p:cNvPr id="9" name="AutoShape 9"/>
          <p:cNvSpPr/>
          <p:nvPr/>
        </p:nvSpPr>
        <p:spPr>
          <a:xfrm>
            <a:off x="1460500" y="2895600"/>
            <a:ext cx="425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Creative Insight:</a:t>
            </a:r>
            <a:r>
              <a:rPr lang="en-US" sz="1400" b="0" i="0" u="none" strike="noStrike">
                <a:solidFill>
                  <a:srgbClr val="555555"/>
                </a:solidFill>
                <a:latin typeface="Poppins"/>
                <a:ea typeface="Poppins"/>
                <a:cs typeface="Poppins"/>
                <a:sym typeface="Poppins"/>
              </a:rPr>
              <a:t>"User story" videos resonated more emotionally and drove significantly higher social shares than polished "brand promo" videos, creating authentic connections.</a:t>
            </a:r>
            <a:endParaRPr lang="en-US" sz="1100"/>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064000"/>
            <a:ext cx="304800" cy="304800"/>
          </a:xfrm>
          <a:prstGeom prst="rect">
            <a:avLst/>
          </a:prstGeom>
        </p:spPr>
      </p:pic>
      <p:sp>
        <p:nvSpPr>
          <p:cNvPr id="11" name="AutoShape 11"/>
          <p:cNvSpPr/>
          <p:nvPr/>
        </p:nvSpPr>
        <p:spPr>
          <a:xfrm>
            <a:off x="1460500" y="4038600"/>
            <a:ext cx="425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Timing Insight:</a:t>
            </a:r>
            <a:r>
              <a:rPr lang="en-US" sz="1400" b="0" i="0" u="none" strike="noStrike">
                <a:solidFill>
                  <a:srgbClr val="555555"/>
                </a:solidFill>
                <a:latin typeface="Poppins"/>
                <a:ea typeface="Poppins"/>
                <a:cs typeface="Poppins"/>
                <a:sym typeface="Poppins"/>
              </a:rPr>
              <a:t>Engagement peaked consistently on Wednesday and Sunday evenings between 8–10 PM, aligning with users' leisure browsing habits.</a:t>
            </a:r>
            <a:endParaRPr lang="en-US" sz="1100"/>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207000"/>
            <a:ext cx="304800" cy="304800"/>
          </a:xfrm>
          <a:prstGeom prst="rect">
            <a:avLst/>
          </a:prstGeom>
        </p:spPr>
      </p:pic>
      <p:sp>
        <p:nvSpPr>
          <p:cNvPr id="13" name="AutoShape 13"/>
          <p:cNvSpPr/>
          <p:nvPr/>
        </p:nvSpPr>
        <p:spPr>
          <a:xfrm>
            <a:off x="1460500" y="5181600"/>
            <a:ext cx="425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Channel Insight:</a:t>
            </a:r>
            <a:r>
              <a:rPr lang="en-US" sz="1400" b="0" i="0" u="none" strike="noStrike">
                <a:solidFill>
                  <a:srgbClr val="555555"/>
                </a:solidFill>
                <a:latin typeface="Poppins"/>
                <a:ea typeface="Poppins"/>
                <a:cs typeface="Poppins"/>
                <a:sym typeface="Poppins"/>
              </a:rPr>
              <a:t>A dual strategy of Instagram and TikTok effectively covered distinct user segments, expanding reach across age groups and content preferences.</a:t>
            </a:r>
            <a:endParaRPr lang="en-US" sz="1100"/>
          </a:p>
        </p:txBody>
      </p:sp>
      <p:sp>
        <p:nvSpPr>
          <p:cNvPr id="14" name="AutoShape 14"/>
          <p:cNvSpPr/>
          <p:nvPr/>
        </p:nvSpPr>
        <p:spPr>
          <a:xfrm>
            <a:off x="6223000" y="1651000"/>
            <a:ext cx="5207000" cy="43180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1651000"/>
            <a:ext cx="5207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190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33333"/>
                </a:solidFill>
                <a:latin typeface="Poppins"/>
                <a:ea typeface="Poppins"/>
                <a:cs typeface="Poppins"/>
                <a:sym typeface="Poppins"/>
              </a:rPr>
              <a:t>What Didn't Work</a:t>
            </a:r>
            <a:endParaRPr lang="en-US" sz="1100"/>
          </a:p>
        </p:txBody>
      </p:sp>
      <p:cxnSp>
        <p:nvCxnSpPr>
          <p:cNvPr id="17" name="Connector 17"/>
          <p:cNvCxnSpPr/>
          <p:nvPr/>
        </p:nvCxnSpPr>
        <p:spPr>
          <a:xfrm rot="-9291">
            <a:off x="6477009" y="2597150"/>
            <a:ext cx="4699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2921000"/>
            <a:ext cx="304800" cy="304800"/>
          </a:xfrm>
          <a:prstGeom prst="rect">
            <a:avLst/>
          </a:prstGeom>
        </p:spPr>
      </p:pic>
      <p:sp>
        <p:nvSpPr>
          <p:cNvPr id="19" name="AutoShape 19"/>
          <p:cNvSpPr/>
          <p:nvPr/>
        </p:nvSpPr>
        <p:spPr>
          <a:xfrm>
            <a:off x="6921500" y="2895600"/>
            <a:ext cx="425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Landing Page Mismatch:</a:t>
            </a:r>
            <a:r>
              <a:rPr lang="en-US" sz="1400" b="0" i="0" u="none" strike="noStrike">
                <a:solidFill>
                  <a:srgbClr val="555555"/>
                </a:solidFill>
                <a:latin typeface="Poppins"/>
                <a:ea typeface="Poppins"/>
                <a:cs typeface="Poppins"/>
                <a:sym typeface="Poppins"/>
              </a:rPr>
              <a:t>TikTok-driven traffic saw an 80% bounce rate, revealing a stark style and messaging disconnect between the platform's vibe and the landing page's formal tone.</a:t>
            </a:r>
            <a:endParaRPr lang="en-US" sz="1100"/>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064000"/>
            <a:ext cx="304800" cy="304800"/>
          </a:xfrm>
          <a:prstGeom prst="rect">
            <a:avLst/>
          </a:prstGeom>
        </p:spPr>
      </p:pic>
      <p:sp>
        <p:nvSpPr>
          <p:cNvPr id="21" name="AutoShape 21"/>
          <p:cNvSpPr/>
          <p:nvPr/>
        </p:nvSpPr>
        <p:spPr>
          <a:xfrm>
            <a:off x="6921500" y="4038600"/>
            <a:ext cx="425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Budget Misallocation:</a:t>
            </a:r>
            <a:r>
              <a:rPr lang="en-US" sz="1400" b="0" i="0" u="none" strike="noStrike">
                <a:solidFill>
                  <a:srgbClr val="555555"/>
                </a:solidFill>
                <a:latin typeface="Poppins"/>
                <a:ea typeface="Poppins"/>
                <a:cs typeface="Poppins"/>
                <a:sym typeface="Poppins"/>
              </a:rPr>
              <a:t>LinkedIn's spend accounted for a disproportionate share of the budget relative to its contribution to total sales, indicating inefficient resource distribution.</a:t>
            </a:r>
            <a:endParaRPr lang="en-US" sz="1100"/>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5207000"/>
            <a:ext cx="304800" cy="304800"/>
          </a:xfrm>
          <a:prstGeom prst="rect">
            <a:avLst/>
          </a:prstGeom>
        </p:spPr>
      </p:pic>
      <p:sp>
        <p:nvSpPr>
          <p:cNvPr id="23" name="AutoShape 23"/>
          <p:cNvSpPr/>
          <p:nvPr/>
        </p:nvSpPr>
        <p:spPr>
          <a:xfrm>
            <a:off x="6921500" y="5181600"/>
            <a:ext cx="425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Lengthy Conversion Path:</a:t>
            </a:r>
            <a:r>
              <a:rPr lang="en-US" sz="1400" b="0" i="0" u="none" strike="noStrike">
                <a:solidFill>
                  <a:srgbClr val="555555"/>
                </a:solidFill>
                <a:latin typeface="Poppins"/>
                <a:ea typeface="Poppins"/>
                <a:cs typeface="Poppins"/>
                <a:sym typeface="Poppins"/>
              </a:rPr>
              <a:t>An excessive number of steps from initial ad view to final purchase created significant drop-off points in the user journey, hindering conversions.</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Recommendations for Future Campaigns</a:t>
            </a:r>
            <a:endParaRPr lang="en-US" sz="1100"/>
          </a:p>
        </p:txBody>
      </p:sp>
      <p:sp>
        <p:nvSpPr>
          <p:cNvPr id="4" name="AutoShape 4"/>
          <p:cNvSpPr/>
          <p:nvPr/>
        </p:nvSpPr>
        <p:spPr>
          <a:xfrm>
            <a:off x="762000" y="1397000"/>
            <a:ext cx="10668000" cy="12700"/>
          </a:xfrm>
          <a:prstGeom prst="roundRect">
            <a:avLst>
              <a:gd name="adj" fmla="val 0"/>
            </a:avLst>
          </a:prstGeom>
          <a:solidFill>
            <a:srgbClr val="D4AF37">
              <a:alpha val="5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429000" cy="3556000"/>
          </a:xfrm>
          <a:prstGeom prst="roundRect">
            <a:avLst>
              <a:gd name="adj" fmla="val 0"/>
            </a:avLst>
          </a:prstGeom>
          <a:solidFill>
            <a:srgbClr val="FFFFFF">
              <a:alpha val="6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3429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286000"/>
            <a:ext cx="355600" cy="355600"/>
          </a:xfrm>
          <a:prstGeom prst="rect">
            <a:avLst/>
          </a:prstGeom>
        </p:spPr>
      </p:pic>
      <p:sp>
        <p:nvSpPr>
          <p:cNvPr id="8" name="AutoShape 8"/>
          <p:cNvSpPr/>
          <p:nvPr/>
        </p:nvSpPr>
        <p:spPr>
          <a:xfrm>
            <a:off x="1397000" y="2260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Strategic Optimization</a:t>
            </a:r>
            <a:endParaRPr lang="en-US" sz="1100"/>
          </a:p>
        </p:txBody>
      </p:sp>
      <p:cxnSp>
        <p:nvCxnSpPr>
          <p:cNvPr id="9" name="Connector 9"/>
          <p:cNvCxnSpPr/>
          <p:nvPr/>
        </p:nvCxnSpPr>
        <p:spPr>
          <a:xfrm rot="-14323">
            <a:off x="952513" y="2914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0" name="AutoShape 10"/>
          <p:cNvSpPr/>
          <p:nvPr/>
        </p:nvSpPr>
        <p:spPr>
          <a:xfrm>
            <a:off x="952500" y="3175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D4AF37"/>
                </a:solidFill>
                <a:latin typeface="Poppins"/>
                <a:ea typeface="Poppins"/>
                <a:cs typeface="Poppins"/>
                <a:sym typeface="Poppins"/>
              </a:rPr>
              <a:t>CREATIVE FRAMEWORK</a:t>
            </a:r>
            <a:endParaRPr lang="en-US" sz="1100"/>
          </a:p>
          <a:p>
            <a:pPr marL="0" indent="0" algn="l">
              <a:lnSpc>
                <a:spcPct val="108000"/>
              </a:lnSpc>
            </a:pPr>
            <a:r>
              <a:rPr lang="en-US" sz="1300" b="0" i="0" u="none" strike="noStrike">
                <a:solidFill>
                  <a:srgbClr val="555555"/>
                </a:solidFill>
                <a:latin typeface="Poppins"/>
                <a:ea typeface="Poppins"/>
                <a:cs typeface="Poppins"/>
                <a:sym typeface="Poppins"/>
              </a:rPr>
              <a:t>Adopt a "user story" core for all video content to build emotional resonance and drive engagement.</a:t>
            </a:r>
            <a:endParaRPr lang="en-US" sz="1300" b="0" i="0" u="none" strike="noStrike">
              <a:solidFill>
                <a:srgbClr val="555555"/>
              </a:solidFill>
              <a:latin typeface="Poppins"/>
              <a:ea typeface="Poppins"/>
              <a:cs typeface="Poppins"/>
              <a:sym typeface="Poppins"/>
            </a:endParaRPr>
          </a:p>
          <a:p>
            <a:pPr marL="0" indent="0" algn="l">
              <a:lnSpc>
                <a:spcPct val="117000"/>
              </a:lnSpc>
            </a:pPr>
            <a:r>
              <a:rPr lang="en-US" sz="1400" b="1" i="0" u="none" strike="noStrike">
                <a:solidFill>
                  <a:srgbClr val="D4AF37"/>
                </a:solidFill>
                <a:latin typeface="Poppins"/>
                <a:ea typeface="Poppins"/>
                <a:cs typeface="Poppins"/>
                <a:sym typeface="Poppins"/>
              </a:rPr>
              <a:t>BUDGET REALLOCATION</a:t>
            </a:r>
            <a:endParaRPr lang="en-US" sz="1400" b="1" i="0" u="none" strike="noStrike">
              <a:solidFill>
                <a:srgbClr val="D4AF37"/>
              </a:solidFill>
              <a:latin typeface="Poppins"/>
              <a:ea typeface="Poppins"/>
              <a:cs typeface="Poppins"/>
              <a:sym typeface="Poppins"/>
            </a:endParaRPr>
          </a:p>
          <a:p>
            <a:pPr marL="0" indent="0" algn="l">
              <a:lnSpc>
                <a:spcPct val="108000"/>
              </a:lnSpc>
            </a:pPr>
            <a:r>
              <a:rPr lang="en-US" sz="1300" b="0" i="0" u="none" strike="noStrike">
                <a:solidFill>
                  <a:srgbClr val="555555"/>
                </a:solidFill>
                <a:latin typeface="Poppins"/>
                <a:ea typeface="Poppins"/>
                <a:cs typeface="Poppins"/>
                <a:sym typeface="Poppins"/>
              </a:rPr>
              <a:t>Prioritize high-ROAS Lookalike Audiences, cut low-converting Interest Audiences, and shift LinkedIn spend to Instagram retargeting.</a:t>
            </a:r>
            <a:endParaRPr lang="en-US" sz="1300" b="0" i="0" u="none" strike="noStrike">
              <a:solidFill>
                <a:srgbClr val="555555"/>
              </a:solidFill>
              <a:latin typeface="Poppins"/>
              <a:ea typeface="Poppins"/>
              <a:cs typeface="Poppins"/>
              <a:sym typeface="Poppins"/>
            </a:endParaRPr>
          </a:p>
        </p:txBody>
      </p:sp>
      <p:sp>
        <p:nvSpPr>
          <p:cNvPr id="11" name="AutoShape 11"/>
          <p:cNvSpPr/>
          <p:nvPr/>
        </p:nvSpPr>
        <p:spPr>
          <a:xfrm>
            <a:off x="4381500" y="2032000"/>
            <a:ext cx="3429000" cy="3556000"/>
          </a:xfrm>
          <a:prstGeom prst="roundRect">
            <a:avLst>
              <a:gd name="adj" fmla="val 0"/>
            </a:avLst>
          </a:prstGeom>
          <a:solidFill>
            <a:srgbClr val="FFFFFF">
              <a:alpha val="6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381500" y="2032000"/>
            <a:ext cx="3429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286000"/>
            <a:ext cx="355600" cy="355600"/>
          </a:xfrm>
          <a:prstGeom prst="rect">
            <a:avLst/>
          </a:prstGeom>
        </p:spPr>
      </p:pic>
      <p:sp>
        <p:nvSpPr>
          <p:cNvPr id="14" name="AutoShape 14"/>
          <p:cNvSpPr/>
          <p:nvPr/>
        </p:nvSpPr>
        <p:spPr>
          <a:xfrm>
            <a:off x="5016500" y="2260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Execution Optimization</a:t>
            </a:r>
            <a:endParaRPr lang="en-US" sz="1100"/>
          </a:p>
        </p:txBody>
      </p:sp>
      <p:cxnSp>
        <p:nvCxnSpPr>
          <p:cNvPr id="15" name="Connector 15"/>
          <p:cNvCxnSpPr/>
          <p:nvPr/>
        </p:nvCxnSpPr>
        <p:spPr>
          <a:xfrm rot="-14323">
            <a:off x="4572013" y="2914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6" name="AutoShape 16"/>
          <p:cNvSpPr/>
          <p:nvPr/>
        </p:nvSpPr>
        <p:spPr>
          <a:xfrm>
            <a:off x="4572000" y="3175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D4AF37"/>
                </a:solidFill>
                <a:latin typeface="Poppins"/>
                <a:ea typeface="Poppins"/>
                <a:cs typeface="Poppins"/>
                <a:sym typeface="Poppins"/>
              </a:rPr>
              <a:t>DEDICATED LANDING PAGES</a:t>
            </a:r>
            <a:endParaRPr lang="en-US" sz="1100"/>
          </a:p>
          <a:p>
            <a:pPr marL="0" indent="0" algn="l">
              <a:lnSpc>
                <a:spcPct val="108000"/>
              </a:lnSpc>
            </a:pPr>
            <a:r>
              <a:rPr lang="en-US" sz="1300" b="0" i="0" u="none" strike="noStrike">
                <a:solidFill>
                  <a:srgbClr val="555555"/>
                </a:solidFill>
                <a:latin typeface="Poppins"/>
                <a:ea typeface="Poppins"/>
                <a:cs typeface="Poppins"/>
                <a:sym typeface="Poppins"/>
              </a:rPr>
              <a:t>Design visually cohesive, high-impact landing pages specifically tailored for TikTok traffic to align with platform aesthetics.</a:t>
            </a:r>
            <a:endParaRPr lang="en-US" sz="1300" b="0" i="0" u="none" strike="noStrike">
              <a:solidFill>
                <a:srgbClr val="555555"/>
              </a:solidFill>
              <a:latin typeface="Poppins"/>
              <a:ea typeface="Poppins"/>
              <a:cs typeface="Poppins"/>
              <a:sym typeface="Poppins"/>
            </a:endParaRPr>
          </a:p>
          <a:p>
            <a:pPr marL="0" indent="0" algn="l">
              <a:lnSpc>
                <a:spcPct val="117000"/>
              </a:lnSpc>
            </a:pPr>
            <a:r>
              <a:rPr lang="en-US" sz="1400" b="1" i="0" u="none" strike="noStrike">
                <a:solidFill>
                  <a:srgbClr val="D4AF37"/>
                </a:solidFill>
                <a:latin typeface="Poppins"/>
                <a:ea typeface="Poppins"/>
                <a:cs typeface="Poppins"/>
                <a:sym typeface="Poppins"/>
              </a:rPr>
              <a:t>STREAMLINED CONVERSION</a:t>
            </a:r>
            <a:endParaRPr lang="en-US" sz="1400" b="1" i="0" u="none" strike="noStrike">
              <a:solidFill>
                <a:srgbClr val="D4AF37"/>
              </a:solidFill>
              <a:latin typeface="Poppins"/>
              <a:ea typeface="Poppins"/>
              <a:cs typeface="Poppins"/>
              <a:sym typeface="Poppins"/>
            </a:endParaRPr>
          </a:p>
          <a:p>
            <a:pPr marL="0" indent="0" algn="l">
              <a:lnSpc>
                <a:spcPct val="108000"/>
              </a:lnSpc>
            </a:pPr>
            <a:r>
              <a:rPr lang="en-US" sz="1300" b="0" i="0" u="none" strike="noStrike">
                <a:solidFill>
                  <a:srgbClr val="555555"/>
                </a:solidFill>
                <a:latin typeface="Poppins"/>
                <a:ea typeface="Poppins"/>
                <a:cs typeface="Poppins"/>
                <a:sym typeface="Poppins"/>
              </a:rPr>
              <a:t>Test one-click purchase flows and simplified form-filling processes to minimize drop-off and accelerate the user journey.</a:t>
            </a:r>
            <a:endParaRPr lang="en-US" sz="1300" b="0" i="0" u="none" strike="noStrike">
              <a:solidFill>
                <a:srgbClr val="555555"/>
              </a:solidFill>
              <a:latin typeface="Poppins"/>
              <a:ea typeface="Poppins"/>
              <a:cs typeface="Poppins"/>
              <a:sym typeface="Poppins"/>
            </a:endParaRPr>
          </a:p>
        </p:txBody>
      </p:sp>
      <p:sp>
        <p:nvSpPr>
          <p:cNvPr id="17" name="AutoShape 17"/>
          <p:cNvSpPr/>
          <p:nvPr/>
        </p:nvSpPr>
        <p:spPr>
          <a:xfrm>
            <a:off x="8001000" y="2032000"/>
            <a:ext cx="3429000" cy="3556000"/>
          </a:xfrm>
          <a:prstGeom prst="roundRect">
            <a:avLst>
              <a:gd name="adj" fmla="val 0"/>
            </a:avLst>
          </a:prstGeom>
          <a:solidFill>
            <a:srgbClr val="FFFFFF">
              <a:alpha val="6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001000" y="2032000"/>
            <a:ext cx="3429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2286000"/>
            <a:ext cx="355600" cy="355600"/>
          </a:xfrm>
          <a:prstGeom prst="rect">
            <a:avLst/>
          </a:prstGeom>
        </p:spPr>
      </p:pic>
      <p:sp>
        <p:nvSpPr>
          <p:cNvPr id="20" name="AutoShape 20"/>
          <p:cNvSpPr/>
          <p:nvPr/>
        </p:nvSpPr>
        <p:spPr>
          <a:xfrm>
            <a:off x="8636000" y="2260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Data-Driven Testing Plan</a:t>
            </a:r>
            <a:endParaRPr lang="en-US" sz="1100"/>
          </a:p>
        </p:txBody>
      </p:sp>
      <p:cxnSp>
        <p:nvCxnSpPr>
          <p:cNvPr id="21" name="Connector 21"/>
          <p:cNvCxnSpPr/>
          <p:nvPr/>
        </p:nvCxnSpPr>
        <p:spPr>
          <a:xfrm rot="-14323">
            <a:off x="8191513" y="2914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2" name="AutoShape 22"/>
          <p:cNvSpPr/>
          <p:nvPr/>
        </p:nvSpPr>
        <p:spPr>
          <a:xfrm>
            <a:off x="8191500" y="3175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D4AF37"/>
                </a:solidFill>
                <a:latin typeface="Poppins"/>
                <a:ea typeface="Poppins"/>
                <a:cs typeface="Poppins"/>
                <a:sym typeface="Poppins"/>
              </a:rPr>
              <a:t>ITERATIVE A/B TESTING</a:t>
            </a:r>
            <a:endParaRPr lang="en-US" sz="1100"/>
          </a:p>
          <a:p>
            <a:pPr marL="0" indent="0" algn="l">
              <a:lnSpc>
                <a:spcPct val="108000"/>
              </a:lnSpc>
            </a:pPr>
            <a:r>
              <a:rPr lang="en-US" sz="1300" b="0" i="0" u="none" strike="noStrike">
                <a:solidFill>
                  <a:srgbClr val="555555"/>
                </a:solidFill>
                <a:latin typeface="Poppins"/>
                <a:ea typeface="Poppins"/>
                <a:cs typeface="Poppins"/>
                <a:sym typeface="Poppins"/>
              </a:rPr>
              <a:t>Continuously test variations in CTAs, button colors, and ad copy to identify high-performing creative elements for scaling.</a:t>
            </a:r>
            <a:endParaRPr lang="en-US" sz="1300" b="0" i="0" u="none" strike="noStrike">
              <a:solidFill>
                <a:srgbClr val="555555"/>
              </a:solidFill>
              <a:latin typeface="Poppins"/>
              <a:ea typeface="Poppins"/>
              <a:cs typeface="Poppins"/>
              <a:sym typeface="Poppins"/>
            </a:endParaRPr>
          </a:p>
          <a:p>
            <a:pPr marL="0" indent="0" algn="l">
              <a:lnSpc>
                <a:spcPct val="117000"/>
              </a:lnSpc>
            </a:pPr>
            <a:r>
              <a:rPr lang="en-US" sz="1400" b="1" i="0" u="none" strike="noStrike">
                <a:solidFill>
                  <a:srgbClr val="D4AF37"/>
                </a:solidFill>
                <a:latin typeface="Poppins"/>
                <a:ea typeface="Poppins"/>
                <a:cs typeface="Poppins"/>
                <a:sym typeface="Poppins"/>
              </a:rPr>
              <a:t>INCREMENTALITY LIFT TESTS</a:t>
            </a:r>
            <a:endParaRPr lang="en-US" sz="1400" b="1" i="0" u="none" strike="noStrike">
              <a:solidFill>
                <a:srgbClr val="D4AF37"/>
              </a:solidFill>
              <a:latin typeface="Poppins"/>
              <a:ea typeface="Poppins"/>
              <a:cs typeface="Poppins"/>
              <a:sym typeface="Poppins"/>
            </a:endParaRPr>
          </a:p>
          <a:p>
            <a:pPr marL="0" indent="0" algn="l">
              <a:lnSpc>
                <a:spcPct val="108000"/>
              </a:lnSpc>
            </a:pPr>
            <a:r>
              <a:rPr lang="en-US" sz="1300" b="0" i="0" u="none" strike="noStrike">
                <a:solidFill>
                  <a:srgbClr val="555555"/>
                </a:solidFill>
                <a:latin typeface="Poppins"/>
                <a:ea typeface="Poppins"/>
                <a:cs typeface="Poppins"/>
                <a:sym typeface="Poppins"/>
              </a:rPr>
              <a:t>Conduct rigorous lift tests on core ad sets to isolate and accurately measure the true business contribution of paid media.</a:t>
            </a:r>
            <a:endParaRPr lang="en-US" sz="1300" b="0" i="0" u="none" strike="noStrike">
              <a:solidFill>
                <a:srgbClr val="555555"/>
              </a:solidFill>
              <a:latin typeface="Poppins"/>
              <a:ea typeface="Poppins"/>
              <a:cs typeface="Poppins"/>
              <a:sym typeface="Poppins"/>
            </a:endParaRPr>
          </a:p>
        </p:txBody>
      </p:sp>
      <p:sp>
        <p:nvSpPr>
          <p:cNvPr id="23" name="AutoShape 23"/>
          <p:cNvSpPr/>
          <p:nvPr/>
        </p:nvSpPr>
        <p:spPr>
          <a:xfrm>
            <a:off x="762000" y="5905500"/>
            <a:ext cx="10668000" cy="635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52500" y="6007100"/>
            <a:ext cx="1028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3333"/>
                </a:solidFill>
                <a:latin typeface="Poppins"/>
                <a:ea typeface="Poppins"/>
                <a:cs typeface="Poppins"/>
                <a:sym typeface="Poppins"/>
              </a:rPr>
              <a:t>By combining strategic refocusing, operational streamlining, and rigorous testing, we aim to drive sustainable growth and maximize ROI across all channels.</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D4AF37"/>
                </a:solidFill>
                <a:latin typeface="Poppins"/>
                <a:ea typeface="Poppins"/>
                <a:cs typeface="Poppins"/>
                <a:sym typeface="Poppins"/>
              </a:rPr>
              <a:t>03</a:t>
            </a:r>
            <a:endParaRPr lang="en-US" sz="1100"/>
          </a:p>
        </p:txBody>
      </p:sp>
      <p:sp>
        <p:nvSpPr>
          <p:cNvPr id="4" name="AutoShape 4"/>
          <p:cNvSpPr/>
          <p:nvPr/>
        </p:nvSpPr>
        <p:spPr>
          <a:xfrm>
            <a:off x="5588000" y="4318000"/>
            <a:ext cx="1016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826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Poppins"/>
                <a:ea typeface="Poppins"/>
                <a:cs typeface="Poppins"/>
                <a:sym typeface="Poppins"/>
              </a:rPr>
              <a:t>Brand Strategy</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Brand Current State &amp; Challenges</a:t>
            </a:r>
            <a:endParaRPr lang="en-US" sz="1100"/>
          </a:p>
        </p:txBody>
      </p:sp>
      <p:pic>
        <p:nvPicPr>
          <p:cNvPr id="4" name="Picture 4"/>
          <p:cNvPicPr>
            <a:picLocks noChangeAspect="1"/>
          </p:cNvPicPr>
          <p:nvPr/>
        </p:nvPicPr>
        <p:blipFill>
          <a:blip r:embed="rId2"/>
          <a:srcRect t="26018" b="26018"/>
          <a:stretch>
            <a:fillRect/>
          </a:stretch>
        </p:blipFill>
        <p:spPr>
          <a:xfrm>
            <a:off x="762000" y="1905000"/>
            <a:ext cx="3302000" cy="4064000"/>
          </a:xfrm>
          <a:prstGeom prst="rect">
            <a:avLst/>
          </a:prstGeom>
          <a:noFill/>
          <a:ln w="12700" cap="flat" cmpd="sng">
            <a:solidFill>
              <a:srgbClr val="D4AF37">
                <a:alpha val="60000"/>
              </a:srgbClr>
            </a:solidFill>
            <a:prstDash val="solid"/>
            <a:round/>
          </a:ln>
        </p:spPr>
      </p:pic>
      <p:cxnSp>
        <p:nvCxnSpPr>
          <p:cNvPr id="5" name="Connector 5"/>
          <p:cNvCxnSpPr/>
          <p:nvPr/>
        </p:nvCxnSpPr>
        <p:spPr>
          <a:xfrm rot="5389582">
            <a:off x="2476500" y="3994160"/>
            <a:ext cx="4191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6" name="AutoShape 6"/>
          <p:cNvSpPr/>
          <p:nvPr/>
        </p:nvSpPr>
        <p:spPr>
          <a:xfrm>
            <a:off x="4826000" y="1905000"/>
            <a:ext cx="685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01 / BRAND EQUITY ASSESSMENT</a:t>
            </a:r>
            <a:endParaRPr lang="en-US" sz="1100"/>
          </a:p>
        </p:txBody>
      </p:sp>
      <p:cxnSp>
        <p:nvCxnSpPr>
          <p:cNvPr id="7" name="Connector 7"/>
          <p:cNvCxnSpPr/>
          <p:nvPr/>
        </p:nvCxnSpPr>
        <p:spPr>
          <a:xfrm rot="-6366">
            <a:off x="4826006" y="2406650"/>
            <a:ext cx="68580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8" name="AutoShape 8"/>
          <p:cNvSpPr/>
          <p:nvPr/>
        </p:nvSpPr>
        <p:spPr>
          <a:xfrm>
            <a:off x="4826000" y="2667000"/>
            <a:ext cx="3302000" cy="9525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953000" y="27686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Awareness:</a:t>
            </a:r>
            <a:r>
              <a:rPr lang="en-US" sz="1400" b="0" i="0" u="none" strike="noStrike">
                <a:solidFill>
                  <a:srgbClr val="555555"/>
                </a:solidFill>
                <a:latin typeface="Poppins"/>
                <a:ea typeface="Poppins"/>
                <a:cs typeface="Poppins"/>
                <a:sym typeface="Poppins"/>
              </a:rPr>
              <a:t>High (Broad market reach, top-of-mind recall)</a:t>
            </a:r>
            <a:endParaRPr lang="en-US" sz="1100"/>
          </a:p>
        </p:txBody>
      </p:sp>
      <p:sp>
        <p:nvSpPr>
          <p:cNvPr id="10" name="AutoShape 10"/>
          <p:cNvSpPr/>
          <p:nvPr/>
        </p:nvSpPr>
        <p:spPr>
          <a:xfrm>
            <a:off x="8255000" y="2667000"/>
            <a:ext cx="3302000" cy="9525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8382000" y="27686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Reputation:</a:t>
            </a:r>
            <a:r>
              <a:rPr lang="en-US" sz="1400" b="0" i="0" u="none" strike="noStrike">
                <a:solidFill>
                  <a:srgbClr val="555555"/>
                </a:solidFill>
                <a:latin typeface="Poppins"/>
                <a:ea typeface="Poppins"/>
                <a:cs typeface="Poppins"/>
                <a:sym typeface="Poppins"/>
              </a:rPr>
              <a:t>Neutral (Lack of emotional resonance with audiences)</a:t>
            </a:r>
            <a:endParaRPr lang="en-US" sz="1100"/>
          </a:p>
        </p:txBody>
      </p:sp>
      <p:sp>
        <p:nvSpPr>
          <p:cNvPr id="12" name="AutoShape 12"/>
          <p:cNvSpPr/>
          <p:nvPr/>
        </p:nvSpPr>
        <p:spPr>
          <a:xfrm>
            <a:off x="4826000" y="3810000"/>
            <a:ext cx="3302000" cy="9525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953000" y="39116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Loyalty:</a:t>
            </a:r>
            <a:r>
              <a:rPr lang="en-US" sz="1400" b="0" i="0" u="none" strike="noStrike">
                <a:solidFill>
                  <a:srgbClr val="555555"/>
                </a:solidFill>
                <a:latin typeface="Poppins"/>
                <a:ea typeface="Poppins"/>
                <a:cs typeface="Poppins"/>
                <a:sym typeface="Poppins"/>
              </a:rPr>
              <a:t>Low (High churn rate; little resistance to switching)</a:t>
            </a:r>
            <a:endParaRPr lang="en-US" sz="1100"/>
          </a:p>
        </p:txBody>
      </p:sp>
      <p:sp>
        <p:nvSpPr>
          <p:cNvPr id="14" name="AutoShape 14"/>
          <p:cNvSpPr/>
          <p:nvPr/>
        </p:nvSpPr>
        <p:spPr>
          <a:xfrm>
            <a:off x="8255000" y="3810000"/>
            <a:ext cx="3302000" cy="9525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382000" y="39116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Associations:</a:t>
            </a:r>
            <a:r>
              <a:rPr lang="en-US" sz="1400" b="0" i="0" u="none" strike="noStrike">
                <a:solidFill>
                  <a:srgbClr val="555555"/>
                </a:solidFill>
                <a:latin typeface="Poppins"/>
                <a:ea typeface="Poppins"/>
                <a:cs typeface="Poppins"/>
                <a:sym typeface="Poppins"/>
              </a:rPr>
              <a:t>Generic &amp; Product-Focused (No distinct emotional identity)</a:t>
            </a:r>
            <a:endParaRPr lang="en-US" sz="1100"/>
          </a:p>
        </p:txBody>
      </p:sp>
      <p:cxnSp>
        <p:nvCxnSpPr>
          <p:cNvPr id="16" name="Connector 16"/>
          <p:cNvCxnSpPr/>
          <p:nvPr/>
        </p:nvCxnSpPr>
        <p:spPr>
          <a:xfrm rot="-4092">
            <a:off x="762004" y="5200650"/>
            <a:ext cx="10668000" cy="12700"/>
          </a:xfrm>
          <a:prstGeom prst="straightConnector1">
            <a:avLst/>
          </a:prstGeom>
          <a:solidFill>
            <a:srgbClr val="DEE0E3">
              <a:alpha val="100000"/>
            </a:srgbClr>
          </a:solidFill>
          <a:ln w="12700" cap="flat" cmpd="sng">
            <a:solidFill>
              <a:srgbClr val="D4AF37">
                <a:alpha val="20000"/>
              </a:srgbClr>
            </a:solidFill>
            <a:prstDash val="dash"/>
            <a:round/>
            <a:headEnd type="none" w="med" len="med"/>
            <a:tailEnd type="none" w="med" len="med"/>
          </a:ln>
        </p:spPr>
      </p:cxnSp>
      <p:sp>
        <p:nvSpPr>
          <p:cNvPr id="17" name="AutoShape 17"/>
          <p:cNvSpPr/>
          <p:nvPr/>
        </p:nvSpPr>
        <p:spPr>
          <a:xfrm>
            <a:off x="762000" y="5397500"/>
            <a:ext cx="3556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62000" y="5524500"/>
            <a:ext cx="50800" cy="82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952500" y="5461000"/>
            <a:ext cx="330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The Legacy Dilemma:</a:t>
            </a:r>
            <a:r>
              <a:rPr lang="en-US" sz="1200" b="0" i="0" u="none" strike="noStrike">
                <a:solidFill>
                  <a:srgbClr val="555555"/>
                </a:solidFill>
                <a:latin typeface="Poppins"/>
                <a:ea typeface="Poppins"/>
                <a:cs typeface="Poppins"/>
                <a:sym typeface="Poppins"/>
              </a:rPr>
              <a:t>Has the brand story become mere "wallpaper," losing its ability to captivate and inspire new generations?</a:t>
            </a:r>
            <a:endParaRPr lang="en-US" sz="1100"/>
          </a:p>
        </p:txBody>
      </p:sp>
      <p:sp>
        <p:nvSpPr>
          <p:cNvPr id="20" name="AutoShape 20"/>
          <p:cNvSpPr/>
          <p:nvPr/>
        </p:nvSpPr>
        <p:spPr>
          <a:xfrm>
            <a:off x="4445000" y="5397500"/>
            <a:ext cx="3556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445000" y="5524500"/>
            <a:ext cx="50800" cy="82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635500" y="5461000"/>
            <a:ext cx="330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Diluted Exclusivity:</a:t>
            </a:r>
            <a:r>
              <a:rPr lang="en-US" sz="1200" b="0" i="0" u="none" strike="noStrike">
                <a:solidFill>
                  <a:srgbClr val="555555"/>
                </a:solidFill>
                <a:latin typeface="Poppins"/>
                <a:ea typeface="Poppins"/>
                <a:cs typeface="Poppins"/>
                <a:sym typeface="Poppins"/>
              </a:rPr>
              <a:t>63% of luxury consumers feel messages are generic (Deloitte, 2026). Templated VIP experiences erode the sense of privilege.</a:t>
            </a:r>
            <a:endParaRPr lang="en-US" sz="1100"/>
          </a:p>
        </p:txBody>
      </p:sp>
      <p:sp>
        <p:nvSpPr>
          <p:cNvPr id="23" name="AutoShape 23"/>
          <p:cNvSpPr/>
          <p:nvPr/>
        </p:nvSpPr>
        <p:spPr>
          <a:xfrm>
            <a:off x="8001000" y="5397500"/>
            <a:ext cx="3556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001000" y="5524500"/>
            <a:ext cx="50800" cy="82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191500" y="5461000"/>
            <a:ext cx="330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Poppins"/>
                <a:ea typeface="Poppins"/>
                <a:cs typeface="Poppins"/>
                <a:sym typeface="Poppins"/>
              </a:rPr>
              <a:t>Tech's Double-Edged Sword:</a:t>
            </a:r>
            <a:r>
              <a:rPr lang="en-US" sz="1200" b="0" i="0" u="none" strike="noStrike">
                <a:solidFill>
                  <a:srgbClr val="555555"/>
                </a:solidFill>
                <a:latin typeface="Poppins"/>
                <a:ea typeface="Poppins"/>
                <a:cs typeface="Poppins"/>
                <a:sym typeface="Poppins"/>
              </a:rPr>
              <a:t>Does the drive for AI efficiency come at the cost of the human touch and unique, memorable interactions that define luxury?</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Future Brand Strategy: Five Strategic Pillars</a:t>
            </a:r>
            <a:endParaRPr lang="en-US" sz="1100"/>
          </a:p>
        </p:txBody>
      </p:sp>
      <p:sp>
        <p:nvSpPr>
          <p:cNvPr id="4" name="AutoShape 4"/>
          <p:cNvSpPr/>
          <p:nvPr/>
        </p:nvSpPr>
        <p:spPr>
          <a:xfrm>
            <a:off x="762000" y="1524000"/>
            <a:ext cx="10668000" cy="1016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016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625600"/>
            <a:ext cx="10160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33333"/>
                </a:solidFill>
                <a:latin typeface="Poppins"/>
                <a:ea typeface="Poppins"/>
                <a:cs typeface="Poppins"/>
                <a:sym typeface="Poppins"/>
              </a:rPr>
              <a:t>Core Idea: Building a Permanent Ecosystem —</a:t>
            </a:r>
            <a:r>
              <a:rPr lang="en-US" sz="1400" b="0" i="0" u="none" strike="noStrike">
                <a:solidFill>
                  <a:srgbClr val="555555"/>
                </a:solidFill>
                <a:latin typeface="Poppins"/>
                <a:ea typeface="Poppins"/>
                <a:cs typeface="Poppins"/>
                <a:sym typeface="Poppins"/>
              </a:rPr>
              <a:t>Shift from one-off campaigns to creating a continuous value-generating brand ecosystem that fosters long-term loyalty and sustainable growth.</a:t>
            </a:r>
            <a:endParaRPr lang="en-US" sz="1100"/>
          </a:p>
        </p:txBody>
      </p:sp>
      <p:sp>
        <p:nvSpPr>
          <p:cNvPr id="7" name="AutoShape 7"/>
          <p:cNvSpPr/>
          <p:nvPr/>
        </p:nvSpPr>
        <p:spPr>
          <a:xfrm>
            <a:off x="762000" y="3048000"/>
            <a:ext cx="3429000" cy="17145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238500"/>
            <a:ext cx="304800" cy="304800"/>
          </a:xfrm>
          <a:prstGeom prst="rect">
            <a:avLst/>
          </a:prstGeom>
        </p:spPr>
      </p:pic>
      <p:sp>
        <p:nvSpPr>
          <p:cNvPr id="9" name="AutoShape 9"/>
          <p:cNvSpPr/>
          <p:nvPr/>
        </p:nvSpPr>
        <p:spPr>
          <a:xfrm>
            <a:off x="1397000" y="3200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01. Cultural Franchises</a:t>
            </a:r>
            <a:endParaRPr lang="en-US" sz="1100"/>
          </a:p>
        </p:txBody>
      </p:sp>
      <p:cxnSp>
        <p:nvCxnSpPr>
          <p:cNvPr id="10" name="Connector 10"/>
          <p:cNvCxnSpPr/>
          <p:nvPr/>
        </p:nvCxnSpPr>
        <p:spPr>
          <a:xfrm rot="-14323">
            <a:off x="952513" y="3676650"/>
            <a:ext cx="3048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11" name="AutoShape 11"/>
          <p:cNvSpPr/>
          <p:nvPr/>
        </p:nvSpPr>
        <p:spPr>
          <a:xfrm>
            <a:off x="952500" y="38100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Poppins"/>
                <a:ea typeface="Poppins"/>
                <a:cs typeface="Poppins"/>
                <a:sym typeface="Poppins"/>
              </a:rPr>
              <a:t>Bind the brand to art, film, or sports to create cultural value that transcends products, making the brand an integral part of lifestyle and identity.</a:t>
            </a:r>
            <a:endParaRPr lang="en-US" sz="1100"/>
          </a:p>
        </p:txBody>
      </p:sp>
      <p:sp>
        <p:nvSpPr>
          <p:cNvPr id="12" name="AutoShape 12"/>
          <p:cNvSpPr/>
          <p:nvPr/>
        </p:nvSpPr>
        <p:spPr>
          <a:xfrm>
            <a:off x="4381500" y="3048000"/>
            <a:ext cx="3429000" cy="17145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3238500"/>
            <a:ext cx="304800" cy="304800"/>
          </a:xfrm>
          <a:prstGeom prst="rect">
            <a:avLst/>
          </a:prstGeom>
        </p:spPr>
      </p:pic>
      <p:sp>
        <p:nvSpPr>
          <p:cNvPr id="14" name="AutoShape 14"/>
          <p:cNvSpPr/>
          <p:nvPr/>
        </p:nvSpPr>
        <p:spPr>
          <a:xfrm>
            <a:off x="5016500" y="3200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02. Autonomous Orchestration</a:t>
            </a:r>
            <a:endParaRPr lang="en-US" sz="1100"/>
          </a:p>
        </p:txBody>
      </p:sp>
      <p:cxnSp>
        <p:nvCxnSpPr>
          <p:cNvPr id="15" name="Connector 15"/>
          <p:cNvCxnSpPr/>
          <p:nvPr/>
        </p:nvCxnSpPr>
        <p:spPr>
          <a:xfrm rot="-14323">
            <a:off x="4572013" y="3676650"/>
            <a:ext cx="3048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16" name="AutoShape 16"/>
          <p:cNvSpPr/>
          <p:nvPr/>
        </p:nvSpPr>
        <p:spPr>
          <a:xfrm>
            <a:off x="4572000" y="38100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Poppins"/>
                <a:ea typeface="Poppins"/>
                <a:cs typeface="Poppins"/>
                <a:sym typeface="Poppins"/>
              </a:rPr>
              <a:t>Leverage AI for "Customer Journey Orchestration," automating routine interactions to free human teams to deliver thoughtful, personalized surprises.</a:t>
            </a:r>
            <a:endParaRPr lang="en-US" sz="1100"/>
          </a:p>
        </p:txBody>
      </p:sp>
      <p:sp>
        <p:nvSpPr>
          <p:cNvPr id="17" name="AutoShape 17"/>
          <p:cNvSpPr/>
          <p:nvPr/>
        </p:nvSpPr>
        <p:spPr>
          <a:xfrm>
            <a:off x="8001000" y="3048000"/>
            <a:ext cx="3429000" cy="17145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3238500"/>
            <a:ext cx="304800" cy="304800"/>
          </a:xfrm>
          <a:prstGeom prst="rect">
            <a:avLst/>
          </a:prstGeom>
        </p:spPr>
      </p:pic>
      <p:sp>
        <p:nvSpPr>
          <p:cNvPr id="19" name="AutoShape 19"/>
          <p:cNvSpPr/>
          <p:nvPr/>
        </p:nvSpPr>
        <p:spPr>
          <a:xfrm>
            <a:off x="8636000" y="3200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03. Transparent Participation</a:t>
            </a:r>
            <a:endParaRPr lang="en-US" sz="1100"/>
          </a:p>
        </p:txBody>
      </p:sp>
      <p:cxnSp>
        <p:nvCxnSpPr>
          <p:cNvPr id="20" name="Connector 20"/>
          <p:cNvCxnSpPr/>
          <p:nvPr/>
        </p:nvCxnSpPr>
        <p:spPr>
          <a:xfrm rot="-14323">
            <a:off x="8191513" y="3676650"/>
            <a:ext cx="30480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21" name="AutoShape 21"/>
          <p:cNvSpPr/>
          <p:nvPr/>
        </p:nvSpPr>
        <p:spPr>
          <a:xfrm>
            <a:off x="8191500" y="38100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Poppins"/>
                <a:ea typeface="Poppins"/>
                <a:cs typeface="Poppins"/>
                <a:sym typeface="Poppins"/>
              </a:rPr>
              <a:t>Transform scarcity into exclusive, transparent experiences. Turn simple transactions into deep, long-term feelings of belonging and community ownership.</a:t>
            </a:r>
            <a:endParaRPr lang="en-US" sz="1100"/>
          </a:p>
        </p:txBody>
      </p:sp>
      <p:sp>
        <p:nvSpPr>
          <p:cNvPr id="22" name="AutoShape 22"/>
          <p:cNvSpPr/>
          <p:nvPr/>
        </p:nvSpPr>
        <p:spPr>
          <a:xfrm>
            <a:off x="762000" y="5080000"/>
            <a:ext cx="5232400" cy="13970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270500"/>
            <a:ext cx="304800" cy="304800"/>
          </a:xfrm>
          <a:prstGeom prst="rect">
            <a:avLst/>
          </a:prstGeom>
        </p:spPr>
      </p:pic>
      <p:sp>
        <p:nvSpPr>
          <p:cNvPr id="24" name="AutoShape 24"/>
          <p:cNvSpPr/>
          <p:nvPr/>
        </p:nvSpPr>
        <p:spPr>
          <a:xfrm>
            <a:off x="1397000" y="52324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04. Trust as a Monetizable Asset</a:t>
            </a:r>
            <a:endParaRPr lang="en-US" sz="1100"/>
          </a:p>
        </p:txBody>
      </p:sp>
      <p:cxnSp>
        <p:nvCxnSpPr>
          <p:cNvPr id="25" name="Connector 25"/>
          <p:cNvCxnSpPr/>
          <p:nvPr/>
        </p:nvCxnSpPr>
        <p:spPr>
          <a:xfrm rot="-8999">
            <a:off x="952508" y="5708650"/>
            <a:ext cx="48514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26" name="AutoShape 26"/>
          <p:cNvSpPr/>
          <p:nvPr/>
        </p:nvSpPr>
        <p:spPr>
          <a:xfrm>
            <a:off x="952500" y="5816600"/>
            <a:ext cx="4851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Poppins"/>
                <a:ea typeface="Poppins"/>
                <a:cs typeface="Poppins"/>
                <a:sym typeface="Poppins"/>
              </a:rPr>
              <a:t>Communicate uncompromising data security and ethical governance as core brand values, turning trust from a cost center into a revenue-driving asset.</a:t>
            </a:r>
            <a:endParaRPr lang="en-US" sz="1100"/>
          </a:p>
        </p:txBody>
      </p:sp>
      <p:sp>
        <p:nvSpPr>
          <p:cNvPr id="27" name="AutoShape 27"/>
          <p:cNvSpPr/>
          <p:nvPr/>
        </p:nvSpPr>
        <p:spPr>
          <a:xfrm>
            <a:off x="6197600" y="5080000"/>
            <a:ext cx="5232400" cy="13970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88100" y="5270500"/>
            <a:ext cx="304800" cy="304800"/>
          </a:xfrm>
          <a:prstGeom prst="rect">
            <a:avLst/>
          </a:prstGeom>
        </p:spPr>
      </p:pic>
      <p:sp>
        <p:nvSpPr>
          <p:cNvPr id="29" name="AutoShape 29"/>
          <p:cNvSpPr/>
          <p:nvPr/>
        </p:nvSpPr>
        <p:spPr>
          <a:xfrm>
            <a:off x="6832600" y="52324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05. Seamless Commerce</a:t>
            </a:r>
            <a:endParaRPr lang="en-US" sz="1100"/>
          </a:p>
        </p:txBody>
      </p:sp>
      <p:cxnSp>
        <p:nvCxnSpPr>
          <p:cNvPr id="30" name="Connector 30"/>
          <p:cNvCxnSpPr/>
          <p:nvPr/>
        </p:nvCxnSpPr>
        <p:spPr>
          <a:xfrm rot="-8999">
            <a:off x="6388108" y="5708650"/>
            <a:ext cx="48514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31" name="AutoShape 31"/>
          <p:cNvSpPr/>
          <p:nvPr/>
        </p:nvSpPr>
        <p:spPr>
          <a:xfrm>
            <a:off x="6388100" y="5816600"/>
            <a:ext cx="4851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Poppins"/>
                <a:ea typeface="Poppins"/>
                <a:cs typeface="Poppins"/>
                <a:sym typeface="Poppins"/>
              </a:rPr>
              <a:t>Break down online/offline barriers, ensuring a fluid, uninterrupted customer journey across all touchpoints for effortless and intuitive interactions.</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Brand Experience Touchpoint Design</a:t>
            </a:r>
            <a:endParaRPr lang="en-US" sz="1100"/>
          </a:p>
        </p:txBody>
      </p:sp>
      <p:pic>
        <p:nvPicPr>
          <p:cNvPr id="4" name="Picture 4"/>
          <p:cNvPicPr>
            <a:picLocks noChangeAspect="1"/>
          </p:cNvPicPr>
          <p:nvPr/>
        </p:nvPicPr>
        <p:blipFill>
          <a:blip r:embed="rId2"/>
          <a:srcRect t="5390" b="5390"/>
          <a:stretch>
            <a:fillRect/>
          </a:stretch>
        </p:blipFill>
        <p:spPr>
          <a:xfrm>
            <a:off x="762000" y="1778000"/>
            <a:ext cx="4318000" cy="3683000"/>
          </a:xfrm>
          <a:prstGeom prst="rect">
            <a:avLst/>
          </a:prstGeom>
          <a:noFill/>
          <a:ln w="25400" cap="flat" cmpd="sng">
            <a:solidFill>
              <a:srgbClr val="D4AF37">
                <a:alpha val="60000"/>
              </a:srgbClr>
            </a:solidFill>
            <a:prstDash val="solid"/>
            <a:round/>
          </a:ln>
        </p:spPr>
      </p:pic>
      <p:sp>
        <p:nvSpPr>
          <p:cNvPr id="5" name="AutoShape 5"/>
          <p:cNvSpPr/>
          <p:nvPr/>
        </p:nvSpPr>
        <p:spPr>
          <a:xfrm>
            <a:off x="762000" y="5651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Poppins"/>
                <a:ea typeface="Poppins"/>
                <a:cs typeface="Poppins"/>
                <a:sym typeface="Poppins"/>
              </a:rPr>
              <a:t>A modern physical store reimagined as a cultural salon and social hub, where every visit becomes a memorable brand interaction.</a:t>
            </a:r>
            <a:endParaRPr lang="en-US" sz="1100"/>
          </a:p>
        </p:txBody>
      </p:sp>
      <p:cxnSp>
        <p:nvCxnSpPr>
          <p:cNvPr id="6" name="Connector 6"/>
          <p:cNvCxnSpPr/>
          <p:nvPr/>
        </p:nvCxnSpPr>
        <p:spPr>
          <a:xfrm rot="5390450">
            <a:off x="3429000" y="4057659"/>
            <a:ext cx="4572000" cy="12700"/>
          </a:xfrm>
          <a:prstGeom prst="straightConnector1">
            <a:avLst/>
          </a:prstGeom>
          <a:solidFill>
            <a:srgbClr val="DEE0E3">
              <a:alpha val="100000"/>
            </a:srgbClr>
          </a:solidFill>
          <a:ln w="12700" cap="flat" cmpd="sng">
            <a:solidFill>
              <a:srgbClr val="D4AF37">
                <a:alpha val="40000"/>
              </a:srgbClr>
            </a:solidFill>
            <a:prstDash val="solid"/>
            <a:round/>
            <a:headEnd type="none" w="med" len="med"/>
            <a:tailEnd type="none" w="med" len="med"/>
          </a:ln>
        </p:spPr>
      </p:cxnSp>
      <p:sp>
        <p:nvSpPr>
          <p:cNvPr id="7" name="AutoShape 7"/>
          <p:cNvSpPr/>
          <p:nvPr/>
        </p:nvSpPr>
        <p:spPr>
          <a:xfrm>
            <a:off x="5969000" y="1778000"/>
            <a:ext cx="2857500" cy="2095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96000" y="1905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01. Website &amp; App</a:t>
            </a:r>
            <a:endParaRPr lang="en-US" sz="1100"/>
          </a:p>
        </p:txBody>
      </p:sp>
      <p:cxnSp>
        <p:nvCxnSpPr>
          <p:cNvPr id="9" name="Connector 9"/>
          <p:cNvCxnSpPr/>
          <p:nvPr/>
        </p:nvCxnSpPr>
        <p:spPr>
          <a:xfrm rot="-16769">
            <a:off x="6096015" y="2406650"/>
            <a:ext cx="26035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10" name="AutoShape 10"/>
          <p:cNvSpPr/>
          <p:nvPr/>
        </p:nvSpPr>
        <p:spPr>
          <a:xfrm>
            <a:off x="6096000" y="2540000"/>
            <a:ext cx="2603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44444"/>
                </a:solidFill>
                <a:latin typeface="Poppins"/>
                <a:ea typeface="Poppins"/>
                <a:cs typeface="Poppins"/>
                <a:sym typeface="Poppins"/>
              </a:rPr>
              <a:t>Create immersive, interactive digital journeys with AR try-on features, blurring the lines between the virtual and physical worlds for a seamless user experience.</a:t>
            </a:r>
            <a:endParaRPr lang="en-US" sz="1100"/>
          </a:p>
        </p:txBody>
      </p:sp>
      <p:sp>
        <p:nvSpPr>
          <p:cNvPr id="11" name="AutoShape 11"/>
          <p:cNvSpPr/>
          <p:nvPr/>
        </p:nvSpPr>
        <p:spPr>
          <a:xfrm>
            <a:off x="9017000" y="1778000"/>
            <a:ext cx="2857500" cy="2095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144000" y="1905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02. Social Media</a:t>
            </a:r>
            <a:endParaRPr lang="en-US" sz="1100"/>
          </a:p>
        </p:txBody>
      </p:sp>
      <p:cxnSp>
        <p:nvCxnSpPr>
          <p:cNvPr id="13" name="Connector 13"/>
          <p:cNvCxnSpPr/>
          <p:nvPr/>
        </p:nvCxnSpPr>
        <p:spPr>
          <a:xfrm rot="-16769">
            <a:off x="9144015" y="2406650"/>
            <a:ext cx="26035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14" name="AutoShape 14"/>
          <p:cNvSpPr/>
          <p:nvPr/>
        </p:nvSpPr>
        <p:spPr>
          <a:xfrm>
            <a:off x="9144000" y="2540000"/>
            <a:ext cx="2603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44444"/>
                </a:solidFill>
                <a:latin typeface="Poppins"/>
                <a:ea typeface="Poppins"/>
                <a:cs typeface="Poppins"/>
                <a:sym typeface="Poppins"/>
              </a:rPr>
              <a:t>Shift from one-way broadcasting to two-way dialogue. Cultivate vibrant brand communities, encourage authentic UGC, and foster deeper emotional connections.</a:t>
            </a:r>
            <a:endParaRPr lang="en-US" sz="1100"/>
          </a:p>
        </p:txBody>
      </p:sp>
      <p:sp>
        <p:nvSpPr>
          <p:cNvPr id="15" name="AutoShape 15"/>
          <p:cNvSpPr/>
          <p:nvPr/>
        </p:nvSpPr>
        <p:spPr>
          <a:xfrm>
            <a:off x="5969000" y="4191000"/>
            <a:ext cx="2857500" cy="2095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096000" y="4318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03. Physical Stores</a:t>
            </a:r>
            <a:endParaRPr lang="en-US" sz="1100"/>
          </a:p>
        </p:txBody>
      </p:sp>
      <p:cxnSp>
        <p:nvCxnSpPr>
          <p:cNvPr id="17" name="Connector 17"/>
          <p:cNvCxnSpPr/>
          <p:nvPr/>
        </p:nvCxnSpPr>
        <p:spPr>
          <a:xfrm rot="-16769">
            <a:off x="6096015" y="4819650"/>
            <a:ext cx="26035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18" name="AutoShape 18"/>
          <p:cNvSpPr/>
          <p:nvPr/>
        </p:nvSpPr>
        <p:spPr>
          <a:xfrm>
            <a:off x="6096000" y="4953000"/>
            <a:ext cx="2603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44444"/>
                </a:solidFill>
                <a:latin typeface="Poppins"/>
                <a:ea typeface="Poppins"/>
                <a:cs typeface="Poppins"/>
                <a:sym typeface="Poppins"/>
              </a:rPr>
              <a:t>Transform retail spaces into experiential centers, social lounges, and cultural salons. Offer curated events and personalized interactions that delight and surprise.</a:t>
            </a:r>
            <a:endParaRPr lang="en-US" sz="1100"/>
          </a:p>
        </p:txBody>
      </p:sp>
      <p:sp>
        <p:nvSpPr>
          <p:cNvPr id="19" name="AutoShape 19"/>
          <p:cNvSpPr/>
          <p:nvPr/>
        </p:nvSpPr>
        <p:spPr>
          <a:xfrm>
            <a:off x="9017000" y="4191000"/>
            <a:ext cx="2857500" cy="2095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144000" y="4318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04. Customer Service</a:t>
            </a:r>
            <a:endParaRPr lang="en-US" sz="1100"/>
          </a:p>
        </p:txBody>
      </p:sp>
      <p:cxnSp>
        <p:nvCxnSpPr>
          <p:cNvPr id="21" name="Connector 21"/>
          <p:cNvCxnSpPr/>
          <p:nvPr/>
        </p:nvCxnSpPr>
        <p:spPr>
          <a:xfrm rot="-16769">
            <a:off x="9144015" y="4819650"/>
            <a:ext cx="26035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22" name="AutoShape 22"/>
          <p:cNvSpPr/>
          <p:nvPr/>
        </p:nvSpPr>
        <p:spPr>
          <a:xfrm>
            <a:off x="9144000" y="4953000"/>
            <a:ext cx="2603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44444"/>
                </a:solidFill>
                <a:latin typeface="Poppins"/>
                <a:ea typeface="Poppins"/>
                <a:cs typeface="Poppins"/>
                <a:sym typeface="Poppins"/>
              </a:rPr>
              <a:t>Empower frontline staff to deliver hyper-personalized service that anticipates needs. Turn every service interaction into a magical moment that reinforces brand loyalty.</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Measurement &amp; Evolution</a:t>
            </a:r>
            <a:endParaRPr lang="en-US" sz="1100"/>
          </a:p>
        </p:txBody>
      </p:sp>
      <p:sp>
        <p:nvSpPr>
          <p:cNvPr id="4" name="AutoShape 4"/>
          <p:cNvSpPr/>
          <p:nvPr/>
        </p:nvSpPr>
        <p:spPr>
          <a:xfrm>
            <a:off x="762000" y="2286000"/>
            <a:ext cx="3378200" cy="3175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286000"/>
            <a:ext cx="33782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667000"/>
            <a:ext cx="406400" cy="406400"/>
          </a:xfrm>
          <a:prstGeom prst="rect">
            <a:avLst/>
          </a:prstGeom>
        </p:spPr>
      </p:pic>
      <p:sp>
        <p:nvSpPr>
          <p:cNvPr id="7" name="AutoShape 7"/>
          <p:cNvSpPr/>
          <p:nvPr/>
        </p:nvSpPr>
        <p:spPr>
          <a:xfrm>
            <a:off x="1549400" y="2641600"/>
            <a:ext cx="2463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Brand Health Tracking</a:t>
            </a:r>
            <a:endParaRPr lang="en-US" sz="1100"/>
          </a:p>
        </p:txBody>
      </p:sp>
      <p:cxnSp>
        <p:nvCxnSpPr>
          <p:cNvPr id="8" name="Connector 8"/>
          <p:cNvCxnSpPr/>
          <p:nvPr/>
        </p:nvCxnSpPr>
        <p:spPr>
          <a:xfrm rot="-15211">
            <a:off x="1016014" y="3422650"/>
            <a:ext cx="28702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9" name="AutoShape 9"/>
          <p:cNvSpPr/>
          <p:nvPr/>
        </p:nvSpPr>
        <p:spPr>
          <a:xfrm>
            <a:off x="1016000" y="36830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Poppins"/>
                <a:ea typeface="Poppins"/>
                <a:cs typeface="Poppins"/>
                <a:sym typeface="Poppins"/>
              </a:rPr>
              <a:t>Regularly track key indicators including Brand Associations, Net Promoter Score (NPS), and Customer Lifetime Value (LTV) to quantify brand resonance and loyalty.</a:t>
            </a:r>
            <a:endParaRPr lang="en-US" sz="1100"/>
          </a:p>
        </p:txBody>
      </p:sp>
      <p:sp>
        <p:nvSpPr>
          <p:cNvPr id="10" name="AutoShape 10"/>
          <p:cNvSpPr/>
          <p:nvPr/>
        </p:nvSpPr>
        <p:spPr>
          <a:xfrm>
            <a:off x="4394200" y="2286000"/>
            <a:ext cx="3378200" cy="3175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394200" y="2286000"/>
            <a:ext cx="33782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667000"/>
            <a:ext cx="406400" cy="406400"/>
          </a:xfrm>
          <a:prstGeom prst="rect">
            <a:avLst/>
          </a:prstGeom>
        </p:spPr>
      </p:pic>
      <p:sp>
        <p:nvSpPr>
          <p:cNvPr id="13" name="AutoShape 13"/>
          <p:cNvSpPr/>
          <p:nvPr/>
        </p:nvSpPr>
        <p:spPr>
          <a:xfrm>
            <a:off x="5181600" y="2641600"/>
            <a:ext cx="2463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Cultural Impact Assessment</a:t>
            </a:r>
            <a:endParaRPr lang="en-US" sz="1100"/>
          </a:p>
        </p:txBody>
      </p:sp>
      <p:cxnSp>
        <p:nvCxnSpPr>
          <p:cNvPr id="14" name="Connector 14"/>
          <p:cNvCxnSpPr/>
          <p:nvPr/>
        </p:nvCxnSpPr>
        <p:spPr>
          <a:xfrm rot="-15211">
            <a:off x="4648214" y="3422650"/>
            <a:ext cx="28702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15" name="AutoShape 15"/>
          <p:cNvSpPr/>
          <p:nvPr/>
        </p:nvSpPr>
        <p:spPr>
          <a:xfrm>
            <a:off x="4648200" y="36830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Poppins"/>
                <a:ea typeface="Poppins"/>
                <a:cs typeface="Poppins"/>
                <a:sym typeface="Poppins"/>
              </a:rPr>
              <a:t>Monitor and measure brand mentions, positive media coverage, and influence within mainstream cultural narratives to gauge the brand’s societal relevance and prestige.</a:t>
            </a:r>
            <a:endParaRPr lang="en-US" sz="1100"/>
          </a:p>
        </p:txBody>
      </p:sp>
      <p:sp>
        <p:nvSpPr>
          <p:cNvPr id="16" name="AutoShape 16"/>
          <p:cNvSpPr/>
          <p:nvPr/>
        </p:nvSpPr>
        <p:spPr>
          <a:xfrm>
            <a:off x="8026400" y="2286000"/>
            <a:ext cx="3378200" cy="3175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26400" y="2286000"/>
            <a:ext cx="33782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667000"/>
            <a:ext cx="406400" cy="406400"/>
          </a:xfrm>
          <a:prstGeom prst="rect">
            <a:avLst/>
          </a:prstGeom>
        </p:spPr>
      </p:pic>
      <p:sp>
        <p:nvSpPr>
          <p:cNvPr id="19" name="AutoShape 19"/>
          <p:cNvSpPr/>
          <p:nvPr/>
        </p:nvSpPr>
        <p:spPr>
          <a:xfrm>
            <a:off x="8813800" y="2641600"/>
            <a:ext cx="2463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Strategic Iteration</a:t>
            </a:r>
            <a:endParaRPr lang="en-US" sz="1100"/>
          </a:p>
        </p:txBody>
      </p:sp>
      <p:cxnSp>
        <p:nvCxnSpPr>
          <p:cNvPr id="20" name="Connector 20"/>
          <p:cNvCxnSpPr/>
          <p:nvPr/>
        </p:nvCxnSpPr>
        <p:spPr>
          <a:xfrm rot="-15211">
            <a:off x="8280414" y="3422650"/>
            <a:ext cx="28702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21" name="AutoShape 21"/>
          <p:cNvSpPr/>
          <p:nvPr/>
        </p:nvSpPr>
        <p:spPr>
          <a:xfrm>
            <a:off x="8280400" y="36830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Poppins"/>
                <a:ea typeface="Poppins"/>
                <a:cs typeface="Poppins"/>
                <a:sym typeface="Poppins"/>
              </a:rPr>
              <a:t>Establish an annual brand strategy review mechanism to continuously optimize the approach, ensuring alignment with evolving market dynamics and consumer feedback.</a:t>
            </a:r>
            <a:endParaRPr lang="en-US" sz="1100"/>
          </a:p>
        </p:txBody>
      </p:sp>
      <p:sp>
        <p:nvSpPr>
          <p:cNvPr id="22" name="AutoShape 22"/>
          <p:cNvSpPr/>
          <p:nvPr/>
        </p:nvSpPr>
        <p:spPr>
          <a:xfrm>
            <a:off x="762000" y="5842000"/>
            <a:ext cx="10668000" cy="635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9055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44444"/>
                </a:solidFill>
                <a:latin typeface="Poppins"/>
                <a:ea typeface="Poppins"/>
                <a:cs typeface="Poppins"/>
                <a:sym typeface="Poppins"/>
              </a:rPr>
              <a:t>A great brand strategy is never static. By combining data-driven tracking with cultural awareness, we ensure the brand remains agile and enduring.</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032000"/>
            <a:ext cx="12192000" cy="228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0" b="1" i="0" u="none" strike="noStrike">
                <a:solidFill>
                  <a:srgbClr val="D4AF37"/>
                </a:solidFill>
                <a:latin typeface="Poppins"/>
                <a:ea typeface="Poppins"/>
                <a:cs typeface="Poppins"/>
                <a:sym typeface="Poppins"/>
              </a:rPr>
              <a:t>04</a:t>
            </a:r>
            <a:endParaRPr lang="en-US" sz="1100"/>
          </a:p>
        </p:txBody>
      </p:sp>
      <p:sp>
        <p:nvSpPr>
          <p:cNvPr id="4" name="AutoShape 4"/>
          <p:cNvSpPr/>
          <p:nvPr/>
        </p:nvSpPr>
        <p:spPr>
          <a:xfrm>
            <a:off x="5334000" y="4572000"/>
            <a:ext cx="1524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508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Poppins"/>
                <a:ea typeface="Poppins"/>
                <a:cs typeface="Poppins"/>
                <a:sym typeface="Poppins"/>
              </a:rPr>
              <a:t>Advertising ROI Report</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Attribution Model &amp; Methodology</a:t>
            </a:r>
            <a:endParaRPr lang="en-US" sz="1100"/>
          </a:p>
        </p:txBody>
      </p:sp>
      <p:sp>
        <p:nvSpPr>
          <p:cNvPr id="4" name="AutoShape 4"/>
          <p:cNvSpPr/>
          <p:nvPr/>
        </p:nvSpPr>
        <p:spPr>
          <a:xfrm>
            <a:off x="762000" y="1905000"/>
            <a:ext cx="5207000" cy="3556000"/>
          </a:xfrm>
          <a:prstGeom prst="roundRect">
            <a:avLst>
              <a:gd name="adj" fmla="val 0"/>
            </a:avLst>
          </a:prstGeom>
          <a:solidFill>
            <a:srgbClr val="FFFFFF">
              <a:alpha val="6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3556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2159000"/>
            <a:ext cx="406400" cy="406400"/>
          </a:xfrm>
          <a:prstGeom prst="rect">
            <a:avLst/>
          </a:prstGeom>
        </p:spPr>
      </p:pic>
      <p:sp>
        <p:nvSpPr>
          <p:cNvPr id="7" name="AutoShape 7"/>
          <p:cNvSpPr/>
          <p:nvPr/>
        </p:nvSpPr>
        <p:spPr>
          <a:xfrm>
            <a:off x="1651000" y="2159000"/>
            <a:ext cx="406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33333"/>
                </a:solidFill>
                <a:latin typeface="Poppins"/>
                <a:ea typeface="Poppins"/>
                <a:cs typeface="Poppins"/>
                <a:sym typeface="Poppins"/>
              </a:rPr>
              <a:t>The Core Problem</a:t>
            </a:r>
            <a:endParaRPr lang="en-US" sz="1100"/>
          </a:p>
        </p:txBody>
      </p:sp>
      <p:cxnSp>
        <p:nvCxnSpPr>
          <p:cNvPr id="8" name="Connector 8"/>
          <p:cNvCxnSpPr/>
          <p:nvPr/>
        </p:nvCxnSpPr>
        <p:spPr>
          <a:xfrm rot="-9418">
            <a:off x="1079509" y="2914650"/>
            <a:ext cx="46355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9" name="AutoShape 9"/>
          <p:cNvSpPr/>
          <p:nvPr/>
        </p:nvSpPr>
        <p:spPr>
          <a:xfrm>
            <a:off x="1079500" y="3175000"/>
            <a:ext cx="4635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"Channel-reported conversions often sum to more than actual sales."</a:t>
            </a:r>
            <a:endParaRPr lang="en-US" sz="1100"/>
          </a:p>
          <a:p>
            <a:pPr marL="0" indent="0" algn="l">
              <a:lnSpc>
                <a:spcPct val="125000"/>
              </a:lnSpc>
            </a:pPr>
            <a:r>
              <a:rPr lang="en-US" sz="1400" b="0" i="0" u="none" strike="noStrike">
                <a:solidFill>
                  <a:srgbClr val="555555"/>
                </a:solidFill>
                <a:latin typeface="Poppins"/>
                <a:ea typeface="Poppins"/>
                <a:cs typeface="Poppins"/>
                <a:sym typeface="Poppins"/>
              </a:rPr>
              <a:t>This critical discrepancy exposes the fundamental flaw of the last-click attribution model, which overvalues the final touchpoint and ignores the cumulative impact of earlier interactions in the customer journey.</a:t>
            </a:r>
            <a:endParaRPr lang="en-US" sz="1400" b="0" i="0" u="none" strike="noStrike">
              <a:solidFill>
                <a:srgbClr val="555555"/>
              </a:solidFill>
              <a:latin typeface="Poppins"/>
              <a:ea typeface="Poppins"/>
              <a:cs typeface="Poppins"/>
              <a:sym typeface="Poppins"/>
            </a:endParaRPr>
          </a:p>
        </p:txBody>
      </p:sp>
      <p:sp>
        <p:nvSpPr>
          <p:cNvPr id="10" name="AutoShape 10"/>
          <p:cNvSpPr/>
          <p:nvPr/>
        </p:nvSpPr>
        <p:spPr>
          <a:xfrm>
            <a:off x="6477000" y="1905000"/>
            <a:ext cx="4953000" cy="1206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77000" y="1905000"/>
            <a:ext cx="50800" cy="1206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2032000"/>
            <a:ext cx="355600" cy="355600"/>
          </a:xfrm>
          <a:prstGeom prst="rect">
            <a:avLst/>
          </a:prstGeom>
        </p:spPr>
      </p:pic>
      <p:sp>
        <p:nvSpPr>
          <p:cNvPr id="13" name="AutoShape 13"/>
          <p:cNvSpPr/>
          <p:nvPr/>
        </p:nvSpPr>
        <p:spPr>
          <a:xfrm>
            <a:off x="7175500" y="2006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Current Limitation Acknowledgment</a:t>
            </a:r>
            <a:endParaRPr lang="en-US" sz="1100"/>
          </a:p>
        </p:txBody>
      </p:sp>
      <p:sp>
        <p:nvSpPr>
          <p:cNvPr id="14" name="AutoShape 14"/>
          <p:cNvSpPr/>
          <p:nvPr/>
        </p:nvSpPr>
        <p:spPr>
          <a:xfrm>
            <a:off x="6667500" y="25400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Poppins"/>
                <a:ea typeface="Poppins"/>
                <a:cs typeface="Poppins"/>
                <a:sym typeface="Poppins"/>
              </a:rPr>
              <a:t>We first recognize that the simplistic "Last Click" model fails to account for the full customer journey, leading to misallocation of marketing budget and misinformed strategy.</a:t>
            </a:r>
            <a:endParaRPr lang="en-US" sz="1100"/>
          </a:p>
        </p:txBody>
      </p:sp>
      <p:sp>
        <p:nvSpPr>
          <p:cNvPr id="15" name="AutoShape 15"/>
          <p:cNvSpPr/>
          <p:nvPr/>
        </p:nvSpPr>
        <p:spPr>
          <a:xfrm>
            <a:off x="6477000" y="3302000"/>
            <a:ext cx="4953000" cy="1206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3302000"/>
            <a:ext cx="50800" cy="1206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3429000"/>
            <a:ext cx="355600" cy="355600"/>
          </a:xfrm>
          <a:prstGeom prst="rect">
            <a:avLst/>
          </a:prstGeom>
        </p:spPr>
      </p:pic>
      <p:sp>
        <p:nvSpPr>
          <p:cNvPr id="18" name="AutoShape 18"/>
          <p:cNvSpPr/>
          <p:nvPr/>
        </p:nvSpPr>
        <p:spPr>
          <a:xfrm>
            <a:off x="7175500" y="3403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Evolving to Advanced Modeling</a:t>
            </a:r>
            <a:endParaRPr lang="en-US" sz="1100"/>
          </a:p>
        </p:txBody>
      </p:sp>
      <p:sp>
        <p:nvSpPr>
          <p:cNvPr id="19" name="AutoShape 19"/>
          <p:cNvSpPr/>
          <p:nvPr/>
        </p:nvSpPr>
        <p:spPr>
          <a:xfrm>
            <a:off x="6667500" y="39370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Poppins"/>
                <a:ea typeface="Poppins"/>
                <a:cs typeface="Poppins"/>
                <a:sym typeface="Poppins"/>
              </a:rPr>
              <a:t>We start with a "U-Shape" or "Time Decay" model to capture key touchpoints, with a strategic roadmap to transition to a robust "Markov Chain-based Model" for granular path analysis.</a:t>
            </a:r>
            <a:endParaRPr lang="en-US" sz="1100"/>
          </a:p>
        </p:txBody>
      </p:sp>
      <p:sp>
        <p:nvSpPr>
          <p:cNvPr id="20" name="AutoShape 20"/>
          <p:cNvSpPr/>
          <p:nvPr/>
        </p:nvSpPr>
        <p:spPr>
          <a:xfrm>
            <a:off x="6477000" y="4699000"/>
            <a:ext cx="4953000" cy="1206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77000" y="4699000"/>
            <a:ext cx="50800" cy="1206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4826000"/>
            <a:ext cx="355600" cy="355600"/>
          </a:xfrm>
          <a:prstGeom prst="rect">
            <a:avLst/>
          </a:prstGeom>
        </p:spPr>
      </p:pic>
      <p:sp>
        <p:nvSpPr>
          <p:cNvPr id="23" name="AutoShape 23"/>
          <p:cNvSpPr/>
          <p:nvPr/>
        </p:nvSpPr>
        <p:spPr>
          <a:xfrm>
            <a:off x="7175500" y="4800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U-Shape Model: Balanced Credit Allocation</a:t>
            </a:r>
            <a:endParaRPr lang="en-US" sz="1100"/>
          </a:p>
        </p:txBody>
      </p:sp>
      <p:sp>
        <p:nvSpPr>
          <p:cNvPr id="24" name="AutoShape 24"/>
          <p:cNvSpPr/>
          <p:nvPr/>
        </p:nvSpPr>
        <p:spPr>
          <a:xfrm>
            <a:off x="6667500" y="53340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Poppins"/>
                <a:ea typeface="Poppins"/>
                <a:cs typeface="Poppins"/>
                <a:sym typeface="Poppins"/>
              </a:rPr>
              <a:t>This model logically assigns significant credit to the first interaction (awareness) and the last interaction (conversion), reflecting the reality of how customers discover and decide.</a:t>
            </a:r>
            <a:endParaRPr lang="en-US" sz="1100"/>
          </a:p>
        </p:txBody>
      </p:sp>
      <p:sp>
        <p:nvSpPr>
          <p:cNvPr id="25" name="AutoShape 25"/>
          <p:cNvSpPr/>
          <p:nvPr/>
        </p:nvSpPr>
        <p:spPr>
          <a:xfrm>
            <a:off x="762000" y="6159500"/>
            <a:ext cx="10668000" cy="25400"/>
          </a:xfrm>
          <a:prstGeom prst="roundRect">
            <a:avLst>
              <a:gd name="adj" fmla="val 0"/>
            </a:avLst>
          </a:prstGeom>
          <a:solidFill>
            <a:srgbClr val="D4AF37">
              <a:alpha val="3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Cross-Channel Contribution Analysis</a:t>
            </a:r>
            <a:endParaRPr lang="en-US" sz="1100"/>
          </a:p>
        </p:txBody>
      </p:sp>
      <p:cxnSp>
        <p:nvCxnSpPr>
          <p:cNvPr id="4" name="Connector 4"/>
          <p:cNvCxnSpPr/>
          <p:nvPr/>
        </p:nvCxnSpPr>
        <p:spPr>
          <a:xfrm rot="5389889">
            <a:off x="3937000" y="3930659"/>
            <a:ext cx="43180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5" name="AutoShape 5"/>
          <p:cNvSpPr/>
          <p:nvPr/>
        </p:nvSpPr>
        <p:spPr>
          <a:xfrm>
            <a:off x="762000" y="1778000"/>
            <a:ext cx="4953000" cy="1968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778000"/>
            <a:ext cx="76200" cy="1968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1968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Closers: The Final Conversion Drivers</a:t>
            </a:r>
            <a:endParaRPr lang="en-US" sz="1100"/>
          </a:p>
        </p:txBody>
      </p:sp>
      <p:cxnSp>
        <p:nvCxnSpPr>
          <p:cNvPr id="8" name="Connector 8"/>
          <p:cNvCxnSpPr/>
          <p:nvPr/>
        </p:nvCxnSpPr>
        <p:spPr>
          <a:xfrm rot="-9822">
            <a:off x="1016009" y="2470150"/>
            <a:ext cx="4445000" cy="12700"/>
          </a:xfrm>
          <a:prstGeom prst="straightConnector1">
            <a:avLst/>
          </a:prstGeom>
          <a:solidFill>
            <a:srgbClr val="DEE0E3">
              <a:alpha val="100000"/>
            </a:srgbClr>
          </a:solidFill>
          <a:ln w="12700" cap="flat" cmpd="sng">
            <a:solidFill>
              <a:srgbClr val="D4AF37">
                <a:alpha val="40000"/>
              </a:srgbClr>
            </a:solidFill>
            <a:prstDash val="dash"/>
            <a:round/>
            <a:headEnd type="none" w="med" len="med"/>
            <a:tailEnd type="none" w="med" len="med"/>
          </a:ln>
        </p:spPr>
      </p:cxnSp>
      <p:sp>
        <p:nvSpPr>
          <p:cNvPr id="9" name="AutoShape 9"/>
          <p:cNvSpPr/>
          <p:nvPr/>
        </p:nvSpPr>
        <p:spPr>
          <a:xfrm>
            <a:off x="1016000" y="26670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Poppins"/>
                <a:ea typeface="Poppins"/>
                <a:cs typeface="Poppins"/>
                <a:sym typeface="Poppins"/>
              </a:rPr>
              <a:t>Channels like Brand Search Ads have high last-click ROI but low Shapley value. Strategy: Defend these high-performers to maintain baseline revenue and ensure final touchpoints are optimized for conversion.</a:t>
            </a:r>
            <a:endParaRPr lang="en-US" sz="1100"/>
          </a:p>
        </p:txBody>
      </p:sp>
      <p:sp>
        <p:nvSpPr>
          <p:cNvPr id="10" name="AutoShape 10"/>
          <p:cNvSpPr/>
          <p:nvPr/>
        </p:nvSpPr>
        <p:spPr>
          <a:xfrm>
            <a:off x="762000" y="4064000"/>
            <a:ext cx="4953000" cy="19685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064000"/>
            <a:ext cx="76200" cy="1968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4254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Influencers: The Silent Catalysts</a:t>
            </a:r>
            <a:endParaRPr lang="en-US" sz="1100"/>
          </a:p>
        </p:txBody>
      </p:sp>
      <p:cxnSp>
        <p:nvCxnSpPr>
          <p:cNvPr id="13" name="Connector 13"/>
          <p:cNvCxnSpPr/>
          <p:nvPr/>
        </p:nvCxnSpPr>
        <p:spPr>
          <a:xfrm rot="-9822">
            <a:off x="1016009" y="4756150"/>
            <a:ext cx="4445000" cy="12700"/>
          </a:xfrm>
          <a:prstGeom prst="straightConnector1">
            <a:avLst/>
          </a:prstGeom>
          <a:solidFill>
            <a:srgbClr val="DEE0E3">
              <a:alpha val="100000"/>
            </a:srgbClr>
          </a:solidFill>
          <a:ln w="12700" cap="flat" cmpd="sng">
            <a:solidFill>
              <a:srgbClr val="D4AF37">
                <a:alpha val="40000"/>
              </a:srgbClr>
            </a:solidFill>
            <a:prstDash val="dash"/>
            <a:round/>
            <a:headEnd type="none" w="med" len="med"/>
            <a:tailEnd type="none" w="med" len="med"/>
          </a:ln>
        </p:spPr>
      </p:cxnSp>
      <p:sp>
        <p:nvSpPr>
          <p:cNvPr id="14" name="AutoShape 14"/>
          <p:cNvSpPr/>
          <p:nvPr/>
        </p:nvSpPr>
        <p:spPr>
          <a:xfrm>
            <a:off x="1016000" y="49530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Poppins"/>
                <a:ea typeface="Poppins"/>
                <a:cs typeface="Poppins"/>
                <a:sym typeface="Poppins"/>
              </a:rPr>
              <a:t>Channels such as Display Ads and KOLs have low last-click ROI but high Shapley value. Strategy: Invest strategically for growth and measure success using incremental ROAS (iROAS) to capture their true impact.</a:t>
            </a:r>
            <a:endParaRPr lang="en-US" sz="1100"/>
          </a:p>
        </p:txBody>
      </p:sp>
      <p:pic>
        <p:nvPicPr>
          <p:cNvPr id="15" name="Picture 15"/>
          <p:cNvPicPr>
            <a:picLocks noChangeAspect="1"/>
          </p:cNvPicPr>
          <p:nvPr/>
        </p:nvPicPr>
        <p:blipFill>
          <a:blip r:embed="rId2"/>
          <a:srcRect l="217" r="217"/>
          <a:stretch>
            <a:fillRect/>
          </a:stretch>
        </p:blipFill>
        <p:spPr>
          <a:xfrm>
            <a:off x="6477000" y="1778000"/>
            <a:ext cx="2667000" cy="2159000"/>
          </a:xfrm>
          <a:prstGeom prst="rect">
            <a:avLst/>
          </a:prstGeom>
          <a:noFill/>
          <a:ln w="12700" cap="flat" cmpd="sng">
            <a:solidFill>
              <a:srgbClr val="D4AF37">
                <a:alpha val="60000"/>
              </a:srgbClr>
            </a:solidFill>
            <a:prstDash val="solid"/>
            <a:round/>
          </a:ln>
        </p:spPr>
      </p:pic>
      <p:sp>
        <p:nvSpPr>
          <p:cNvPr id="16" name="AutoShape 16"/>
          <p:cNvSpPr/>
          <p:nvPr/>
        </p:nvSpPr>
        <p:spPr>
          <a:xfrm>
            <a:off x="9271000" y="1778000"/>
            <a:ext cx="2286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Sankey Flow Visualization</a:t>
            </a:r>
            <a:endParaRPr lang="en-US" sz="1100"/>
          </a:p>
          <a:p>
            <a:pPr marL="0" indent="0" algn="l">
              <a:lnSpc>
                <a:spcPct val="117000"/>
              </a:lnSpc>
            </a:pPr>
            <a:r>
              <a:rPr lang="en-US" sz="1300" b="0" i="0" u="none" strike="noStrike">
                <a:solidFill>
                  <a:srgbClr val="525252"/>
                </a:solidFill>
                <a:latin typeface="Poppins"/>
                <a:ea typeface="Poppins"/>
                <a:cs typeface="Poppins"/>
                <a:sym typeface="Poppins"/>
              </a:rPr>
              <a:t>Maps user pathways across touchpoints to reveal hidden flow patterns, ensuring no critical interaction is overlooked in the attribution model.</a:t>
            </a:r>
            <a:endParaRPr lang="en-US" sz="1300" b="0" i="0" u="none" strike="noStrike">
              <a:solidFill>
                <a:srgbClr val="525252"/>
              </a:solidFill>
              <a:latin typeface="Poppins"/>
              <a:ea typeface="Poppins"/>
              <a:cs typeface="Poppins"/>
              <a:sym typeface="Poppins"/>
            </a:endParaRPr>
          </a:p>
        </p:txBody>
      </p:sp>
      <p:sp>
        <p:nvSpPr>
          <p:cNvPr id="17" name="AutoShape 17"/>
          <p:cNvSpPr/>
          <p:nvPr/>
        </p:nvSpPr>
        <p:spPr>
          <a:xfrm>
            <a:off x="6477000" y="4318000"/>
            <a:ext cx="2476500" cy="1841500"/>
          </a:xfrm>
          <a:prstGeom prst="roundRect">
            <a:avLst>
              <a:gd name="adj" fmla="val 0"/>
            </a:avLst>
          </a:prstGeom>
          <a:solidFill>
            <a:srgbClr val="FFFFFF">
              <a:alpha val="5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4445000"/>
            <a:ext cx="304800" cy="304800"/>
          </a:xfrm>
          <a:prstGeom prst="rect">
            <a:avLst/>
          </a:prstGeom>
        </p:spPr>
      </p:pic>
      <p:sp>
        <p:nvSpPr>
          <p:cNvPr id="19" name="AutoShape 19"/>
          <p:cNvSpPr/>
          <p:nvPr/>
        </p:nvSpPr>
        <p:spPr>
          <a:xfrm>
            <a:off x="7048500" y="4419600"/>
            <a:ext cx="177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Attribution Weighting</a:t>
            </a:r>
            <a:endParaRPr lang="en-US" sz="1100"/>
          </a:p>
        </p:txBody>
      </p:sp>
      <p:cxnSp>
        <p:nvCxnSpPr>
          <p:cNvPr id="20" name="Connector 20"/>
          <p:cNvCxnSpPr/>
          <p:nvPr/>
        </p:nvCxnSpPr>
        <p:spPr>
          <a:xfrm rot="-19644">
            <a:off x="6604018" y="4946650"/>
            <a:ext cx="2222500" cy="12700"/>
          </a:xfrm>
          <a:prstGeom prst="straightConnector1">
            <a:avLst/>
          </a:prstGeom>
          <a:solidFill>
            <a:srgbClr val="DEE0E3">
              <a:alpha val="100000"/>
            </a:srgbClr>
          </a:solidFill>
          <a:ln w="12700" cap="flat" cmpd="sng">
            <a:solidFill>
              <a:srgbClr val="D4AF37">
                <a:alpha val="40000"/>
              </a:srgbClr>
            </a:solidFill>
            <a:prstDash val="solid"/>
            <a:round/>
            <a:headEnd type="none" w="med" len="med"/>
            <a:tailEnd type="none" w="med" len="med"/>
          </a:ln>
        </p:spPr>
      </p:cxnSp>
      <p:sp>
        <p:nvSpPr>
          <p:cNvPr id="21" name="AutoShape 21"/>
          <p:cNvSpPr/>
          <p:nvPr/>
        </p:nvSpPr>
        <p:spPr>
          <a:xfrm>
            <a:off x="6604000" y="5080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25252"/>
                </a:solidFill>
                <a:latin typeface="Poppins"/>
                <a:ea typeface="Poppins"/>
                <a:cs typeface="Poppins"/>
                <a:sym typeface="Poppins"/>
              </a:rPr>
              <a:t>Quantify each channel's true contribution weight, moving beyond simplistic last-click models to a holistic view of value.</a:t>
            </a:r>
            <a:endParaRPr lang="en-US" sz="1100"/>
          </a:p>
        </p:txBody>
      </p:sp>
      <p:sp>
        <p:nvSpPr>
          <p:cNvPr id="22" name="AutoShape 22"/>
          <p:cNvSpPr/>
          <p:nvPr/>
        </p:nvSpPr>
        <p:spPr>
          <a:xfrm>
            <a:off x="9144000" y="4318000"/>
            <a:ext cx="2476500" cy="1841500"/>
          </a:xfrm>
          <a:prstGeom prst="roundRect">
            <a:avLst>
              <a:gd name="adj" fmla="val 0"/>
            </a:avLst>
          </a:prstGeom>
          <a:solidFill>
            <a:srgbClr val="FFFFFF">
              <a:alpha val="5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71000" y="4445000"/>
            <a:ext cx="304800" cy="304800"/>
          </a:xfrm>
          <a:prstGeom prst="rect">
            <a:avLst/>
          </a:prstGeom>
        </p:spPr>
      </p:pic>
      <p:sp>
        <p:nvSpPr>
          <p:cNvPr id="24" name="AutoShape 24"/>
          <p:cNvSpPr/>
          <p:nvPr/>
        </p:nvSpPr>
        <p:spPr>
          <a:xfrm>
            <a:off x="9715500" y="4419600"/>
            <a:ext cx="177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Audience Overlap</a:t>
            </a:r>
            <a:endParaRPr lang="en-US" sz="1100"/>
          </a:p>
        </p:txBody>
      </p:sp>
      <p:cxnSp>
        <p:nvCxnSpPr>
          <p:cNvPr id="25" name="Connector 25"/>
          <p:cNvCxnSpPr/>
          <p:nvPr/>
        </p:nvCxnSpPr>
        <p:spPr>
          <a:xfrm rot="-19644">
            <a:off x="9271018" y="4946650"/>
            <a:ext cx="2222500" cy="12700"/>
          </a:xfrm>
          <a:prstGeom prst="straightConnector1">
            <a:avLst/>
          </a:prstGeom>
          <a:solidFill>
            <a:srgbClr val="DEE0E3">
              <a:alpha val="100000"/>
            </a:srgbClr>
          </a:solidFill>
          <a:ln w="12700" cap="flat" cmpd="sng">
            <a:solidFill>
              <a:srgbClr val="D4AF37">
                <a:alpha val="40000"/>
              </a:srgbClr>
            </a:solidFill>
            <a:prstDash val="solid"/>
            <a:round/>
            <a:headEnd type="none" w="med" len="med"/>
            <a:tailEnd type="none" w="med" len="med"/>
          </a:ln>
        </p:spPr>
      </p:cxnSp>
      <p:sp>
        <p:nvSpPr>
          <p:cNvPr id="26" name="AutoShape 26"/>
          <p:cNvSpPr/>
          <p:nvPr/>
        </p:nvSpPr>
        <p:spPr>
          <a:xfrm>
            <a:off x="9271000" y="5080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25252"/>
                </a:solidFill>
                <a:latin typeface="Poppins"/>
                <a:ea typeface="Poppins"/>
                <a:cs typeface="Poppins"/>
                <a:sym typeface="Poppins"/>
              </a:rPr>
              <a:t>Identify redundant audience segments across channels to eliminate budget waste and refine targeting strategies for efficiency.</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Incrementality Analysis &amp; Budget Optimization</a:t>
            </a:r>
            <a:endParaRPr lang="en-US" sz="1100"/>
          </a:p>
        </p:txBody>
      </p:sp>
      <p:sp>
        <p:nvSpPr>
          <p:cNvPr id="4" name="AutoShape 4"/>
          <p:cNvSpPr/>
          <p:nvPr/>
        </p:nvSpPr>
        <p:spPr>
          <a:xfrm>
            <a:off x="762000" y="2032000"/>
            <a:ext cx="3378200" cy="35560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3782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355600" cy="355600"/>
          </a:xfrm>
          <a:prstGeom prst="rect">
            <a:avLst/>
          </a:prstGeom>
        </p:spPr>
      </p:pic>
      <p:sp>
        <p:nvSpPr>
          <p:cNvPr id="7" name="AutoShape 7"/>
          <p:cNvSpPr/>
          <p:nvPr/>
        </p:nvSpPr>
        <p:spPr>
          <a:xfrm>
            <a:off x="1498600" y="2311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Lift Test Results</a:t>
            </a:r>
            <a:endParaRPr lang="en-US" sz="1100"/>
          </a:p>
        </p:txBody>
      </p:sp>
      <p:cxnSp>
        <p:nvCxnSpPr>
          <p:cNvPr id="8" name="Connector 8"/>
          <p:cNvCxnSpPr/>
          <p:nvPr/>
        </p:nvCxnSpPr>
        <p:spPr>
          <a:xfrm rot="-15211">
            <a:off x="1016014" y="2978150"/>
            <a:ext cx="28702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9" name="AutoShape 9"/>
          <p:cNvSpPr/>
          <p:nvPr/>
        </p:nvSpPr>
        <p:spPr>
          <a:xfrm>
            <a:off x="1016000" y="3238500"/>
            <a:ext cx="28702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Poppins"/>
                <a:ea typeface="Poppins"/>
                <a:cs typeface="Poppins"/>
                <a:sym typeface="Poppins"/>
              </a:rPr>
              <a:t>Case Study Insight:</a:t>
            </a:r>
            <a:r>
              <a:rPr lang="en-US" sz="1300" b="0" i="0" u="none" strike="noStrike">
                <a:solidFill>
                  <a:srgbClr val="525252"/>
                </a:solidFill>
                <a:latin typeface="Poppins"/>
                <a:ea typeface="Poppins"/>
                <a:cs typeface="Poppins"/>
                <a:sym typeface="Poppins"/>
              </a:rPr>
              <a:t>Ghost-bidding on brand search ads revealed a mere 5% true incremental contribution, with the majority of spend serving a defensive purpose only.</a:t>
            </a:r>
            <a:endParaRPr lang="en-US" sz="1100"/>
          </a:p>
          <a:p>
            <a:pPr marL="0" indent="0" algn="l">
              <a:lnSpc>
                <a:spcPct val="117000"/>
              </a:lnSpc>
            </a:pPr>
            <a:r>
              <a:rPr lang="en-US" sz="1400" b="1" i="0" u="none" strike="noStrike">
                <a:solidFill>
                  <a:srgbClr val="D4AF37"/>
                </a:solidFill>
                <a:latin typeface="Poppins"/>
                <a:ea typeface="Poppins"/>
                <a:cs typeface="Poppins"/>
                <a:sym typeface="Poppins"/>
              </a:rPr>
              <a:t>Key Action:</a:t>
            </a:r>
            <a:r>
              <a:rPr lang="en-US" sz="1300" b="0" i="0" u="none" strike="noStrike">
                <a:solidFill>
                  <a:srgbClr val="525252"/>
                </a:solidFill>
                <a:latin typeface="Poppins"/>
                <a:ea typeface="Poppins"/>
                <a:cs typeface="Poppins"/>
                <a:sym typeface="Poppins"/>
              </a:rPr>
              <a:t>Strategically reallocate 20% of this budget to high-potential Influencer marketing channels.</a:t>
            </a:r>
            <a:endParaRPr lang="en-US" sz="1300" b="0" i="0" u="none" strike="noStrike">
              <a:solidFill>
                <a:srgbClr val="525252"/>
              </a:solidFill>
              <a:latin typeface="Poppins"/>
              <a:ea typeface="Poppins"/>
              <a:cs typeface="Poppins"/>
              <a:sym typeface="Poppins"/>
            </a:endParaRPr>
          </a:p>
        </p:txBody>
      </p:sp>
      <p:sp>
        <p:nvSpPr>
          <p:cNvPr id="10" name="AutoShape 10"/>
          <p:cNvSpPr/>
          <p:nvPr/>
        </p:nvSpPr>
        <p:spPr>
          <a:xfrm>
            <a:off x="4394200" y="2032000"/>
            <a:ext cx="3378200" cy="35560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94200" y="2032000"/>
            <a:ext cx="33782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349500"/>
            <a:ext cx="355600" cy="355600"/>
          </a:xfrm>
          <a:prstGeom prst="rect">
            <a:avLst/>
          </a:prstGeom>
        </p:spPr>
      </p:pic>
      <p:sp>
        <p:nvSpPr>
          <p:cNvPr id="13" name="AutoShape 13"/>
          <p:cNvSpPr/>
          <p:nvPr/>
        </p:nvSpPr>
        <p:spPr>
          <a:xfrm>
            <a:off x="5130800" y="2311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Marginal ROAS Analysis</a:t>
            </a:r>
            <a:endParaRPr lang="en-US" sz="1100"/>
          </a:p>
        </p:txBody>
      </p:sp>
      <p:cxnSp>
        <p:nvCxnSpPr>
          <p:cNvPr id="14" name="Connector 14"/>
          <p:cNvCxnSpPr/>
          <p:nvPr/>
        </p:nvCxnSpPr>
        <p:spPr>
          <a:xfrm rot="-15211">
            <a:off x="4648214" y="2978150"/>
            <a:ext cx="28702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5" name="AutoShape 15"/>
          <p:cNvSpPr/>
          <p:nvPr/>
        </p:nvSpPr>
        <p:spPr>
          <a:xfrm>
            <a:off x="4648200" y="3238500"/>
            <a:ext cx="28702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Poppins"/>
                <a:ea typeface="Poppins"/>
                <a:cs typeface="Poppins"/>
                <a:sym typeface="Poppins"/>
              </a:rPr>
              <a:t>Methodology:</a:t>
            </a:r>
            <a:r>
              <a:rPr lang="en-US" sz="1300" b="0" i="0" u="none" strike="noStrike">
                <a:solidFill>
                  <a:srgbClr val="525252"/>
                </a:solidFill>
                <a:latin typeface="Poppins"/>
                <a:ea typeface="Poppins"/>
                <a:cs typeface="Poppins"/>
                <a:sym typeface="Poppins"/>
              </a:rPr>
              <a:t>Plot granular "Spend-Return Curves" for each marketing channel to visualize how returns scale with increased investment.</a:t>
            </a:r>
            <a:endParaRPr lang="en-US" sz="1100"/>
          </a:p>
          <a:p>
            <a:pPr marL="0" indent="0" algn="l">
              <a:lnSpc>
                <a:spcPct val="117000"/>
              </a:lnSpc>
            </a:pPr>
            <a:r>
              <a:rPr lang="en-US" sz="1400" b="1" i="0" u="none" strike="noStrike">
                <a:solidFill>
                  <a:srgbClr val="D4AF37"/>
                </a:solidFill>
                <a:latin typeface="Poppins"/>
                <a:ea typeface="Poppins"/>
                <a:cs typeface="Poppins"/>
                <a:sym typeface="Poppins"/>
              </a:rPr>
              <a:t>Growth Insight:</a:t>
            </a:r>
            <a:r>
              <a:rPr lang="en-US" sz="1300" b="0" i="0" u="none" strike="noStrike">
                <a:solidFill>
                  <a:srgbClr val="525252"/>
                </a:solidFill>
                <a:latin typeface="Poppins"/>
                <a:ea typeface="Poppins"/>
                <a:cs typeface="Poppins"/>
                <a:sym typeface="Poppins"/>
              </a:rPr>
              <a:t>Channels with the steepest return curves represent untapped potential. Prioritize these to maximize ROI before diminishing returns set in.</a:t>
            </a:r>
            <a:endParaRPr lang="en-US" sz="1300" b="0" i="0" u="none" strike="noStrike">
              <a:solidFill>
                <a:srgbClr val="525252"/>
              </a:solidFill>
              <a:latin typeface="Poppins"/>
              <a:ea typeface="Poppins"/>
              <a:cs typeface="Poppins"/>
              <a:sym typeface="Poppins"/>
            </a:endParaRPr>
          </a:p>
        </p:txBody>
      </p:sp>
      <p:sp>
        <p:nvSpPr>
          <p:cNvPr id="16" name="AutoShape 16"/>
          <p:cNvSpPr/>
          <p:nvPr/>
        </p:nvSpPr>
        <p:spPr>
          <a:xfrm>
            <a:off x="8026400" y="2032000"/>
            <a:ext cx="3378200" cy="3556000"/>
          </a:xfrm>
          <a:prstGeom prst="roundRect">
            <a:avLst>
              <a:gd name="adj" fmla="val 0"/>
            </a:avLst>
          </a:prstGeom>
          <a:solidFill>
            <a:srgbClr val="FFFFFF">
              <a:alpha val="7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26400" y="2032000"/>
            <a:ext cx="33782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349500"/>
            <a:ext cx="355600" cy="355600"/>
          </a:xfrm>
          <a:prstGeom prst="rect">
            <a:avLst/>
          </a:prstGeom>
        </p:spPr>
      </p:pic>
      <p:sp>
        <p:nvSpPr>
          <p:cNvPr id="19" name="AutoShape 19"/>
          <p:cNvSpPr/>
          <p:nvPr/>
        </p:nvSpPr>
        <p:spPr>
          <a:xfrm>
            <a:off x="8763000" y="2311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Optimization Principle</a:t>
            </a:r>
            <a:endParaRPr lang="en-US" sz="1100"/>
          </a:p>
        </p:txBody>
      </p:sp>
      <p:cxnSp>
        <p:nvCxnSpPr>
          <p:cNvPr id="20" name="Connector 20"/>
          <p:cNvCxnSpPr/>
          <p:nvPr/>
        </p:nvCxnSpPr>
        <p:spPr>
          <a:xfrm rot="-15211">
            <a:off x="8280414" y="2978150"/>
            <a:ext cx="28702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21" name="AutoShape 21"/>
          <p:cNvSpPr/>
          <p:nvPr/>
        </p:nvSpPr>
        <p:spPr>
          <a:xfrm>
            <a:off x="8280400" y="3238500"/>
            <a:ext cx="28702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Poppins"/>
                <a:ea typeface="Poppins"/>
                <a:cs typeface="Poppins"/>
                <a:sym typeface="Poppins"/>
              </a:rPr>
              <a:t>Equilibrium Strategy:</a:t>
            </a:r>
            <a:r>
              <a:rPr lang="en-US" sz="1300" b="0" i="0" u="none" strike="noStrike">
                <a:solidFill>
                  <a:srgbClr val="525252"/>
                </a:solidFill>
                <a:latin typeface="Poppins"/>
                <a:ea typeface="Poppins"/>
                <a:cs typeface="Poppins"/>
                <a:sym typeface="Poppins"/>
              </a:rPr>
              <a:t>Continuously shift budget allocation from channels with lower Marginal ROAS to those with higher Marginal ROAS.</a:t>
            </a:r>
            <a:endParaRPr lang="en-US" sz="1100"/>
          </a:p>
          <a:p>
            <a:pPr marL="0" indent="0" algn="l">
              <a:lnSpc>
                <a:spcPct val="117000"/>
              </a:lnSpc>
            </a:pPr>
            <a:r>
              <a:rPr lang="en-US" sz="1400" b="1" i="0" u="none" strike="noStrike">
                <a:solidFill>
                  <a:srgbClr val="D4AF37"/>
                </a:solidFill>
                <a:latin typeface="Poppins"/>
                <a:ea typeface="Poppins"/>
                <a:cs typeface="Poppins"/>
                <a:sym typeface="Poppins"/>
              </a:rPr>
              <a:t>Optimal State:</a:t>
            </a:r>
            <a:r>
              <a:rPr lang="en-US" sz="1300" b="0" i="0" u="none" strike="noStrike">
                <a:solidFill>
                  <a:srgbClr val="525252"/>
                </a:solidFill>
                <a:latin typeface="Poppins"/>
                <a:ea typeface="Poppins"/>
                <a:cs typeface="Poppins"/>
                <a:sym typeface="Poppins"/>
              </a:rPr>
              <a:t>The budget is perfectly optimized when the Marginal ROAS values across all active channels are equal, ensuring no further gain can be made by reallocating funds.</a:t>
            </a:r>
            <a:endParaRPr lang="en-US" sz="1300" b="0" i="0" u="none" strike="noStrike">
              <a:solidFill>
                <a:srgbClr val="525252"/>
              </a:solidFill>
              <a:latin typeface="Poppins"/>
              <a:ea typeface="Poppins"/>
              <a:cs typeface="Poppins"/>
              <a:sym typeface="Poppins"/>
            </a:endParaRPr>
          </a:p>
        </p:txBody>
      </p:sp>
      <p:sp>
        <p:nvSpPr>
          <p:cNvPr id="22" name="AutoShape 22"/>
          <p:cNvSpPr/>
          <p:nvPr/>
        </p:nvSpPr>
        <p:spPr>
          <a:xfrm>
            <a:off x="762000" y="5842000"/>
            <a:ext cx="10668000" cy="635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943600"/>
            <a:ext cx="1016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Poppins"/>
                <a:ea typeface="Poppins"/>
                <a:cs typeface="Poppins"/>
                <a:sym typeface="Poppins"/>
              </a:rPr>
              <a:t>By focusing on true incrementality and Marginal ROAS equilibrium, we transform budget management from guesswork into a data-driven strategy for maximum efficiency.</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Future Outlook &amp; Action Items</a:t>
            </a:r>
            <a:endParaRPr lang="en-US" sz="1100"/>
          </a:p>
        </p:txBody>
      </p:sp>
      <p:pic>
        <p:nvPicPr>
          <p:cNvPr id="4" name="Picture 4"/>
          <p:cNvPicPr>
            <a:picLocks noChangeAspect="1"/>
          </p:cNvPicPr>
          <p:nvPr/>
        </p:nvPicPr>
        <p:blipFill>
          <a:blip r:embed="rId2"/>
          <a:srcRect t="5345" b="5345"/>
          <a:stretch>
            <a:fillRect/>
          </a:stretch>
        </p:blipFill>
        <p:spPr>
          <a:xfrm>
            <a:off x="762000" y="1905000"/>
            <a:ext cx="4318000" cy="3302000"/>
          </a:xfrm>
          <a:prstGeom prst="rect">
            <a:avLst/>
          </a:prstGeom>
          <a:noFill/>
          <a:ln w="25400" cap="flat" cmpd="sng">
            <a:solidFill>
              <a:srgbClr val="D4AF37">
                <a:alpha val="60000"/>
              </a:srgbClr>
            </a:solidFill>
            <a:prstDash val="solid"/>
            <a:round/>
          </a:ln>
        </p:spPr>
      </p:pic>
      <p:sp>
        <p:nvSpPr>
          <p:cNvPr id="5" name="AutoShape 5"/>
          <p:cNvSpPr/>
          <p:nvPr/>
        </p:nvSpPr>
        <p:spPr>
          <a:xfrm>
            <a:off x="762000" y="5461000"/>
            <a:ext cx="4318000" cy="762000"/>
          </a:xfrm>
          <a:prstGeom prst="rect">
            <a:avLst/>
          </a:prstGeom>
          <a:noFill/>
          <a:ln w="12700" cap="flat" cmpd="sng">
            <a:noFill/>
            <a:prstDash val="solid"/>
            <a:round/>
          </a:ln>
        </p:spPr>
        <p:txBody>
          <a:bodyPr vert="horz" wrap="square" lIns="0" tIns="0" rIns="0" bIns="0" rtlCol="0" anchor="ctr" anchorCtr="0"/>
          <a:lstStyle/>
          <a:p>
            <a:pPr marL="0" indent="0" algn="just">
              <a:lnSpc>
                <a:spcPct val="117000"/>
              </a:lnSpc>
              <a:defRPr/>
            </a:pPr>
            <a:r>
              <a:rPr lang="en-US" sz="1300" b="0" i="0" u="none" strike="noStrike">
                <a:solidFill>
                  <a:srgbClr val="555555"/>
                </a:solidFill>
                <a:latin typeface="Poppins"/>
                <a:ea typeface="Poppins"/>
                <a:cs typeface="Poppins"/>
                <a:sym typeface="Poppins"/>
              </a:rPr>
              <a:t>A unified Customer Data Platform (CDP) architecture integrates marketing tools to create a single, comprehensive view of customer interactions, enabling precise attribution and personalization.</a:t>
            </a:r>
            <a:endParaRPr lang="en-US" sz="1100"/>
          </a:p>
        </p:txBody>
      </p:sp>
      <p:cxnSp>
        <p:nvCxnSpPr>
          <p:cNvPr id="6" name="Connector 6"/>
          <p:cNvCxnSpPr/>
          <p:nvPr/>
        </p:nvCxnSpPr>
        <p:spPr>
          <a:xfrm rot="5390177">
            <a:off x="3492500" y="4121159"/>
            <a:ext cx="4445000" cy="12700"/>
          </a:xfrm>
          <a:prstGeom prst="straightConnector1">
            <a:avLst/>
          </a:prstGeom>
          <a:solidFill>
            <a:srgbClr val="DEE0E3">
              <a:alpha val="100000"/>
            </a:srgbClr>
          </a:solidFill>
          <a:ln w="12700" cap="flat" cmpd="sng">
            <a:solidFill>
              <a:srgbClr val="D4AF37">
                <a:alpha val="40000"/>
              </a:srgbClr>
            </a:solidFill>
            <a:prstDash val="solid"/>
            <a:round/>
            <a:headEnd type="none" w="med" len="med"/>
            <a:tailEnd type="none" w="med" len="med"/>
          </a:ln>
        </p:spPr>
      </p:cxnSp>
      <p:sp>
        <p:nvSpPr>
          <p:cNvPr id="7" name="AutoShape 7"/>
          <p:cNvSpPr/>
          <p:nvPr/>
        </p:nvSpPr>
        <p:spPr>
          <a:xfrm>
            <a:off x="6096000" y="1905000"/>
            <a:ext cx="5588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96000" y="1905000"/>
            <a:ext cx="76200" cy="1333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2095500"/>
            <a:ext cx="406400" cy="406400"/>
          </a:xfrm>
          <a:prstGeom prst="rect">
            <a:avLst/>
          </a:prstGeom>
        </p:spPr>
      </p:pic>
      <p:sp>
        <p:nvSpPr>
          <p:cNvPr id="10" name="AutoShape 10"/>
          <p:cNvSpPr/>
          <p:nvPr/>
        </p:nvSpPr>
        <p:spPr>
          <a:xfrm>
            <a:off x="6985000" y="2032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Technology Upgrade</a:t>
            </a:r>
            <a:endParaRPr lang="en-US" sz="1100"/>
          </a:p>
        </p:txBody>
      </p:sp>
      <p:sp>
        <p:nvSpPr>
          <p:cNvPr id="11" name="AutoShape 11"/>
          <p:cNvSpPr/>
          <p:nvPr/>
        </p:nvSpPr>
        <p:spPr>
          <a:xfrm>
            <a:off x="6350000" y="26035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Poppins"/>
                <a:ea typeface="Poppins"/>
                <a:cs typeface="Poppins"/>
                <a:sym typeface="Poppins"/>
              </a:rPr>
              <a:t>Invest in a Customer Data Platform (CDP) and Multi-Touch Attribution (MTA) tool to support granular, cross-channel analysis and optimize marketing spend allocation.</a:t>
            </a:r>
            <a:endParaRPr lang="en-US" sz="1100"/>
          </a:p>
        </p:txBody>
      </p:sp>
      <p:sp>
        <p:nvSpPr>
          <p:cNvPr id="12" name="AutoShape 12"/>
          <p:cNvSpPr/>
          <p:nvPr/>
        </p:nvSpPr>
        <p:spPr>
          <a:xfrm>
            <a:off x="6096000" y="3492500"/>
            <a:ext cx="5588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096000" y="3492500"/>
            <a:ext cx="76200" cy="1333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3683000"/>
            <a:ext cx="406400" cy="406400"/>
          </a:xfrm>
          <a:prstGeom prst="rect">
            <a:avLst/>
          </a:prstGeom>
        </p:spPr>
      </p:pic>
      <p:sp>
        <p:nvSpPr>
          <p:cNvPr id="15" name="AutoShape 15"/>
          <p:cNvSpPr/>
          <p:nvPr/>
        </p:nvSpPr>
        <p:spPr>
          <a:xfrm>
            <a:off x="6985000" y="3619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Testing Plan</a:t>
            </a:r>
            <a:endParaRPr lang="en-US" sz="1100"/>
          </a:p>
        </p:txBody>
      </p:sp>
      <p:sp>
        <p:nvSpPr>
          <p:cNvPr id="16" name="AutoShape 16"/>
          <p:cNvSpPr/>
          <p:nvPr/>
        </p:nvSpPr>
        <p:spPr>
          <a:xfrm>
            <a:off x="6350000" y="4191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Poppins"/>
                <a:ea typeface="Poppins"/>
                <a:cs typeface="Poppins"/>
                <a:sym typeface="Poppins"/>
              </a:rPr>
              <a:t>Establish a rigorous, ongoing Lift Test process to continuously validate the incremental value of each marketing channel and eliminate underperforming tactics.</a:t>
            </a:r>
            <a:endParaRPr lang="en-US" sz="1100"/>
          </a:p>
        </p:txBody>
      </p:sp>
      <p:sp>
        <p:nvSpPr>
          <p:cNvPr id="17" name="AutoShape 17"/>
          <p:cNvSpPr/>
          <p:nvPr/>
        </p:nvSpPr>
        <p:spPr>
          <a:xfrm>
            <a:off x="6096000" y="5080000"/>
            <a:ext cx="5588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096000" y="5080000"/>
            <a:ext cx="76200" cy="1333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5270500"/>
            <a:ext cx="406400" cy="406400"/>
          </a:xfrm>
          <a:prstGeom prst="rect">
            <a:avLst/>
          </a:prstGeom>
        </p:spPr>
      </p:pic>
      <p:sp>
        <p:nvSpPr>
          <p:cNvPr id="20" name="AutoShape 20"/>
          <p:cNvSpPr/>
          <p:nvPr/>
        </p:nvSpPr>
        <p:spPr>
          <a:xfrm>
            <a:off x="6985000" y="5207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Team Empowerment</a:t>
            </a:r>
            <a:endParaRPr lang="en-US" sz="1100"/>
          </a:p>
        </p:txBody>
      </p:sp>
      <p:sp>
        <p:nvSpPr>
          <p:cNvPr id="21" name="AutoShape 21"/>
          <p:cNvSpPr/>
          <p:nvPr/>
        </p:nvSpPr>
        <p:spPr>
          <a:xfrm>
            <a:off x="6350000" y="57785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Poppins"/>
                <a:ea typeface="Poppins"/>
                <a:cs typeface="Poppins"/>
                <a:sym typeface="Poppins"/>
              </a:rPr>
              <a:t>Provide specialized training on advanced attribution models and data analysis techniques to upskill the marketing team and foster a data-driven decision-making culture.</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90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D4AF37">
                    <a:alpha val="70196"/>
                  </a:srgbClr>
                </a:solidFill>
                <a:latin typeface="Poppins"/>
                <a:ea typeface="Poppins"/>
                <a:cs typeface="Poppins"/>
                <a:sym typeface="Poppins"/>
              </a:rPr>
              <a:t>05</a:t>
            </a:r>
            <a:endParaRPr lang="en-US" sz="1100"/>
          </a:p>
        </p:txBody>
      </p:sp>
      <p:sp>
        <p:nvSpPr>
          <p:cNvPr id="4" name="AutoShape 4"/>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Poppins"/>
                <a:ea typeface="Poppins"/>
                <a:cs typeface="Poppins"/>
                <a:sym typeface="Poppins"/>
              </a:rPr>
              <a:t>Consumer Persona</a:t>
            </a:r>
            <a:endParaRPr lang="en-US" sz="1100"/>
          </a:p>
        </p:txBody>
      </p:sp>
      <p:sp>
        <p:nvSpPr>
          <p:cNvPr id="5" name="AutoShape 5"/>
          <p:cNvSpPr/>
          <p:nvPr/>
        </p:nvSpPr>
        <p:spPr>
          <a:xfrm>
            <a:off x="5461000" y="5334000"/>
            <a:ext cx="1270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5715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400" b="0" i="0" u="none" strike="noStrike">
                <a:solidFill>
                  <a:srgbClr val="FFFFFF">
                    <a:alpha val="80000"/>
                  </a:srgbClr>
                </a:solidFill>
                <a:latin typeface="Poppins"/>
                <a:ea typeface="Poppins"/>
                <a:cs typeface="Poppins"/>
                <a:sym typeface="Poppins"/>
              </a:rPr>
              <a:t>Crafting detailed audience archetypes to foster deep empathy and precision in every strategic touchpoint.</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Persona 1: The Value-Driven Autonomist</a:t>
            </a:r>
            <a:endParaRPr lang="en-US" sz="1100"/>
          </a:p>
        </p:txBody>
      </p:sp>
      <p:pic>
        <p:nvPicPr>
          <p:cNvPr id="4" name="Picture 4"/>
          <p:cNvPicPr>
            <a:picLocks noChangeAspect="1"/>
          </p:cNvPicPr>
          <p:nvPr/>
        </p:nvPicPr>
        <p:blipFill>
          <a:blip r:embed="rId2"/>
          <a:srcRect l="7020" r="7020"/>
          <a:stretch>
            <a:fillRect/>
          </a:stretch>
        </p:blipFill>
        <p:spPr>
          <a:xfrm>
            <a:off x="762000" y="1651000"/>
            <a:ext cx="3556000" cy="3048000"/>
          </a:xfrm>
          <a:prstGeom prst="rect">
            <a:avLst/>
          </a:prstGeom>
          <a:noFill/>
          <a:ln w="25400" cap="flat" cmpd="sng">
            <a:noFill/>
            <a:prstDash val="solid"/>
            <a:round/>
          </a:ln>
        </p:spPr>
      </p:pic>
      <p:sp>
        <p:nvSpPr>
          <p:cNvPr id="5" name="AutoShape 5"/>
          <p:cNvSpPr/>
          <p:nvPr/>
        </p:nvSpPr>
        <p:spPr>
          <a:xfrm>
            <a:off x="762000" y="5080000"/>
            <a:ext cx="3556000" cy="1143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5080000"/>
            <a:ext cx="50800" cy="1143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5207000"/>
            <a:ext cx="3238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33333"/>
                </a:solidFill>
                <a:latin typeface="Poppins"/>
                <a:ea typeface="Poppins"/>
                <a:cs typeface="Poppins"/>
                <a:sym typeface="Poppins"/>
              </a:rPr>
              <a:t>Alex Chen, 32 | Product Manager (SF)</a:t>
            </a:r>
            <a:endParaRPr lang="en-US" sz="1100"/>
          </a:p>
          <a:p>
            <a:pPr marL="0" indent="0" algn="l">
              <a:lnSpc>
                <a:spcPct val="108000"/>
              </a:lnSpc>
            </a:pPr>
            <a:r>
              <a:rPr lang="en-US" sz="1300" b="0" i="0" u="none" strike="noStrike">
                <a:solidFill>
                  <a:srgbClr val="525252"/>
                </a:solidFill>
                <a:latin typeface="Poppins"/>
                <a:ea typeface="Poppins"/>
                <a:cs typeface="Poppins"/>
                <a:sym typeface="Poppins"/>
              </a:rPr>
              <a:t>$150k/year. Tech-savvy professional who prioritizes substance and authenticity over mainstream trends.</a:t>
            </a:r>
            <a:endParaRPr lang="en-US" sz="1300" b="0" i="0" u="none" strike="noStrike">
              <a:solidFill>
                <a:srgbClr val="525252"/>
              </a:solidFill>
              <a:latin typeface="Poppins"/>
              <a:ea typeface="Poppins"/>
              <a:cs typeface="Poppins"/>
              <a:sym typeface="Poppins"/>
            </a:endParaRPr>
          </a:p>
        </p:txBody>
      </p:sp>
      <p:cxnSp>
        <p:nvCxnSpPr>
          <p:cNvPr id="8" name="Connector 8"/>
          <p:cNvCxnSpPr/>
          <p:nvPr/>
        </p:nvCxnSpPr>
        <p:spPr>
          <a:xfrm rot="5390708">
            <a:off x="2476500" y="3994159"/>
            <a:ext cx="4699000" cy="12700"/>
          </a:xfrm>
          <a:prstGeom prst="straightConnector1">
            <a:avLst/>
          </a:prstGeom>
          <a:solidFill>
            <a:srgbClr val="DEE0E3">
              <a:alpha val="100000"/>
            </a:srgbClr>
          </a:solidFill>
          <a:ln w="12700" cap="flat" cmpd="sng">
            <a:solidFill>
              <a:srgbClr val="D4AF37">
                <a:alpha val="40000"/>
              </a:srgbClr>
            </a:solidFill>
            <a:prstDash val="dash"/>
            <a:round/>
            <a:headEnd type="none" w="med" len="med"/>
            <a:tailEnd type="none" w="med" len="med"/>
          </a:ln>
        </p:spPr>
      </p:cxnSp>
      <p:sp>
        <p:nvSpPr>
          <p:cNvPr id="9" name="AutoShape 9"/>
          <p:cNvSpPr/>
          <p:nvPr/>
        </p:nvSpPr>
        <p:spPr>
          <a:xfrm>
            <a:off x="5207000" y="1651000"/>
            <a:ext cx="6223000" cy="1460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500" y="1841500"/>
            <a:ext cx="304800" cy="304800"/>
          </a:xfrm>
          <a:prstGeom prst="rect">
            <a:avLst/>
          </a:prstGeom>
        </p:spPr>
      </p:pic>
      <p:sp>
        <p:nvSpPr>
          <p:cNvPr id="11" name="AutoShape 11"/>
          <p:cNvSpPr/>
          <p:nvPr/>
        </p:nvSpPr>
        <p:spPr>
          <a:xfrm>
            <a:off x="5842000" y="1803400"/>
            <a:ext cx="546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Lifestyle &amp; Consumption: "Less is More"</a:t>
            </a:r>
            <a:endParaRPr lang="en-US" sz="1100"/>
          </a:p>
          <a:p>
            <a:pPr marL="0" indent="0" algn="l">
              <a:lnSpc>
                <a:spcPct val="117000"/>
              </a:lnSpc>
            </a:pPr>
            <a:r>
              <a:rPr lang="en-US" sz="1300" b="0" i="0" u="none" strike="noStrike">
                <a:solidFill>
                  <a:srgbClr val="525252"/>
                </a:solidFill>
                <a:latin typeface="Poppins"/>
                <a:ea typeface="Poppins"/>
                <a:cs typeface="Poppins"/>
                <a:sym typeface="Poppins"/>
              </a:rPr>
              <a:t>Immune to traditional ads; lives on podcasts, Substack, and Reddit. Willing to pay premium for quality, sustainability, and unique design. Prioritizes brands with radical transparency and clear social responsibility.</a:t>
            </a:r>
            <a:endParaRPr lang="en-US" sz="1300" b="0" i="0" u="none" strike="noStrike">
              <a:solidFill>
                <a:srgbClr val="525252"/>
              </a:solidFill>
              <a:latin typeface="Poppins"/>
              <a:ea typeface="Poppins"/>
              <a:cs typeface="Poppins"/>
              <a:sym typeface="Poppins"/>
            </a:endParaRPr>
          </a:p>
        </p:txBody>
      </p:sp>
      <p:sp>
        <p:nvSpPr>
          <p:cNvPr id="12" name="AutoShape 12"/>
          <p:cNvSpPr/>
          <p:nvPr/>
        </p:nvSpPr>
        <p:spPr>
          <a:xfrm>
            <a:off x="5207000" y="3365500"/>
            <a:ext cx="6223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97500" y="3556000"/>
            <a:ext cx="304800" cy="304800"/>
          </a:xfrm>
          <a:prstGeom prst="rect">
            <a:avLst/>
          </a:prstGeom>
        </p:spPr>
      </p:pic>
      <p:sp>
        <p:nvSpPr>
          <p:cNvPr id="14" name="AutoShape 14"/>
          <p:cNvSpPr/>
          <p:nvPr/>
        </p:nvSpPr>
        <p:spPr>
          <a:xfrm>
            <a:off x="5842000" y="3517900"/>
            <a:ext cx="546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Poppins"/>
                <a:ea typeface="Poppins"/>
                <a:cs typeface="Poppins"/>
                <a:sym typeface="Poppins"/>
              </a:rPr>
              <a:t>Key Pain Points</a:t>
            </a:r>
            <a:endParaRPr lang="en-US" sz="1100"/>
          </a:p>
          <a:p>
            <a:pPr marL="0" indent="0" algn="l">
              <a:lnSpc>
                <a:spcPct val="117000"/>
              </a:lnSpc>
            </a:pPr>
            <a:r>
              <a:rPr lang="en-US" sz="1300" b="0" i="0" u="none" strike="noStrike">
                <a:solidFill>
                  <a:srgbClr val="525252"/>
                </a:solidFill>
                <a:latin typeface="Poppins"/>
                <a:ea typeface="Poppins"/>
                <a:cs typeface="Poppins"/>
                <a:sym typeface="Poppins"/>
              </a:rPr>
              <a:t>Suffers from severe information overload and a deep trust deficit in corporate messaging. Faces extreme time poverty, making it hard to research and discover new brands that align with his values.</a:t>
            </a:r>
            <a:endParaRPr lang="en-US" sz="1300" b="0" i="0" u="none" strike="noStrike">
              <a:solidFill>
                <a:srgbClr val="525252"/>
              </a:solidFill>
              <a:latin typeface="Poppins"/>
              <a:ea typeface="Poppins"/>
              <a:cs typeface="Poppins"/>
              <a:sym typeface="Poppins"/>
            </a:endParaRPr>
          </a:p>
        </p:txBody>
      </p:sp>
      <p:sp>
        <p:nvSpPr>
          <p:cNvPr id="15" name="AutoShape 15"/>
          <p:cNvSpPr/>
          <p:nvPr/>
        </p:nvSpPr>
        <p:spPr>
          <a:xfrm>
            <a:off x="5207000" y="5080000"/>
            <a:ext cx="2984500" cy="1333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97500" y="5232400"/>
            <a:ext cx="254000" cy="254000"/>
          </a:xfrm>
          <a:prstGeom prst="rect">
            <a:avLst/>
          </a:prstGeom>
        </p:spPr>
      </p:pic>
      <p:sp>
        <p:nvSpPr>
          <p:cNvPr id="17" name="AutoShape 17"/>
          <p:cNvSpPr/>
          <p:nvPr/>
        </p:nvSpPr>
        <p:spPr>
          <a:xfrm>
            <a:off x="5715000" y="5207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Poppins"/>
                <a:ea typeface="Poppins"/>
                <a:cs typeface="Poppins"/>
                <a:sym typeface="Poppins"/>
              </a:rPr>
              <a:t>High-Impact Channels</a:t>
            </a:r>
            <a:endParaRPr lang="en-US" sz="1100"/>
          </a:p>
          <a:p>
            <a:pPr marL="0" indent="0" algn="l">
              <a:lnSpc>
                <a:spcPct val="108000"/>
              </a:lnSpc>
            </a:pPr>
            <a:r>
              <a:rPr lang="en-US" sz="1200" b="0" i="0" u="none" strike="noStrike">
                <a:solidFill>
                  <a:srgbClr val="525252"/>
                </a:solidFill>
                <a:latin typeface="Poppins"/>
                <a:ea typeface="Poppins"/>
                <a:cs typeface="Poppins"/>
                <a:sym typeface="Poppins"/>
              </a:rPr>
              <a:t>Podcast founder interviews, authentic Reddit community recs, exclusive niche event invites.</a:t>
            </a:r>
            <a:endParaRPr lang="en-US" sz="1200" b="0" i="0" u="none" strike="noStrike">
              <a:solidFill>
                <a:srgbClr val="525252"/>
              </a:solidFill>
              <a:latin typeface="Poppins"/>
              <a:ea typeface="Poppins"/>
              <a:cs typeface="Poppins"/>
              <a:sym typeface="Poppins"/>
            </a:endParaRPr>
          </a:p>
        </p:txBody>
      </p:sp>
      <p:sp>
        <p:nvSpPr>
          <p:cNvPr id="18" name="AutoShape 18"/>
          <p:cNvSpPr/>
          <p:nvPr/>
        </p:nvSpPr>
        <p:spPr>
          <a:xfrm>
            <a:off x="8445500" y="5080000"/>
            <a:ext cx="2984500" cy="1333500"/>
          </a:xfrm>
          <a:prstGeom prst="roundRect">
            <a:avLst>
              <a:gd name="adj" fmla="val 0"/>
            </a:avLst>
          </a:prstGeom>
          <a:solidFill>
            <a:srgbClr val="969696">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36000" y="5232400"/>
            <a:ext cx="254000" cy="254000"/>
          </a:xfrm>
          <a:prstGeom prst="rect">
            <a:avLst/>
          </a:prstGeom>
        </p:spPr>
      </p:pic>
      <p:sp>
        <p:nvSpPr>
          <p:cNvPr id="20" name="AutoShape 20"/>
          <p:cNvSpPr/>
          <p:nvPr/>
        </p:nvSpPr>
        <p:spPr>
          <a:xfrm>
            <a:off x="8953500" y="5207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525252"/>
                </a:solidFill>
                <a:latin typeface="Poppins"/>
                <a:ea typeface="Poppins"/>
                <a:cs typeface="Poppins"/>
                <a:sym typeface="Poppins"/>
              </a:rPr>
              <a:t>Wasted Efforts</a:t>
            </a:r>
            <a:endParaRPr lang="en-US" sz="1100"/>
          </a:p>
          <a:p>
            <a:pPr marL="0" indent="0" algn="l">
              <a:lnSpc>
                <a:spcPct val="108000"/>
              </a:lnSpc>
            </a:pPr>
            <a:r>
              <a:rPr lang="en-US" sz="1200" b="0" i="0" u="none" strike="noStrike">
                <a:solidFill>
                  <a:srgbClr val="646464"/>
                </a:solidFill>
                <a:latin typeface="Poppins"/>
                <a:ea typeface="Poppins"/>
                <a:cs typeface="Poppins"/>
                <a:sym typeface="Poppins"/>
              </a:rPr>
              <a:t>Generic social media ads, mass promotional email blasts, and overly polished, inauthentic brand content.</a:t>
            </a:r>
            <a:endParaRPr lang="en-US" sz="1200" b="0" i="0" u="none" strike="noStrike">
              <a:solidFill>
                <a:srgbClr val="646464"/>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Persona 2: The Experience-Oriented Luminary</a:t>
            </a:r>
            <a:endParaRPr lang="en-US" sz="1100"/>
          </a:p>
        </p:txBody>
      </p:sp>
      <p:sp>
        <p:nvSpPr>
          <p:cNvPr id="4" name="AutoShape 4"/>
          <p:cNvSpPr/>
          <p:nvPr/>
        </p:nvSpPr>
        <p:spPr>
          <a:xfrm>
            <a:off x="6858000" y="1651000"/>
            <a:ext cx="12700" cy="4445000"/>
          </a:xfrm>
          <a:prstGeom prst="roundRect">
            <a:avLst>
              <a:gd name="adj" fmla="val 0"/>
            </a:avLst>
          </a:prstGeom>
          <a:solidFill>
            <a:srgbClr val="D4AF37">
              <a:alpha val="4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5880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651000"/>
            <a:ext cx="50800" cy="1143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1752600"/>
            <a:ext cx="5207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D4AF37"/>
                </a:solidFill>
                <a:latin typeface="Poppins"/>
                <a:ea typeface="Poppins"/>
                <a:cs typeface="Poppins"/>
                <a:sym typeface="Poppins"/>
              </a:rPr>
              <a:t>MARGARET REYNOLDS · 68, RETIRED FINANCIAL ADVISOR</a:t>
            </a:r>
            <a:endParaRPr lang="en-US" sz="1100"/>
          </a:p>
          <a:p>
            <a:pPr marL="0" indent="0" algn="l">
              <a:lnSpc>
                <a:spcPct val="117000"/>
              </a:lnSpc>
            </a:pPr>
            <a:r>
              <a:rPr lang="en-US" sz="1300" b="0" i="0" u="none" strike="noStrike">
                <a:solidFill>
                  <a:srgbClr val="525252"/>
                </a:solidFill>
                <a:latin typeface="Poppins"/>
                <a:ea typeface="Poppins"/>
                <a:cs typeface="Poppins"/>
                <a:sym typeface="Poppins"/>
              </a:rPr>
              <a:t>A high-net-worth resident of Palm Beach, Margaret embodies quiet luxury. She trusts personal connections over algorithms and curates her life with intention, seeking depth in every interaction.</a:t>
            </a:r>
            <a:endParaRPr lang="en-US" sz="1300" b="0" i="0" u="none" strike="noStrike">
              <a:solidFill>
                <a:srgbClr val="525252"/>
              </a:solidFill>
              <a:latin typeface="Poppins"/>
              <a:ea typeface="Poppins"/>
              <a:cs typeface="Poppins"/>
              <a:sym typeface="Poppins"/>
            </a:endParaRPr>
          </a:p>
        </p:txBody>
      </p:sp>
      <p:sp>
        <p:nvSpPr>
          <p:cNvPr id="8" name="AutoShape 8"/>
          <p:cNvSpPr/>
          <p:nvPr/>
        </p:nvSpPr>
        <p:spPr>
          <a:xfrm>
            <a:off x="762000" y="3175000"/>
            <a:ext cx="2730500" cy="177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3327400"/>
            <a:ext cx="304800" cy="304800"/>
          </a:xfrm>
          <a:prstGeom prst="rect">
            <a:avLst/>
          </a:prstGeom>
        </p:spPr>
      </p:pic>
      <p:sp>
        <p:nvSpPr>
          <p:cNvPr id="10" name="AutoShape 10"/>
          <p:cNvSpPr/>
          <p:nvPr/>
        </p:nvSpPr>
        <p:spPr>
          <a:xfrm>
            <a:off x="1333500" y="3302000"/>
            <a:ext cx="203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Poppins"/>
                <a:ea typeface="Poppins"/>
                <a:cs typeface="Poppins"/>
                <a:sym typeface="Poppins"/>
              </a:rPr>
              <a:t>CURATED LIFESTYLE</a:t>
            </a:r>
            <a:endParaRPr lang="en-US" sz="1100"/>
          </a:p>
        </p:txBody>
      </p:sp>
      <p:cxnSp>
        <p:nvCxnSpPr>
          <p:cNvPr id="11" name="Connector 11"/>
          <p:cNvCxnSpPr/>
          <p:nvPr/>
        </p:nvCxnSpPr>
        <p:spPr>
          <a:xfrm rot="-17812">
            <a:off x="914416" y="3803650"/>
            <a:ext cx="24511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12" name="AutoShape 12"/>
          <p:cNvSpPr/>
          <p:nvPr/>
        </p:nvSpPr>
        <p:spPr>
          <a:xfrm>
            <a:off x="914400" y="3937000"/>
            <a:ext cx="247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25252"/>
                </a:solidFill>
                <a:latin typeface="Poppins"/>
                <a:ea typeface="Poppins"/>
                <a:cs typeface="Poppins"/>
                <a:sym typeface="Poppins"/>
              </a:rPr>
              <a:t>Avid reader of Monocle, regular at exclusive offline tastings, and deeply reliant on trusted personal recommendations from her inner circle.</a:t>
            </a:r>
            <a:endParaRPr lang="en-US" sz="1100"/>
          </a:p>
        </p:txBody>
      </p:sp>
      <p:sp>
        <p:nvSpPr>
          <p:cNvPr id="13" name="AutoShape 13"/>
          <p:cNvSpPr/>
          <p:nvPr/>
        </p:nvSpPr>
        <p:spPr>
          <a:xfrm>
            <a:off x="3619500" y="3175000"/>
            <a:ext cx="2730500" cy="177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1900" y="3327400"/>
            <a:ext cx="304800" cy="304800"/>
          </a:xfrm>
          <a:prstGeom prst="rect">
            <a:avLst/>
          </a:prstGeom>
        </p:spPr>
      </p:pic>
      <p:sp>
        <p:nvSpPr>
          <p:cNvPr id="15" name="AutoShape 15"/>
          <p:cNvSpPr/>
          <p:nvPr/>
        </p:nvSpPr>
        <p:spPr>
          <a:xfrm>
            <a:off x="4191000" y="3302000"/>
            <a:ext cx="203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Poppins"/>
                <a:ea typeface="Poppins"/>
                <a:cs typeface="Poppins"/>
                <a:sym typeface="Poppins"/>
              </a:rPr>
              <a:t>INVESTMENT IN LIVING</a:t>
            </a:r>
            <a:endParaRPr lang="en-US" sz="1100"/>
          </a:p>
        </p:txBody>
      </p:sp>
      <p:cxnSp>
        <p:nvCxnSpPr>
          <p:cNvPr id="16" name="Connector 16"/>
          <p:cNvCxnSpPr/>
          <p:nvPr/>
        </p:nvCxnSpPr>
        <p:spPr>
          <a:xfrm rot="-17812">
            <a:off x="3771916" y="3803650"/>
            <a:ext cx="2451100" cy="12700"/>
          </a:xfrm>
          <a:prstGeom prst="straightConnector1">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17" name="AutoShape 17"/>
          <p:cNvSpPr/>
          <p:nvPr/>
        </p:nvSpPr>
        <p:spPr>
          <a:xfrm>
            <a:off x="3771900" y="3937000"/>
            <a:ext cx="247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25252"/>
                </a:solidFill>
                <a:latin typeface="Poppins"/>
                <a:ea typeface="Poppins"/>
                <a:cs typeface="Poppins"/>
                <a:sym typeface="Poppins"/>
              </a:rPr>
              <a:t>Views consumption as an investment in quality of life. Seeks bespoke, one-of-a-kind services and scarce experiences, prioritizing brand heritage and master craftsmanship.</a:t>
            </a:r>
            <a:endParaRPr lang="en-US" sz="1100"/>
          </a:p>
        </p:txBody>
      </p:sp>
      <p:sp>
        <p:nvSpPr>
          <p:cNvPr id="18" name="AutoShape 18"/>
          <p:cNvSpPr/>
          <p:nvPr/>
        </p:nvSpPr>
        <p:spPr>
          <a:xfrm>
            <a:off x="762000" y="5207000"/>
            <a:ext cx="5588000" cy="1206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5207000"/>
            <a:ext cx="5588000" cy="127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89000" y="53340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Poppins"/>
                <a:ea typeface="Poppins"/>
                <a:cs typeface="Poppins"/>
                <a:sym typeface="Poppins"/>
              </a:rPr>
              <a:t>PAIN POINTS</a:t>
            </a:r>
            <a:endParaRPr lang="en-US" sz="1100"/>
          </a:p>
          <a:p>
            <a:pPr marL="0" indent="0" algn="l">
              <a:lnSpc>
                <a:spcPct val="108000"/>
              </a:lnSpc>
            </a:pPr>
            <a:r>
              <a:rPr lang="en-US" sz="1200" b="0" i="0" u="none" strike="noStrike">
                <a:solidFill>
                  <a:srgbClr val="525252"/>
                </a:solidFill>
                <a:latin typeface="Poppins"/>
                <a:ea typeface="Poppins"/>
                <a:cs typeface="Poppins"/>
                <a:sym typeface="Poppins"/>
              </a:rPr>
              <a:t>Tech anxiety, frustration with "mass exclusivity," and a craving for professional, tailored advice that understands her unique needs.</a:t>
            </a:r>
            <a:endParaRPr lang="en-US" sz="1200" b="0" i="0" u="none" strike="noStrike">
              <a:solidFill>
                <a:srgbClr val="525252"/>
              </a:solidFill>
              <a:latin typeface="Poppins"/>
              <a:ea typeface="Poppins"/>
              <a:cs typeface="Poppins"/>
              <a:sym typeface="Poppins"/>
            </a:endParaRPr>
          </a:p>
        </p:txBody>
      </p:sp>
      <p:cxnSp>
        <p:nvCxnSpPr>
          <p:cNvPr id="21" name="Connector 21"/>
          <p:cNvCxnSpPr/>
          <p:nvPr/>
        </p:nvCxnSpPr>
        <p:spPr>
          <a:xfrm rot="5347115">
            <a:off x="3143250" y="5803949"/>
            <a:ext cx="825500" cy="12700"/>
          </a:xfrm>
          <a:prstGeom prst="straightConnector1">
            <a:avLst/>
          </a:prstGeom>
          <a:solidFill>
            <a:srgbClr val="DEE0E3">
              <a:alpha val="100000"/>
            </a:srgbClr>
          </a:solidFill>
          <a:ln w="12700" cap="flat" cmpd="sng">
            <a:solidFill>
              <a:srgbClr val="D4AF37">
                <a:alpha val="30000"/>
              </a:srgbClr>
            </a:solidFill>
            <a:prstDash val="solid"/>
            <a:round/>
            <a:headEnd type="none" w="med" len="med"/>
            <a:tailEnd type="none" w="med" len="med"/>
          </a:ln>
        </p:spPr>
      </p:cxnSp>
      <p:sp>
        <p:nvSpPr>
          <p:cNvPr id="22" name="AutoShape 22"/>
          <p:cNvSpPr/>
          <p:nvPr/>
        </p:nvSpPr>
        <p:spPr>
          <a:xfrm>
            <a:off x="3683000" y="53340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Poppins"/>
                <a:ea typeface="Poppins"/>
                <a:cs typeface="Poppins"/>
                <a:sym typeface="Poppins"/>
              </a:rPr>
              <a:t>HIGH-TOUCH STRATEGY</a:t>
            </a:r>
            <a:endParaRPr lang="en-US" sz="1100"/>
          </a:p>
          <a:p>
            <a:pPr marL="0" indent="0" algn="l">
              <a:lnSpc>
                <a:spcPct val="108000"/>
              </a:lnSpc>
            </a:pPr>
            <a:r>
              <a:rPr lang="en-US" sz="1200" b="0" i="0" u="none" strike="noStrike">
                <a:solidFill>
                  <a:srgbClr val="525252"/>
                </a:solidFill>
                <a:latin typeface="Poppins"/>
                <a:ea typeface="Poppins"/>
                <a:cs typeface="Poppins"/>
                <a:sym typeface="Poppins"/>
              </a:rPr>
              <a:t>Success lies in personal advisor calls, handwritten notes, and exclusive previews. Avoid impersonal SMS or overly complex digital interactions.</a:t>
            </a:r>
            <a:endParaRPr lang="en-US" sz="1200" b="0" i="0" u="none" strike="noStrike">
              <a:solidFill>
                <a:srgbClr val="525252"/>
              </a:solidFill>
              <a:latin typeface="Poppins"/>
              <a:ea typeface="Poppins"/>
              <a:cs typeface="Poppins"/>
              <a:sym typeface="Poppins"/>
            </a:endParaRPr>
          </a:p>
        </p:txBody>
      </p:sp>
      <p:pic>
        <p:nvPicPr>
          <p:cNvPr id="23" name="Picture 23"/>
          <p:cNvPicPr>
            <a:picLocks noChangeAspect="1"/>
          </p:cNvPicPr>
          <p:nvPr/>
        </p:nvPicPr>
        <p:blipFill>
          <a:blip r:embed="rId6"/>
          <a:srcRect t="7" b="7"/>
          <a:stretch>
            <a:fillRect/>
          </a:stretch>
        </p:blipFill>
        <p:spPr>
          <a:xfrm>
            <a:off x="7239000" y="1651000"/>
            <a:ext cx="4191000" cy="2794000"/>
          </a:xfrm>
          <a:prstGeom prst="rect">
            <a:avLst/>
          </a:prstGeom>
          <a:noFill/>
          <a:ln w="12700" cap="flat" cmpd="sng">
            <a:solidFill>
              <a:srgbClr val="D4AF37">
                <a:alpha val="60000"/>
              </a:srgbClr>
            </a:solidFill>
            <a:prstDash val="solid"/>
            <a:round/>
          </a:ln>
        </p:spPr>
      </p:pic>
      <p:sp>
        <p:nvSpPr>
          <p:cNvPr id="24" name="AutoShape 24"/>
          <p:cNvSpPr/>
          <p:nvPr/>
        </p:nvSpPr>
        <p:spPr>
          <a:xfrm>
            <a:off x="7239000" y="4699000"/>
            <a:ext cx="4191000" cy="1714500"/>
          </a:xfrm>
          <a:prstGeom prst="roundRect">
            <a:avLst>
              <a:gd name="adj" fmla="val 0"/>
            </a:avLst>
          </a:prstGeom>
          <a:solidFill>
            <a:srgbClr val="333333">
              <a:alpha val="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239000" y="4699000"/>
            <a:ext cx="38100" cy="1714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7429500" y="4826000"/>
            <a:ext cx="3873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1" u="none" strike="noStrike">
                <a:solidFill>
                  <a:srgbClr val="3C3C3C"/>
                </a:solidFill>
                <a:latin typeface="Poppins"/>
                <a:ea typeface="Poppins"/>
                <a:cs typeface="Poppins"/>
                <a:sym typeface="Poppins"/>
              </a:rPr>
              <a:t>"I don’t buy things; I invest in moments that matter. If a brand can’t take the time to know me, to offer something truly rare and personal, then it’s not worth my attention."</a:t>
            </a:r>
            <a:endParaRPr lang="en-US" sz="1100"/>
          </a:p>
          <a:p>
            <a:pPr marL="0" indent="0" algn="r">
              <a:lnSpc>
                <a:spcPct val="125000"/>
              </a:lnSpc>
            </a:pPr>
            <a:r>
              <a:rPr lang="en-US" sz="1300" b="1" i="0" u="none" strike="noStrike">
                <a:solidFill>
                  <a:srgbClr val="D4AF37"/>
                </a:solidFill>
                <a:latin typeface="Poppins"/>
                <a:ea typeface="Poppins"/>
                <a:cs typeface="Poppins"/>
                <a:sym typeface="Poppins"/>
              </a:rPr>
              <a:t>— MARGARET REYNOLDS</a:t>
            </a:r>
            <a:endParaRPr lang="en-US" sz="1300" b="1" i="0" u="none" strike="noStrike">
              <a:solidFill>
                <a:srgbClr val="D4AF37"/>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159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D4AF37">
                    <a:alpha val="60000"/>
                  </a:srgbClr>
                </a:solidFill>
                <a:latin typeface="Poppins"/>
                <a:ea typeface="Poppins"/>
                <a:cs typeface="Poppins"/>
                <a:sym typeface="Poppins"/>
              </a:rPr>
              <a:t>06</a:t>
            </a:r>
            <a:endParaRPr lang="en-US" sz="1100"/>
          </a:p>
        </p:txBody>
      </p:sp>
      <p:sp>
        <p:nvSpPr>
          <p:cNvPr id="4" name="AutoShape 4"/>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Poppins"/>
                <a:ea typeface="Poppins"/>
                <a:cs typeface="Poppins"/>
                <a:sym typeface="Poppins"/>
              </a:rPr>
              <a:t>E-commerce Promotion Plan</a:t>
            </a:r>
            <a:endParaRPr lang="en-US" sz="1100"/>
          </a:p>
        </p:txBody>
      </p:sp>
      <p:sp>
        <p:nvSpPr>
          <p:cNvPr id="5" name="AutoShape 5"/>
          <p:cNvSpPr/>
          <p:nvPr/>
        </p:nvSpPr>
        <p:spPr>
          <a:xfrm>
            <a:off x="5588000" y="5461000"/>
            <a:ext cx="1016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400" b="0" i="0" u="none" strike="noStrike">
                <a:solidFill>
                  <a:srgbClr val="FFFFFF">
                    <a:alpha val="70196"/>
                  </a:srgbClr>
                </a:solidFill>
                <a:latin typeface="Poppins"/>
                <a:ea typeface="Poppins"/>
                <a:cs typeface="Poppins"/>
                <a:sym typeface="Poppins"/>
              </a:rPr>
              <a:t>A tactical playbook merging urgency, belonging, and personalization to craft a multi-layered promotional matrix for maximum sales impact.</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Goals &amp; Core Strategy</a:t>
            </a:r>
            <a:endParaRPr lang="en-US" sz="1100"/>
          </a:p>
        </p:txBody>
      </p:sp>
      <p:cxnSp>
        <p:nvCxnSpPr>
          <p:cNvPr id="4" name="Connector 4"/>
          <p:cNvCxnSpPr/>
          <p:nvPr/>
        </p:nvCxnSpPr>
        <p:spPr>
          <a:xfrm rot="5389257">
            <a:off x="4064000" y="3803660"/>
            <a:ext cx="4064000" cy="12700"/>
          </a:xfrm>
          <a:prstGeom prst="straightConnector1">
            <a:avLst/>
          </a:prstGeom>
          <a:solidFill>
            <a:srgbClr val="DEE0E3">
              <a:alpha val="100000"/>
            </a:srgbClr>
          </a:solidFill>
          <a:ln w="12700" cap="flat" cmpd="sng">
            <a:solidFill>
              <a:srgbClr val="D4AF37">
                <a:alpha val="40000"/>
              </a:srgbClr>
            </a:solidFill>
            <a:prstDash val="solid"/>
            <a:round/>
            <a:headEnd type="none" w="med" len="med"/>
            <a:tailEnd type="none" w="med" len="med"/>
          </a:ln>
        </p:spPr>
      </p:cxnSp>
      <p:sp>
        <p:nvSpPr>
          <p:cNvPr id="5" name="AutoShape 5"/>
          <p:cNvSpPr/>
          <p:nvPr/>
        </p:nvSpPr>
        <p:spPr>
          <a:xfrm>
            <a:off x="762000" y="1905000"/>
            <a:ext cx="4953000" cy="1841500"/>
          </a:xfrm>
          <a:prstGeom prst="roundRect">
            <a:avLst>
              <a:gd name="adj" fmla="val 0"/>
            </a:avLst>
          </a:prstGeom>
          <a:solidFill>
            <a:srgbClr val="FFFFFF">
              <a:alpha val="60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609600" cy="609600"/>
          </a:xfrm>
          <a:prstGeom prst="rect">
            <a:avLst/>
          </a:prstGeom>
        </p:spPr>
      </p:pic>
      <p:sp>
        <p:nvSpPr>
          <p:cNvPr id="7" name="AutoShape 7"/>
          <p:cNvSpPr/>
          <p:nvPr/>
        </p:nvSpPr>
        <p:spPr>
          <a:xfrm>
            <a:off x="1905000" y="2095500"/>
            <a:ext cx="355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D4AF37"/>
                </a:solidFill>
                <a:latin typeface="Poppins"/>
                <a:ea typeface="Poppins"/>
                <a:cs typeface="Poppins"/>
                <a:sym typeface="Poppins"/>
              </a:rPr>
              <a:t>50%</a:t>
            </a:r>
            <a:r>
              <a:rPr lang="en-US" sz="1800" b="1" i="0" u="none" strike="noStrike">
                <a:solidFill>
                  <a:srgbClr val="333333"/>
                </a:solidFill>
                <a:latin typeface="Poppins"/>
                <a:ea typeface="Poppins"/>
                <a:cs typeface="Poppins"/>
                <a:sym typeface="Poppins"/>
              </a:rPr>
              <a:t>Sales Growth</a:t>
            </a:r>
            <a:endParaRPr lang="en-US" sz="1100"/>
          </a:p>
        </p:txBody>
      </p:sp>
      <p:cxnSp>
        <p:nvCxnSpPr>
          <p:cNvPr id="8" name="Connector 8"/>
          <p:cNvCxnSpPr/>
          <p:nvPr/>
        </p:nvCxnSpPr>
        <p:spPr>
          <a:xfrm rot="-9822">
            <a:off x="1016009" y="3041650"/>
            <a:ext cx="4445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9" name="AutoShape 9"/>
          <p:cNvSpPr/>
          <p:nvPr/>
        </p:nvSpPr>
        <p:spPr>
          <a:xfrm>
            <a:off x="1016000" y="31750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Poppins"/>
                <a:ea typeface="Poppins"/>
                <a:cs typeface="Poppins"/>
                <a:sym typeface="Poppins"/>
              </a:rPr>
              <a:t>Achieve a substantial 50% increase in quarterly sales volume for Q4, driven by targeted promotional tactics and optimized customer engagement.</a:t>
            </a:r>
            <a:endParaRPr lang="en-US" sz="1100"/>
          </a:p>
        </p:txBody>
      </p:sp>
      <p:sp>
        <p:nvSpPr>
          <p:cNvPr id="10" name="AutoShape 10"/>
          <p:cNvSpPr/>
          <p:nvPr/>
        </p:nvSpPr>
        <p:spPr>
          <a:xfrm>
            <a:off x="762000" y="4191000"/>
            <a:ext cx="4953000" cy="1841500"/>
          </a:xfrm>
          <a:prstGeom prst="roundRect">
            <a:avLst>
              <a:gd name="adj" fmla="val 0"/>
            </a:avLst>
          </a:prstGeom>
          <a:solidFill>
            <a:srgbClr val="FFFFFF">
              <a:alpha val="60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445000"/>
            <a:ext cx="609600" cy="609600"/>
          </a:xfrm>
          <a:prstGeom prst="rect">
            <a:avLst/>
          </a:prstGeom>
        </p:spPr>
      </p:pic>
      <p:sp>
        <p:nvSpPr>
          <p:cNvPr id="12" name="AutoShape 12"/>
          <p:cNvSpPr/>
          <p:nvPr/>
        </p:nvSpPr>
        <p:spPr>
          <a:xfrm>
            <a:off x="1905000" y="4381500"/>
            <a:ext cx="355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D4AF37"/>
                </a:solidFill>
                <a:latin typeface="Poppins"/>
                <a:ea typeface="Poppins"/>
                <a:cs typeface="Poppins"/>
                <a:sym typeface="Poppins"/>
              </a:rPr>
              <a:t>40%</a:t>
            </a:r>
            <a:r>
              <a:rPr lang="en-US" sz="1800" b="1" i="0" u="none" strike="noStrike">
                <a:solidFill>
                  <a:srgbClr val="333333"/>
                </a:solidFill>
                <a:latin typeface="Poppins"/>
                <a:ea typeface="Poppins"/>
                <a:cs typeface="Poppins"/>
                <a:sym typeface="Poppins"/>
              </a:rPr>
              <a:t>New Customer Share</a:t>
            </a:r>
            <a:endParaRPr lang="en-US" sz="1100"/>
          </a:p>
        </p:txBody>
      </p:sp>
      <p:cxnSp>
        <p:nvCxnSpPr>
          <p:cNvPr id="13" name="Connector 13"/>
          <p:cNvCxnSpPr/>
          <p:nvPr/>
        </p:nvCxnSpPr>
        <p:spPr>
          <a:xfrm rot="-9822">
            <a:off x="1016009" y="5327650"/>
            <a:ext cx="4445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4" name="AutoShape 14"/>
          <p:cNvSpPr/>
          <p:nvPr/>
        </p:nvSpPr>
        <p:spPr>
          <a:xfrm>
            <a:off x="1016000" y="54610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Poppins"/>
                <a:ea typeface="Poppins"/>
                <a:cs typeface="Poppins"/>
                <a:sym typeface="Poppins"/>
              </a:rPr>
              <a:t>Expand market reach by increasing the share of new customers to 40%, focusing on untapped demographics and high-potential audience segments.</a:t>
            </a:r>
            <a:endParaRPr lang="en-US" sz="1100"/>
          </a:p>
        </p:txBody>
      </p:sp>
      <p:sp>
        <p:nvSpPr>
          <p:cNvPr id="15" name="AutoShape 15"/>
          <p:cNvSpPr/>
          <p:nvPr/>
        </p:nvSpPr>
        <p:spPr>
          <a:xfrm>
            <a:off x="6477000" y="1905000"/>
            <a:ext cx="4953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1905000"/>
            <a:ext cx="76200" cy="1206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4500" y="2095500"/>
            <a:ext cx="457200" cy="457200"/>
          </a:xfrm>
          <a:prstGeom prst="rect">
            <a:avLst/>
          </a:prstGeom>
        </p:spPr>
      </p:pic>
      <p:sp>
        <p:nvSpPr>
          <p:cNvPr id="18" name="AutoShape 18"/>
          <p:cNvSpPr/>
          <p:nvPr/>
        </p:nvSpPr>
        <p:spPr>
          <a:xfrm>
            <a:off x="7493000" y="2032000"/>
            <a:ext cx="381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Urgency &amp; FOMO</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Create a compelling fear of missing out with limited-time exclusive offers and flash promotions, motivating immediate purchase decisions from potential buyers.</a:t>
            </a:r>
            <a:endParaRPr lang="en-US" sz="1300" b="0" i="0" u="none" strike="noStrike">
              <a:solidFill>
                <a:srgbClr val="555555"/>
              </a:solidFill>
              <a:latin typeface="Poppins"/>
              <a:ea typeface="Poppins"/>
              <a:cs typeface="Poppins"/>
              <a:sym typeface="Poppins"/>
            </a:endParaRPr>
          </a:p>
        </p:txBody>
      </p:sp>
      <p:sp>
        <p:nvSpPr>
          <p:cNvPr id="19" name="AutoShape 19"/>
          <p:cNvSpPr/>
          <p:nvPr/>
        </p:nvSpPr>
        <p:spPr>
          <a:xfrm>
            <a:off x="6477000" y="3429000"/>
            <a:ext cx="4953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477000" y="3429000"/>
            <a:ext cx="76200" cy="1206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94500" y="3619500"/>
            <a:ext cx="457200" cy="457200"/>
          </a:xfrm>
          <a:prstGeom prst="rect">
            <a:avLst/>
          </a:prstGeom>
        </p:spPr>
      </p:pic>
      <p:sp>
        <p:nvSpPr>
          <p:cNvPr id="22" name="AutoShape 22"/>
          <p:cNvSpPr/>
          <p:nvPr/>
        </p:nvSpPr>
        <p:spPr>
          <a:xfrm>
            <a:off x="7493000" y="3556000"/>
            <a:ext cx="381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Sense of Belonging</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Reward customer loyalty with exclusive perks and foster a strong community spirit, encouraging long-term engagement and advocacy among our core audience.</a:t>
            </a:r>
            <a:endParaRPr lang="en-US" sz="1300" b="0" i="0" u="none" strike="noStrike">
              <a:solidFill>
                <a:srgbClr val="555555"/>
              </a:solidFill>
              <a:latin typeface="Poppins"/>
              <a:ea typeface="Poppins"/>
              <a:cs typeface="Poppins"/>
              <a:sym typeface="Poppins"/>
            </a:endParaRPr>
          </a:p>
        </p:txBody>
      </p:sp>
      <p:sp>
        <p:nvSpPr>
          <p:cNvPr id="23" name="AutoShape 23"/>
          <p:cNvSpPr/>
          <p:nvPr/>
        </p:nvSpPr>
        <p:spPr>
          <a:xfrm>
            <a:off x="6477000" y="4953000"/>
            <a:ext cx="4953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77000" y="4953000"/>
            <a:ext cx="76200" cy="1206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94500" y="5143500"/>
            <a:ext cx="457200" cy="457200"/>
          </a:xfrm>
          <a:prstGeom prst="rect">
            <a:avLst/>
          </a:prstGeom>
        </p:spPr>
      </p:pic>
      <p:sp>
        <p:nvSpPr>
          <p:cNvPr id="26" name="AutoShape 26"/>
          <p:cNvSpPr/>
          <p:nvPr/>
        </p:nvSpPr>
        <p:spPr>
          <a:xfrm>
            <a:off x="7493000" y="5080000"/>
            <a:ext cx="381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Hyper-Personalization</a:t>
            </a:r>
            <a:endParaRPr lang="en-US" sz="1100"/>
          </a:p>
          <a:p>
            <a:pPr marL="0" indent="0" algn="l">
              <a:lnSpc>
                <a:spcPct val="117000"/>
              </a:lnSpc>
            </a:pPr>
            <a:r>
              <a:rPr lang="en-US" sz="1300" b="0" i="0" u="none" strike="noStrike">
                <a:solidFill>
                  <a:srgbClr val="555555"/>
                </a:solidFill>
                <a:latin typeface="Poppins"/>
                <a:ea typeface="Poppins"/>
                <a:cs typeface="Poppins"/>
                <a:sym typeface="Poppins"/>
              </a:rPr>
              <a:t>Deliver tailored offers and curated experiences to specific customer segments, ensuring relevance and resonance for maximum conversion and satisfaction.</a:t>
            </a:r>
            <a:endParaRPr lang="en-US" sz="1300" b="0" i="0" u="none" strike="noStrike">
              <a:solidFill>
                <a:srgbClr val="555555"/>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Promotion Matrix</a:t>
            </a:r>
            <a:endParaRPr lang="en-US" sz="1100"/>
          </a:p>
        </p:txBody>
      </p:sp>
      <p:sp>
        <p:nvSpPr>
          <p:cNvPr id="4" name="AutoShape 4"/>
          <p:cNvSpPr/>
          <p:nvPr/>
        </p:nvSpPr>
        <p:spPr>
          <a:xfrm>
            <a:off x="762000" y="1651000"/>
            <a:ext cx="3467100" cy="1968500"/>
          </a:xfrm>
          <a:prstGeom prst="roundRect">
            <a:avLst>
              <a:gd name="adj" fmla="val 0"/>
            </a:avLst>
          </a:prstGeom>
          <a:solidFill>
            <a:srgbClr val="FFFFFF">
              <a:alpha val="7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671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861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01. Flash Sales</a:t>
            </a:r>
            <a:endParaRPr lang="en-US" sz="1100"/>
          </a:p>
        </p:txBody>
      </p:sp>
      <p:cxnSp>
        <p:nvCxnSpPr>
          <p:cNvPr id="7" name="Connector 7"/>
          <p:cNvCxnSpPr/>
          <p:nvPr/>
        </p:nvCxnSpPr>
        <p:spPr>
          <a:xfrm rot="-14147">
            <a:off x="952513" y="2279650"/>
            <a:ext cx="30861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8" name="AutoShape 8"/>
          <p:cNvSpPr/>
          <p:nvPr/>
        </p:nvSpPr>
        <p:spPr>
          <a:xfrm>
            <a:off x="952500" y="241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D4AF37"/>
                </a:solidFill>
                <a:latin typeface="Noto Sans SC"/>
                <a:ea typeface="Noto Sans SC"/>
                <a:cs typeface="Noto Sans SC"/>
                <a:sym typeface="Noto Sans SC"/>
              </a:rPr>
              <a:t>Target:</a:t>
            </a:r>
            <a:r>
              <a:rPr lang="en-US" sz="1200" b="0" i="0" u="none" strike="noStrike">
                <a:solidFill>
                  <a:srgbClr val="525252"/>
                </a:solidFill>
                <a:latin typeface="Noto Sans SC"/>
                <a:ea typeface="Noto Sans SC"/>
                <a:cs typeface="Noto Sans SC"/>
                <a:sym typeface="Noto Sans SC"/>
              </a:rPr>
              <a:t>Price-sensitive, impulse buyers seeking immediate gratification.</a:t>
            </a:r>
            <a:endParaRPr lang="en-US" sz="1100"/>
          </a:p>
          <a:p>
            <a:pPr marL="0" indent="0" algn="l">
              <a:lnSpc>
                <a:spcPct val="108000"/>
              </a:lnSpc>
            </a:pPr>
            <a:r>
              <a:rPr lang="en-US" sz="1200" b="1" i="0" u="none" strike="noStrike">
                <a:solidFill>
                  <a:srgbClr val="D4AF37"/>
                </a:solidFill>
                <a:latin typeface="Noto Sans SC"/>
                <a:ea typeface="Noto Sans SC"/>
                <a:cs typeface="Noto Sans SC"/>
                <a:sym typeface="Noto Sans SC"/>
              </a:rPr>
              <a:t>Action:</a:t>
            </a:r>
            <a:r>
              <a:rPr lang="en-US" sz="1200" b="0" i="0" u="none" strike="noStrike">
                <a:solidFill>
                  <a:srgbClr val="525252"/>
                </a:solidFill>
                <a:latin typeface="Noto Sans SC"/>
                <a:ea typeface="Noto Sans SC"/>
                <a:cs typeface="Noto Sans SC"/>
                <a:sym typeface="Noto Sans SC"/>
              </a:rPr>
              <a:t>24-hour limited offers to drive FOMO via website pop-ups &amp; push notifications.</a:t>
            </a:r>
            <a:endParaRPr lang="en-US" sz="1200" b="0" i="0" u="none" strike="noStrike">
              <a:solidFill>
                <a:srgbClr val="525252"/>
              </a:solidFill>
              <a:latin typeface="Noto Sans SC"/>
              <a:ea typeface="Noto Sans SC"/>
              <a:cs typeface="Noto Sans SC"/>
              <a:sym typeface="Noto Sans SC"/>
            </a:endParaRPr>
          </a:p>
        </p:txBody>
      </p:sp>
      <p:sp>
        <p:nvSpPr>
          <p:cNvPr id="9" name="AutoShape 9"/>
          <p:cNvSpPr/>
          <p:nvPr/>
        </p:nvSpPr>
        <p:spPr>
          <a:xfrm>
            <a:off x="4356100" y="1651000"/>
            <a:ext cx="3467100" cy="1968500"/>
          </a:xfrm>
          <a:prstGeom prst="roundRect">
            <a:avLst>
              <a:gd name="adj" fmla="val 0"/>
            </a:avLst>
          </a:prstGeom>
          <a:solidFill>
            <a:srgbClr val="FFFFFF">
              <a:alpha val="7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356100" y="1651000"/>
            <a:ext cx="34671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46600" y="1841500"/>
            <a:ext cx="30861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02. VIP Exclusive Privileges</a:t>
            </a:r>
            <a:endParaRPr lang="en-US" sz="1100"/>
          </a:p>
        </p:txBody>
      </p:sp>
      <p:cxnSp>
        <p:nvCxnSpPr>
          <p:cNvPr id="12" name="Connector 12"/>
          <p:cNvCxnSpPr/>
          <p:nvPr/>
        </p:nvCxnSpPr>
        <p:spPr>
          <a:xfrm rot="-14147">
            <a:off x="4546613" y="2279650"/>
            <a:ext cx="30861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13" name="AutoShape 13"/>
          <p:cNvSpPr/>
          <p:nvPr/>
        </p:nvSpPr>
        <p:spPr>
          <a:xfrm>
            <a:off x="4546600" y="241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D4AF37"/>
                </a:solidFill>
                <a:latin typeface="Noto Sans SC"/>
                <a:ea typeface="Noto Sans SC"/>
                <a:cs typeface="Noto Sans SC"/>
                <a:sym typeface="Noto Sans SC"/>
              </a:rPr>
              <a:t>Target:</a:t>
            </a:r>
            <a:r>
              <a:rPr lang="en-US" sz="1200" b="0" i="0" u="none" strike="noStrike">
                <a:solidFill>
                  <a:srgbClr val="525252"/>
                </a:solidFill>
                <a:latin typeface="Noto Sans SC"/>
                <a:ea typeface="Noto Sans SC"/>
                <a:cs typeface="Noto Sans SC"/>
                <a:sym typeface="Noto Sans SC"/>
              </a:rPr>
              <a:t>High-value loyal customers with significant lifetime value.</a:t>
            </a:r>
            <a:endParaRPr lang="en-US" sz="1100"/>
          </a:p>
          <a:p>
            <a:pPr marL="0" indent="0" algn="l">
              <a:lnSpc>
                <a:spcPct val="108000"/>
              </a:lnSpc>
            </a:pPr>
            <a:r>
              <a:rPr lang="en-US" sz="1200" b="1" i="0" u="none" strike="noStrike">
                <a:solidFill>
                  <a:srgbClr val="D4AF37"/>
                </a:solidFill>
                <a:latin typeface="Noto Sans SC"/>
                <a:ea typeface="Noto Sans SC"/>
                <a:cs typeface="Noto Sans SC"/>
                <a:sym typeface="Noto Sans SC"/>
              </a:rPr>
              <a:t>Action:</a:t>
            </a:r>
            <a:r>
              <a:rPr lang="en-US" sz="1200" b="0" i="0" u="none" strike="noStrike">
                <a:solidFill>
                  <a:srgbClr val="525252"/>
                </a:solidFill>
                <a:latin typeface="Noto Sans SC"/>
                <a:ea typeface="Noto Sans SC"/>
                <a:cs typeface="Noto Sans SC"/>
                <a:sym typeface="Noto Sans SC"/>
              </a:rPr>
              <a:t>Reward with exclusive discounts, early access &amp; double points via member emails &amp; portals.</a:t>
            </a:r>
            <a:endParaRPr lang="en-US" sz="1200" b="0" i="0" u="none" strike="noStrike">
              <a:solidFill>
                <a:srgbClr val="525252"/>
              </a:solidFill>
              <a:latin typeface="Noto Sans SC"/>
              <a:ea typeface="Noto Sans SC"/>
              <a:cs typeface="Noto Sans SC"/>
              <a:sym typeface="Noto Sans SC"/>
            </a:endParaRPr>
          </a:p>
        </p:txBody>
      </p:sp>
      <p:sp>
        <p:nvSpPr>
          <p:cNvPr id="14" name="AutoShape 14"/>
          <p:cNvSpPr/>
          <p:nvPr/>
        </p:nvSpPr>
        <p:spPr>
          <a:xfrm>
            <a:off x="7950200" y="1651000"/>
            <a:ext cx="3467100" cy="1968500"/>
          </a:xfrm>
          <a:prstGeom prst="roundRect">
            <a:avLst>
              <a:gd name="adj" fmla="val 0"/>
            </a:avLst>
          </a:prstGeom>
          <a:solidFill>
            <a:srgbClr val="FFFFFF">
              <a:alpha val="7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950200" y="1651000"/>
            <a:ext cx="34671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40700" y="1841500"/>
            <a:ext cx="30861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03. Strategic Product Bundling</a:t>
            </a:r>
            <a:endParaRPr lang="en-US" sz="1100"/>
          </a:p>
        </p:txBody>
      </p:sp>
      <p:cxnSp>
        <p:nvCxnSpPr>
          <p:cNvPr id="17" name="Connector 17"/>
          <p:cNvCxnSpPr/>
          <p:nvPr/>
        </p:nvCxnSpPr>
        <p:spPr>
          <a:xfrm rot="-14147">
            <a:off x="8140713" y="2279650"/>
            <a:ext cx="30861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18" name="AutoShape 18"/>
          <p:cNvSpPr/>
          <p:nvPr/>
        </p:nvSpPr>
        <p:spPr>
          <a:xfrm>
            <a:off x="8140700" y="241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D4AF37"/>
                </a:solidFill>
                <a:latin typeface="Noto Sans SC"/>
                <a:ea typeface="Noto Sans SC"/>
                <a:cs typeface="Noto Sans SC"/>
                <a:sym typeface="Noto Sans SC"/>
              </a:rPr>
              <a:t>Target:</a:t>
            </a:r>
            <a:r>
              <a:rPr lang="en-US" sz="1200" b="0" i="0" u="none" strike="noStrike">
                <a:solidFill>
                  <a:srgbClr val="525252"/>
                </a:solidFill>
                <a:latin typeface="Noto Sans SC"/>
                <a:ea typeface="Noto Sans SC"/>
                <a:cs typeface="Noto Sans SC"/>
                <a:sym typeface="Noto Sans SC"/>
              </a:rPr>
              <a:t>Potential cross-sell targets browsing related product categories.</a:t>
            </a:r>
            <a:endParaRPr lang="en-US" sz="1100"/>
          </a:p>
          <a:p>
            <a:pPr marL="0" indent="0" algn="l">
              <a:lnSpc>
                <a:spcPct val="108000"/>
              </a:lnSpc>
            </a:pPr>
            <a:r>
              <a:rPr lang="en-US" sz="1200" b="1" i="0" u="none" strike="noStrike">
                <a:solidFill>
                  <a:srgbClr val="D4AF37"/>
                </a:solidFill>
                <a:latin typeface="Noto Sans SC"/>
                <a:ea typeface="Noto Sans SC"/>
                <a:cs typeface="Noto Sans SC"/>
                <a:sym typeface="Noto Sans SC"/>
              </a:rPr>
              <a:t>Action:</a:t>
            </a:r>
            <a:r>
              <a:rPr lang="en-US" sz="1200" b="0" i="0" u="none" strike="noStrike">
                <a:solidFill>
                  <a:srgbClr val="525252"/>
                </a:solidFill>
                <a:latin typeface="Noto Sans SC"/>
                <a:ea typeface="Noto Sans SC"/>
                <a:cs typeface="Noto Sans SC"/>
                <a:sym typeface="Noto Sans SC"/>
              </a:rPr>
              <a:t>Curate complementary product sets at a bundled price; showcase on product pages &amp; cart.</a:t>
            </a:r>
            <a:endParaRPr lang="en-US" sz="1200" b="0" i="0" u="none" strike="noStrike">
              <a:solidFill>
                <a:srgbClr val="525252"/>
              </a:solidFill>
              <a:latin typeface="Noto Sans SC"/>
              <a:ea typeface="Noto Sans SC"/>
              <a:cs typeface="Noto Sans SC"/>
              <a:sym typeface="Noto Sans SC"/>
            </a:endParaRPr>
          </a:p>
        </p:txBody>
      </p:sp>
      <p:pic>
        <p:nvPicPr>
          <p:cNvPr id="19" name="Picture 19"/>
          <p:cNvPicPr>
            <a:picLocks noChangeAspect="1"/>
          </p:cNvPicPr>
          <p:nvPr/>
        </p:nvPicPr>
        <p:blipFill>
          <a:blip r:embed="rId2"/>
          <a:srcRect l="14374" r="14374"/>
          <a:stretch>
            <a:fillRect/>
          </a:stretch>
        </p:blipFill>
        <p:spPr>
          <a:xfrm>
            <a:off x="762000" y="4064000"/>
            <a:ext cx="2413000" cy="1905000"/>
          </a:xfrm>
          <a:prstGeom prst="rect">
            <a:avLst/>
          </a:prstGeom>
          <a:noFill/>
          <a:ln w="12700" cap="flat" cmpd="sng">
            <a:solidFill>
              <a:srgbClr val="D4AF37">
                <a:alpha val="50000"/>
              </a:srgbClr>
            </a:solidFill>
            <a:prstDash val="solid"/>
            <a:round/>
          </a:ln>
        </p:spPr>
      </p:pic>
      <p:sp>
        <p:nvSpPr>
          <p:cNvPr id="20" name="AutoShape 20"/>
          <p:cNvSpPr/>
          <p:nvPr/>
        </p:nvSpPr>
        <p:spPr>
          <a:xfrm>
            <a:off x="3365500" y="4064000"/>
            <a:ext cx="4064000" cy="1905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3365500" y="4064000"/>
            <a:ext cx="38100" cy="1905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3556000" y="4191000"/>
            <a:ext cx="368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Poppins"/>
                <a:ea typeface="Poppins"/>
                <a:cs typeface="Poppins"/>
                <a:sym typeface="Poppins"/>
              </a:rPr>
              <a:t>04. Abandoned Cart Recovery</a:t>
            </a:r>
            <a:endParaRPr lang="en-US" sz="1100"/>
          </a:p>
        </p:txBody>
      </p:sp>
      <p:cxnSp>
        <p:nvCxnSpPr>
          <p:cNvPr id="23" name="Connector 23"/>
          <p:cNvCxnSpPr/>
          <p:nvPr/>
        </p:nvCxnSpPr>
        <p:spPr>
          <a:xfrm rot="-11854">
            <a:off x="3556011" y="4629150"/>
            <a:ext cx="36830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24" name="AutoShape 24"/>
          <p:cNvSpPr/>
          <p:nvPr/>
        </p:nvSpPr>
        <p:spPr>
          <a:xfrm>
            <a:off x="3556000" y="4762500"/>
            <a:ext cx="368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D4AF37"/>
                </a:solidFill>
                <a:latin typeface="Noto Sans SC"/>
                <a:ea typeface="Noto Sans SC"/>
                <a:cs typeface="Noto Sans SC"/>
                <a:sym typeface="Noto Sans SC"/>
              </a:rPr>
              <a:t>For Hesitant Buyers:</a:t>
            </a:r>
            <a:r>
              <a:rPr lang="en-US" sz="1200" b="0" i="0" u="none" strike="noStrike">
                <a:solidFill>
                  <a:srgbClr val="525252"/>
                </a:solidFill>
                <a:latin typeface="Noto Sans SC"/>
                <a:ea typeface="Noto Sans SC"/>
                <a:cs typeface="Noto Sans SC"/>
                <a:sym typeface="Noto Sans SC"/>
              </a:rPr>
              <a:t>Re-engage users who left items unpurchased by sending automated, personalized emails/SMS with unique discount codes to incentivize completion.</a:t>
            </a:r>
            <a:endParaRPr lang="en-US" sz="1100"/>
          </a:p>
        </p:txBody>
      </p:sp>
      <p:cxnSp>
        <p:nvCxnSpPr>
          <p:cNvPr id="25" name="Connector 25"/>
          <p:cNvCxnSpPr/>
          <p:nvPr/>
        </p:nvCxnSpPr>
        <p:spPr>
          <a:xfrm rot="5377082">
            <a:off x="6731000" y="5010171"/>
            <a:ext cx="1905000" cy="12700"/>
          </a:xfrm>
          <a:prstGeom prst="straightConnector1">
            <a:avLst/>
          </a:prstGeom>
          <a:solidFill>
            <a:srgbClr val="DEE0E3">
              <a:alpha val="100000"/>
            </a:srgbClr>
          </a:solidFill>
          <a:ln w="12700" cap="flat" cmpd="sng">
            <a:solidFill>
              <a:srgbClr val="D4AF37">
                <a:alpha val="20000"/>
              </a:srgbClr>
            </a:solidFill>
            <a:prstDash val="solid"/>
            <a:round/>
            <a:headEnd type="none" w="med" len="med"/>
            <a:tailEnd type="none" w="med" len="med"/>
          </a:ln>
        </p:spPr>
      </p:cxnSp>
      <p:sp>
        <p:nvSpPr>
          <p:cNvPr id="26" name="AutoShape 26"/>
          <p:cNvSpPr/>
          <p:nvPr/>
        </p:nvSpPr>
        <p:spPr>
          <a:xfrm>
            <a:off x="7874000" y="4064000"/>
            <a:ext cx="3556000" cy="889000"/>
          </a:xfrm>
          <a:prstGeom prst="roundRect">
            <a:avLst>
              <a:gd name="adj" fmla="val 0"/>
            </a:avLst>
          </a:prstGeom>
          <a:solidFill>
            <a:srgbClr val="FFFFFF">
              <a:alpha val="7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8001000" y="41275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Poppins"/>
                <a:ea typeface="Poppins"/>
                <a:cs typeface="Poppins"/>
                <a:sym typeface="Poppins"/>
              </a:rPr>
              <a:t>05. UGC Incentive (Social-Driven)</a:t>
            </a:r>
            <a:r>
              <a:rPr lang="en-US" sz="1200" b="0" i="0" u="none" strike="noStrike">
                <a:solidFill>
                  <a:srgbClr val="525252"/>
                </a:solidFill>
                <a:latin typeface="Noto Sans SC"/>
                <a:ea typeface="Noto Sans SC"/>
                <a:cs typeface="Noto Sans SC"/>
                <a:sym typeface="Noto Sans SC"/>
              </a:rPr>
              <a:t>Launch #brandchallenge on TikTok/IG to turn active users into brand advocates; reward top reviews with exclusive perks.</a:t>
            </a:r>
            <a:endParaRPr lang="en-US" sz="1100"/>
          </a:p>
        </p:txBody>
      </p:sp>
      <p:pic>
        <p:nvPicPr>
          <p:cNvPr id="28" name="Picture 28"/>
          <p:cNvPicPr>
            <a:picLocks noChangeAspect="1"/>
          </p:cNvPicPr>
          <p:nvPr/>
        </p:nvPicPr>
        <p:blipFill>
          <a:blip r:embed="rId3"/>
          <a:srcRect t="23437" b="23437"/>
          <a:stretch>
            <a:fillRect/>
          </a:stretch>
        </p:blipFill>
        <p:spPr>
          <a:xfrm>
            <a:off x="7874000" y="5143500"/>
            <a:ext cx="1143000" cy="1079500"/>
          </a:xfrm>
          <a:prstGeom prst="rect">
            <a:avLst/>
          </a:prstGeom>
          <a:noFill/>
          <a:ln w="12700" cap="flat" cmpd="sng">
            <a:solidFill>
              <a:srgbClr val="D4AF37">
                <a:alpha val="50000"/>
              </a:srgbClr>
            </a:solidFill>
            <a:prstDash val="solid"/>
            <a:round/>
          </a:ln>
        </p:spPr>
      </p:pic>
      <p:sp>
        <p:nvSpPr>
          <p:cNvPr id="29" name="AutoShape 29"/>
          <p:cNvSpPr/>
          <p:nvPr/>
        </p:nvSpPr>
        <p:spPr>
          <a:xfrm>
            <a:off x="9144000" y="5143500"/>
            <a:ext cx="2286000" cy="1079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9144000" y="5143500"/>
            <a:ext cx="38100" cy="1079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9271000" y="5207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Poppins"/>
                <a:ea typeface="Poppins"/>
                <a:cs typeface="Poppins"/>
                <a:sym typeface="Poppins"/>
              </a:rPr>
              <a:t>06. AR Try-On Experience</a:t>
            </a:r>
            <a:endParaRPr lang="en-US" sz="1100"/>
          </a:p>
          <a:p>
            <a:pPr marL="0" indent="0" algn="l">
              <a:lnSpc>
                <a:spcPct val="100000"/>
              </a:lnSpc>
            </a:pPr>
            <a:r>
              <a:rPr lang="en-US" sz="1100" b="0" i="0" u="none" strike="noStrike">
                <a:solidFill>
                  <a:srgbClr val="525252"/>
                </a:solidFill>
                <a:latin typeface="Noto Sans SC"/>
                <a:ea typeface="Noto Sans SC"/>
                <a:cs typeface="Noto Sans SC"/>
                <a:sym typeface="Noto Sans SC"/>
              </a:rPr>
              <a:t>Empower visual decision-makers to "try" products virtually via app/plugins, boosting confidence and reducing returns.</a:t>
            </a:r>
            <a:endParaRPr lang="en-US" sz="1100" b="0" i="0" u="none" strike="noStrike">
              <a:solidFill>
                <a:srgbClr val="525252"/>
              </a:solidFill>
              <a:latin typeface="Noto Sans SC"/>
              <a:ea typeface="Noto Sans SC"/>
              <a:cs typeface="Noto Sans SC"/>
              <a:sym typeface="Noto Sans S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Execution Cadence &amp; Calendar</a:t>
            </a:r>
            <a:endParaRPr lang="en-US" sz="1100"/>
          </a:p>
        </p:txBody>
      </p:sp>
      <p:sp>
        <p:nvSpPr>
          <p:cNvPr id="4" name="AutoShape 4"/>
          <p:cNvSpPr/>
          <p:nvPr/>
        </p:nvSpPr>
        <p:spPr>
          <a:xfrm>
            <a:off x="762000" y="1270000"/>
            <a:ext cx="10668000" cy="25400"/>
          </a:xfrm>
          <a:prstGeom prst="roundRect">
            <a:avLst>
              <a:gd name="adj" fmla="val 0"/>
            </a:avLst>
          </a:prstGeom>
          <a:solidFill>
            <a:srgbClr val="D4AF37">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207000" cy="1968500"/>
          </a:xfrm>
          <a:prstGeom prst="roundRect">
            <a:avLst>
              <a:gd name="adj" fmla="val 0"/>
            </a:avLst>
          </a:prstGeom>
          <a:solidFill>
            <a:srgbClr val="FFFFFF">
              <a:alpha val="65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778000"/>
            <a:ext cx="76200" cy="1968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190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01. PRE-LAUNCH</a:t>
            </a:r>
            <a:r>
              <a:rPr lang="en-US" sz="1400" b="0" i="0" u="none" strike="noStrike">
                <a:solidFill>
                  <a:srgbClr val="666666"/>
                </a:solidFill>
                <a:latin typeface="Poppins"/>
                <a:ea typeface="Poppins"/>
                <a:cs typeface="Poppins"/>
                <a:sym typeface="Poppins"/>
              </a:rPr>
              <a:t>| 2 Weeks Before Launch</a:t>
            </a:r>
            <a:endParaRPr lang="en-US" sz="1100"/>
          </a:p>
        </p:txBody>
      </p:sp>
      <p:cxnSp>
        <p:nvCxnSpPr>
          <p:cNvPr id="8" name="Connector 8"/>
          <p:cNvCxnSpPr/>
          <p:nvPr/>
        </p:nvCxnSpPr>
        <p:spPr>
          <a:xfrm rot="-9291">
            <a:off x="1016009" y="2406650"/>
            <a:ext cx="469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9" name="AutoShape 9"/>
          <p:cNvSpPr/>
          <p:nvPr/>
        </p:nvSpPr>
        <p:spPr>
          <a:xfrm>
            <a:off x="1016000" y="2540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C3C3C"/>
                </a:solidFill>
                <a:latin typeface="Poppins"/>
                <a:ea typeface="Poppins"/>
                <a:cs typeface="Poppins"/>
                <a:sym typeface="Poppins"/>
              </a:rPr>
              <a:t>Build anticipation through strategic email and social media teasers. Exclusively open "Early Bird" access to VIP members to foster exclusivity and early engagement.</a:t>
            </a:r>
            <a:endParaRPr lang="en-US" sz="1100"/>
          </a:p>
        </p:txBody>
      </p:sp>
      <p:sp>
        <p:nvSpPr>
          <p:cNvPr id="10" name="AutoShape 10"/>
          <p:cNvSpPr/>
          <p:nvPr/>
        </p:nvSpPr>
        <p:spPr>
          <a:xfrm>
            <a:off x="6223000" y="1778000"/>
            <a:ext cx="5207000" cy="1968500"/>
          </a:xfrm>
          <a:prstGeom prst="roundRect">
            <a:avLst>
              <a:gd name="adj" fmla="val 0"/>
            </a:avLst>
          </a:prstGeom>
          <a:solidFill>
            <a:srgbClr val="FFFFFF">
              <a:alpha val="65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778000"/>
            <a:ext cx="76200" cy="1968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190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02. LAUNCH WEEK</a:t>
            </a:r>
            <a:r>
              <a:rPr lang="en-US" sz="1400" b="0" i="0" u="none" strike="noStrike">
                <a:solidFill>
                  <a:srgbClr val="666666"/>
                </a:solidFill>
                <a:latin typeface="Poppins"/>
                <a:ea typeface="Poppins"/>
                <a:cs typeface="Poppins"/>
                <a:sym typeface="Poppins"/>
              </a:rPr>
              <a:t>| Week 1 - Maximum Impact</a:t>
            </a:r>
            <a:endParaRPr lang="en-US" sz="1100"/>
          </a:p>
        </p:txBody>
      </p:sp>
      <p:cxnSp>
        <p:nvCxnSpPr>
          <p:cNvPr id="13" name="Connector 13"/>
          <p:cNvCxnSpPr/>
          <p:nvPr/>
        </p:nvCxnSpPr>
        <p:spPr>
          <a:xfrm rot="-9291">
            <a:off x="6477009" y="2406650"/>
            <a:ext cx="469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4" name="AutoShape 14"/>
          <p:cNvSpPr/>
          <p:nvPr/>
        </p:nvSpPr>
        <p:spPr>
          <a:xfrm>
            <a:off x="6477000" y="2540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C3C3C"/>
                </a:solidFill>
                <a:latin typeface="Poppins"/>
                <a:ea typeface="Poppins"/>
                <a:cs typeface="Poppins"/>
                <a:sym typeface="Poppins"/>
              </a:rPr>
              <a:t>Fully activate flash sales, product bundling, and UGC campaigns. Scale paid ad spend to target retargeting and lookalike audiences for broad, high-conversion reach.</a:t>
            </a:r>
            <a:endParaRPr lang="en-US" sz="1100"/>
          </a:p>
        </p:txBody>
      </p:sp>
      <p:sp>
        <p:nvSpPr>
          <p:cNvPr id="15" name="AutoShape 15"/>
          <p:cNvSpPr/>
          <p:nvPr/>
        </p:nvSpPr>
        <p:spPr>
          <a:xfrm>
            <a:off x="762000" y="4191000"/>
            <a:ext cx="5207000" cy="1968500"/>
          </a:xfrm>
          <a:prstGeom prst="roundRect">
            <a:avLst>
              <a:gd name="adj" fmla="val 0"/>
            </a:avLst>
          </a:prstGeom>
          <a:solidFill>
            <a:srgbClr val="FFFFFF">
              <a:alpha val="65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191000"/>
            <a:ext cx="76200" cy="1968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31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03. MID-CAMPAIGN</a:t>
            </a:r>
            <a:r>
              <a:rPr lang="en-US" sz="1400" b="0" i="0" u="none" strike="noStrike">
                <a:solidFill>
                  <a:srgbClr val="666666"/>
                </a:solidFill>
                <a:latin typeface="Poppins"/>
                <a:ea typeface="Poppins"/>
                <a:cs typeface="Poppins"/>
                <a:sym typeface="Poppins"/>
              </a:rPr>
              <a:t>| Weeks 2-3 - Sustain Momentum</a:t>
            </a:r>
            <a:endParaRPr lang="en-US" sz="1100"/>
          </a:p>
        </p:txBody>
      </p:sp>
      <p:cxnSp>
        <p:nvCxnSpPr>
          <p:cNvPr id="18" name="Connector 18"/>
          <p:cNvCxnSpPr/>
          <p:nvPr/>
        </p:nvCxnSpPr>
        <p:spPr>
          <a:xfrm rot="-9291">
            <a:off x="1016009" y="4819650"/>
            <a:ext cx="469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9" name="AutoShape 19"/>
          <p:cNvSpPr/>
          <p:nvPr/>
        </p:nvSpPr>
        <p:spPr>
          <a:xfrm>
            <a:off x="1016000" y="4953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C3C3C"/>
                </a:solidFill>
                <a:latin typeface="Poppins"/>
                <a:ea typeface="Poppins"/>
                <a:cs typeface="Poppins"/>
                <a:sym typeface="Poppins"/>
              </a:rPr>
              <a:t>Introduce refreshed flash sale SKUs and bundles to reignite interest. Highlight top-performing UGC content across channels and increase abandoned cart email frequency to recapture lost sales.</a:t>
            </a:r>
            <a:endParaRPr lang="en-US" sz="1100"/>
          </a:p>
        </p:txBody>
      </p:sp>
      <p:sp>
        <p:nvSpPr>
          <p:cNvPr id="20" name="AutoShape 20"/>
          <p:cNvSpPr/>
          <p:nvPr/>
        </p:nvSpPr>
        <p:spPr>
          <a:xfrm>
            <a:off x="6223000" y="4191000"/>
            <a:ext cx="5207000" cy="1968500"/>
          </a:xfrm>
          <a:prstGeom prst="roundRect">
            <a:avLst>
              <a:gd name="adj" fmla="val 0"/>
            </a:avLst>
          </a:prstGeom>
          <a:solidFill>
            <a:srgbClr val="FFFFFF">
              <a:alpha val="65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223000" y="4191000"/>
            <a:ext cx="76200" cy="1968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431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04. FINAL PUSH</a:t>
            </a:r>
            <a:r>
              <a:rPr lang="en-US" sz="1400" b="0" i="0" u="none" strike="noStrike">
                <a:solidFill>
                  <a:srgbClr val="666666"/>
                </a:solidFill>
                <a:latin typeface="Poppins"/>
                <a:ea typeface="Poppins"/>
                <a:cs typeface="Poppins"/>
                <a:sym typeface="Poppins"/>
              </a:rPr>
              <a:t>| Last 3 Days - Urgency &amp; Gratitude</a:t>
            </a:r>
            <a:endParaRPr lang="en-US" sz="1100"/>
          </a:p>
        </p:txBody>
      </p:sp>
      <p:cxnSp>
        <p:nvCxnSpPr>
          <p:cNvPr id="23" name="Connector 23"/>
          <p:cNvCxnSpPr/>
          <p:nvPr/>
        </p:nvCxnSpPr>
        <p:spPr>
          <a:xfrm rot="-9291">
            <a:off x="6477009" y="4819650"/>
            <a:ext cx="469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24" name="AutoShape 24"/>
          <p:cNvSpPr/>
          <p:nvPr/>
        </p:nvSpPr>
        <p:spPr>
          <a:xfrm>
            <a:off x="6477000" y="4953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C3C3C"/>
                </a:solidFill>
                <a:latin typeface="Poppins"/>
                <a:ea typeface="Poppins"/>
                <a:cs typeface="Poppins"/>
                <a:sym typeface="Poppins"/>
              </a:rPr>
              <a:t>Deploy "Last Chance" limited-time discounts to drive immediate action. Send thank-you communications to participants, nurturing relationships while teasing upcoming future events.</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2286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200" b="1" i="0" u="none" strike="noStrike">
                <a:solidFill>
                  <a:srgbClr val="FFFFFF"/>
                </a:solidFill>
                <a:latin typeface="Poppins"/>
                <a:ea typeface="Poppins"/>
                <a:cs typeface="Poppins"/>
                <a:sym typeface="Poppins"/>
              </a:rPr>
              <a:t>Thank You</a:t>
            </a:r>
            <a:endParaRPr lang="en-US" sz="1100"/>
          </a:p>
        </p:txBody>
      </p:sp>
      <p:sp>
        <p:nvSpPr>
          <p:cNvPr id="4" name="AutoShape 4"/>
          <p:cNvSpPr/>
          <p:nvPr/>
        </p:nvSpPr>
        <p:spPr>
          <a:xfrm>
            <a:off x="762000" y="3810000"/>
            <a:ext cx="1270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431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FFFFFF">
                    <a:alpha val="90196"/>
                  </a:srgbClr>
                </a:solidFill>
                <a:latin typeface="Poppins"/>
                <a:ea typeface="Poppins"/>
                <a:cs typeface="Poppins"/>
                <a:sym typeface="Poppins"/>
              </a:rPr>
              <a:t>Let's Build the Future of Marketing Together</a:t>
            </a:r>
            <a:endParaRPr lang="en-US" sz="1100"/>
          </a:p>
        </p:txBody>
      </p:sp>
      <p:sp>
        <p:nvSpPr>
          <p:cNvPr id="6" name="AutoShape 6"/>
          <p:cNvSpPr/>
          <p:nvPr/>
        </p:nvSpPr>
        <p:spPr>
          <a:xfrm>
            <a:off x="762000" y="5461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70196"/>
                  </a:srgbClr>
                </a:solidFill>
                <a:latin typeface="Poppins"/>
                <a:ea typeface="Poppins"/>
                <a:cs typeface="Poppins"/>
                <a:sym typeface="Poppins"/>
              </a:rPr>
              <a:t>This strategic framework is crafted to elevate your brand's narrative and drive meaningful connections. We are committed to partnering with you every step of the way, turning visionary ideas into impactful market realities.</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23979</Words>
  <Application>WPS 演示</Application>
  <PresentationFormat/>
  <Paragraphs>536</Paragraphs>
  <Slides>31</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31</vt:i4>
      </vt:variant>
    </vt:vector>
  </HeadingPairs>
  <TitlesOfParts>
    <vt:vector size="45" baseType="lpstr">
      <vt:lpstr>Arial</vt:lpstr>
      <vt:lpstr>宋体</vt:lpstr>
      <vt:lpstr>Wingdings</vt:lpstr>
      <vt:lpstr>Arial</vt:lpstr>
      <vt:lpstr>Poppins</vt:lpstr>
      <vt:lpstr>Thonburi</vt:lpstr>
      <vt:lpstr>Noto Sans SC</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2026-06-19T05:01:25Z</dcterms:created>
  <dcterms:modified xsi:type="dcterms:W3CDTF">2026-06-19T05:01:25Z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{"Label":"1","ContentProducer":"001191110102MACQD9K64010000","ProduceID":"7652966968045489131","ReservedCode1":"","ContentPropagator":"","PropagateID":"","ReservedCode2":""}</vt:lpwstr>
  </property>
  <property fmtid="{D5CDD505-2E9C-101B-9397-08002B2CF9AE}" pid="3" name="ICV">
    <vt:lpwstr>DC79B43F53AC86DE25CD346A48A37E80_42</vt:lpwstr>
  </property>
  <property fmtid="{D5CDD505-2E9C-101B-9397-08002B2CF9AE}" pid="4" name="KSOProductBuildVer">
    <vt:lpwstr>2052-5.3.0.7863</vt:lpwstr>
  </property>
</Properties>
</file>
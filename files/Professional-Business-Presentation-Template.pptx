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Hello everyone, and welcome. Today, we're going to talk about how [Company Name] is not just participating in the evolution of [Your Industry], but actively shaping its future. We will explore the challenges we face, the innovative solutions we've developed, and how we can drive growth and efficiency for your business. Let's begin.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Here's a roadmap for our discussion today. We'll start by examining the pressing need for change in our industry. Then, I'll introduce our innovative solution and its key features. We'll dive into the tangible value it brings, showcase some real-world success stories, and finally, look ahead to our strategic future.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landscape of our industry is changing rapidly. We're seeing three major trends: first, traditional methods are becoming inefficient and costly. Second, customer expectations are evolving faster than ever before. And third, new competitors are disrupting the market with agile technologies. This is not just a challenge; it's a clear call to action for transformation.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To address these challenges, we've developed [Product/Service Name]. It's an all-in-one platform built specifically for [Your Industry]. Our solution is designed to empower your business by automating key processes, enhancing customer engagement, and enabling data-driven decisions. It's a scalable and intuitive tool that will fundamentally change how you operate.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Let's break down the core features that make our platform so powerful. First, it has an incredibly intuitive user interface, so your team can get up and running quickly. Second, our advanced data analytics turn complex data into clear, actionable insights. Third, we prioritize security with enterprise-grade protocols. And finally, our scalable architecture ensures the platform grows right alongside your business.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So, what does this mean for your business? It means a real competitive edge. Our clients typically see accelerated revenue growth, significant cost optimizations, better decision-making through real-time analytics, and ultimately, stronger customer loyalty. These are not just features; these are tangible impacts on your bottom line.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Don't just take our word for it. Let's look at a real-world example with [Client Company Name]. They were facing significant challenges with data fragmentation. After implementing our solution, they saw a 35% improvement in data processing speed and a 20% increase in cross-selling. As their executive said, it truly transformed their business.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Behind every great product is a great team. Our leadership brings decades of combined experience in sustainable manufacturing and technology. From our visionary CEO Elena Marquez, who has a proven track record in global strategy, to our expert CTO David Chen, a pioneer in AI automation, and our seasoned COO Sarah Jenkins, who excels in scaling operations for efficiency, we have the knowledge and drive to deliver on our promises.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Our success is also reflected in our financial performance. We've seen consistent revenue growth, our client base is expanding globally, and we've secured significant strategic funding. This growth trajectory validates our market position and our strategy for the future.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So, are you ready to transform your business? The next step is simple: schedule a personalized demo. This will give you a firsthand look at how our solution can be tailored to your specific needs. You can find all our contact information on the screen. Thank you for your time, and we look forward to the opportunity to partner with you.</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image" Target="../media/image4.svg"/><Relationship Id="rId8" Type="http://schemas.openxmlformats.org/officeDocument/2006/relationships/image" Target="../media/image6.png"/><Relationship Id="rId7" Type="http://schemas.openxmlformats.org/officeDocument/2006/relationships/image" Target="../media/image3.svg"/><Relationship Id="rId6" Type="http://schemas.openxmlformats.org/officeDocument/2006/relationships/image" Target="../media/image5.png"/><Relationship Id="rId5" Type="http://schemas.openxmlformats.org/officeDocument/2006/relationships/image" Target="../media/image2.svg"/><Relationship Id="rId4" Type="http://schemas.openxmlformats.org/officeDocument/2006/relationships/image" Target="../media/image4.png"/><Relationship Id="rId3" Type="http://schemas.openxmlformats.org/officeDocument/2006/relationships/image" Target="../media/image1.svg"/><Relationship Id="rId2" Type="http://schemas.openxmlformats.org/officeDocument/2006/relationships/image" Target="../media/image3.png"/><Relationship Id="rId13" Type="http://schemas.openxmlformats.org/officeDocument/2006/relationships/notesSlide" Target="../notesSlides/notesSlide2.xml"/><Relationship Id="rId12" Type="http://schemas.openxmlformats.org/officeDocument/2006/relationships/slideLayout" Target="../slideLayouts/slideLayout12.xml"/><Relationship Id="rId11" Type="http://schemas.openxmlformats.org/officeDocument/2006/relationships/image" Target="../media/image5.svg"/><Relationship Id="rId10" Type="http://schemas.openxmlformats.org/officeDocument/2006/relationships/image" Target="../media/image7.pn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svg"/><Relationship Id="rId7" Type="http://schemas.openxmlformats.org/officeDocument/2006/relationships/image" Target="../media/image5.png"/><Relationship Id="rId6" Type="http://schemas.openxmlformats.org/officeDocument/2006/relationships/image" Target="../media/image7.svg"/><Relationship Id="rId5" Type="http://schemas.openxmlformats.org/officeDocument/2006/relationships/image" Target="../media/image10.png"/><Relationship Id="rId4" Type="http://schemas.openxmlformats.org/officeDocument/2006/relationships/image" Target="../media/image6.svg"/><Relationship Id="rId3" Type="http://schemas.openxmlformats.org/officeDocument/2006/relationships/image" Target="../media/image9.png"/><Relationship Id="rId2" Type="http://schemas.openxmlformats.org/officeDocument/2006/relationships/image" Target="../media/image8.jpeg"/><Relationship Id="rId10" Type="http://schemas.openxmlformats.org/officeDocument/2006/relationships/notesSlide" Target="../notesSlides/notesSlide3.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13.jpeg"/><Relationship Id="rId5" Type="http://schemas.openxmlformats.org/officeDocument/2006/relationships/image" Target="../media/image9.svg"/><Relationship Id="rId4" Type="http://schemas.openxmlformats.org/officeDocument/2006/relationships/image" Target="../media/image12.png"/><Relationship Id="rId3" Type="http://schemas.openxmlformats.org/officeDocument/2006/relationships/image" Target="../media/image8.svg"/><Relationship Id="rId2" Type="http://schemas.openxmlformats.org/officeDocument/2006/relationships/image" Target="../media/image11.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image" Target="../media/image17.png"/><Relationship Id="rId8" Type="http://schemas.openxmlformats.org/officeDocument/2006/relationships/image" Target="../media/image11.svg"/><Relationship Id="rId7" Type="http://schemas.openxmlformats.org/officeDocument/2006/relationships/image" Target="../media/image16.png"/><Relationship Id="rId6" Type="http://schemas.openxmlformats.org/officeDocument/2006/relationships/image" Target="../media/image3.svg"/><Relationship Id="rId5" Type="http://schemas.openxmlformats.org/officeDocument/2006/relationships/image" Target="../media/image5.png"/><Relationship Id="rId4" Type="http://schemas.openxmlformats.org/officeDocument/2006/relationships/image" Target="../media/image10.svg"/><Relationship Id="rId3" Type="http://schemas.openxmlformats.org/officeDocument/2006/relationships/image" Target="../media/image15.png"/><Relationship Id="rId2" Type="http://schemas.openxmlformats.org/officeDocument/2006/relationships/image" Target="../media/image14.jpeg"/><Relationship Id="rId12" Type="http://schemas.openxmlformats.org/officeDocument/2006/relationships/notesSlide" Target="../notesSlides/notesSlide5.xml"/><Relationship Id="rId11" Type="http://schemas.openxmlformats.org/officeDocument/2006/relationships/slideLayout" Target="../slideLayouts/slideLayout12.xml"/><Relationship Id="rId10" Type="http://schemas.openxmlformats.org/officeDocument/2006/relationships/image" Target="../media/image12.sv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9" Type="http://schemas.openxmlformats.org/officeDocument/2006/relationships/image" Target="../media/image15.svg"/><Relationship Id="rId8" Type="http://schemas.openxmlformats.org/officeDocument/2006/relationships/image" Target="../media/image20.png"/><Relationship Id="rId7" Type="http://schemas.openxmlformats.org/officeDocument/2006/relationships/image" Target="../media/image14.svg"/><Relationship Id="rId6" Type="http://schemas.openxmlformats.org/officeDocument/2006/relationships/image" Target="../media/image19.png"/><Relationship Id="rId5" Type="http://schemas.openxmlformats.org/officeDocument/2006/relationships/image" Target="../media/image13.svg"/><Relationship Id="rId4" Type="http://schemas.openxmlformats.org/officeDocument/2006/relationships/image" Target="../media/image18.png"/><Relationship Id="rId3" Type="http://schemas.openxmlformats.org/officeDocument/2006/relationships/image" Target="../media/image3.svg"/><Relationship Id="rId2" Type="http://schemas.openxmlformats.org/officeDocument/2006/relationships/image" Target="../media/image5.png"/><Relationship Id="rId11" Type="http://schemas.openxmlformats.org/officeDocument/2006/relationships/notesSlide" Target="../notesSlides/notesSlide6.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9" Type="http://schemas.openxmlformats.org/officeDocument/2006/relationships/image" Target="../media/image24.png"/><Relationship Id="rId8" Type="http://schemas.openxmlformats.org/officeDocument/2006/relationships/image" Target="../media/image3.svg"/><Relationship Id="rId7" Type="http://schemas.openxmlformats.org/officeDocument/2006/relationships/image" Target="../media/image5.png"/><Relationship Id="rId6" Type="http://schemas.openxmlformats.org/officeDocument/2006/relationships/image" Target="../media/image17.svg"/><Relationship Id="rId5" Type="http://schemas.openxmlformats.org/officeDocument/2006/relationships/image" Target="../media/image23.png"/><Relationship Id="rId4" Type="http://schemas.openxmlformats.org/officeDocument/2006/relationships/image" Target="../media/image16.svg"/><Relationship Id="rId3" Type="http://schemas.openxmlformats.org/officeDocument/2006/relationships/image" Target="../media/image22.png"/><Relationship Id="rId2" Type="http://schemas.openxmlformats.org/officeDocument/2006/relationships/image" Target="../media/image21.jpeg"/><Relationship Id="rId12" Type="http://schemas.openxmlformats.org/officeDocument/2006/relationships/notesSlide" Target="../notesSlides/notesSlide7.xml"/><Relationship Id="rId11" Type="http://schemas.openxmlformats.org/officeDocument/2006/relationships/slideLayout" Target="../slideLayouts/slideLayout12.xml"/><Relationship Id="rId10" Type="http://schemas.openxmlformats.org/officeDocument/2006/relationships/image" Target="../media/image18.sv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svg"/><Relationship Id="rId7" Type="http://schemas.openxmlformats.org/officeDocument/2006/relationships/image" Target="../media/image5.png"/><Relationship Id="rId6" Type="http://schemas.openxmlformats.org/officeDocument/2006/relationships/image" Target="../media/image19.svg"/><Relationship Id="rId5" Type="http://schemas.openxmlformats.org/officeDocument/2006/relationships/image" Target="../media/image26.png"/><Relationship Id="rId4" Type="http://schemas.openxmlformats.org/officeDocument/2006/relationships/image" Target="../media/image9.svg"/><Relationship Id="rId3" Type="http://schemas.openxmlformats.org/officeDocument/2006/relationships/image" Target="../media/image12.png"/><Relationship Id="rId2" Type="http://schemas.openxmlformats.org/officeDocument/2006/relationships/image" Target="../media/image25.jpeg"/><Relationship Id="rId10" Type="http://schemas.openxmlformats.org/officeDocument/2006/relationships/notesSlide" Target="../notesSlides/notesSlide8.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9" Type="http://schemas.openxmlformats.org/officeDocument/2006/relationships/image" Target="../media/image30.png"/><Relationship Id="rId8" Type="http://schemas.openxmlformats.org/officeDocument/2006/relationships/image" Target="../media/image29.jpeg"/><Relationship Id="rId7" Type="http://schemas.openxmlformats.org/officeDocument/2006/relationships/image" Target="../media/image21.svg"/><Relationship Id="rId6" Type="http://schemas.openxmlformats.org/officeDocument/2006/relationships/image" Target="../media/image28.png"/><Relationship Id="rId5" Type="http://schemas.openxmlformats.org/officeDocument/2006/relationships/image" Target="../media/image20.svg"/><Relationship Id="rId4" Type="http://schemas.openxmlformats.org/officeDocument/2006/relationships/image" Target="../media/image27.png"/><Relationship Id="rId3" Type="http://schemas.openxmlformats.org/officeDocument/2006/relationships/image" Target="../media/image3.svg"/><Relationship Id="rId2" Type="http://schemas.openxmlformats.org/officeDocument/2006/relationships/image" Target="../media/image5.png"/><Relationship Id="rId11" Type="http://schemas.openxmlformats.org/officeDocument/2006/relationships/notesSlide" Target="../notesSlides/notesSlide9.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12.xml"/><Relationship Id="rId7" Type="http://schemas.openxmlformats.org/officeDocument/2006/relationships/image" Target="../media/image24.svg"/><Relationship Id="rId6" Type="http://schemas.openxmlformats.org/officeDocument/2006/relationships/image" Target="../media/image34.png"/><Relationship Id="rId5" Type="http://schemas.openxmlformats.org/officeDocument/2006/relationships/image" Target="../media/image23.svg"/><Relationship Id="rId4" Type="http://schemas.openxmlformats.org/officeDocument/2006/relationships/image" Target="../media/image33.png"/><Relationship Id="rId3" Type="http://schemas.openxmlformats.org/officeDocument/2006/relationships/image" Target="../media/image22.svg"/><Relationship Id="rId2" Type="http://schemas.openxmlformats.org/officeDocument/2006/relationships/image" Target="../media/image32.png"/><Relationship Id="rId1" Type="http://schemas.openxmlformats.org/officeDocument/2006/relationships/image" Target="../media/image3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E463E">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19050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Poppins"/>
                <a:ea typeface="Poppins"/>
                <a:cs typeface="Poppins"/>
                <a:sym typeface="Poppins"/>
              </a:rPr>
              <a:t>Shaping the Future of [Your Industry]</a:t>
            </a:r>
            <a:endParaRPr lang="en-US" sz="1100"/>
          </a:p>
        </p:txBody>
      </p:sp>
      <p:cxnSp>
        <p:nvCxnSpPr>
          <p:cNvPr id="4" name="Connector 4"/>
          <p:cNvCxnSpPr/>
          <p:nvPr/>
        </p:nvCxnSpPr>
        <p:spPr>
          <a:xfrm rot="-34376">
            <a:off x="1016032" y="3295650"/>
            <a:ext cx="1270000" cy="12700"/>
          </a:xfrm>
          <a:prstGeom prst="straightConnector1">
            <a:avLst/>
          </a:prstGeom>
          <a:solidFill>
            <a:srgbClr val="DEE0E3">
              <a:alpha val="100000"/>
            </a:srgbClr>
          </a:solidFill>
          <a:ln w="38100" cap="flat" cmpd="sng">
            <a:solidFill>
              <a:srgbClr val="FFFFFF">
                <a:alpha val="70000"/>
              </a:srgbClr>
            </a:solidFill>
            <a:prstDash val="solid"/>
            <a:round/>
            <a:headEnd type="none" w="lg" len="lg"/>
            <a:tailEnd type="none" w="lg" len="lg"/>
          </a:ln>
        </p:spPr>
      </p:cxnSp>
      <p:sp>
        <p:nvSpPr>
          <p:cNvPr id="5" name="AutoShape 5"/>
          <p:cNvSpPr/>
          <p:nvPr/>
        </p:nvSpPr>
        <p:spPr>
          <a:xfrm>
            <a:off x="1016000" y="3810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FFFFFF">
                    <a:alpha val="90196"/>
                  </a:srgbClr>
                </a:solidFill>
                <a:latin typeface="Poppins"/>
                <a:ea typeface="Poppins"/>
                <a:cs typeface="Poppins"/>
                <a:sym typeface="Poppins"/>
              </a:rPr>
              <a:t>[Company Name] | Driving Growth and Efficiency Through Innovation and Strategic Vision</a:t>
            </a:r>
            <a:endParaRPr lang="en-US" sz="1100"/>
          </a:p>
        </p:txBody>
      </p:sp>
      <p:sp>
        <p:nvSpPr>
          <p:cNvPr id="6" name="AutoShape 6"/>
          <p:cNvSpPr/>
          <p:nvPr/>
        </p:nvSpPr>
        <p:spPr>
          <a:xfrm>
            <a:off x="1016000" y="5461000"/>
            <a:ext cx="10160000" cy="889000"/>
          </a:xfrm>
          <a:prstGeom prst="roundRect">
            <a:avLst>
              <a:gd name="adj" fmla="val 0"/>
            </a:avLst>
          </a:prstGeom>
          <a:solidFill>
            <a:srgbClr val="FFFFFF">
              <a:alpha val="1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270000" y="5588000"/>
            <a:ext cx="965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0" i="0" u="none" strike="noStrike">
                <a:solidFill>
                  <a:srgbClr val="FFFFFF">
                    <a:alpha val="94902"/>
                  </a:srgbClr>
                </a:solidFill>
                <a:latin typeface="Poppins"/>
                <a:ea typeface="Poppins"/>
                <a:cs typeface="Poppins"/>
                <a:sym typeface="Poppins"/>
              </a:rPr>
              <a:t>[Presenter Name], [Presenter Title]    |    [Date]</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Agenda</a:t>
            </a:r>
            <a:endParaRPr lang="en-US" sz="1100"/>
          </a:p>
        </p:txBody>
      </p:sp>
      <p:sp>
        <p:nvSpPr>
          <p:cNvPr id="4" name="AutoShape 4"/>
          <p:cNvSpPr/>
          <p:nvPr/>
        </p:nvSpPr>
        <p:spPr>
          <a:xfrm>
            <a:off x="762000" y="1905000"/>
            <a:ext cx="5207000" cy="1270000"/>
          </a:xfrm>
          <a:prstGeom prst="roundRect">
            <a:avLst>
              <a:gd name="adj" fmla="val 0"/>
            </a:avLst>
          </a:prstGeom>
          <a:solidFill>
            <a:srgbClr val="FFFFFF">
              <a:alpha val="70000"/>
            </a:srgbClr>
          </a:solidFill>
          <a:ln w="12700" cap="flat" cmpd="sng">
            <a:solidFill>
              <a:srgbClr val="1E463E">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76200" cy="1270000"/>
          </a:xfrm>
          <a:prstGeom prst="roundRect">
            <a:avLst>
              <a:gd name="adj" fmla="val 0"/>
            </a:avLst>
          </a:prstGeom>
          <a:solidFill>
            <a:srgbClr val="1E463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095500"/>
            <a:ext cx="406400" cy="406400"/>
          </a:xfrm>
          <a:prstGeom prst="rect">
            <a:avLst/>
          </a:prstGeom>
        </p:spPr>
      </p:pic>
      <p:sp>
        <p:nvSpPr>
          <p:cNvPr id="7" name="AutoShape 7"/>
          <p:cNvSpPr/>
          <p:nvPr/>
        </p:nvSpPr>
        <p:spPr>
          <a:xfrm>
            <a:off x="1651000" y="1968500"/>
            <a:ext cx="4191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E463E"/>
                </a:solidFill>
                <a:latin typeface="Poppins"/>
                <a:ea typeface="Poppins"/>
                <a:cs typeface="Poppins"/>
                <a:sym typeface="Poppins"/>
              </a:rPr>
              <a:t>01. The Imperative for Change</a:t>
            </a:r>
            <a:endParaRPr lang="en-US" sz="1100"/>
          </a:p>
          <a:p>
            <a:pPr marL="0" indent="0" algn="l">
              <a:lnSpc>
                <a:spcPct val="108000"/>
              </a:lnSpc>
            </a:pPr>
            <a:r>
              <a:rPr lang="en-US" sz="1300" b="0" i="0" u="none" strike="noStrike">
                <a:solidFill>
                  <a:srgbClr val="374151"/>
                </a:solidFill>
                <a:latin typeface="Poppins"/>
                <a:ea typeface="Poppins"/>
                <a:cs typeface="Poppins"/>
                <a:sym typeface="Poppins"/>
              </a:rPr>
              <a:t>Understanding the market dynamics and challenges we address, and why a strategic shift is essential for sustained relevance in today’s evolving landscape.</a:t>
            </a:r>
            <a:endParaRPr lang="en-US" sz="1300" b="0" i="0" u="none" strike="noStrike">
              <a:solidFill>
                <a:srgbClr val="374151"/>
              </a:solidFill>
              <a:latin typeface="Poppins"/>
              <a:ea typeface="Poppins"/>
              <a:cs typeface="Poppins"/>
              <a:sym typeface="Poppins"/>
            </a:endParaRPr>
          </a:p>
        </p:txBody>
      </p:sp>
      <p:sp>
        <p:nvSpPr>
          <p:cNvPr id="8" name="AutoShape 8"/>
          <p:cNvSpPr/>
          <p:nvPr/>
        </p:nvSpPr>
        <p:spPr>
          <a:xfrm>
            <a:off x="6223000" y="1905000"/>
            <a:ext cx="5207000" cy="1270000"/>
          </a:xfrm>
          <a:prstGeom prst="roundRect">
            <a:avLst>
              <a:gd name="adj" fmla="val 0"/>
            </a:avLst>
          </a:prstGeom>
          <a:solidFill>
            <a:srgbClr val="FFFFFF">
              <a:alpha val="70000"/>
            </a:srgbClr>
          </a:solidFill>
          <a:ln w="12700" cap="flat" cmpd="sng">
            <a:solidFill>
              <a:srgbClr val="1E463E">
                <a:alpha val="2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223000" y="1905000"/>
            <a:ext cx="76200" cy="1270000"/>
          </a:xfrm>
          <a:prstGeom prst="roundRect">
            <a:avLst>
              <a:gd name="adj" fmla="val 0"/>
            </a:avLst>
          </a:prstGeom>
          <a:solidFill>
            <a:srgbClr val="1E463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095500"/>
            <a:ext cx="406400" cy="406400"/>
          </a:xfrm>
          <a:prstGeom prst="rect">
            <a:avLst/>
          </a:prstGeom>
        </p:spPr>
      </p:pic>
      <p:sp>
        <p:nvSpPr>
          <p:cNvPr id="11" name="AutoShape 11"/>
          <p:cNvSpPr/>
          <p:nvPr/>
        </p:nvSpPr>
        <p:spPr>
          <a:xfrm>
            <a:off x="7112000" y="1968500"/>
            <a:ext cx="4191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E463E"/>
                </a:solidFill>
                <a:latin typeface="Poppins"/>
                <a:ea typeface="Poppins"/>
                <a:cs typeface="Poppins"/>
                <a:sym typeface="Poppins"/>
              </a:rPr>
              <a:t>02. Our Innovative Solution</a:t>
            </a:r>
            <a:endParaRPr lang="en-US" sz="1100"/>
          </a:p>
          <a:p>
            <a:pPr marL="0" indent="0" algn="l">
              <a:lnSpc>
                <a:spcPct val="108000"/>
              </a:lnSpc>
            </a:pPr>
            <a:r>
              <a:rPr lang="en-US" sz="1300" b="0" i="0" u="none" strike="noStrike">
                <a:solidFill>
                  <a:srgbClr val="374151"/>
                </a:solidFill>
                <a:latin typeface="Poppins"/>
                <a:ea typeface="Poppins"/>
                <a:cs typeface="Poppins"/>
                <a:sym typeface="Poppins"/>
              </a:rPr>
              <a:t>Introducing our cutting-edge product/service and its core capabilities, engineered to directly resolve the critical pain points identified in the market analysis.</a:t>
            </a:r>
            <a:endParaRPr lang="en-US" sz="1300" b="0" i="0" u="none" strike="noStrike">
              <a:solidFill>
                <a:srgbClr val="374151"/>
              </a:solidFill>
              <a:latin typeface="Poppins"/>
              <a:ea typeface="Poppins"/>
              <a:cs typeface="Poppins"/>
              <a:sym typeface="Poppins"/>
            </a:endParaRPr>
          </a:p>
        </p:txBody>
      </p:sp>
      <p:sp>
        <p:nvSpPr>
          <p:cNvPr id="12" name="AutoShape 12"/>
          <p:cNvSpPr/>
          <p:nvPr/>
        </p:nvSpPr>
        <p:spPr>
          <a:xfrm>
            <a:off x="762000" y="3556000"/>
            <a:ext cx="5207000" cy="1270000"/>
          </a:xfrm>
          <a:prstGeom prst="roundRect">
            <a:avLst>
              <a:gd name="adj" fmla="val 0"/>
            </a:avLst>
          </a:prstGeom>
          <a:solidFill>
            <a:srgbClr val="FFFFFF">
              <a:alpha val="70000"/>
            </a:srgbClr>
          </a:solidFill>
          <a:ln w="12700" cap="flat" cmpd="sng">
            <a:solidFill>
              <a:srgbClr val="1E463E">
                <a:alpha val="2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762000" y="3556000"/>
            <a:ext cx="76200" cy="1270000"/>
          </a:xfrm>
          <a:prstGeom prst="roundRect">
            <a:avLst>
              <a:gd name="adj" fmla="val 0"/>
            </a:avLst>
          </a:prstGeom>
          <a:solidFill>
            <a:srgbClr val="1E463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746500"/>
            <a:ext cx="406400" cy="406400"/>
          </a:xfrm>
          <a:prstGeom prst="rect">
            <a:avLst/>
          </a:prstGeom>
        </p:spPr>
      </p:pic>
      <p:sp>
        <p:nvSpPr>
          <p:cNvPr id="15" name="AutoShape 15"/>
          <p:cNvSpPr/>
          <p:nvPr/>
        </p:nvSpPr>
        <p:spPr>
          <a:xfrm>
            <a:off x="1651000" y="3619500"/>
            <a:ext cx="4191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E463E"/>
                </a:solidFill>
                <a:latin typeface="Poppins"/>
                <a:ea typeface="Poppins"/>
                <a:cs typeface="Poppins"/>
                <a:sym typeface="Poppins"/>
              </a:rPr>
              <a:t>03. The Value Proposition</a:t>
            </a:r>
            <a:endParaRPr lang="en-US" sz="1100"/>
          </a:p>
          <a:p>
            <a:pPr marL="0" indent="0" algn="l">
              <a:lnSpc>
                <a:spcPct val="108000"/>
              </a:lnSpc>
            </a:pPr>
            <a:r>
              <a:rPr lang="en-US" sz="1300" b="0" i="0" u="none" strike="noStrike">
                <a:solidFill>
                  <a:srgbClr val="374151"/>
                </a:solidFill>
                <a:latin typeface="Poppins"/>
                <a:ea typeface="Poppins"/>
                <a:cs typeface="Poppins"/>
                <a:sym typeface="Poppins"/>
              </a:rPr>
              <a:t>Delving into how we deliver measurable, data-backed results for clients, focusing on ROI, operational efficiency gains, and building long-term competitive advantage.</a:t>
            </a:r>
            <a:endParaRPr lang="en-US" sz="1300" b="0" i="0" u="none" strike="noStrike">
              <a:solidFill>
                <a:srgbClr val="374151"/>
              </a:solidFill>
              <a:latin typeface="Poppins"/>
              <a:ea typeface="Poppins"/>
              <a:cs typeface="Poppins"/>
              <a:sym typeface="Poppins"/>
            </a:endParaRPr>
          </a:p>
        </p:txBody>
      </p:sp>
      <p:sp>
        <p:nvSpPr>
          <p:cNvPr id="16" name="AutoShape 16"/>
          <p:cNvSpPr/>
          <p:nvPr/>
        </p:nvSpPr>
        <p:spPr>
          <a:xfrm>
            <a:off x="6223000" y="3556000"/>
            <a:ext cx="5207000" cy="1270000"/>
          </a:xfrm>
          <a:prstGeom prst="roundRect">
            <a:avLst>
              <a:gd name="adj" fmla="val 0"/>
            </a:avLst>
          </a:prstGeom>
          <a:solidFill>
            <a:srgbClr val="FFFFFF">
              <a:alpha val="70000"/>
            </a:srgbClr>
          </a:solidFill>
          <a:ln w="12700" cap="flat" cmpd="sng">
            <a:solidFill>
              <a:srgbClr val="1E463E">
                <a:alpha val="2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223000" y="3556000"/>
            <a:ext cx="76200" cy="1270000"/>
          </a:xfrm>
          <a:prstGeom prst="roundRect">
            <a:avLst>
              <a:gd name="adj" fmla="val 0"/>
            </a:avLst>
          </a:prstGeom>
          <a:solidFill>
            <a:srgbClr val="1E463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3746500"/>
            <a:ext cx="406400" cy="406400"/>
          </a:xfrm>
          <a:prstGeom prst="rect">
            <a:avLst/>
          </a:prstGeom>
        </p:spPr>
      </p:pic>
      <p:sp>
        <p:nvSpPr>
          <p:cNvPr id="19" name="AutoShape 19"/>
          <p:cNvSpPr/>
          <p:nvPr/>
        </p:nvSpPr>
        <p:spPr>
          <a:xfrm>
            <a:off x="7112000" y="3619500"/>
            <a:ext cx="4191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E463E"/>
                </a:solidFill>
                <a:latin typeface="Poppins"/>
                <a:ea typeface="Poppins"/>
                <a:cs typeface="Poppins"/>
                <a:sym typeface="Poppins"/>
              </a:rPr>
              <a:t>04. Real-World Impact</a:t>
            </a:r>
            <a:endParaRPr lang="en-US" sz="1100"/>
          </a:p>
          <a:p>
            <a:pPr marL="0" indent="0" algn="l">
              <a:lnSpc>
                <a:spcPct val="108000"/>
              </a:lnSpc>
            </a:pPr>
            <a:r>
              <a:rPr lang="en-US" sz="1300" b="0" i="0" u="none" strike="noStrike">
                <a:solidFill>
                  <a:srgbClr val="374151"/>
                </a:solidFill>
                <a:latin typeface="Poppins"/>
                <a:ea typeface="Poppins"/>
                <a:cs typeface="Poppins"/>
                <a:sym typeface="Poppins"/>
              </a:rPr>
              <a:t>Highlighting successful client partnerships and case studies that demonstrate the tangible, transformative effect our solution has on businesses across key sectors.</a:t>
            </a:r>
            <a:endParaRPr lang="en-US" sz="1300" b="0" i="0" u="none" strike="noStrike">
              <a:solidFill>
                <a:srgbClr val="374151"/>
              </a:solidFill>
              <a:latin typeface="Poppins"/>
              <a:ea typeface="Poppins"/>
              <a:cs typeface="Poppins"/>
              <a:sym typeface="Poppins"/>
            </a:endParaRPr>
          </a:p>
        </p:txBody>
      </p:sp>
      <p:sp>
        <p:nvSpPr>
          <p:cNvPr id="20" name="AutoShape 20"/>
          <p:cNvSpPr/>
          <p:nvPr/>
        </p:nvSpPr>
        <p:spPr>
          <a:xfrm>
            <a:off x="762000" y="5207000"/>
            <a:ext cx="10668000" cy="1143000"/>
          </a:xfrm>
          <a:prstGeom prst="roundRect">
            <a:avLst>
              <a:gd name="adj" fmla="val 0"/>
            </a:avLst>
          </a:prstGeom>
          <a:solidFill>
            <a:srgbClr val="FFFFFF">
              <a:alpha val="70000"/>
            </a:srgbClr>
          </a:solidFill>
          <a:ln w="12700" cap="flat" cmpd="sng">
            <a:solidFill>
              <a:srgbClr val="1E463E">
                <a:alpha val="2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762000" y="5207000"/>
            <a:ext cx="76200" cy="1143000"/>
          </a:xfrm>
          <a:prstGeom prst="roundRect">
            <a:avLst>
              <a:gd name="adj" fmla="val 0"/>
            </a:avLst>
          </a:prstGeom>
          <a:solidFill>
            <a:srgbClr val="1E463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5397500"/>
            <a:ext cx="406400" cy="406400"/>
          </a:xfrm>
          <a:prstGeom prst="rect">
            <a:avLst/>
          </a:prstGeom>
        </p:spPr>
      </p:pic>
      <p:sp>
        <p:nvSpPr>
          <p:cNvPr id="23" name="AutoShape 23"/>
          <p:cNvSpPr/>
          <p:nvPr/>
        </p:nvSpPr>
        <p:spPr>
          <a:xfrm>
            <a:off x="1651000" y="5270500"/>
            <a:ext cx="952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E463E"/>
                </a:solidFill>
                <a:latin typeface="Poppins"/>
                <a:ea typeface="Poppins"/>
                <a:cs typeface="Poppins"/>
                <a:sym typeface="Poppins"/>
              </a:rPr>
              <a:t>05. Strategic Outlook</a:t>
            </a:r>
            <a:endParaRPr lang="en-US" sz="1100"/>
          </a:p>
          <a:p>
            <a:pPr marL="0" indent="0" algn="l">
              <a:lnSpc>
                <a:spcPct val="108000"/>
              </a:lnSpc>
            </a:pPr>
            <a:r>
              <a:rPr lang="en-US" sz="1300" b="0" i="0" u="none" strike="noStrike">
                <a:solidFill>
                  <a:srgbClr val="374151"/>
                </a:solidFill>
                <a:latin typeface="Poppins"/>
                <a:ea typeface="Poppins"/>
                <a:cs typeface="Poppins"/>
                <a:sym typeface="Poppins"/>
              </a:rPr>
              <a:t>Mapping our growth trajectory, future product roadmap, and outlining the opportunities for you to collaborate and be an integral part of our journey toward industry leadership and shared success.</a:t>
            </a:r>
            <a:endParaRPr lang="en-US" sz="1300" b="0" i="0" u="none" strike="noStrike">
              <a:solidFill>
                <a:srgbClr val="374151"/>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The [Industry] Landscape: A Time for Transformation</a:t>
            </a:r>
            <a:endParaRPr lang="en-US" sz="1100"/>
          </a:p>
        </p:txBody>
      </p:sp>
      <p:pic>
        <p:nvPicPr>
          <p:cNvPr id="4" name="Picture 4"/>
          <p:cNvPicPr>
            <a:picLocks noChangeAspect="1"/>
          </p:cNvPicPr>
          <p:nvPr/>
        </p:nvPicPr>
        <p:blipFill>
          <a:blip r:embed="rId2"/>
          <a:srcRect t="2064" b="2064"/>
          <a:stretch>
            <a:fillRect/>
          </a:stretch>
        </p:blipFill>
        <p:spPr>
          <a:xfrm>
            <a:off x="762000" y="1905000"/>
            <a:ext cx="4572000" cy="2921000"/>
          </a:xfrm>
          <a:prstGeom prst="rect">
            <a:avLst/>
          </a:prstGeom>
          <a:noFill/>
          <a:ln w="12700" cap="flat" cmpd="sng">
            <a:solidFill>
              <a:srgbClr val="1E463E">
                <a:alpha val="20000"/>
              </a:srgbClr>
            </a:solidFill>
            <a:prstDash val="solid"/>
            <a:round/>
          </a:ln>
        </p:spPr>
      </p:pic>
      <p:sp>
        <p:nvSpPr>
          <p:cNvPr id="5" name="AutoShape 5"/>
          <p:cNvSpPr/>
          <p:nvPr/>
        </p:nvSpPr>
        <p:spPr>
          <a:xfrm>
            <a:off x="5842000" y="1905000"/>
            <a:ext cx="5588000" cy="1206500"/>
          </a:xfrm>
          <a:prstGeom prst="roundRect">
            <a:avLst>
              <a:gd name="adj" fmla="val 0"/>
            </a:avLst>
          </a:prstGeom>
          <a:solidFill>
            <a:srgbClr val="FFFFFF">
              <a:alpha val="70000"/>
            </a:srgbClr>
          </a:solidFill>
          <a:ln w="12700" cap="flat" cmpd="sng">
            <a:solidFill>
              <a:srgbClr val="1E463E">
                <a:alpha val="15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5842000" y="1905000"/>
            <a:ext cx="76200" cy="1206500"/>
          </a:xfrm>
          <a:prstGeom prst="roundRect">
            <a:avLst>
              <a:gd name="adj" fmla="val 0"/>
            </a:avLst>
          </a:prstGeom>
          <a:solidFill>
            <a:srgbClr val="1E463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96000" y="2032000"/>
            <a:ext cx="406400" cy="406400"/>
          </a:xfrm>
          <a:prstGeom prst="rect">
            <a:avLst/>
          </a:prstGeom>
        </p:spPr>
      </p:pic>
      <p:sp>
        <p:nvSpPr>
          <p:cNvPr id="8" name="AutoShape 8"/>
          <p:cNvSpPr/>
          <p:nvPr/>
        </p:nvSpPr>
        <p:spPr>
          <a:xfrm>
            <a:off x="6731000" y="2006600"/>
            <a:ext cx="4508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E463E"/>
                </a:solidFill>
                <a:latin typeface="Poppins"/>
                <a:ea typeface="Poppins"/>
                <a:cs typeface="Poppins"/>
                <a:sym typeface="Poppins"/>
              </a:rPr>
              <a:t>Stagnation in Efficiency</a:t>
            </a:r>
            <a:endParaRPr lang="en-US" sz="1100"/>
          </a:p>
          <a:p>
            <a:pPr marL="0" indent="0" algn="l">
              <a:lnSpc>
                <a:spcPct val="108000"/>
              </a:lnSpc>
            </a:pPr>
            <a:r>
              <a:rPr lang="en-US" sz="1300" b="0" i="0" u="none" strike="noStrike">
                <a:solidFill>
                  <a:srgbClr val="374151"/>
                </a:solidFill>
                <a:latin typeface="Poppins"/>
                <a:ea typeface="Poppins"/>
                <a:cs typeface="Poppins"/>
                <a:sym typeface="Poppins"/>
              </a:rPr>
              <a:t>Traditional workflows are limiting scalability and increasing operational costs by an average of [XX%], creating bottlenecks that hinder growth.</a:t>
            </a:r>
            <a:endParaRPr lang="en-US" sz="1300" b="0" i="0" u="none" strike="noStrike">
              <a:solidFill>
                <a:srgbClr val="374151"/>
              </a:solidFill>
              <a:latin typeface="Poppins"/>
              <a:ea typeface="Poppins"/>
              <a:cs typeface="Poppins"/>
              <a:sym typeface="Poppins"/>
            </a:endParaRPr>
          </a:p>
        </p:txBody>
      </p:sp>
      <p:sp>
        <p:nvSpPr>
          <p:cNvPr id="9" name="AutoShape 9"/>
          <p:cNvSpPr/>
          <p:nvPr/>
        </p:nvSpPr>
        <p:spPr>
          <a:xfrm>
            <a:off x="5842000" y="3302000"/>
            <a:ext cx="5588000" cy="1206500"/>
          </a:xfrm>
          <a:prstGeom prst="roundRect">
            <a:avLst>
              <a:gd name="adj" fmla="val 0"/>
            </a:avLst>
          </a:prstGeom>
          <a:solidFill>
            <a:srgbClr val="FFFFFF">
              <a:alpha val="70000"/>
            </a:srgbClr>
          </a:solidFill>
          <a:ln w="12700" cap="flat" cmpd="sng">
            <a:solidFill>
              <a:srgbClr val="1E463E">
                <a:alpha val="15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5842000" y="3302000"/>
            <a:ext cx="76200" cy="1206500"/>
          </a:xfrm>
          <a:prstGeom prst="roundRect">
            <a:avLst>
              <a:gd name="adj" fmla="val 0"/>
            </a:avLst>
          </a:prstGeom>
          <a:solidFill>
            <a:srgbClr val="1E463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96000" y="3429000"/>
            <a:ext cx="406400" cy="406400"/>
          </a:xfrm>
          <a:prstGeom prst="rect">
            <a:avLst/>
          </a:prstGeom>
        </p:spPr>
      </p:pic>
      <p:sp>
        <p:nvSpPr>
          <p:cNvPr id="12" name="AutoShape 12"/>
          <p:cNvSpPr/>
          <p:nvPr/>
        </p:nvSpPr>
        <p:spPr>
          <a:xfrm>
            <a:off x="6731000" y="3403600"/>
            <a:ext cx="4508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E463E"/>
                </a:solidFill>
                <a:latin typeface="Poppins"/>
                <a:ea typeface="Poppins"/>
                <a:cs typeface="Poppins"/>
                <a:sym typeface="Poppins"/>
              </a:rPr>
              <a:t>Evolving Customer Demands</a:t>
            </a:r>
            <a:endParaRPr lang="en-US" sz="1100"/>
          </a:p>
          <a:p>
            <a:pPr marL="0" indent="0" algn="l">
              <a:lnSpc>
                <a:spcPct val="108000"/>
              </a:lnSpc>
            </a:pPr>
            <a:r>
              <a:rPr lang="en-US" sz="1300" b="0" i="0" u="none" strike="noStrike">
                <a:solidFill>
                  <a:srgbClr val="374151"/>
                </a:solidFill>
                <a:latin typeface="Poppins"/>
                <a:ea typeface="Poppins"/>
                <a:cs typeface="Poppins"/>
                <a:sym typeface="Poppins"/>
              </a:rPr>
              <a:t>Modern consumers expect seamless, personalized, and real-time experiences that legacy systems and current solutions are ill-equipped to deliver consistently.</a:t>
            </a:r>
            <a:endParaRPr lang="en-US" sz="1300" b="0" i="0" u="none" strike="noStrike">
              <a:solidFill>
                <a:srgbClr val="374151"/>
              </a:solidFill>
              <a:latin typeface="Poppins"/>
              <a:ea typeface="Poppins"/>
              <a:cs typeface="Poppins"/>
              <a:sym typeface="Poppins"/>
            </a:endParaRPr>
          </a:p>
        </p:txBody>
      </p:sp>
      <p:sp>
        <p:nvSpPr>
          <p:cNvPr id="13" name="AutoShape 13"/>
          <p:cNvSpPr/>
          <p:nvPr/>
        </p:nvSpPr>
        <p:spPr>
          <a:xfrm>
            <a:off x="5842000" y="4699000"/>
            <a:ext cx="5588000" cy="1206500"/>
          </a:xfrm>
          <a:prstGeom prst="roundRect">
            <a:avLst>
              <a:gd name="adj" fmla="val 0"/>
            </a:avLst>
          </a:prstGeom>
          <a:solidFill>
            <a:srgbClr val="FFFFFF">
              <a:alpha val="70000"/>
            </a:srgbClr>
          </a:solidFill>
          <a:ln w="12700" cap="flat" cmpd="sng">
            <a:solidFill>
              <a:srgbClr val="1E463E">
                <a:alpha val="15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5842000" y="4699000"/>
            <a:ext cx="76200" cy="1206500"/>
          </a:xfrm>
          <a:prstGeom prst="roundRect">
            <a:avLst>
              <a:gd name="adj" fmla="val 0"/>
            </a:avLst>
          </a:prstGeom>
          <a:solidFill>
            <a:srgbClr val="1E463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96000" y="4826000"/>
            <a:ext cx="406400" cy="406400"/>
          </a:xfrm>
          <a:prstGeom prst="rect">
            <a:avLst/>
          </a:prstGeom>
        </p:spPr>
      </p:pic>
      <p:sp>
        <p:nvSpPr>
          <p:cNvPr id="16" name="AutoShape 16"/>
          <p:cNvSpPr/>
          <p:nvPr/>
        </p:nvSpPr>
        <p:spPr>
          <a:xfrm>
            <a:off x="6731000" y="4800600"/>
            <a:ext cx="4508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E463E"/>
                </a:solidFill>
                <a:latin typeface="Poppins"/>
                <a:ea typeface="Poppins"/>
                <a:cs typeface="Poppins"/>
                <a:sym typeface="Poppins"/>
              </a:rPr>
              <a:t>Emerging Competitive Threats</a:t>
            </a:r>
            <a:endParaRPr lang="en-US" sz="1100"/>
          </a:p>
          <a:p>
            <a:pPr marL="0" indent="0" algn="l">
              <a:lnSpc>
                <a:spcPct val="108000"/>
              </a:lnSpc>
            </a:pPr>
            <a:r>
              <a:rPr lang="en-US" sz="1300" b="0" i="0" u="none" strike="noStrike">
                <a:solidFill>
                  <a:srgbClr val="374151"/>
                </a:solidFill>
                <a:latin typeface="Poppins"/>
                <a:ea typeface="Poppins"/>
                <a:cs typeface="Poppins"/>
                <a:sym typeface="Poppins"/>
              </a:rPr>
              <a:t>Agile new market entrants are leveraging cutting-edge technologies to capture significant market share, unburdened by outdated infrastructure.</a:t>
            </a:r>
            <a:endParaRPr lang="en-US" sz="1300" b="0" i="0" u="none" strike="noStrike">
              <a:solidFill>
                <a:srgbClr val="374151"/>
              </a:solidFill>
              <a:latin typeface="Poppins"/>
              <a:ea typeface="Poppins"/>
              <a:cs typeface="Poppins"/>
              <a:sym typeface="Poppins"/>
            </a:endParaRPr>
          </a:p>
        </p:txBody>
      </p:sp>
      <p:sp>
        <p:nvSpPr>
          <p:cNvPr id="17" name="AutoShape 17"/>
          <p:cNvSpPr/>
          <p:nvPr/>
        </p:nvSpPr>
        <p:spPr>
          <a:xfrm>
            <a:off x="762000" y="6032500"/>
            <a:ext cx="10668000" cy="635000"/>
          </a:xfrm>
          <a:prstGeom prst="roundRect">
            <a:avLst>
              <a:gd name="adj" fmla="val 0"/>
            </a:avLst>
          </a:prstGeom>
          <a:solidFill>
            <a:srgbClr val="1E463E">
              <a:alpha val="8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952500" y="6121400"/>
            <a:ext cx="10287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1" u="none" strike="noStrike">
                <a:solidFill>
                  <a:srgbClr val="1E463E"/>
                </a:solidFill>
                <a:latin typeface="Poppins"/>
                <a:ea typeface="Poppins"/>
                <a:cs typeface="Poppins"/>
                <a:sym typeface="Poppins"/>
              </a:rPr>
              <a:t>“This creates a critical juncture for businesses: adapt your strategies, modernize your operations, and embrace innovation – or risk being left behind in an increasingly dynamic market.”</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Introducing [Product/Service Name]</a:t>
            </a:r>
            <a:endParaRPr lang="en-US" sz="1100"/>
          </a:p>
        </p:txBody>
      </p:sp>
      <p:sp>
        <p:nvSpPr>
          <p:cNvPr id="4" name="AutoShape 4"/>
          <p:cNvSpPr/>
          <p:nvPr/>
        </p:nvSpPr>
        <p:spPr>
          <a:xfrm>
            <a:off x="762000" y="1778000"/>
            <a:ext cx="533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1E463E"/>
                </a:solidFill>
                <a:latin typeface="Poppins"/>
                <a:ea typeface="Poppins"/>
                <a:cs typeface="Poppins"/>
                <a:sym typeface="Poppins"/>
              </a:rPr>
              <a:t>The All-in-One Platform for [Your Industry]</a:t>
            </a:r>
            <a:endParaRPr lang="en-US" sz="1100"/>
          </a:p>
        </p:txBody>
      </p:sp>
      <p:cxnSp>
        <p:nvCxnSpPr>
          <p:cNvPr id="5" name="Connector 5"/>
          <p:cNvCxnSpPr/>
          <p:nvPr/>
        </p:nvCxnSpPr>
        <p:spPr>
          <a:xfrm rot="-8185">
            <a:off x="762008" y="2787650"/>
            <a:ext cx="5334000" cy="12700"/>
          </a:xfrm>
          <a:prstGeom prst="straightConnector1">
            <a:avLst/>
          </a:prstGeom>
          <a:solidFill>
            <a:srgbClr val="DEE0E3">
              <a:alpha val="100000"/>
            </a:srgbClr>
          </a:solidFill>
          <a:ln w="12700" cap="flat" cmpd="sng">
            <a:solidFill>
              <a:srgbClr val="1E463E">
                <a:alpha val="30000"/>
              </a:srgbClr>
            </a:solidFill>
            <a:prstDash val="solid"/>
            <a:round/>
            <a:headEnd type="none" w="med" len="med"/>
            <a:tailEnd type="none" w="med" len="med"/>
          </a:ln>
        </p:spPr>
      </p:cxnSp>
      <p:sp>
        <p:nvSpPr>
          <p:cNvPr id="6" name="AutoShape 6"/>
          <p:cNvSpPr/>
          <p:nvPr/>
        </p:nvSpPr>
        <p:spPr>
          <a:xfrm>
            <a:off x="762000" y="3175000"/>
            <a:ext cx="5334000" cy="1079500"/>
          </a:xfrm>
          <a:prstGeom prst="roundRect">
            <a:avLst>
              <a:gd name="adj" fmla="val 0"/>
            </a:avLst>
          </a:prstGeom>
          <a:solidFill>
            <a:srgbClr val="1E463E">
              <a:alpha val="5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3365500"/>
            <a:ext cx="406400" cy="406400"/>
          </a:xfrm>
          <a:prstGeom prst="rect">
            <a:avLst/>
          </a:prstGeom>
        </p:spPr>
      </p:pic>
      <p:sp>
        <p:nvSpPr>
          <p:cNvPr id="8" name="AutoShape 8"/>
          <p:cNvSpPr/>
          <p:nvPr/>
        </p:nvSpPr>
        <p:spPr>
          <a:xfrm>
            <a:off x="1587500" y="3302000"/>
            <a:ext cx="431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937"/>
                </a:solidFill>
                <a:latin typeface="Poppins"/>
                <a:ea typeface="Poppins"/>
                <a:cs typeface="Poppins"/>
                <a:sym typeface="Poppins"/>
              </a:rPr>
              <a:t>Automate Core Processes</a:t>
            </a:r>
            <a:br>
              <a:rPr lang="en-US" sz="1600" b="0" i="0" u="none" strike="noStrike">
                <a:solidFill>
                  <a:srgbClr val="1F2329"/>
                </a:solidFill>
                <a:latin typeface="Poppins"/>
                <a:ea typeface="Poppins"/>
                <a:cs typeface="Poppins"/>
                <a:sym typeface="Poppins"/>
              </a:rPr>
            </a:br>
            <a:r>
              <a:rPr lang="en-US" sz="1300" b="0" i="0" u="none" strike="noStrike">
                <a:solidFill>
                  <a:srgbClr val="4B5563"/>
                </a:solidFill>
                <a:latin typeface="Poppins"/>
                <a:ea typeface="Poppins"/>
                <a:cs typeface="Poppins"/>
                <a:sym typeface="Poppins"/>
              </a:rPr>
              <a:t>Eliminate repetitive manual tasks and streamline workflows with intelligent automation, freeing your team to focus on high-value strategic initiatives.</a:t>
            </a:r>
            <a:endParaRPr lang="en-US" sz="1100"/>
          </a:p>
        </p:txBody>
      </p:sp>
      <p:sp>
        <p:nvSpPr>
          <p:cNvPr id="9" name="AutoShape 9"/>
          <p:cNvSpPr/>
          <p:nvPr/>
        </p:nvSpPr>
        <p:spPr>
          <a:xfrm>
            <a:off x="762000" y="4445000"/>
            <a:ext cx="5334000" cy="1079500"/>
          </a:xfrm>
          <a:prstGeom prst="roundRect">
            <a:avLst>
              <a:gd name="adj" fmla="val 0"/>
            </a:avLst>
          </a:prstGeom>
          <a:solidFill>
            <a:srgbClr val="1E463E">
              <a:alpha val="5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635500"/>
            <a:ext cx="406400" cy="406400"/>
          </a:xfrm>
          <a:prstGeom prst="rect">
            <a:avLst/>
          </a:prstGeom>
        </p:spPr>
      </p:pic>
      <p:sp>
        <p:nvSpPr>
          <p:cNvPr id="11" name="AutoShape 11"/>
          <p:cNvSpPr/>
          <p:nvPr/>
        </p:nvSpPr>
        <p:spPr>
          <a:xfrm>
            <a:off x="1587500" y="4572000"/>
            <a:ext cx="431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937"/>
                </a:solidFill>
                <a:latin typeface="Poppins"/>
                <a:ea typeface="Poppins"/>
                <a:cs typeface="Poppins"/>
                <a:sym typeface="Poppins"/>
              </a:rPr>
              <a:t>Data-Driven Customer Engagement</a:t>
            </a:r>
            <a:br>
              <a:rPr lang="en-US" sz="1600" b="0" i="0" u="none" strike="noStrike">
                <a:solidFill>
                  <a:srgbClr val="1F2329"/>
                </a:solidFill>
                <a:latin typeface="Poppins"/>
                <a:ea typeface="Poppins"/>
                <a:cs typeface="Poppins"/>
                <a:sym typeface="Poppins"/>
              </a:rPr>
            </a:br>
            <a:r>
              <a:rPr lang="en-US" sz="1300" b="0" i="0" u="none" strike="noStrike">
                <a:solidFill>
                  <a:srgbClr val="4B5563"/>
                </a:solidFill>
                <a:latin typeface="Poppins"/>
                <a:ea typeface="Poppins"/>
                <a:cs typeface="Poppins"/>
                <a:sym typeface="Poppins"/>
              </a:rPr>
              <a:t>Leverage real-time analytics to personalize interactions, anticipate needs, and build lasting relationships that drive loyalty and revenue growth.</a:t>
            </a:r>
            <a:endParaRPr lang="en-US" sz="1100"/>
          </a:p>
        </p:txBody>
      </p:sp>
      <p:pic>
        <p:nvPicPr>
          <p:cNvPr id="12" name="Picture 12"/>
          <p:cNvPicPr>
            <a:picLocks noChangeAspect="1"/>
          </p:cNvPicPr>
          <p:nvPr/>
        </p:nvPicPr>
        <p:blipFill>
          <a:blip r:embed="rId6"/>
          <a:srcRect l="5276" r="5276"/>
          <a:stretch>
            <a:fillRect/>
          </a:stretch>
        </p:blipFill>
        <p:spPr>
          <a:xfrm>
            <a:off x="6731000" y="2032000"/>
            <a:ext cx="4572000" cy="3302000"/>
          </a:xfrm>
          <a:prstGeom prst="rect">
            <a:avLst/>
          </a:prstGeom>
          <a:noFill/>
          <a:ln w="12700" cap="flat" cmpd="sng">
            <a:solidFill>
              <a:srgbClr val="1E463E">
                <a:alpha val="20000"/>
              </a:srgbClr>
            </a:solidFill>
            <a:prstDash val="solid"/>
            <a:round/>
          </a:ln>
          <a:effectLst>
            <a:outerShdw blurRad="152400" dist="76200" dir="2700000" algn="tl" rotWithShape="0">
              <a:srgbClr val="000000">
                <a:alpha val="15000"/>
              </a:srgbClr>
            </a:outerShdw>
          </a:effectLst>
        </p:spPr>
      </p:pic>
      <p:sp>
        <p:nvSpPr>
          <p:cNvPr id="13" name="AutoShape 13"/>
          <p:cNvSpPr/>
          <p:nvPr/>
        </p:nvSpPr>
        <p:spPr>
          <a:xfrm>
            <a:off x="6731000" y="5588000"/>
            <a:ext cx="457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300" b="0" i="0" u="none" strike="noStrike">
                <a:solidFill>
                  <a:srgbClr val="4B5563"/>
                </a:solidFill>
                <a:latin typeface="Poppins"/>
                <a:ea typeface="Poppins"/>
                <a:cs typeface="Poppins"/>
                <a:sym typeface="Poppins"/>
              </a:rPr>
              <a:t>Our intuitive dashboard delivers a unified view of your operations, making complex data accessible and actionable for every team member.</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The Power of [Product/Service Name]: Key Features</a:t>
            </a:r>
            <a:endParaRPr lang="en-US" sz="1100"/>
          </a:p>
        </p:txBody>
      </p:sp>
      <p:pic>
        <p:nvPicPr>
          <p:cNvPr id="4" name="Picture 4"/>
          <p:cNvPicPr>
            <a:picLocks noChangeAspect="1"/>
          </p:cNvPicPr>
          <p:nvPr/>
        </p:nvPicPr>
        <p:blipFill>
          <a:blip r:embed="rId2"/>
          <a:srcRect l="9" r="9"/>
          <a:stretch>
            <a:fillRect/>
          </a:stretch>
        </p:blipFill>
        <p:spPr>
          <a:xfrm>
            <a:off x="762000" y="1905000"/>
            <a:ext cx="4572000" cy="3352800"/>
          </a:xfrm>
          <a:prstGeom prst="rect">
            <a:avLst/>
          </a:prstGeom>
          <a:noFill/>
          <a:ln w="12700" cap="flat" cmpd="sng">
            <a:solidFill>
              <a:srgbClr val="1E463E">
                <a:alpha val="15000"/>
              </a:srgbClr>
            </a:solidFill>
            <a:prstDash val="solid"/>
            <a:round/>
          </a:ln>
        </p:spPr>
      </p:pic>
      <p:sp>
        <p:nvSpPr>
          <p:cNvPr id="5" name="AutoShape 5"/>
          <p:cNvSpPr/>
          <p:nvPr/>
        </p:nvSpPr>
        <p:spPr>
          <a:xfrm>
            <a:off x="762000" y="5461000"/>
            <a:ext cx="457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Poppins"/>
                <a:ea typeface="Poppins"/>
                <a:cs typeface="Poppins"/>
                <a:sym typeface="Poppins"/>
              </a:rPr>
              <a:t>Our intuitive dashboard visualizes complex data streams in real time, empowering teams to monitor performance and uncover opportunities at a glance.</a:t>
            </a:r>
            <a:endParaRPr lang="en-US" sz="1100"/>
          </a:p>
        </p:txBody>
      </p:sp>
      <p:cxnSp>
        <p:nvCxnSpPr>
          <p:cNvPr id="6" name="Connector 6"/>
          <p:cNvCxnSpPr/>
          <p:nvPr/>
        </p:nvCxnSpPr>
        <p:spPr>
          <a:xfrm rot="5390177">
            <a:off x="3619500" y="4121159"/>
            <a:ext cx="4445000" cy="12700"/>
          </a:xfrm>
          <a:prstGeom prst="straightConnector1">
            <a:avLst/>
          </a:prstGeom>
          <a:solidFill>
            <a:srgbClr val="DEE0E3">
              <a:alpha val="100000"/>
            </a:srgbClr>
          </a:solidFill>
          <a:ln w="12700" cap="flat" cmpd="sng">
            <a:solidFill>
              <a:srgbClr val="1E463E">
                <a:alpha val="20000"/>
              </a:srgbClr>
            </a:solidFill>
            <a:prstDash val="dash"/>
            <a:round/>
            <a:headEnd type="none" w="med" len="med"/>
            <a:tailEnd type="none" w="med" len="med"/>
          </a:ln>
        </p:spPr>
      </p:cxnSp>
      <p:sp>
        <p:nvSpPr>
          <p:cNvPr id="7" name="AutoShape 7"/>
          <p:cNvSpPr/>
          <p:nvPr/>
        </p:nvSpPr>
        <p:spPr>
          <a:xfrm>
            <a:off x="6096000" y="1905000"/>
            <a:ext cx="2857500" cy="1968500"/>
          </a:xfrm>
          <a:prstGeom prst="roundRect">
            <a:avLst>
              <a:gd name="adj" fmla="val 0"/>
            </a:avLst>
          </a:prstGeom>
          <a:solidFill>
            <a:srgbClr val="1E463E">
              <a:alpha val="4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6096000" y="1905000"/>
            <a:ext cx="50800" cy="1968500"/>
          </a:xfrm>
          <a:prstGeom prst="roundRect">
            <a:avLst>
              <a:gd name="adj" fmla="val 0"/>
            </a:avLst>
          </a:prstGeom>
          <a:solidFill>
            <a:srgbClr val="1E463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86500" y="2095500"/>
            <a:ext cx="355600" cy="355600"/>
          </a:xfrm>
          <a:prstGeom prst="rect">
            <a:avLst/>
          </a:prstGeom>
        </p:spPr>
      </p:pic>
      <p:sp>
        <p:nvSpPr>
          <p:cNvPr id="10" name="AutoShape 10"/>
          <p:cNvSpPr/>
          <p:nvPr/>
        </p:nvSpPr>
        <p:spPr>
          <a:xfrm>
            <a:off x="6731000" y="2070100"/>
            <a:ext cx="209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63E"/>
                </a:solidFill>
                <a:latin typeface="Poppins"/>
                <a:ea typeface="Poppins"/>
                <a:cs typeface="Poppins"/>
                <a:sym typeface="Poppins"/>
              </a:rPr>
              <a:t>Intuitive User Interface</a:t>
            </a:r>
            <a:endParaRPr lang="en-US" sz="1100"/>
          </a:p>
        </p:txBody>
      </p:sp>
      <p:sp>
        <p:nvSpPr>
          <p:cNvPr id="11" name="AutoShape 11"/>
          <p:cNvSpPr/>
          <p:nvPr/>
        </p:nvSpPr>
        <p:spPr>
          <a:xfrm>
            <a:off x="6286500" y="2667000"/>
            <a:ext cx="254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Poppins"/>
                <a:ea typeface="Poppins"/>
                <a:cs typeface="Poppins"/>
                <a:sym typeface="Poppins"/>
              </a:rPr>
              <a:t>Designed for ease of use, requiring minimal training and maximizing user adoption across all team levels.</a:t>
            </a:r>
            <a:endParaRPr lang="en-US" sz="1100"/>
          </a:p>
        </p:txBody>
      </p:sp>
      <p:sp>
        <p:nvSpPr>
          <p:cNvPr id="12" name="AutoShape 12"/>
          <p:cNvSpPr/>
          <p:nvPr/>
        </p:nvSpPr>
        <p:spPr>
          <a:xfrm>
            <a:off x="9080500" y="1905000"/>
            <a:ext cx="2857500" cy="1968500"/>
          </a:xfrm>
          <a:prstGeom prst="roundRect">
            <a:avLst>
              <a:gd name="adj" fmla="val 0"/>
            </a:avLst>
          </a:prstGeom>
          <a:solidFill>
            <a:srgbClr val="1E463E">
              <a:alpha val="4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9080500" y="1905000"/>
            <a:ext cx="50800" cy="1968500"/>
          </a:xfrm>
          <a:prstGeom prst="roundRect">
            <a:avLst>
              <a:gd name="adj" fmla="val 0"/>
            </a:avLst>
          </a:prstGeom>
          <a:solidFill>
            <a:srgbClr val="1E463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71000" y="2095500"/>
            <a:ext cx="355600" cy="355600"/>
          </a:xfrm>
          <a:prstGeom prst="rect">
            <a:avLst/>
          </a:prstGeom>
        </p:spPr>
      </p:pic>
      <p:sp>
        <p:nvSpPr>
          <p:cNvPr id="15" name="AutoShape 15"/>
          <p:cNvSpPr/>
          <p:nvPr/>
        </p:nvSpPr>
        <p:spPr>
          <a:xfrm>
            <a:off x="9715500" y="2070100"/>
            <a:ext cx="209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63E"/>
                </a:solidFill>
                <a:latin typeface="Poppins"/>
                <a:ea typeface="Poppins"/>
                <a:cs typeface="Poppins"/>
                <a:sym typeface="Poppins"/>
              </a:rPr>
              <a:t>Advanced Data Analytics</a:t>
            </a:r>
            <a:endParaRPr lang="en-US" sz="1100"/>
          </a:p>
        </p:txBody>
      </p:sp>
      <p:sp>
        <p:nvSpPr>
          <p:cNvPr id="16" name="AutoShape 16"/>
          <p:cNvSpPr/>
          <p:nvPr/>
        </p:nvSpPr>
        <p:spPr>
          <a:xfrm>
            <a:off x="9271000" y="2667000"/>
            <a:ext cx="254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Poppins"/>
                <a:ea typeface="Poppins"/>
                <a:cs typeface="Poppins"/>
                <a:sym typeface="Poppins"/>
              </a:rPr>
              <a:t>Transforms raw data into actionable insights, enabling proactive decision-making and strategic business planning.</a:t>
            </a:r>
            <a:endParaRPr lang="en-US" sz="1100"/>
          </a:p>
        </p:txBody>
      </p:sp>
      <p:sp>
        <p:nvSpPr>
          <p:cNvPr id="17" name="AutoShape 17"/>
          <p:cNvSpPr/>
          <p:nvPr/>
        </p:nvSpPr>
        <p:spPr>
          <a:xfrm>
            <a:off x="6096000" y="4191000"/>
            <a:ext cx="2857500" cy="1968500"/>
          </a:xfrm>
          <a:prstGeom prst="roundRect">
            <a:avLst>
              <a:gd name="adj" fmla="val 0"/>
            </a:avLst>
          </a:prstGeom>
          <a:solidFill>
            <a:srgbClr val="1E463E">
              <a:alpha val="4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096000" y="4191000"/>
            <a:ext cx="50800" cy="1968500"/>
          </a:xfrm>
          <a:prstGeom prst="roundRect">
            <a:avLst>
              <a:gd name="adj" fmla="val 0"/>
            </a:avLst>
          </a:prstGeom>
          <a:solidFill>
            <a:srgbClr val="1E463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86500" y="4381500"/>
            <a:ext cx="355600" cy="355600"/>
          </a:xfrm>
          <a:prstGeom prst="rect">
            <a:avLst/>
          </a:prstGeom>
        </p:spPr>
      </p:pic>
      <p:sp>
        <p:nvSpPr>
          <p:cNvPr id="20" name="AutoShape 20"/>
          <p:cNvSpPr/>
          <p:nvPr/>
        </p:nvSpPr>
        <p:spPr>
          <a:xfrm>
            <a:off x="6731000" y="4356100"/>
            <a:ext cx="209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63E"/>
                </a:solidFill>
                <a:latin typeface="Poppins"/>
                <a:ea typeface="Poppins"/>
                <a:cs typeface="Poppins"/>
                <a:sym typeface="Poppins"/>
              </a:rPr>
              <a:t>Robust Security &amp; Compliance</a:t>
            </a:r>
            <a:endParaRPr lang="en-US" sz="1100"/>
          </a:p>
        </p:txBody>
      </p:sp>
      <p:sp>
        <p:nvSpPr>
          <p:cNvPr id="21" name="AutoShape 21"/>
          <p:cNvSpPr/>
          <p:nvPr/>
        </p:nvSpPr>
        <p:spPr>
          <a:xfrm>
            <a:off x="6286500" y="4953000"/>
            <a:ext cx="254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Poppins"/>
                <a:ea typeface="Poppins"/>
                <a:cs typeface="Poppins"/>
                <a:sym typeface="Poppins"/>
              </a:rPr>
              <a:t>Enterprise-grade protocols ensure your data is protected and fully aligned with the latest industry regulatory standards.</a:t>
            </a:r>
            <a:endParaRPr lang="en-US" sz="1100"/>
          </a:p>
        </p:txBody>
      </p:sp>
      <p:sp>
        <p:nvSpPr>
          <p:cNvPr id="22" name="AutoShape 22"/>
          <p:cNvSpPr/>
          <p:nvPr/>
        </p:nvSpPr>
        <p:spPr>
          <a:xfrm>
            <a:off x="9080500" y="4191000"/>
            <a:ext cx="2857500" cy="1968500"/>
          </a:xfrm>
          <a:prstGeom prst="roundRect">
            <a:avLst>
              <a:gd name="adj" fmla="val 0"/>
            </a:avLst>
          </a:prstGeom>
          <a:solidFill>
            <a:srgbClr val="1E463E">
              <a:alpha val="4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9080500" y="4191000"/>
            <a:ext cx="50800" cy="1968500"/>
          </a:xfrm>
          <a:prstGeom prst="roundRect">
            <a:avLst>
              <a:gd name="adj" fmla="val 0"/>
            </a:avLst>
          </a:prstGeom>
          <a:solidFill>
            <a:srgbClr val="1E463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71000" y="4381500"/>
            <a:ext cx="355600" cy="355600"/>
          </a:xfrm>
          <a:prstGeom prst="rect">
            <a:avLst/>
          </a:prstGeom>
        </p:spPr>
      </p:pic>
      <p:sp>
        <p:nvSpPr>
          <p:cNvPr id="25" name="AutoShape 25"/>
          <p:cNvSpPr/>
          <p:nvPr/>
        </p:nvSpPr>
        <p:spPr>
          <a:xfrm>
            <a:off x="9715500" y="4356100"/>
            <a:ext cx="209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63E"/>
                </a:solidFill>
                <a:latin typeface="Poppins"/>
                <a:ea typeface="Poppins"/>
                <a:cs typeface="Poppins"/>
                <a:sym typeface="Poppins"/>
              </a:rPr>
              <a:t>Scalable Architecture</a:t>
            </a:r>
            <a:endParaRPr lang="en-US" sz="1100"/>
          </a:p>
        </p:txBody>
      </p:sp>
      <p:sp>
        <p:nvSpPr>
          <p:cNvPr id="26" name="AutoShape 26"/>
          <p:cNvSpPr/>
          <p:nvPr/>
        </p:nvSpPr>
        <p:spPr>
          <a:xfrm>
            <a:off x="9271000" y="4953000"/>
            <a:ext cx="254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Poppins"/>
                <a:ea typeface="Poppins"/>
                <a:cs typeface="Poppins"/>
                <a:sym typeface="Poppins"/>
              </a:rPr>
              <a:t>Grows seamlessly with your business, accommodating increased demand, new users, and evolving functionalities.</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The Impact of [Product/Service Name]: Your Competitive Edge</a:t>
            </a:r>
            <a:endParaRPr lang="en-US" sz="1100"/>
          </a:p>
        </p:txBody>
      </p:sp>
      <p:sp>
        <p:nvSpPr>
          <p:cNvPr id="4" name="AutoShape 4"/>
          <p:cNvSpPr/>
          <p:nvPr/>
        </p:nvSpPr>
        <p:spPr>
          <a:xfrm>
            <a:off x="762000" y="2032000"/>
            <a:ext cx="5207000" cy="2095500"/>
          </a:xfrm>
          <a:prstGeom prst="roundRect">
            <a:avLst>
              <a:gd name="adj" fmla="val 0"/>
            </a:avLst>
          </a:prstGeom>
          <a:solidFill>
            <a:srgbClr val="1E463E">
              <a:alpha val="6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50800" cy="2095500"/>
          </a:xfrm>
          <a:prstGeom prst="roundRect">
            <a:avLst>
              <a:gd name="adj" fmla="val 0"/>
            </a:avLst>
          </a:prstGeom>
          <a:solidFill>
            <a:srgbClr val="B4530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9500" y="2286000"/>
            <a:ext cx="508000" cy="508000"/>
          </a:xfrm>
          <a:prstGeom prst="rect">
            <a:avLst/>
          </a:prstGeom>
        </p:spPr>
      </p:pic>
      <p:sp>
        <p:nvSpPr>
          <p:cNvPr id="7" name="AutoShape 7"/>
          <p:cNvSpPr/>
          <p:nvPr/>
        </p:nvSpPr>
        <p:spPr>
          <a:xfrm>
            <a:off x="1841500" y="2260600"/>
            <a:ext cx="393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E463E"/>
                </a:solidFill>
                <a:latin typeface="Poppins"/>
                <a:ea typeface="Poppins"/>
                <a:cs typeface="Poppins"/>
                <a:sym typeface="Poppins"/>
              </a:rPr>
              <a:t>Accelerate Growth</a:t>
            </a:r>
            <a:endParaRPr lang="en-US" sz="1100"/>
          </a:p>
        </p:txBody>
      </p:sp>
      <p:cxnSp>
        <p:nvCxnSpPr>
          <p:cNvPr id="8" name="Connector 8"/>
          <p:cNvCxnSpPr/>
          <p:nvPr/>
        </p:nvCxnSpPr>
        <p:spPr>
          <a:xfrm rot="-9418">
            <a:off x="1079509" y="3041650"/>
            <a:ext cx="4635500" cy="12700"/>
          </a:xfrm>
          <a:prstGeom prst="straightConnector1">
            <a:avLst/>
          </a:prstGeom>
          <a:solidFill>
            <a:srgbClr val="DEE0E3">
              <a:alpha val="100000"/>
            </a:srgbClr>
          </a:solidFill>
          <a:ln w="12700" cap="flat" cmpd="sng">
            <a:solidFill>
              <a:srgbClr val="1E463E">
                <a:alpha val="20000"/>
              </a:srgbClr>
            </a:solidFill>
            <a:prstDash val="solid"/>
            <a:round/>
            <a:headEnd type="none" w="med" len="med"/>
            <a:tailEnd type="none" w="med" len="med"/>
          </a:ln>
        </p:spPr>
      </p:cxnSp>
      <p:sp>
        <p:nvSpPr>
          <p:cNvPr id="9" name="AutoShape 9"/>
          <p:cNvSpPr/>
          <p:nvPr/>
        </p:nvSpPr>
        <p:spPr>
          <a:xfrm>
            <a:off x="1079500" y="32385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Poppins"/>
                <a:ea typeface="Poppins"/>
                <a:cs typeface="Poppins"/>
                <a:sym typeface="Poppins"/>
              </a:rPr>
              <a:t>Streamline workflows to focus on strategic initiatives, driving revenue growth by an average of</a:t>
            </a:r>
            <a:r>
              <a:rPr lang="en-US" sz="1400" b="1" i="0" u="none" strike="noStrike">
                <a:solidFill>
                  <a:srgbClr val="B45309"/>
                </a:solidFill>
                <a:latin typeface="Poppins"/>
                <a:ea typeface="Poppins"/>
                <a:cs typeface="Poppins"/>
                <a:sym typeface="Poppins"/>
              </a:rPr>
              <a:t>[XX%]</a:t>
            </a:r>
            <a:r>
              <a:rPr lang="en-US" sz="1400" b="0" i="0" u="none" strike="noStrike">
                <a:solidFill>
                  <a:srgbClr val="374151"/>
                </a:solidFill>
                <a:latin typeface="Poppins"/>
                <a:ea typeface="Poppins"/>
                <a:cs typeface="Poppins"/>
                <a:sym typeface="Poppins"/>
              </a:rPr>
              <a:t>. This shift from routine tasks to high-impact actions unlocks new market opportunities and scalability.</a:t>
            </a:r>
            <a:endParaRPr lang="en-US" sz="1100"/>
          </a:p>
        </p:txBody>
      </p:sp>
      <p:sp>
        <p:nvSpPr>
          <p:cNvPr id="10" name="AutoShape 10"/>
          <p:cNvSpPr/>
          <p:nvPr/>
        </p:nvSpPr>
        <p:spPr>
          <a:xfrm>
            <a:off x="6223000" y="2032000"/>
            <a:ext cx="5207000" cy="2095500"/>
          </a:xfrm>
          <a:prstGeom prst="roundRect">
            <a:avLst>
              <a:gd name="adj" fmla="val 0"/>
            </a:avLst>
          </a:prstGeom>
          <a:solidFill>
            <a:srgbClr val="1E463E">
              <a:alpha val="6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223000" y="2032000"/>
            <a:ext cx="50800" cy="2095500"/>
          </a:xfrm>
          <a:prstGeom prst="roundRect">
            <a:avLst>
              <a:gd name="adj" fmla="val 0"/>
            </a:avLst>
          </a:prstGeom>
          <a:solidFill>
            <a:srgbClr val="B4530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2286000"/>
            <a:ext cx="508000" cy="508000"/>
          </a:xfrm>
          <a:prstGeom prst="rect">
            <a:avLst/>
          </a:prstGeom>
        </p:spPr>
      </p:pic>
      <p:sp>
        <p:nvSpPr>
          <p:cNvPr id="13" name="AutoShape 13"/>
          <p:cNvSpPr/>
          <p:nvPr/>
        </p:nvSpPr>
        <p:spPr>
          <a:xfrm>
            <a:off x="7302500" y="2260600"/>
            <a:ext cx="393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E463E"/>
                </a:solidFill>
                <a:latin typeface="Poppins"/>
                <a:ea typeface="Poppins"/>
                <a:cs typeface="Poppins"/>
                <a:sym typeface="Poppins"/>
              </a:rPr>
              <a:t>Optimize Costs</a:t>
            </a:r>
            <a:endParaRPr lang="en-US" sz="1100"/>
          </a:p>
        </p:txBody>
      </p:sp>
      <p:cxnSp>
        <p:nvCxnSpPr>
          <p:cNvPr id="14" name="Connector 14"/>
          <p:cNvCxnSpPr/>
          <p:nvPr/>
        </p:nvCxnSpPr>
        <p:spPr>
          <a:xfrm rot="-9418">
            <a:off x="6540509" y="3041650"/>
            <a:ext cx="4635500" cy="12700"/>
          </a:xfrm>
          <a:prstGeom prst="straightConnector1">
            <a:avLst/>
          </a:prstGeom>
          <a:solidFill>
            <a:srgbClr val="DEE0E3">
              <a:alpha val="100000"/>
            </a:srgbClr>
          </a:solidFill>
          <a:ln w="12700" cap="flat" cmpd="sng">
            <a:solidFill>
              <a:srgbClr val="1E463E">
                <a:alpha val="20000"/>
              </a:srgbClr>
            </a:solidFill>
            <a:prstDash val="solid"/>
            <a:round/>
            <a:headEnd type="none" w="med" len="med"/>
            <a:tailEnd type="none" w="med" len="med"/>
          </a:ln>
        </p:spPr>
      </p:cxnSp>
      <p:sp>
        <p:nvSpPr>
          <p:cNvPr id="15" name="AutoShape 15"/>
          <p:cNvSpPr/>
          <p:nvPr/>
        </p:nvSpPr>
        <p:spPr>
          <a:xfrm>
            <a:off x="6540500" y="32385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Poppins"/>
                <a:ea typeface="Poppins"/>
                <a:cs typeface="Poppins"/>
                <a:sym typeface="Poppins"/>
              </a:rPr>
              <a:t>Reduce operational inefficiencies and eliminate redundant systems, resulting in cost savings of up to</a:t>
            </a:r>
            <a:r>
              <a:rPr lang="en-US" sz="1400" b="1" i="0" u="none" strike="noStrike">
                <a:solidFill>
                  <a:srgbClr val="B45309"/>
                </a:solidFill>
                <a:latin typeface="Poppins"/>
                <a:ea typeface="Poppins"/>
                <a:cs typeface="Poppins"/>
                <a:sym typeface="Poppins"/>
              </a:rPr>
              <a:t>[XX%]</a:t>
            </a:r>
            <a:r>
              <a:rPr lang="en-US" sz="1400" b="0" i="0" u="none" strike="noStrike">
                <a:solidFill>
                  <a:srgbClr val="374151"/>
                </a:solidFill>
                <a:latin typeface="Poppins"/>
                <a:ea typeface="Poppins"/>
                <a:cs typeface="Poppins"/>
                <a:sym typeface="Poppins"/>
              </a:rPr>
              <a:t>. Reallocate freed resources toward innovation and customer experience enhancements for maximum ROI.</a:t>
            </a:r>
            <a:endParaRPr lang="en-US" sz="1100"/>
          </a:p>
        </p:txBody>
      </p:sp>
      <p:sp>
        <p:nvSpPr>
          <p:cNvPr id="16" name="AutoShape 16"/>
          <p:cNvSpPr/>
          <p:nvPr/>
        </p:nvSpPr>
        <p:spPr>
          <a:xfrm>
            <a:off x="762000" y="4445000"/>
            <a:ext cx="5207000" cy="2095500"/>
          </a:xfrm>
          <a:prstGeom prst="roundRect">
            <a:avLst>
              <a:gd name="adj" fmla="val 0"/>
            </a:avLst>
          </a:prstGeom>
          <a:solidFill>
            <a:srgbClr val="1E463E">
              <a:alpha val="6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62000" y="4445000"/>
            <a:ext cx="50800" cy="2095500"/>
          </a:xfrm>
          <a:prstGeom prst="roundRect">
            <a:avLst>
              <a:gd name="adj" fmla="val 0"/>
            </a:avLst>
          </a:prstGeom>
          <a:solidFill>
            <a:srgbClr val="B4530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79500" y="4635500"/>
            <a:ext cx="508000" cy="508000"/>
          </a:xfrm>
          <a:prstGeom prst="rect">
            <a:avLst/>
          </a:prstGeom>
        </p:spPr>
      </p:pic>
      <p:sp>
        <p:nvSpPr>
          <p:cNvPr id="19" name="AutoShape 19"/>
          <p:cNvSpPr/>
          <p:nvPr/>
        </p:nvSpPr>
        <p:spPr>
          <a:xfrm>
            <a:off x="1841500" y="4610100"/>
            <a:ext cx="393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E463E"/>
                </a:solidFill>
                <a:latin typeface="Poppins"/>
                <a:ea typeface="Poppins"/>
                <a:cs typeface="Poppins"/>
                <a:sym typeface="Poppins"/>
              </a:rPr>
              <a:t>Empower Decision-Making</a:t>
            </a:r>
            <a:endParaRPr lang="en-US" sz="1100"/>
          </a:p>
        </p:txBody>
      </p:sp>
      <p:cxnSp>
        <p:nvCxnSpPr>
          <p:cNvPr id="20" name="Connector 20"/>
          <p:cNvCxnSpPr/>
          <p:nvPr/>
        </p:nvCxnSpPr>
        <p:spPr>
          <a:xfrm rot="-9418">
            <a:off x="1079509" y="5391150"/>
            <a:ext cx="4635500" cy="12700"/>
          </a:xfrm>
          <a:prstGeom prst="straightConnector1">
            <a:avLst/>
          </a:prstGeom>
          <a:solidFill>
            <a:srgbClr val="DEE0E3">
              <a:alpha val="100000"/>
            </a:srgbClr>
          </a:solidFill>
          <a:ln w="12700" cap="flat" cmpd="sng">
            <a:solidFill>
              <a:srgbClr val="1E463E">
                <a:alpha val="20000"/>
              </a:srgbClr>
            </a:solidFill>
            <a:prstDash val="solid"/>
            <a:round/>
            <a:headEnd type="none" w="med" len="med"/>
            <a:tailEnd type="none" w="med" len="med"/>
          </a:ln>
        </p:spPr>
      </p:cxnSp>
      <p:sp>
        <p:nvSpPr>
          <p:cNvPr id="21" name="AutoShape 21"/>
          <p:cNvSpPr/>
          <p:nvPr/>
        </p:nvSpPr>
        <p:spPr>
          <a:xfrm>
            <a:off x="1079500" y="55245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Poppins"/>
                <a:ea typeface="Poppins"/>
                <a:cs typeface="Poppins"/>
                <a:sym typeface="Poppins"/>
              </a:rPr>
              <a:t>Access real-time, predictive analytics to make informed, forward-thinking business decisions. Turn raw data into actionable insights that guide strategy, mitigate risks, and capitalize on emerging market trends with confidence.</a:t>
            </a:r>
            <a:endParaRPr lang="en-US" sz="1100"/>
          </a:p>
        </p:txBody>
      </p:sp>
      <p:sp>
        <p:nvSpPr>
          <p:cNvPr id="22" name="AutoShape 22"/>
          <p:cNvSpPr/>
          <p:nvPr/>
        </p:nvSpPr>
        <p:spPr>
          <a:xfrm>
            <a:off x="6223000" y="4445000"/>
            <a:ext cx="5207000" cy="2095500"/>
          </a:xfrm>
          <a:prstGeom prst="roundRect">
            <a:avLst>
              <a:gd name="adj" fmla="val 0"/>
            </a:avLst>
          </a:prstGeom>
          <a:solidFill>
            <a:srgbClr val="1E463E">
              <a:alpha val="6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223000" y="4445000"/>
            <a:ext cx="50800" cy="2095500"/>
          </a:xfrm>
          <a:prstGeom prst="roundRect">
            <a:avLst>
              <a:gd name="adj" fmla="val 0"/>
            </a:avLst>
          </a:prstGeom>
          <a:solidFill>
            <a:srgbClr val="B4530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40500" y="4635500"/>
            <a:ext cx="508000" cy="508000"/>
          </a:xfrm>
          <a:prstGeom prst="rect">
            <a:avLst/>
          </a:prstGeom>
        </p:spPr>
      </p:pic>
      <p:sp>
        <p:nvSpPr>
          <p:cNvPr id="25" name="AutoShape 25"/>
          <p:cNvSpPr/>
          <p:nvPr/>
        </p:nvSpPr>
        <p:spPr>
          <a:xfrm>
            <a:off x="7302500" y="4610100"/>
            <a:ext cx="393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E463E"/>
                </a:solidFill>
                <a:latin typeface="Poppins"/>
                <a:ea typeface="Poppins"/>
                <a:cs typeface="Poppins"/>
                <a:sym typeface="Poppins"/>
              </a:rPr>
              <a:t>Strengthen Customer Loyalty</a:t>
            </a:r>
            <a:endParaRPr lang="en-US" sz="1100"/>
          </a:p>
        </p:txBody>
      </p:sp>
      <p:cxnSp>
        <p:nvCxnSpPr>
          <p:cNvPr id="26" name="Connector 26"/>
          <p:cNvCxnSpPr/>
          <p:nvPr/>
        </p:nvCxnSpPr>
        <p:spPr>
          <a:xfrm rot="-9418">
            <a:off x="6540509" y="5391150"/>
            <a:ext cx="4635500" cy="12700"/>
          </a:xfrm>
          <a:prstGeom prst="straightConnector1">
            <a:avLst/>
          </a:prstGeom>
          <a:solidFill>
            <a:srgbClr val="DEE0E3">
              <a:alpha val="100000"/>
            </a:srgbClr>
          </a:solidFill>
          <a:ln w="12700" cap="flat" cmpd="sng">
            <a:solidFill>
              <a:srgbClr val="1E463E">
                <a:alpha val="20000"/>
              </a:srgbClr>
            </a:solidFill>
            <a:prstDash val="solid"/>
            <a:round/>
            <a:headEnd type="none" w="med" len="med"/>
            <a:tailEnd type="none" w="med" len="med"/>
          </a:ln>
        </p:spPr>
      </p:cxnSp>
      <p:sp>
        <p:nvSpPr>
          <p:cNvPr id="27" name="AutoShape 27"/>
          <p:cNvSpPr/>
          <p:nvPr/>
        </p:nvSpPr>
        <p:spPr>
          <a:xfrm>
            <a:off x="6540500" y="55245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Poppins"/>
                <a:ea typeface="Poppins"/>
                <a:cs typeface="Poppins"/>
                <a:sym typeface="Poppins"/>
              </a:rPr>
              <a:t>Deliver exceptional, personalized experiences that foster long-term customer relationships. Anticipate needs, resolve issues proactively, and build trust that turns first-time buyers into loyal brand advocates.</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Driving Success for Industry Leaders</a:t>
            </a:r>
            <a:endParaRPr lang="en-US" sz="1100"/>
          </a:p>
        </p:txBody>
      </p:sp>
      <p:pic>
        <p:nvPicPr>
          <p:cNvPr id="4" name="Picture 4"/>
          <p:cNvPicPr>
            <a:picLocks noChangeAspect="1"/>
          </p:cNvPicPr>
          <p:nvPr/>
        </p:nvPicPr>
        <p:blipFill>
          <a:blip r:embed="rId2"/>
          <a:srcRect t="16517" b="16517"/>
          <a:stretch>
            <a:fillRect/>
          </a:stretch>
        </p:blipFill>
        <p:spPr>
          <a:xfrm>
            <a:off x="762000" y="1905000"/>
            <a:ext cx="3556000" cy="3175000"/>
          </a:xfrm>
          <a:prstGeom prst="rect">
            <a:avLst/>
          </a:prstGeom>
          <a:noFill/>
          <a:ln w="25400" cap="flat" cmpd="sng">
            <a:noFill/>
            <a:prstDash val="solid"/>
            <a:round/>
          </a:ln>
        </p:spPr>
      </p:pic>
      <p:sp>
        <p:nvSpPr>
          <p:cNvPr id="5" name="AutoShape 5"/>
          <p:cNvSpPr/>
          <p:nvPr/>
        </p:nvSpPr>
        <p:spPr>
          <a:xfrm>
            <a:off x="762000" y="5461000"/>
            <a:ext cx="355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a:ea typeface="Noto Sans SC"/>
                <a:cs typeface="Noto Sans SC"/>
                <a:sym typeface="Noto Sans SC"/>
              </a:rPr>
              <a:t>A partnership built on trust and innovation, delivering measurable results for a leading industry player.</a:t>
            </a:r>
            <a:endParaRPr lang="en-US" sz="1100"/>
          </a:p>
        </p:txBody>
      </p:sp>
      <p:cxnSp>
        <p:nvCxnSpPr>
          <p:cNvPr id="6" name="Connector 6"/>
          <p:cNvCxnSpPr/>
          <p:nvPr/>
        </p:nvCxnSpPr>
        <p:spPr>
          <a:xfrm rot="5389889">
            <a:off x="2667000" y="4057659"/>
            <a:ext cx="4318000" cy="12700"/>
          </a:xfrm>
          <a:prstGeom prst="straightConnector1">
            <a:avLst/>
          </a:prstGeom>
          <a:solidFill>
            <a:srgbClr val="DEE0E3">
              <a:alpha val="100000"/>
            </a:srgbClr>
          </a:solidFill>
          <a:ln w="12700" cap="flat" cmpd="sng">
            <a:solidFill>
              <a:srgbClr val="1E463E">
                <a:alpha val="20000"/>
              </a:srgbClr>
            </a:solidFill>
            <a:prstDash val="solid"/>
            <a:round/>
            <a:headEnd type="none" w="med" len="med"/>
            <a:tailEnd type="none" w="med" len="med"/>
          </a:ln>
        </p:spPr>
      </p:cxnSp>
      <p:sp>
        <p:nvSpPr>
          <p:cNvPr id="7" name="AutoShape 7"/>
          <p:cNvSpPr/>
          <p:nvPr/>
        </p:nvSpPr>
        <p:spPr>
          <a:xfrm>
            <a:off x="5207000" y="1905000"/>
            <a:ext cx="2984500" cy="1905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5207000" y="1905000"/>
            <a:ext cx="50800" cy="1905000"/>
          </a:xfrm>
          <a:prstGeom prst="roundRect">
            <a:avLst>
              <a:gd name="adj" fmla="val 0"/>
            </a:avLst>
          </a:prstGeom>
          <a:solidFill>
            <a:srgbClr val="1E463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97500" y="2095500"/>
            <a:ext cx="254000" cy="254000"/>
          </a:xfrm>
          <a:prstGeom prst="rect">
            <a:avLst/>
          </a:prstGeom>
        </p:spPr>
      </p:pic>
      <p:sp>
        <p:nvSpPr>
          <p:cNvPr id="10" name="AutoShape 10"/>
          <p:cNvSpPr/>
          <p:nvPr/>
        </p:nvSpPr>
        <p:spPr>
          <a:xfrm>
            <a:off x="5778500" y="2057400"/>
            <a:ext cx="2286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63E"/>
                </a:solidFill>
                <a:latin typeface="Poppins"/>
                <a:ea typeface="Poppins"/>
                <a:cs typeface="Poppins"/>
                <a:sym typeface="Poppins"/>
              </a:rPr>
              <a:t>The Challenge</a:t>
            </a:r>
            <a:endParaRPr lang="en-US" sz="1100"/>
          </a:p>
        </p:txBody>
      </p:sp>
      <p:sp>
        <p:nvSpPr>
          <p:cNvPr id="11" name="AutoShape 11"/>
          <p:cNvSpPr/>
          <p:nvPr/>
        </p:nvSpPr>
        <p:spPr>
          <a:xfrm>
            <a:off x="5397500" y="2603500"/>
            <a:ext cx="2667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a:ea typeface="Noto Sans SC"/>
                <a:cs typeface="Noto Sans SC"/>
                <a:sym typeface="Noto Sans SC"/>
              </a:rPr>
              <a:t>Struggled with fragmented data systems across departments, leading to poor operational visibility and slow, reactive decision-making.</a:t>
            </a:r>
            <a:endParaRPr lang="en-US" sz="1100"/>
          </a:p>
        </p:txBody>
      </p:sp>
      <p:sp>
        <p:nvSpPr>
          <p:cNvPr id="12" name="AutoShape 12"/>
          <p:cNvSpPr/>
          <p:nvPr/>
        </p:nvSpPr>
        <p:spPr>
          <a:xfrm>
            <a:off x="8445500" y="1905000"/>
            <a:ext cx="2984500" cy="1905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8445500" y="1905000"/>
            <a:ext cx="50800" cy="1905000"/>
          </a:xfrm>
          <a:prstGeom prst="roundRect">
            <a:avLst>
              <a:gd name="adj" fmla="val 0"/>
            </a:avLst>
          </a:prstGeom>
          <a:solidFill>
            <a:srgbClr val="1E463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36000" y="2095500"/>
            <a:ext cx="254000" cy="254000"/>
          </a:xfrm>
          <a:prstGeom prst="rect">
            <a:avLst/>
          </a:prstGeom>
        </p:spPr>
      </p:pic>
      <p:sp>
        <p:nvSpPr>
          <p:cNvPr id="15" name="AutoShape 15"/>
          <p:cNvSpPr/>
          <p:nvPr/>
        </p:nvSpPr>
        <p:spPr>
          <a:xfrm>
            <a:off x="9017000" y="2057400"/>
            <a:ext cx="2286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63E"/>
                </a:solidFill>
                <a:latin typeface="Poppins"/>
                <a:ea typeface="Poppins"/>
                <a:cs typeface="Poppins"/>
                <a:sym typeface="Poppins"/>
              </a:rPr>
              <a:t>The Solution</a:t>
            </a:r>
            <a:endParaRPr lang="en-US" sz="1100"/>
          </a:p>
        </p:txBody>
      </p:sp>
      <p:sp>
        <p:nvSpPr>
          <p:cNvPr id="16" name="AutoShape 16"/>
          <p:cNvSpPr/>
          <p:nvPr/>
        </p:nvSpPr>
        <p:spPr>
          <a:xfrm>
            <a:off x="8636000" y="2603500"/>
            <a:ext cx="2667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a:ea typeface="Noto Sans SC"/>
                <a:cs typeface="Noto Sans SC"/>
                <a:sym typeface="Noto Sans SC"/>
              </a:rPr>
              <a:t>Deployed our unified data platform to consolidate siloed sources and automate real-time reporting workflows.</a:t>
            </a:r>
            <a:endParaRPr lang="en-US" sz="1100"/>
          </a:p>
        </p:txBody>
      </p:sp>
      <p:sp>
        <p:nvSpPr>
          <p:cNvPr id="17" name="AutoShape 17"/>
          <p:cNvSpPr/>
          <p:nvPr/>
        </p:nvSpPr>
        <p:spPr>
          <a:xfrm>
            <a:off x="5207000" y="4191000"/>
            <a:ext cx="2984500" cy="1905000"/>
          </a:xfrm>
          <a:prstGeom prst="roundRect">
            <a:avLst>
              <a:gd name="adj" fmla="val 0"/>
            </a:avLst>
          </a:prstGeom>
          <a:solidFill>
            <a:srgbClr val="1E463E">
              <a:alpha val="8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397500" y="4381500"/>
            <a:ext cx="254000" cy="254000"/>
          </a:xfrm>
          <a:prstGeom prst="rect">
            <a:avLst/>
          </a:prstGeom>
        </p:spPr>
      </p:pic>
      <p:sp>
        <p:nvSpPr>
          <p:cNvPr id="19" name="AutoShape 19"/>
          <p:cNvSpPr/>
          <p:nvPr/>
        </p:nvSpPr>
        <p:spPr>
          <a:xfrm>
            <a:off x="5778500" y="4343400"/>
            <a:ext cx="2286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63E"/>
                </a:solidFill>
                <a:latin typeface="Poppins"/>
                <a:ea typeface="Poppins"/>
                <a:cs typeface="Poppins"/>
                <a:sym typeface="Poppins"/>
              </a:rPr>
              <a:t>Key Outcomes</a:t>
            </a:r>
            <a:endParaRPr lang="en-US" sz="1100"/>
          </a:p>
        </p:txBody>
      </p:sp>
      <p:sp>
        <p:nvSpPr>
          <p:cNvPr id="20" name="AutoShape 20"/>
          <p:cNvSpPr/>
          <p:nvPr/>
        </p:nvSpPr>
        <p:spPr>
          <a:xfrm>
            <a:off x="5397500" y="4889500"/>
            <a:ext cx="2667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a:ea typeface="Noto Sans SC"/>
                <a:cs typeface="Noto Sans SC"/>
                <a:sym typeface="Noto Sans SC"/>
              </a:rPr>
              <a:t>Data processing speed improved by</a:t>
            </a:r>
            <a:r>
              <a:rPr lang="en-US" sz="1300" b="1" i="0" u="none" strike="noStrike">
                <a:solidFill>
                  <a:srgbClr val="1E463E"/>
                </a:solidFill>
                <a:latin typeface="Noto Sans SC"/>
                <a:ea typeface="Noto Sans SC"/>
                <a:cs typeface="Noto Sans SC"/>
                <a:sym typeface="Noto Sans SC"/>
              </a:rPr>
              <a:t>35%</a:t>
            </a:r>
            <a:r>
              <a:rPr lang="en-US" sz="1300" b="0" i="0" u="none" strike="noStrike">
                <a:solidFill>
                  <a:srgbClr val="374151"/>
                </a:solidFill>
                <a:latin typeface="Noto Sans SC"/>
                <a:ea typeface="Noto Sans SC"/>
                <a:cs typeface="Noto Sans SC"/>
                <a:sym typeface="Noto Sans SC"/>
              </a:rPr>
              <a:t>, unlocking a</a:t>
            </a:r>
            <a:r>
              <a:rPr lang="en-US" sz="1300" b="1" i="0" u="none" strike="noStrike">
                <a:solidFill>
                  <a:srgbClr val="1E463E"/>
                </a:solidFill>
                <a:latin typeface="Noto Sans SC"/>
                <a:ea typeface="Noto Sans SC"/>
                <a:cs typeface="Noto Sans SC"/>
                <a:sym typeface="Noto Sans SC"/>
              </a:rPr>
              <a:t>20% increase</a:t>
            </a:r>
            <a:r>
              <a:rPr lang="en-US" sz="1300" b="0" i="0" u="none" strike="noStrike">
                <a:solidFill>
                  <a:srgbClr val="374151"/>
                </a:solidFill>
                <a:latin typeface="Noto Sans SC"/>
                <a:ea typeface="Noto Sans SC"/>
                <a:cs typeface="Noto Sans SC"/>
                <a:sym typeface="Noto Sans SC"/>
              </a:rPr>
              <a:t>in cross-selling opportunities through actionable insights.</a:t>
            </a:r>
            <a:endParaRPr lang="en-US" sz="1100"/>
          </a:p>
        </p:txBody>
      </p:sp>
      <p:sp>
        <p:nvSpPr>
          <p:cNvPr id="21" name="AutoShape 21"/>
          <p:cNvSpPr/>
          <p:nvPr/>
        </p:nvSpPr>
        <p:spPr>
          <a:xfrm>
            <a:off x="8445500" y="4191000"/>
            <a:ext cx="2984500" cy="1905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445500" y="4191000"/>
            <a:ext cx="50800" cy="1905000"/>
          </a:xfrm>
          <a:prstGeom prst="roundRect">
            <a:avLst>
              <a:gd name="adj" fmla="val 0"/>
            </a:avLst>
          </a:prstGeom>
          <a:solidFill>
            <a:srgbClr val="1E463E">
              <a:alpha val="60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36000" y="4381500"/>
            <a:ext cx="254000" cy="254000"/>
          </a:xfrm>
          <a:prstGeom prst="rect">
            <a:avLst/>
          </a:prstGeom>
        </p:spPr>
      </p:pic>
      <p:sp>
        <p:nvSpPr>
          <p:cNvPr id="24" name="AutoShape 24"/>
          <p:cNvSpPr/>
          <p:nvPr/>
        </p:nvSpPr>
        <p:spPr>
          <a:xfrm>
            <a:off x="9017000" y="4343400"/>
            <a:ext cx="2286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63E"/>
                </a:solidFill>
                <a:latin typeface="Poppins"/>
                <a:ea typeface="Poppins"/>
                <a:cs typeface="Poppins"/>
                <a:sym typeface="Poppins"/>
              </a:rPr>
              <a:t>Client Voice</a:t>
            </a:r>
            <a:endParaRPr lang="en-US" sz="1100"/>
          </a:p>
        </p:txBody>
      </p:sp>
      <p:sp>
        <p:nvSpPr>
          <p:cNvPr id="25" name="AutoShape 25"/>
          <p:cNvSpPr/>
          <p:nvPr/>
        </p:nvSpPr>
        <p:spPr>
          <a:xfrm>
            <a:off x="8636000" y="4889500"/>
            <a:ext cx="2667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1" u="none" strike="noStrike">
                <a:solidFill>
                  <a:srgbClr val="4B5563"/>
                </a:solidFill>
                <a:latin typeface="Noto Sans SC"/>
                <a:ea typeface="Noto Sans SC"/>
                <a:cs typeface="Noto Sans SC"/>
                <a:sym typeface="Noto Sans SC"/>
              </a:rPr>
              <a:t>"This platform has become the backbone of our decision-making process. It's not just a tool; it's transformed how we do business."</a:t>
            </a:r>
            <a:endParaRPr lang="en-US" sz="1100"/>
          </a:p>
          <a:p>
            <a:pPr marL="0" indent="0" algn="l">
              <a:lnSpc>
                <a:spcPct val="125000"/>
              </a:lnSpc>
            </a:pPr>
            <a:r>
              <a:rPr lang="en-US" sz="1200" b="1" i="0" u="none" strike="noStrike">
                <a:solidFill>
                  <a:srgbClr val="1E463E"/>
                </a:solidFill>
                <a:latin typeface="Noto Sans SC"/>
                <a:ea typeface="Noto Sans SC"/>
                <a:cs typeface="Noto Sans SC"/>
                <a:sym typeface="Noto Sans SC"/>
              </a:rPr>
              <a:t>— Sarah Jenkins, CIO</a:t>
            </a:r>
            <a:endParaRPr lang="en-US" sz="1200" b="1" i="0" u="none" strike="noStrike">
              <a:solidFill>
                <a:srgbClr val="1E463E"/>
              </a:solidFill>
              <a:latin typeface="Noto Sans SC"/>
              <a:ea typeface="Noto Sans SC"/>
              <a:cs typeface="Noto Sans SC"/>
              <a:sym typeface="Noto Sans S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Driven by Vision and Expertise</a:t>
            </a:r>
            <a:endParaRPr lang="en-US" sz="1100"/>
          </a:p>
        </p:txBody>
      </p:sp>
      <p:pic>
        <p:nvPicPr>
          <p:cNvPr id="4" name="Picture 4"/>
          <p:cNvPicPr>
            <a:picLocks noChangeAspect="1"/>
          </p:cNvPicPr>
          <p:nvPr/>
        </p:nvPicPr>
        <p:blipFill>
          <a:blip r:embed="rId2"/>
          <a:srcRect l="3875" r="3875"/>
          <a:stretch>
            <a:fillRect/>
          </a:stretch>
        </p:blipFill>
        <p:spPr>
          <a:xfrm>
            <a:off x="762000" y="2032000"/>
            <a:ext cx="4572000" cy="3302000"/>
          </a:xfrm>
          <a:prstGeom prst="rect">
            <a:avLst/>
          </a:prstGeom>
          <a:noFill/>
          <a:ln w="12700" cap="flat" cmpd="sng">
            <a:solidFill>
              <a:srgbClr val="1E463E">
                <a:alpha val="20000"/>
              </a:srgbClr>
            </a:solidFill>
            <a:prstDash val="solid"/>
            <a:round/>
          </a:ln>
        </p:spPr>
      </p:pic>
      <p:sp>
        <p:nvSpPr>
          <p:cNvPr id="5" name="AutoShape 5"/>
          <p:cNvSpPr/>
          <p:nvPr/>
        </p:nvSpPr>
        <p:spPr>
          <a:xfrm>
            <a:off x="762000" y="5588000"/>
            <a:ext cx="4572000" cy="762000"/>
          </a:xfrm>
          <a:prstGeom prst="rect">
            <a:avLst/>
          </a:prstGeom>
          <a:noFill/>
          <a:ln w="12700" cap="flat" cmpd="sng">
            <a:noFill/>
            <a:prstDash val="solid"/>
            <a:round/>
          </a:ln>
        </p:spPr>
        <p:txBody>
          <a:bodyPr vert="horz" wrap="square" lIns="0" tIns="0" rIns="0" bIns="0" rtlCol="0" anchor="ctr" anchorCtr="0"/>
          <a:lstStyle/>
          <a:p>
            <a:pPr marL="0" indent="0" algn="just">
              <a:lnSpc>
                <a:spcPct val="117000"/>
              </a:lnSpc>
              <a:defRPr/>
            </a:pPr>
            <a:r>
              <a:rPr lang="en-US" sz="1300" b="0" i="0" u="none" strike="noStrike">
                <a:solidFill>
                  <a:srgbClr val="374151"/>
                </a:solidFill>
                <a:latin typeface="Poppins"/>
                <a:ea typeface="Poppins"/>
                <a:cs typeface="Poppins"/>
                <a:sym typeface="Poppins"/>
              </a:rPr>
              <a:t>Our leadership team brings together decades of combined experience in industry innovation, technical excellence, and operational mastery to steer the company toward transformative success.</a:t>
            </a:r>
            <a:endParaRPr lang="en-US" sz="1100"/>
          </a:p>
        </p:txBody>
      </p:sp>
      <p:cxnSp>
        <p:nvCxnSpPr>
          <p:cNvPr id="6" name="Connector 6"/>
          <p:cNvCxnSpPr/>
          <p:nvPr/>
        </p:nvCxnSpPr>
        <p:spPr>
          <a:xfrm rot="5389889">
            <a:off x="3683000" y="4184659"/>
            <a:ext cx="4318000" cy="12700"/>
          </a:xfrm>
          <a:prstGeom prst="straightConnector1">
            <a:avLst/>
          </a:prstGeom>
          <a:solidFill>
            <a:srgbClr val="DEE0E3">
              <a:alpha val="100000"/>
            </a:srgbClr>
          </a:solidFill>
          <a:ln w="12700" cap="flat" cmpd="sng">
            <a:solidFill>
              <a:srgbClr val="1E463E">
                <a:alpha val="20000"/>
              </a:srgbClr>
            </a:solidFill>
            <a:prstDash val="dash"/>
            <a:round/>
            <a:headEnd type="none" w="med" len="med"/>
            <a:tailEnd type="none" w="med" len="med"/>
          </a:ln>
        </p:spPr>
      </p:cxnSp>
      <p:sp>
        <p:nvSpPr>
          <p:cNvPr id="7" name="AutoShape 7"/>
          <p:cNvSpPr/>
          <p:nvPr/>
        </p:nvSpPr>
        <p:spPr>
          <a:xfrm>
            <a:off x="6096000" y="2032000"/>
            <a:ext cx="5588000" cy="1333500"/>
          </a:xfrm>
          <a:prstGeom prst="roundRect">
            <a:avLst>
              <a:gd name="adj" fmla="val 0"/>
            </a:avLst>
          </a:prstGeom>
          <a:solidFill>
            <a:srgbClr val="1E463E">
              <a:alpha val="6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6096000" y="2032000"/>
            <a:ext cx="76200" cy="1333500"/>
          </a:xfrm>
          <a:prstGeom prst="roundRect">
            <a:avLst>
              <a:gd name="adj" fmla="val 0"/>
            </a:avLst>
          </a:prstGeom>
          <a:solidFill>
            <a:srgbClr val="1E463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50000" y="2159000"/>
            <a:ext cx="406400" cy="406400"/>
          </a:xfrm>
          <a:prstGeom prst="rect">
            <a:avLst/>
          </a:prstGeom>
        </p:spPr>
      </p:pic>
      <p:sp>
        <p:nvSpPr>
          <p:cNvPr id="10" name="AutoShape 10"/>
          <p:cNvSpPr/>
          <p:nvPr/>
        </p:nvSpPr>
        <p:spPr>
          <a:xfrm>
            <a:off x="6921500" y="21336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63E"/>
                </a:solidFill>
                <a:latin typeface="Poppins"/>
                <a:ea typeface="Poppins"/>
                <a:cs typeface="Poppins"/>
                <a:sym typeface="Poppins"/>
              </a:rPr>
              <a:t>Elena Marquez, CEO &amp; Founder</a:t>
            </a:r>
            <a:endParaRPr lang="en-US" sz="1100"/>
          </a:p>
        </p:txBody>
      </p:sp>
      <p:sp>
        <p:nvSpPr>
          <p:cNvPr id="11" name="AutoShape 11"/>
          <p:cNvSpPr/>
          <p:nvPr/>
        </p:nvSpPr>
        <p:spPr>
          <a:xfrm>
            <a:off x="6350000" y="2667000"/>
            <a:ext cx="520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Poppins"/>
                <a:ea typeface="Poppins"/>
                <a:cs typeface="Poppins"/>
                <a:sym typeface="Poppins"/>
              </a:rPr>
              <a:t>A visionary leader with 20+ years in sustainable manufacturing. Previously led global strategy at a Fortune 500 industrial firm, driving a 40% increase in market share through customer-centric innovation.</a:t>
            </a:r>
            <a:endParaRPr lang="en-US" sz="1100"/>
          </a:p>
        </p:txBody>
      </p:sp>
      <p:sp>
        <p:nvSpPr>
          <p:cNvPr id="12" name="AutoShape 12"/>
          <p:cNvSpPr/>
          <p:nvPr/>
        </p:nvSpPr>
        <p:spPr>
          <a:xfrm>
            <a:off x="6096000" y="3556000"/>
            <a:ext cx="5588000" cy="1333500"/>
          </a:xfrm>
          <a:prstGeom prst="roundRect">
            <a:avLst>
              <a:gd name="adj" fmla="val 0"/>
            </a:avLst>
          </a:prstGeom>
          <a:solidFill>
            <a:srgbClr val="1E463E">
              <a:alpha val="6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096000" y="3556000"/>
            <a:ext cx="76200" cy="1333500"/>
          </a:xfrm>
          <a:prstGeom prst="roundRect">
            <a:avLst>
              <a:gd name="adj" fmla="val 0"/>
            </a:avLst>
          </a:prstGeom>
          <a:solidFill>
            <a:srgbClr val="1E463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3683000"/>
            <a:ext cx="406400" cy="406400"/>
          </a:xfrm>
          <a:prstGeom prst="rect">
            <a:avLst/>
          </a:prstGeom>
        </p:spPr>
      </p:pic>
      <p:sp>
        <p:nvSpPr>
          <p:cNvPr id="15" name="AutoShape 15"/>
          <p:cNvSpPr/>
          <p:nvPr/>
        </p:nvSpPr>
        <p:spPr>
          <a:xfrm>
            <a:off x="6921500" y="36576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63E"/>
                </a:solidFill>
                <a:latin typeface="Poppins"/>
                <a:ea typeface="Poppins"/>
                <a:cs typeface="Poppins"/>
                <a:sym typeface="Poppins"/>
              </a:rPr>
              <a:t>David Chen, Chief Technology Officer</a:t>
            </a:r>
            <a:endParaRPr lang="en-US" sz="1100"/>
          </a:p>
        </p:txBody>
      </p:sp>
      <p:sp>
        <p:nvSpPr>
          <p:cNvPr id="16" name="AutoShape 16"/>
          <p:cNvSpPr/>
          <p:nvPr/>
        </p:nvSpPr>
        <p:spPr>
          <a:xfrm>
            <a:off x="6350000" y="4191000"/>
            <a:ext cx="520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Poppins"/>
                <a:ea typeface="Poppins"/>
                <a:cs typeface="Poppins"/>
                <a:sym typeface="Poppins"/>
              </a:rPr>
              <a:t>A recognized expert in AI-driven automation, holding a PhD in Computer Science from Stanford. He has built award-winning platforms for scalable SaaS products and holds 12 patents in predictive analytics.</a:t>
            </a:r>
            <a:endParaRPr lang="en-US" sz="1100"/>
          </a:p>
        </p:txBody>
      </p:sp>
      <p:sp>
        <p:nvSpPr>
          <p:cNvPr id="17" name="AutoShape 17"/>
          <p:cNvSpPr/>
          <p:nvPr/>
        </p:nvSpPr>
        <p:spPr>
          <a:xfrm>
            <a:off x="6096000" y="5080000"/>
            <a:ext cx="5588000" cy="1333500"/>
          </a:xfrm>
          <a:prstGeom prst="roundRect">
            <a:avLst>
              <a:gd name="adj" fmla="val 0"/>
            </a:avLst>
          </a:prstGeom>
          <a:solidFill>
            <a:srgbClr val="1E463E">
              <a:alpha val="6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096000" y="5080000"/>
            <a:ext cx="76200" cy="1333500"/>
          </a:xfrm>
          <a:prstGeom prst="roundRect">
            <a:avLst>
              <a:gd name="adj" fmla="val 0"/>
            </a:avLst>
          </a:prstGeom>
          <a:solidFill>
            <a:srgbClr val="1E463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50000" y="5207000"/>
            <a:ext cx="406400" cy="406400"/>
          </a:xfrm>
          <a:prstGeom prst="rect">
            <a:avLst/>
          </a:prstGeom>
        </p:spPr>
      </p:pic>
      <p:sp>
        <p:nvSpPr>
          <p:cNvPr id="20" name="AutoShape 20"/>
          <p:cNvSpPr/>
          <p:nvPr/>
        </p:nvSpPr>
        <p:spPr>
          <a:xfrm>
            <a:off x="6921500" y="51816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63E"/>
                </a:solidFill>
                <a:latin typeface="Poppins"/>
                <a:ea typeface="Poppins"/>
                <a:cs typeface="Poppins"/>
                <a:sym typeface="Poppins"/>
              </a:rPr>
              <a:t>Sarah Jenkins, Chief Operating Officer</a:t>
            </a:r>
            <a:endParaRPr lang="en-US" sz="1100"/>
          </a:p>
        </p:txBody>
      </p:sp>
      <p:sp>
        <p:nvSpPr>
          <p:cNvPr id="21" name="AutoShape 21"/>
          <p:cNvSpPr/>
          <p:nvPr/>
        </p:nvSpPr>
        <p:spPr>
          <a:xfrm>
            <a:off x="6350000" y="5651500"/>
            <a:ext cx="5207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Poppins"/>
                <a:ea typeface="Poppins"/>
                <a:cs typeface="Poppins"/>
                <a:sym typeface="Poppins"/>
              </a:rPr>
              <a:t>Brings extensive experience scaling global operations from her tenure at a leading logistics provider. She specializes in optimizing end-to-end workflows, reducing operational costs by 25% while enhancing team productivity.</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A Trajectory of Strong Growth</a:t>
            </a:r>
            <a:endParaRPr lang="en-US" sz="1100"/>
          </a:p>
        </p:txBody>
      </p:sp>
      <p:sp>
        <p:nvSpPr>
          <p:cNvPr id="4" name="AutoShape 4"/>
          <p:cNvSpPr/>
          <p:nvPr/>
        </p:nvSpPr>
        <p:spPr>
          <a:xfrm>
            <a:off x="762000" y="1905000"/>
            <a:ext cx="5334000" cy="1206500"/>
          </a:xfrm>
          <a:prstGeom prst="roundRect">
            <a:avLst>
              <a:gd name="adj" fmla="val 0"/>
            </a:avLst>
          </a:prstGeom>
          <a:solidFill>
            <a:srgbClr val="1E463E">
              <a:alpha val="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76200" cy="1206500"/>
          </a:xfrm>
          <a:prstGeom prst="roundRect">
            <a:avLst>
              <a:gd name="adj" fmla="val 0"/>
            </a:avLst>
          </a:prstGeom>
          <a:solidFill>
            <a:srgbClr val="1E463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032000"/>
            <a:ext cx="406400" cy="406400"/>
          </a:xfrm>
          <a:prstGeom prst="rect">
            <a:avLst/>
          </a:prstGeom>
        </p:spPr>
      </p:pic>
      <p:sp>
        <p:nvSpPr>
          <p:cNvPr id="7" name="AutoShape 7"/>
          <p:cNvSpPr/>
          <p:nvPr/>
        </p:nvSpPr>
        <p:spPr>
          <a:xfrm>
            <a:off x="1651000" y="2006600"/>
            <a:ext cx="4254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63E"/>
                </a:solidFill>
                <a:latin typeface="Poppins"/>
                <a:ea typeface="Poppins"/>
                <a:cs typeface="Poppins"/>
                <a:sym typeface="Poppins"/>
              </a:rPr>
              <a:t>Consistent Revenue Growth</a:t>
            </a:r>
            <a:endParaRPr lang="en-US" sz="1100"/>
          </a:p>
          <a:p>
            <a:pPr marL="0" indent="0" algn="l">
              <a:lnSpc>
                <a:spcPct val="108000"/>
              </a:lnSpc>
            </a:pPr>
            <a:r>
              <a:rPr lang="en-US" sz="1300" b="0" i="0" u="none" strike="noStrike">
                <a:solidFill>
                  <a:srgbClr val="374151"/>
                </a:solidFill>
                <a:latin typeface="Poppins"/>
                <a:ea typeface="Poppins"/>
                <a:cs typeface="Poppins"/>
                <a:sym typeface="Poppins"/>
              </a:rPr>
              <a:t>Achieved a 45% increase in annual recurring revenue (ARR) in 2025, driven by expanded service offerings and higher client retention rates across key verticals.</a:t>
            </a:r>
            <a:endParaRPr lang="en-US" sz="1300" b="0" i="0" u="none" strike="noStrike">
              <a:solidFill>
                <a:srgbClr val="374151"/>
              </a:solidFill>
              <a:latin typeface="Poppins"/>
              <a:ea typeface="Poppins"/>
              <a:cs typeface="Poppins"/>
              <a:sym typeface="Poppins"/>
            </a:endParaRPr>
          </a:p>
        </p:txBody>
      </p:sp>
      <p:sp>
        <p:nvSpPr>
          <p:cNvPr id="8" name="AutoShape 8"/>
          <p:cNvSpPr/>
          <p:nvPr/>
        </p:nvSpPr>
        <p:spPr>
          <a:xfrm>
            <a:off x="762000" y="3429000"/>
            <a:ext cx="5334000" cy="1206500"/>
          </a:xfrm>
          <a:prstGeom prst="roundRect">
            <a:avLst>
              <a:gd name="adj" fmla="val 0"/>
            </a:avLst>
          </a:prstGeom>
          <a:solidFill>
            <a:srgbClr val="1E463E">
              <a:alpha val="5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762000" y="3429000"/>
            <a:ext cx="76200" cy="1206500"/>
          </a:xfrm>
          <a:prstGeom prst="roundRect">
            <a:avLst>
              <a:gd name="adj" fmla="val 0"/>
            </a:avLst>
          </a:prstGeom>
          <a:solidFill>
            <a:srgbClr val="1E463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556000"/>
            <a:ext cx="406400" cy="406400"/>
          </a:xfrm>
          <a:prstGeom prst="rect">
            <a:avLst/>
          </a:prstGeom>
        </p:spPr>
      </p:pic>
      <p:sp>
        <p:nvSpPr>
          <p:cNvPr id="11" name="AutoShape 11"/>
          <p:cNvSpPr/>
          <p:nvPr/>
        </p:nvSpPr>
        <p:spPr>
          <a:xfrm>
            <a:off x="1651000" y="3530600"/>
            <a:ext cx="4254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63E"/>
                </a:solidFill>
                <a:latin typeface="Poppins"/>
                <a:ea typeface="Poppins"/>
                <a:cs typeface="Poppins"/>
                <a:sym typeface="Poppins"/>
              </a:rPr>
              <a:t>Expanding Global Client Base</a:t>
            </a:r>
            <a:endParaRPr lang="en-US" sz="1100"/>
          </a:p>
          <a:p>
            <a:pPr marL="0" indent="0" algn="l">
              <a:lnSpc>
                <a:spcPct val="108000"/>
              </a:lnSpc>
            </a:pPr>
            <a:r>
              <a:rPr lang="en-US" sz="1300" b="0" i="0" u="none" strike="noStrike">
                <a:solidFill>
                  <a:srgbClr val="374151"/>
                </a:solidFill>
                <a:latin typeface="Poppins"/>
                <a:ea typeface="Poppins"/>
                <a:cs typeface="Poppins"/>
                <a:sym typeface="Poppins"/>
              </a:rPr>
              <a:t>Now serving over 500 enterprise clients across 30 countries, establishing a robust international footprint and diversifying our geographic revenue streams.</a:t>
            </a:r>
            <a:endParaRPr lang="en-US" sz="1300" b="0" i="0" u="none" strike="noStrike">
              <a:solidFill>
                <a:srgbClr val="374151"/>
              </a:solidFill>
              <a:latin typeface="Poppins"/>
              <a:ea typeface="Poppins"/>
              <a:cs typeface="Poppins"/>
              <a:sym typeface="Poppins"/>
            </a:endParaRPr>
          </a:p>
        </p:txBody>
      </p:sp>
      <p:sp>
        <p:nvSpPr>
          <p:cNvPr id="12" name="AutoShape 12"/>
          <p:cNvSpPr/>
          <p:nvPr/>
        </p:nvSpPr>
        <p:spPr>
          <a:xfrm>
            <a:off x="762000" y="4953000"/>
            <a:ext cx="5334000" cy="1206500"/>
          </a:xfrm>
          <a:prstGeom prst="roundRect">
            <a:avLst>
              <a:gd name="adj" fmla="val 0"/>
            </a:avLst>
          </a:prstGeom>
          <a:solidFill>
            <a:srgbClr val="1E463E">
              <a:alpha val="5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762000" y="4953000"/>
            <a:ext cx="76200" cy="1206500"/>
          </a:xfrm>
          <a:prstGeom prst="roundRect">
            <a:avLst>
              <a:gd name="adj" fmla="val 0"/>
            </a:avLst>
          </a:prstGeom>
          <a:solidFill>
            <a:srgbClr val="1E463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5080000"/>
            <a:ext cx="406400" cy="406400"/>
          </a:xfrm>
          <a:prstGeom prst="rect">
            <a:avLst/>
          </a:prstGeom>
        </p:spPr>
      </p:pic>
      <p:sp>
        <p:nvSpPr>
          <p:cNvPr id="15" name="AutoShape 15"/>
          <p:cNvSpPr/>
          <p:nvPr/>
        </p:nvSpPr>
        <p:spPr>
          <a:xfrm>
            <a:off x="1651000" y="5054600"/>
            <a:ext cx="4254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63E"/>
                </a:solidFill>
                <a:latin typeface="Poppins"/>
                <a:ea typeface="Poppins"/>
                <a:cs typeface="Poppins"/>
                <a:sym typeface="Poppins"/>
              </a:rPr>
              <a:t>Strategic Series B Funding Secured</a:t>
            </a:r>
            <a:endParaRPr lang="en-US" sz="1100"/>
          </a:p>
          <a:p>
            <a:pPr marL="0" indent="0" algn="l">
              <a:lnSpc>
                <a:spcPct val="108000"/>
              </a:lnSpc>
            </a:pPr>
            <a:r>
              <a:rPr lang="en-US" sz="1300" b="0" i="0" u="none" strike="noStrike">
                <a:solidFill>
                  <a:srgbClr val="374151"/>
                </a:solidFill>
                <a:latin typeface="Poppins"/>
                <a:ea typeface="Poppins"/>
                <a:cs typeface="Poppins"/>
                <a:sym typeface="Poppins"/>
              </a:rPr>
              <a:t>Successfully closed a $25M Series B round led by Horizon Capital, validating our market position and fueling product innovation and global expansion plans.</a:t>
            </a:r>
            <a:endParaRPr lang="en-US" sz="1300" b="0" i="0" u="none" strike="noStrike">
              <a:solidFill>
                <a:srgbClr val="374151"/>
              </a:solidFill>
              <a:latin typeface="Poppins"/>
              <a:ea typeface="Poppins"/>
              <a:cs typeface="Poppins"/>
              <a:sym typeface="Poppins"/>
            </a:endParaRPr>
          </a:p>
        </p:txBody>
      </p:sp>
      <p:cxnSp>
        <p:nvCxnSpPr>
          <p:cNvPr id="16" name="Connector 16"/>
          <p:cNvCxnSpPr/>
          <p:nvPr/>
        </p:nvCxnSpPr>
        <p:spPr>
          <a:xfrm rot="5389738">
            <a:off x="4349750" y="4025909"/>
            <a:ext cx="4254500" cy="12700"/>
          </a:xfrm>
          <a:prstGeom prst="straightConnector1">
            <a:avLst/>
          </a:prstGeom>
          <a:solidFill>
            <a:srgbClr val="DEE0E3">
              <a:alpha val="100000"/>
            </a:srgbClr>
          </a:solidFill>
          <a:ln w="12700" cap="flat" cmpd="sng">
            <a:solidFill>
              <a:srgbClr val="1E463E">
                <a:alpha val="20000"/>
              </a:srgbClr>
            </a:solidFill>
            <a:prstDash val="dash"/>
            <a:round/>
            <a:headEnd type="none" w="med" len="med"/>
            <a:tailEnd type="none" w="med" len="med"/>
          </a:ln>
        </p:spPr>
      </p:cxnSp>
      <p:pic>
        <p:nvPicPr>
          <p:cNvPr id="17" name="Picture 17"/>
          <p:cNvPicPr>
            <a:picLocks noChangeAspect="1"/>
          </p:cNvPicPr>
          <p:nvPr/>
        </p:nvPicPr>
        <p:blipFill>
          <a:blip r:embed="rId8"/>
          <a:srcRect t="22068" b="22068"/>
          <a:stretch>
            <a:fillRect/>
          </a:stretch>
        </p:blipFill>
        <p:spPr>
          <a:xfrm>
            <a:off x="6731000" y="1905000"/>
            <a:ext cx="4699000" cy="1968500"/>
          </a:xfrm>
          <a:prstGeom prst="rect">
            <a:avLst/>
          </a:prstGeom>
          <a:noFill/>
          <a:ln w="12700" cap="flat" cmpd="sng">
            <a:solidFill>
              <a:srgbClr val="1E463E">
                <a:alpha val="15000"/>
              </a:srgbClr>
            </a:solidFill>
            <a:prstDash val="solid"/>
            <a:round/>
          </a:ln>
        </p:spPr>
      </p:pic>
      <p:pic>
        <p:nvPicPr>
          <p:cNvPr id="18" name="Picture 18"/>
          <p:cNvPicPr>
            <a:picLocks noChangeAspect="1"/>
          </p:cNvPicPr>
          <p:nvPr/>
        </p:nvPicPr>
        <p:blipFill>
          <a:blip r:embed="rId9"/>
          <a:stretch>
            <a:fillRect/>
          </a:stretch>
        </p:blipFill>
        <p:spPr>
          <a:xfrm>
            <a:off x="6731000" y="4191000"/>
            <a:ext cx="4699000" cy="2032000"/>
          </a:xfrm>
          <a:prstGeom prst="rect">
            <a:avLst/>
          </a:prstGeom>
          <a:ln w="12700">
            <a:noFill/>
            <a:prstDash val="soli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1270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1F2937"/>
                </a:solidFill>
                <a:latin typeface="Poppins"/>
                <a:ea typeface="Poppins"/>
                <a:cs typeface="Poppins"/>
                <a:sym typeface="Poppins"/>
              </a:rPr>
              <a:t>Ready to Transform Your Business?</a:t>
            </a:r>
            <a:endParaRPr lang="en-US" sz="1100"/>
          </a:p>
        </p:txBody>
      </p:sp>
      <p:sp>
        <p:nvSpPr>
          <p:cNvPr id="4" name="AutoShape 4"/>
          <p:cNvSpPr/>
          <p:nvPr/>
        </p:nvSpPr>
        <p:spPr>
          <a:xfrm>
            <a:off x="1016000" y="2667000"/>
            <a:ext cx="10160000" cy="1397000"/>
          </a:xfrm>
          <a:prstGeom prst="roundRect">
            <a:avLst>
              <a:gd name="adj" fmla="val 0"/>
            </a:avLst>
          </a:prstGeom>
          <a:solidFill>
            <a:srgbClr val="1E463E">
              <a:alpha val="6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2667000"/>
            <a:ext cx="76200" cy="1397000"/>
          </a:xfrm>
          <a:prstGeom prst="roundRect">
            <a:avLst>
              <a:gd name="adj" fmla="val 0"/>
            </a:avLst>
          </a:prstGeom>
          <a:solidFill>
            <a:srgbClr val="1E463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333500" y="2857500"/>
            <a:ext cx="952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rgbClr val="1E463E"/>
                </a:solidFill>
                <a:latin typeface="Poppins"/>
                <a:ea typeface="Poppins"/>
                <a:cs typeface="Poppins"/>
                <a:sym typeface="Poppins"/>
              </a:rPr>
              <a:t>Take the Next Step: Schedule a Personalized Demo</a:t>
            </a:r>
            <a:endParaRPr lang="en-US" sz="1100"/>
          </a:p>
          <a:p>
            <a:pPr marL="0" indent="0" algn="l">
              <a:lnSpc>
                <a:spcPct val="108000"/>
              </a:lnSpc>
            </a:pPr>
            <a:r>
              <a:rPr lang="en-US" sz="1400" b="0" i="0" u="none" strike="noStrike">
                <a:solidFill>
                  <a:srgbClr val="374151"/>
                </a:solidFill>
                <a:latin typeface="Poppins"/>
                <a:ea typeface="Poppins"/>
                <a:cs typeface="Poppins"/>
                <a:sym typeface="Poppins"/>
              </a:rPr>
              <a:t>See how our solution can address your unique challenges, streamline operations, and unlock new growth opportunities tailored specifically for your business goals.</a:t>
            </a:r>
            <a:endParaRPr lang="en-US" sz="1400" b="0" i="0" u="none" strike="noStrike">
              <a:solidFill>
                <a:srgbClr val="374151"/>
              </a:solidFill>
              <a:latin typeface="Poppins"/>
              <a:ea typeface="Poppins"/>
              <a:cs typeface="Poppins"/>
              <a:sym typeface="Poppins"/>
            </a:endParaRPr>
          </a:p>
        </p:txBody>
      </p:sp>
      <p:sp>
        <p:nvSpPr>
          <p:cNvPr id="7" name="AutoShape 7"/>
          <p:cNvSpPr/>
          <p:nvPr/>
        </p:nvSpPr>
        <p:spPr>
          <a:xfrm>
            <a:off x="1016000" y="4572000"/>
            <a:ext cx="3213100" cy="1143000"/>
          </a:xfrm>
          <a:prstGeom prst="roundRect">
            <a:avLst>
              <a:gd name="adj" fmla="val 0"/>
            </a:avLst>
          </a:prstGeom>
          <a:solidFill>
            <a:srgbClr val="FFFFFF">
              <a:alpha val="60000"/>
            </a:srgbClr>
          </a:solidFill>
          <a:ln w="12700" cap="flat" cmpd="sng">
            <a:solidFill>
              <a:srgbClr val="1E463E">
                <a:alpha val="2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06500" y="4762500"/>
            <a:ext cx="304800" cy="304800"/>
          </a:xfrm>
          <a:prstGeom prst="rect">
            <a:avLst/>
          </a:prstGeom>
        </p:spPr>
      </p:pic>
      <p:sp>
        <p:nvSpPr>
          <p:cNvPr id="9" name="AutoShape 9"/>
          <p:cNvSpPr/>
          <p:nvPr/>
        </p:nvSpPr>
        <p:spPr>
          <a:xfrm>
            <a:off x="1651000" y="4699000"/>
            <a:ext cx="241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E463E"/>
                </a:solidFill>
                <a:latin typeface="Poppins"/>
                <a:ea typeface="Poppins"/>
                <a:cs typeface="Poppins"/>
                <a:sym typeface="Poppins"/>
              </a:rPr>
              <a:t>Visit Our Website</a:t>
            </a:r>
            <a:endParaRPr lang="en-US" sz="1100"/>
          </a:p>
          <a:p>
            <a:pPr marL="0" indent="0" algn="l">
              <a:lnSpc>
                <a:spcPct val="100000"/>
              </a:lnSpc>
            </a:pPr>
            <a:r>
              <a:rPr lang="en-US" sz="1300" b="0" i="0" u="none" strike="noStrike">
                <a:solidFill>
                  <a:srgbClr val="4B5563"/>
                </a:solidFill>
                <a:latin typeface="Poppins"/>
                <a:ea typeface="Poppins"/>
                <a:cs typeface="Poppins"/>
                <a:sym typeface="Poppins"/>
              </a:rPr>
              <a:t>www.yourcompany.com</a:t>
            </a:r>
            <a:br>
              <a:rPr lang="en-US" sz="1600" b="0" i="0" u="none" strike="noStrike">
                <a:solidFill>
                  <a:srgbClr val="1F2329"/>
                </a:solidFill>
                <a:latin typeface="Poppins"/>
                <a:ea typeface="Poppins"/>
                <a:cs typeface="Poppins"/>
                <a:sym typeface="Poppins"/>
              </a:rPr>
            </a:br>
            <a:r>
              <a:rPr lang="en-US" sz="1300" b="0" i="0" u="none" strike="noStrike">
                <a:solidFill>
                  <a:srgbClr val="4B5563"/>
                </a:solidFill>
                <a:latin typeface="Poppins"/>
                <a:ea typeface="Poppins"/>
                <a:cs typeface="Poppins"/>
                <a:sym typeface="Poppins"/>
              </a:rPr>
              <a:t>Explore resources and learn more</a:t>
            </a:r>
            <a:endParaRPr lang="en-US" sz="1300" b="0" i="0" u="none" strike="noStrike">
              <a:solidFill>
                <a:srgbClr val="4B5563"/>
              </a:solidFill>
              <a:latin typeface="Poppins"/>
              <a:ea typeface="Poppins"/>
              <a:cs typeface="Poppins"/>
              <a:sym typeface="Poppins"/>
            </a:endParaRPr>
          </a:p>
        </p:txBody>
      </p:sp>
      <p:sp>
        <p:nvSpPr>
          <p:cNvPr id="10" name="AutoShape 10"/>
          <p:cNvSpPr/>
          <p:nvPr/>
        </p:nvSpPr>
        <p:spPr>
          <a:xfrm>
            <a:off x="4483100" y="4572000"/>
            <a:ext cx="3213100" cy="1143000"/>
          </a:xfrm>
          <a:prstGeom prst="roundRect">
            <a:avLst>
              <a:gd name="adj" fmla="val 0"/>
            </a:avLst>
          </a:prstGeom>
          <a:solidFill>
            <a:srgbClr val="FFFFFF">
              <a:alpha val="60000"/>
            </a:srgbClr>
          </a:solidFill>
          <a:ln w="12700" cap="flat" cmpd="sng">
            <a:solidFill>
              <a:srgbClr val="1E463E">
                <a:alpha val="2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73600" y="4762500"/>
            <a:ext cx="304800" cy="304800"/>
          </a:xfrm>
          <a:prstGeom prst="rect">
            <a:avLst/>
          </a:prstGeom>
        </p:spPr>
      </p:pic>
      <p:sp>
        <p:nvSpPr>
          <p:cNvPr id="12" name="AutoShape 12"/>
          <p:cNvSpPr/>
          <p:nvPr/>
        </p:nvSpPr>
        <p:spPr>
          <a:xfrm>
            <a:off x="5118100" y="4699000"/>
            <a:ext cx="241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E463E"/>
                </a:solidFill>
                <a:latin typeface="Poppins"/>
                <a:ea typeface="Poppins"/>
                <a:cs typeface="Poppins"/>
                <a:sym typeface="Poppins"/>
              </a:rPr>
              <a:t>Send Us an Email</a:t>
            </a:r>
            <a:endParaRPr lang="en-US" sz="1100"/>
          </a:p>
          <a:p>
            <a:pPr marL="0" indent="0" algn="l">
              <a:lnSpc>
                <a:spcPct val="100000"/>
              </a:lnSpc>
            </a:pPr>
            <a:r>
              <a:rPr lang="en-US" sz="1300" b="0" i="0" u="none" strike="noStrike">
                <a:solidFill>
                  <a:srgbClr val="4B5563"/>
                </a:solidFill>
                <a:latin typeface="Poppins"/>
                <a:ea typeface="Poppins"/>
                <a:cs typeface="Poppins"/>
                <a:sym typeface="Poppins"/>
              </a:rPr>
              <a:t>contact@yourcompany.com</a:t>
            </a:r>
            <a:br>
              <a:rPr lang="en-US" sz="1600" b="0" i="0" u="none" strike="noStrike">
                <a:solidFill>
                  <a:srgbClr val="1F2329"/>
                </a:solidFill>
                <a:latin typeface="Poppins"/>
                <a:ea typeface="Poppins"/>
                <a:cs typeface="Poppins"/>
                <a:sym typeface="Poppins"/>
              </a:rPr>
            </a:br>
            <a:r>
              <a:rPr lang="en-US" sz="1300" b="0" i="0" u="none" strike="noStrike">
                <a:solidFill>
                  <a:srgbClr val="4B5563"/>
                </a:solidFill>
                <a:latin typeface="Poppins"/>
                <a:ea typeface="Poppins"/>
                <a:cs typeface="Poppins"/>
                <a:sym typeface="Poppins"/>
              </a:rPr>
              <a:t>We respond within 24 business hours</a:t>
            </a:r>
            <a:endParaRPr lang="en-US" sz="1300" b="0" i="0" u="none" strike="noStrike">
              <a:solidFill>
                <a:srgbClr val="4B5563"/>
              </a:solidFill>
              <a:latin typeface="Poppins"/>
              <a:ea typeface="Poppins"/>
              <a:cs typeface="Poppins"/>
              <a:sym typeface="Poppins"/>
            </a:endParaRPr>
          </a:p>
        </p:txBody>
      </p:sp>
      <p:sp>
        <p:nvSpPr>
          <p:cNvPr id="13" name="AutoShape 13"/>
          <p:cNvSpPr/>
          <p:nvPr/>
        </p:nvSpPr>
        <p:spPr>
          <a:xfrm>
            <a:off x="7950200" y="4572000"/>
            <a:ext cx="3225800" cy="1143000"/>
          </a:xfrm>
          <a:prstGeom prst="roundRect">
            <a:avLst>
              <a:gd name="adj" fmla="val 0"/>
            </a:avLst>
          </a:prstGeom>
          <a:solidFill>
            <a:srgbClr val="FFFFFF">
              <a:alpha val="60000"/>
            </a:srgbClr>
          </a:solidFill>
          <a:ln w="12700" cap="flat" cmpd="sng">
            <a:solidFill>
              <a:srgbClr val="1E463E">
                <a:alpha val="2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40700" y="4762500"/>
            <a:ext cx="304800" cy="304800"/>
          </a:xfrm>
          <a:prstGeom prst="rect">
            <a:avLst/>
          </a:prstGeom>
        </p:spPr>
      </p:pic>
      <p:sp>
        <p:nvSpPr>
          <p:cNvPr id="15" name="AutoShape 15"/>
          <p:cNvSpPr/>
          <p:nvPr/>
        </p:nvSpPr>
        <p:spPr>
          <a:xfrm>
            <a:off x="8585200" y="4699000"/>
            <a:ext cx="241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E463E"/>
                </a:solidFill>
                <a:latin typeface="Poppins"/>
                <a:ea typeface="Poppins"/>
                <a:cs typeface="Poppins"/>
                <a:sym typeface="Poppins"/>
              </a:rPr>
              <a:t>Call Us Directly</a:t>
            </a:r>
            <a:endParaRPr lang="en-US" sz="1100"/>
          </a:p>
          <a:p>
            <a:pPr marL="0" indent="0" algn="l">
              <a:lnSpc>
                <a:spcPct val="100000"/>
              </a:lnSpc>
            </a:pPr>
            <a:r>
              <a:rPr lang="en-US" sz="1300" b="0" i="0" u="none" strike="noStrike">
                <a:solidFill>
                  <a:srgbClr val="4B5563"/>
                </a:solidFill>
                <a:latin typeface="Poppins"/>
                <a:ea typeface="Poppins"/>
                <a:cs typeface="Poppins"/>
                <a:sym typeface="Poppins"/>
              </a:rPr>
              <a:t>+1 (XXX) XXX-XXXX</a:t>
            </a:r>
            <a:br>
              <a:rPr lang="en-US" sz="1600" b="0" i="0" u="none" strike="noStrike">
                <a:solidFill>
                  <a:srgbClr val="1F2329"/>
                </a:solidFill>
                <a:latin typeface="Poppins"/>
                <a:ea typeface="Poppins"/>
                <a:cs typeface="Poppins"/>
                <a:sym typeface="Poppins"/>
              </a:rPr>
            </a:br>
            <a:r>
              <a:rPr lang="en-US" sz="1300" b="0" i="0" u="none" strike="noStrike">
                <a:solidFill>
                  <a:srgbClr val="4B5563"/>
                </a:solidFill>
                <a:latin typeface="Poppins"/>
                <a:ea typeface="Poppins"/>
                <a:cs typeface="Poppins"/>
                <a:sym typeface="Poppins"/>
              </a:rPr>
              <a:t>Speak with a solutions expert today</a:t>
            </a:r>
            <a:endParaRPr lang="en-US" sz="1300" b="0" i="0" u="none" strike="noStrike">
              <a:solidFill>
                <a:srgbClr val="4B5563"/>
              </a:solidFill>
              <a:latin typeface="Poppins"/>
              <a:ea typeface="Poppins"/>
              <a:cs typeface="Poppins"/>
              <a:sym typeface="Poppins"/>
            </a:endParaRPr>
          </a:p>
        </p:txBody>
      </p:sp>
      <p:cxnSp>
        <p:nvCxnSpPr>
          <p:cNvPr id="16" name="Connector 16"/>
          <p:cNvCxnSpPr/>
          <p:nvPr/>
        </p:nvCxnSpPr>
        <p:spPr>
          <a:xfrm rot="-4297">
            <a:off x="1016004" y="6026150"/>
            <a:ext cx="10160000" cy="12700"/>
          </a:xfrm>
          <a:prstGeom prst="straightConnector1">
            <a:avLst/>
          </a:prstGeom>
          <a:solidFill>
            <a:srgbClr val="DEE0E3">
              <a:alpha val="100000"/>
            </a:srgbClr>
          </a:solidFill>
          <a:ln w="12700" cap="flat" cmpd="sng">
            <a:solidFill>
              <a:srgbClr val="1E463E">
                <a:alpha val="30000"/>
              </a:srgbClr>
            </a:solidFill>
            <a:prstDash val="solid"/>
            <a:round/>
            <a:headEnd type="none" w="med" len="med"/>
            <a:tailEnd type="none" w="med" len="med"/>
          </a:ln>
        </p:spPr>
      </p:cxnSp>
      <p:sp>
        <p:nvSpPr>
          <p:cNvPr id="17" name="AutoShape 17"/>
          <p:cNvSpPr/>
          <p:nvPr/>
        </p:nvSpPr>
        <p:spPr>
          <a:xfrm>
            <a:off x="1016000" y="61595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63E"/>
                </a:solidFill>
                <a:latin typeface="Poppins"/>
                <a:ea typeface="Poppins"/>
                <a:cs typeface="Poppins"/>
                <a:sym typeface="Poppins"/>
              </a:rPr>
              <a:t>Thank You.</a:t>
            </a:r>
            <a:r>
              <a:rPr lang="en-US" sz="1400" b="0" i="0" u="none" strike="noStrike">
                <a:solidFill>
                  <a:srgbClr val="374151"/>
                </a:solidFill>
                <a:latin typeface="Poppins"/>
                <a:ea typeface="Poppins"/>
                <a:cs typeface="Poppins"/>
                <a:sym typeface="Poppins"/>
              </a:rPr>
              <a:t>We look forward to partnering with you and helping your business thrive.</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6967</Words>
  <Application>WPS 演示</Application>
  <PresentationFormat/>
  <Paragraphs>148</Paragraphs>
  <Slides>10</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10</vt:i4>
      </vt:variant>
    </vt:vector>
  </HeadingPairs>
  <TitlesOfParts>
    <vt:vector size="24" baseType="lpstr">
      <vt:lpstr>Arial</vt:lpstr>
      <vt:lpstr>宋体</vt:lpstr>
      <vt:lpstr>Wingdings</vt:lpstr>
      <vt:lpstr>Arial</vt:lpstr>
      <vt:lpstr>Poppins</vt:lpstr>
      <vt:lpstr>Thonburi</vt:lpstr>
      <vt:lpstr>Noto Sans SC</vt:lpstr>
      <vt:lpstr>微软雅黑</vt:lpstr>
      <vt:lpstr>汉仪旗黑</vt:lpstr>
      <vt:lpstr>宋体</vt:lpstr>
      <vt:lpstr>Arial Unicode MS</vt:lpstr>
      <vt:lpstr>汉仪书宋二KW</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huangzhuohui</cp:lastModifiedBy>
  <cp:revision>1</cp:revision>
  <dcterms:created xsi:type="dcterms:W3CDTF">2026-06-19T03:04:56Z</dcterms:created>
  <dcterms:modified xsi:type="dcterms:W3CDTF">2026-06-19T03:04:56Z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{"Label":"1","ContentProducer":"001191110102MACQD9K64010000","ProduceID":"7651426016376605893","ReservedCode1":"","ContentPropagator":"","PropagateID":"","ReservedCode2":""}</vt:lpwstr>
  </property>
  <property fmtid="{D5CDD505-2E9C-101B-9397-08002B2CF9AE}" pid="3" name="ICV">
    <vt:lpwstr>94AEF0334C7411BCD8B1346A2DAE259E_42</vt:lpwstr>
  </property>
  <property fmtid="{D5CDD505-2E9C-101B-9397-08002B2CF9AE}" pid="4" name="KSOProductBuildVer">
    <vt:lpwstr>2052-5.3.0.7863</vt:lpwstr>
  </property>
</Properties>
</file>
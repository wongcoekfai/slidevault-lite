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and thank you for joining us today. My name is [Your Name], and I'm the [Your Title] of [Your Startup Name]. Today, I'm excited to share with you our vision to [briefly state your mission].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start with the problem. The [target industry] is facing a critical challenge. Current tools are inefficient, costing businesses time and money. Worse, they create data silos, leaving companies flying blind. This isn't just an inconvenience; it's a major barrier to growth.</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solution, [Product Name], is the answer to these challenges. It's an all-in-one platform that seamlessly integrates your existing tools and uses the power of AI to turn your data into actionable insights. It's flexible, scalable, and built for the way modern businesses work.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take a quick look at the product. At its core is our Smart Dashboard, giving you real-time insights. We've also built powerful Automated Workflows to save you time, and Advanced Collaboration features to keep your team connected. It's designed to be intuitive, so your team can get up and running in minutes.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market opportunity is enormous. We're targeting a Total Addressable Market of $XX.X billion. Our immediate focus is on a Serviceable Addressable Market of $XX.X billion, and we believe we can capture a significant portion of a $XX.X million Serviceable Obtainable Market in the coming years.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business model is straightforward and proven. We offer SaaS subscriptions with clear tiered pricing. Our unit economics are strong, with a Customer Lifetime Value that is X times our Customer Acquisition Cost, demonstrating a highly efficient and scalable growth engine.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market is competitive, but fragmented. Competitors are either too expensive, too limited, or too difficult to use. [Our Product] stands out by combining AI-powered insights with a seamless, integrated experience. This is our unique selling proposition.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go-to-market strategy is phased and multi-pronged. We're currently leveraging product-led growth with a freemium model to gain initial traction. Next, we'll build a sales team to target larger clients, and eventually, we'll expand through strategic channel partnerships.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None of this would be possible without our exceptional team. We bring together deep expertise in entrepreneurship, technology, and product growth. We've been there, done that, and we're passionate about solving this problem.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bring this vision to life, we are seeking $[X] million in funding. This capital will be primarily allocated to product development and scaling our go-to-market efforts. With this investment, we project reaching $[X] million in Annual Recurring Revenue within three years.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for your time. We believe [Your Startup Name] is poised to transform the [target industry]. We're excited to answer any questions you may have.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3.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6.png"/><Relationship Id="rId4" Type="http://schemas.openxmlformats.org/officeDocument/2006/relationships/image" Target="../media/image13.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11.sv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4.png"/><Relationship Id="rId2" Type="http://schemas.openxmlformats.org/officeDocument/2006/relationships/image" Target="../media/image6.sv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6.png"/><Relationship Id="rId2" Type="http://schemas.openxmlformats.org/officeDocument/2006/relationships/image" Target="../media/image14.sv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18.png"/><Relationship Id="rId2" Type="http://schemas.openxmlformats.org/officeDocument/2006/relationships/image" Target="../media/image6.sv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svg"/><Relationship Id="rId7" Type="http://schemas.openxmlformats.org/officeDocument/2006/relationships/image" Target="../media/image9.png"/><Relationship Id="rId6" Type="http://schemas.openxmlformats.org/officeDocument/2006/relationships/image" Target="../media/image19.svg"/><Relationship Id="rId5" Type="http://schemas.openxmlformats.org/officeDocument/2006/relationships/image" Target="../media/image20.png"/><Relationship Id="rId4" Type="http://schemas.openxmlformats.org/officeDocument/2006/relationships/image" Target="../media/image18.svg"/><Relationship Id="rId3" Type="http://schemas.openxmlformats.org/officeDocument/2006/relationships/image" Target="../media/image19.png"/><Relationship Id="rId2" Type="http://schemas.openxmlformats.org/officeDocument/2006/relationships/image" Target="../media/image12.svg"/><Relationship Id="rId10" Type="http://schemas.openxmlformats.org/officeDocument/2006/relationships/notesSlide" Target="../notesSlides/notesSlide11.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144000" y="-1270000"/>
            <a:ext cx="4064000" cy="4064000"/>
          </a:xfrm>
          <a:prstGeom prst="ellipse">
            <a:avLst/>
          </a:prstGeom>
          <a:solidFill>
            <a:srgbClr val="10B981">
              <a:alpha val="6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4826000"/>
            <a:ext cx="3556000" cy="3556000"/>
          </a:xfrm>
          <a:prstGeom prst="ellipse">
            <a:avLst/>
          </a:prstGeom>
          <a:solidFill>
            <a:srgbClr val="1F2937">
              <a:alpha val="4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842000" y="2286000"/>
            <a:ext cx="508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2921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1F2937"/>
                </a:solidFill>
                <a:latin typeface="Poppins"/>
                <a:ea typeface="Poppins"/>
                <a:cs typeface="Poppins"/>
                <a:sym typeface="Poppins"/>
              </a:rPr>
              <a:t>[Your Startup Name]</a:t>
            </a:r>
            <a:endParaRPr lang="en-US" sz="1100"/>
          </a:p>
        </p:txBody>
      </p:sp>
      <p:cxnSp>
        <p:nvCxnSpPr>
          <p:cNvPr id="6" name="Connector 6"/>
          <p:cNvCxnSpPr/>
          <p:nvPr/>
        </p:nvCxnSpPr>
        <p:spPr>
          <a:xfrm rot="-8594">
            <a:off x="3556008" y="4311650"/>
            <a:ext cx="5080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7" name="AutoShape 7"/>
          <p:cNvSpPr/>
          <p:nvPr/>
        </p:nvSpPr>
        <p:spPr>
          <a:xfrm>
            <a:off x="0" y="4635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000" b="0" i="0" u="none" strike="noStrike">
                <a:solidFill>
                  <a:srgbClr val="1F2937">
                    <a:alpha val="80000"/>
                  </a:srgbClr>
                </a:solidFill>
                <a:latin typeface="Poppins"/>
                <a:ea typeface="Poppins"/>
                <a:cs typeface="Poppins"/>
                <a:sym typeface="Poppins"/>
              </a:rPr>
              <a:t>[Your Compelling Slogan]</a:t>
            </a:r>
            <a:endParaRPr lang="en-US" sz="1100"/>
          </a:p>
        </p:txBody>
      </p:sp>
      <p:sp>
        <p:nvSpPr>
          <p:cNvPr id="8" name="AutoShape 8"/>
          <p:cNvSpPr/>
          <p:nvPr/>
        </p:nvSpPr>
        <p:spPr>
          <a:xfrm>
            <a:off x="4318000" y="5842000"/>
            <a:ext cx="50800" cy="304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95800" y="58166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Pitch Deck</a:t>
            </a:r>
            <a:endParaRPr lang="en-US" sz="1100"/>
          </a:p>
        </p:txBody>
      </p:sp>
      <p:cxnSp>
        <p:nvCxnSpPr>
          <p:cNvPr id="10" name="Connector 10"/>
          <p:cNvCxnSpPr/>
          <p:nvPr/>
        </p:nvCxnSpPr>
        <p:spPr>
          <a:xfrm rot="5228255">
            <a:off x="6731000" y="5988209"/>
            <a:ext cx="254000" cy="12700"/>
          </a:xfrm>
          <a:prstGeom prst="straightConnector1">
            <a:avLst/>
          </a:prstGeom>
          <a:solidFill>
            <a:srgbClr val="DEE0E3">
              <a:alpha val="100000"/>
            </a:srgbClr>
          </a:solidFill>
          <a:ln w="12700" cap="flat" cmpd="sng">
            <a:solidFill>
              <a:srgbClr val="1F2937">
                <a:alpha val="20000"/>
              </a:srgbClr>
            </a:solidFill>
            <a:prstDash val="solid"/>
            <a:round/>
            <a:headEnd type="none" w="med" len="med"/>
            <a:tailEnd type="none" w="med" len="med"/>
          </a:ln>
        </p:spPr>
      </p:cxnSp>
      <p:sp>
        <p:nvSpPr>
          <p:cNvPr id="11" name="AutoShape 11"/>
          <p:cNvSpPr/>
          <p:nvPr/>
        </p:nvSpPr>
        <p:spPr>
          <a:xfrm>
            <a:off x="6985000" y="5842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1F2937">
                    <a:alpha val="70196"/>
                  </a:srgbClr>
                </a:solidFill>
                <a:latin typeface="Poppins"/>
                <a:ea typeface="Poppins"/>
                <a:cs typeface="Poppins"/>
                <a:sym typeface="Poppins"/>
              </a:rPr>
              <a:t>June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905000"/>
            <a:ext cx="406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F2937"/>
                </a:solidFill>
                <a:latin typeface="Poppins"/>
                <a:ea typeface="Poppins"/>
                <a:cs typeface="Poppins"/>
                <a:sym typeface="Poppins"/>
              </a:rPr>
              <a:t>The Problem</a:t>
            </a:r>
            <a:endParaRPr lang="en-US" sz="1100"/>
          </a:p>
        </p:txBody>
      </p:sp>
      <p:sp>
        <p:nvSpPr>
          <p:cNvPr id="3" name="AutoShape 3"/>
          <p:cNvSpPr/>
          <p:nvPr/>
        </p:nvSpPr>
        <p:spPr>
          <a:xfrm>
            <a:off x="762000" y="2921000"/>
            <a:ext cx="76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3302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1F2937"/>
                </a:solidFill>
                <a:latin typeface="Poppins"/>
                <a:ea typeface="Poppins"/>
                <a:cs typeface="Poppins"/>
                <a:sym typeface="Poppins"/>
              </a:rPr>
              <a:t>[Industry/Market] is Broken</a:t>
            </a:r>
            <a:endParaRPr lang="en-US" sz="1100"/>
          </a:p>
        </p:txBody>
      </p:sp>
      <p:sp>
        <p:nvSpPr>
          <p:cNvPr id="5" name="AutoShape 5"/>
          <p:cNvSpPr/>
          <p:nvPr/>
        </p:nvSpPr>
        <p:spPr>
          <a:xfrm>
            <a:off x="762000" y="4699000"/>
            <a:ext cx="406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Poppins"/>
                <a:ea typeface="Poppins"/>
                <a:cs typeface="Poppins"/>
                <a:sym typeface="Poppins"/>
              </a:rPr>
              <a:t>Current systems are outdated, disconnected, and unfit for modern business demands. This isn’t just a minor inconvenience—it’s a systemic failure that cripples productivity and stunts sustainable growth across organizations.</a:t>
            </a:r>
            <a:endParaRPr lang="en-US" sz="1100"/>
          </a:p>
        </p:txBody>
      </p:sp>
      <p:cxnSp>
        <p:nvCxnSpPr>
          <p:cNvPr id="6" name="Connector 6"/>
          <p:cNvCxnSpPr/>
          <p:nvPr/>
        </p:nvCxnSpPr>
        <p:spPr>
          <a:xfrm rot="5389889">
            <a:off x="3302000" y="3930659"/>
            <a:ext cx="431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7" name="AutoShape 7"/>
          <p:cNvSpPr/>
          <p:nvPr/>
        </p:nvSpPr>
        <p:spPr>
          <a:xfrm>
            <a:off x="5715000" y="1905000"/>
            <a:ext cx="1981200" cy="3302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715000" y="1905000"/>
            <a:ext cx="19812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18200" y="2209800"/>
            <a:ext cx="406400" cy="406400"/>
          </a:xfrm>
          <a:prstGeom prst="rect">
            <a:avLst/>
          </a:prstGeom>
        </p:spPr>
      </p:pic>
      <p:sp>
        <p:nvSpPr>
          <p:cNvPr id="10" name="AutoShape 10"/>
          <p:cNvSpPr/>
          <p:nvPr/>
        </p:nvSpPr>
        <p:spPr>
          <a:xfrm>
            <a:off x="5918200" y="2921000"/>
            <a:ext cx="1574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Inefficiency</a:t>
            </a:r>
            <a:endParaRPr lang="en-US" sz="1100"/>
          </a:p>
        </p:txBody>
      </p:sp>
      <p:sp>
        <p:nvSpPr>
          <p:cNvPr id="11" name="AutoShape 11"/>
          <p:cNvSpPr/>
          <p:nvPr/>
        </p:nvSpPr>
        <p:spPr>
          <a:xfrm>
            <a:off x="5918200" y="3810000"/>
            <a:ext cx="1574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Current solutions are slow, cumbersome, and fail to integrate with modern workflows, leading to massive, avoidable productivity loss.</a:t>
            </a:r>
            <a:endParaRPr lang="en-US" sz="1100"/>
          </a:p>
        </p:txBody>
      </p:sp>
      <p:sp>
        <p:nvSpPr>
          <p:cNvPr id="12" name="AutoShape 12"/>
          <p:cNvSpPr/>
          <p:nvPr/>
        </p:nvSpPr>
        <p:spPr>
          <a:xfrm>
            <a:off x="7848600" y="1905000"/>
            <a:ext cx="1981200" cy="3302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848600" y="1905000"/>
            <a:ext cx="19812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51800" y="2209800"/>
            <a:ext cx="406400" cy="406400"/>
          </a:xfrm>
          <a:prstGeom prst="rect">
            <a:avLst/>
          </a:prstGeom>
        </p:spPr>
      </p:pic>
      <p:sp>
        <p:nvSpPr>
          <p:cNvPr id="15" name="AutoShape 15"/>
          <p:cNvSpPr/>
          <p:nvPr/>
        </p:nvSpPr>
        <p:spPr>
          <a:xfrm>
            <a:off x="8051800" y="2921000"/>
            <a:ext cx="1574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High Costs</a:t>
            </a:r>
            <a:endParaRPr lang="en-US" sz="1100"/>
          </a:p>
        </p:txBody>
      </p:sp>
      <p:sp>
        <p:nvSpPr>
          <p:cNvPr id="16" name="AutoShape 16"/>
          <p:cNvSpPr/>
          <p:nvPr/>
        </p:nvSpPr>
        <p:spPr>
          <a:xfrm>
            <a:off x="8051800" y="3810000"/>
            <a:ext cx="1574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Businesses overpay for rigid, one-size-fits-all software that ignores their unique needs, draining resources with little return on investment.</a:t>
            </a:r>
            <a:endParaRPr lang="en-US" sz="1100"/>
          </a:p>
        </p:txBody>
      </p:sp>
      <p:sp>
        <p:nvSpPr>
          <p:cNvPr id="17" name="AutoShape 17"/>
          <p:cNvSpPr/>
          <p:nvPr/>
        </p:nvSpPr>
        <p:spPr>
          <a:xfrm>
            <a:off x="9855200" y="1905000"/>
            <a:ext cx="1981200" cy="3302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855200" y="1905000"/>
            <a:ext cx="19812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58400" y="2209800"/>
            <a:ext cx="406400" cy="406400"/>
          </a:xfrm>
          <a:prstGeom prst="rect">
            <a:avLst/>
          </a:prstGeom>
        </p:spPr>
      </p:pic>
      <p:sp>
        <p:nvSpPr>
          <p:cNvPr id="20" name="AutoShape 20"/>
          <p:cNvSpPr/>
          <p:nvPr/>
        </p:nvSpPr>
        <p:spPr>
          <a:xfrm>
            <a:off x="10058400" y="2921000"/>
            <a:ext cx="1574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Lack of Insight</a:t>
            </a:r>
            <a:endParaRPr lang="en-US" sz="1100"/>
          </a:p>
        </p:txBody>
      </p:sp>
      <p:sp>
        <p:nvSpPr>
          <p:cNvPr id="21" name="AutoShape 21"/>
          <p:cNvSpPr/>
          <p:nvPr/>
        </p:nvSpPr>
        <p:spPr>
          <a:xfrm>
            <a:off x="10058400" y="3810000"/>
            <a:ext cx="1574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Critical data is trapped in isolated silos, leaving companies unable to make informed, data-driven decisions and missing key growth opportunities.</a:t>
            </a:r>
            <a:endParaRPr lang="en-US" sz="1100"/>
          </a:p>
        </p:txBody>
      </p:sp>
      <p:sp>
        <p:nvSpPr>
          <p:cNvPr id="22" name="AutoShape 22"/>
          <p:cNvSpPr/>
          <p:nvPr/>
        </p:nvSpPr>
        <p:spPr>
          <a:xfrm>
            <a:off x="5715000" y="5588000"/>
            <a:ext cx="6121400" cy="762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5918200" y="5689600"/>
            <a:ext cx="5715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Poppins"/>
                <a:ea typeface="Poppins"/>
                <a:cs typeface="Poppins"/>
                <a:sym typeface="Poppins"/>
              </a:rPr>
              <a:t>This broken ecosystem creates a vicious cycle: wasted time, wasted money, and wasted potential—all while competitors using modern tools pull ahead.</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Our Solution: [Product Name]</a:t>
            </a:r>
            <a:endParaRPr lang="en-US" sz="1100"/>
          </a:p>
        </p:txBody>
      </p:sp>
      <p:sp>
        <p:nvSpPr>
          <p:cNvPr id="3" name="AutoShape 3"/>
          <p:cNvSpPr/>
          <p:nvPr/>
        </p:nvSpPr>
        <p:spPr>
          <a:xfrm>
            <a:off x="762000" y="1651000"/>
            <a:ext cx="609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4B5563"/>
                </a:solidFill>
                <a:latin typeface="Poppins"/>
                <a:ea typeface="Poppins"/>
                <a:cs typeface="Poppins"/>
                <a:sym typeface="Poppins"/>
              </a:rPr>
              <a:t>The All-in-One Platform for [Target Audience]</a:t>
            </a:r>
            <a:endParaRPr lang="en-US" sz="1100"/>
          </a:p>
        </p:txBody>
      </p:sp>
      <p:sp>
        <p:nvSpPr>
          <p:cNvPr id="4" name="AutoShape 4"/>
          <p:cNvSpPr/>
          <p:nvPr/>
        </p:nvSpPr>
        <p:spPr>
          <a:xfrm>
            <a:off x="762000" y="2286000"/>
            <a:ext cx="76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667000"/>
            <a:ext cx="584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Poppins"/>
                <a:ea typeface="Poppins"/>
                <a:cs typeface="Poppins"/>
                <a:sym typeface="Poppins"/>
              </a:rPr>
              <a:t>[Product Name] is a powerful, intuitive SaaS platform designed to streamline your workflow and unlock data-driven growth. We eliminate tool fragmentation and empower teams with a unified, intelligent system that scales with your ambition.</a:t>
            </a:r>
            <a:endParaRPr lang="en-US" sz="1100"/>
          </a:p>
        </p:txBody>
      </p:sp>
      <p:sp>
        <p:nvSpPr>
          <p:cNvPr id="6" name="AutoShape 6"/>
          <p:cNvSpPr/>
          <p:nvPr/>
        </p:nvSpPr>
        <p:spPr>
          <a:xfrm>
            <a:off x="762000" y="4064000"/>
            <a:ext cx="5842000" cy="8255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4064000"/>
            <a:ext cx="76200" cy="82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4229100"/>
            <a:ext cx="482600" cy="482600"/>
          </a:xfrm>
          <a:prstGeom prst="rect">
            <a:avLst/>
          </a:prstGeom>
        </p:spPr>
      </p:pic>
      <p:sp>
        <p:nvSpPr>
          <p:cNvPr id="9" name="AutoShape 9"/>
          <p:cNvSpPr/>
          <p:nvPr/>
        </p:nvSpPr>
        <p:spPr>
          <a:xfrm>
            <a:off x="1778000" y="4140200"/>
            <a:ext cx="4572000" cy="6731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Poppins"/>
                <a:ea typeface="Poppins"/>
                <a:cs typeface="Poppins"/>
                <a:sym typeface="Poppins"/>
              </a:rPr>
              <a:t>Seamless Integration</a:t>
            </a:r>
            <a:endParaRPr lang="en-US" sz="1100"/>
          </a:p>
          <a:p>
            <a:pPr marL="0" indent="0" algn="l">
              <a:lnSpc>
                <a:spcPct val="125000"/>
              </a:lnSpc>
            </a:pPr>
            <a:r>
              <a:rPr lang="en-US" sz="1300" b="0" i="0" u="none" strike="noStrike">
                <a:solidFill>
                  <a:srgbClr val="4B5563"/>
                </a:solidFill>
                <a:latin typeface="Poppins"/>
                <a:ea typeface="Poppins"/>
                <a:cs typeface="Poppins"/>
                <a:sym typeface="Poppins"/>
              </a:rPr>
              <a:t>Connects all your essential tools—CRM, analytics, and project management—into a single, unified dashboard for complete visibility.</a:t>
            </a:r>
            <a:endParaRPr lang="en-US" sz="1300" b="0" i="0" u="none" strike="noStrike">
              <a:solidFill>
                <a:srgbClr val="4B5563"/>
              </a:solidFill>
              <a:latin typeface="Poppins"/>
              <a:ea typeface="Poppins"/>
              <a:cs typeface="Poppins"/>
              <a:sym typeface="Poppins"/>
            </a:endParaRPr>
          </a:p>
        </p:txBody>
      </p:sp>
      <p:sp>
        <p:nvSpPr>
          <p:cNvPr id="10" name="AutoShape 10"/>
          <p:cNvSpPr/>
          <p:nvPr/>
        </p:nvSpPr>
        <p:spPr>
          <a:xfrm>
            <a:off x="762000" y="5143500"/>
            <a:ext cx="2857500" cy="13335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5308600"/>
            <a:ext cx="406400" cy="406400"/>
          </a:xfrm>
          <a:prstGeom prst="rect">
            <a:avLst/>
          </a:prstGeom>
        </p:spPr>
      </p:pic>
      <p:sp>
        <p:nvSpPr>
          <p:cNvPr id="12" name="AutoShape 12"/>
          <p:cNvSpPr/>
          <p:nvPr/>
        </p:nvSpPr>
        <p:spPr>
          <a:xfrm>
            <a:off x="1460500" y="5270500"/>
            <a:ext cx="203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Poppins"/>
                <a:ea typeface="Poppins"/>
                <a:cs typeface="Poppins"/>
                <a:sym typeface="Poppins"/>
              </a:rPr>
              <a:t>AI-Powered Insights</a:t>
            </a:r>
            <a:endParaRPr lang="en-US" sz="1100"/>
          </a:p>
          <a:p>
            <a:pPr marL="0" indent="0" algn="l">
              <a:lnSpc>
                <a:spcPct val="108000"/>
              </a:lnSpc>
            </a:pPr>
            <a:r>
              <a:rPr lang="en-US" sz="1200" b="0" i="0" u="none" strike="noStrike">
                <a:solidFill>
                  <a:srgbClr val="4B5563"/>
                </a:solidFill>
                <a:latin typeface="Poppins"/>
                <a:ea typeface="Poppins"/>
                <a:cs typeface="Poppins"/>
                <a:sym typeface="Poppins"/>
              </a:rPr>
              <a:t>Transform raw data into actionable recommendations to identify opportunities and drive strategic decisions.</a:t>
            </a:r>
            <a:endParaRPr lang="en-US" sz="1200" b="0" i="0" u="none" strike="noStrike">
              <a:solidFill>
                <a:srgbClr val="4B5563"/>
              </a:solidFill>
              <a:latin typeface="Poppins"/>
              <a:ea typeface="Poppins"/>
              <a:cs typeface="Poppins"/>
              <a:sym typeface="Poppins"/>
            </a:endParaRPr>
          </a:p>
        </p:txBody>
      </p:sp>
      <p:sp>
        <p:nvSpPr>
          <p:cNvPr id="13" name="AutoShape 13"/>
          <p:cNvSpPr/>
          <p:nvPr/>
        </p:nvSpPr>
        <p:spPr>
          <a:xfrm>
            <a:off x="3746500" y="5143500"/>
            <a:ext cx="2857500" cy="13335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37000" y="5308600"/>
            <a:ext cx="406400" cy="406400"/>
          </a:xfrm>
          <a:prstGeom prst="rect">
            <a:avLst/>
          </a:prstGeom>
        </p:spPr>
      </p:pic>
      <p:sp>
        <p:nvSpPr>
          <p:cNvPr id="15" name="AutoShape 15"/>
          <p:cNvSpPr/>
          <p:nvPr/>
        </p:nvSpPr>
        <p:spPr>
          <a:xfrm>
            <a:off x="4445000" y="5270500"/>
            <a:ext cx="203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Poppins"/>
                <a:ea typeface="Poppins"/>
                <a:cs typeface="Poppins"/>
                <a:sym typeface="Poppins"/>
              </a:rPr>
              <a:t>Flexible &amp; Scalable</a:t>
            </a:r>
            <a:endParaRPr lang="en-US" sz="1100"/>
          </a:p>
          <a:p>
            <a:pPr marL="0" indent="0" algn="l">
              <a:lnSpc>
                <a:spcPct val="108000"/>
              </a:lnSpc>
            </a:pPr>
            <a:r>
              <a:rPr lang="en-US" sz="1200" b="0" i="0" u="none" strike="noStrike">
                <a:solidFill>
                  <a:srgbClr val="4B5563"/>
                </a:solidFill>
                <a:latin typeface="Poppins"/>
                <a:ea typeface="Poppins"/>
                <a:cs typeface="Poppins"/>
                <a:sym typeface="Poppins"/>
              </a:rPr>
              <a:t>Adapt to your business needs—from early-stage startups to enterprise clients—with transparent, tiered pricing.</a:t>
            </a:r>
            <a:endParaRPr lang="en-US" sz="1200" b="0" i="0" u="none" strike="noStrike">
              <a:solidFill>
                <a:srgbClr val="4B5563"/>
              </a:solidFill>
              <a:latin typeface="Poppins"/>
              <a:ea typeface="Poppins"/>
              <a:cs typeface="Poppins"/>
              <a:sym typeface="Poppins"/>
            </a:endParaRPr>
          </a:p>
        </p:txBody>
      </p:sp>
      <p:sp>
        <p:nvSpPr>
          <p:cNvPr id="16" name="AutoShape 16"/>
          <p:cNvSpPr/>
          <p:nvPr/>
        </p:nvSpPr>
        <p:spPr>
          <a:xfrm>
            <a:off x="7239000" y="2286000"/>
            <a:ext cx="4191000" cy="3556000"/>
          </a:xfrm>
          <a:prstGeom prst="roundRect">
            <a:avLst>
              <a:gd name="adj" fmla="val 0"/>
            </a:avLst>
          </a:prstGeom>
          <a:solidFill>
            <a:srgbClr val="1F2937">
              <a:alpha val="4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239000" y="2286000"/>
            <a:ext cx="4191000" cy="1016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493000" y="2667000"/>
            <a:ext cx="3683000" cy="508000"/>
          </a:xfrm>
          <a:prstGeom prst="roundRect">
            <a:avLst>
              <a:gd name="adj" fmla="val 0"/>
            </a:avLst>
          </a:prstGeom>
          <a:solidFill>
            <a:srgbClr val="FFFFFF">
              <a:alpha val="80000"/>
            </a:srgbClr>
          </a:solidFill>
          <a:ln w="12700" cap="flat" cmpd="sng">
            <a:solidFill>
              <a:srgbClr val="1F2937">
                <a:alpha val="1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620000" y="2794000"/>
            <a:ext cx="2540000" cy="254000"/>
          </a:xfrm>
          <a:prstGeom prst="roundRect">
            <a:avLst>
              <a:gd name="adj" fmla="val 0"/>
            </a:avLst>
          </a:prstGeom>
          <a:solidFill>
            <a:srgbClr val="1F2937">
              <a:alpha val="6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493000" y="3556000"/>
            <a:ext cx="1752600" cy="1397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0" y="3683000"/>
            <a:ext cx="1270000" cy="190500"/>
          </a:xfrm>
          <a:prstGeom prst="roundRect">
            <a:avLst>
              <a:gd name="adj" fmla="val 0"/>
            </a:avLst>
          </a:prstGeom>
          <a:solidFill>
            <a:srgbClr val="10B981">
              <a:alpha val="4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0" y="4191000"/>
            <a:ext cx="1498600" cy="508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423400" y="3556000"/>
            <a:ext cx="1752600" cy="1397000"/>
          </a:xfrm>
          <a:prstGeom prst="roundRect">
            <a:avLst>
              <a:gd name="adj" fmla="val 0"/>
            </a:avLst>
          </a:prstGeom>
          <a:solidFill>
            <a:srgbClr val="1F2937">
              <a:alpha val="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550400" y="3683000"/>
            <a:ext cx="1270000" cy="190500"/>
          </a:xfrm>
          <a:prstGeom prst="roundRect">
            <a:avLst>
              <a:gd name="adj" fmla="val 0"/>
            </a:avLst>
          </a:prstGeom>
          <a:solidFill>
            <a:srgbClr val="1F2937">
              <a:alpha val="1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550400" y="4191000"/>
            <a:ext cx="1498600" cy="508000"/>
          </a:xfrm>
          <a:prstGeom prst="roundRect">
            <a:avLst>
              <a:gd name="adj" fmla="val 0"/>
            </a:avLst>
          </a:prstGeom>
          <a:solidFill>
            <a:srgbClr val="1F2937">
              <a:alpha val="6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7493000" y="5207000"/>
            <a:ext cx="3683000" cy="508000"/>
          </a:xfrm>
          <a:prstGeom prst="roundRect">
            <a:avLst>
              <a:gd name="adj" fmla="val 0"/>
            </a:avLst>
          </a:prstGeom>
          <a:solidFill>
            <a:srgbClr val="1F2937">
              <a:alpha val="3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620000" y="5334000"/>
            <a:ext cx="1016000" cy="254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7239000" y="6032500"/>
            <a:ext cx="4191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0B981"/>
                </a:solidFill>
                <a:latin typeface="Poppins"/>
                <a:ea typeface="Poppins"/>
                <a:cs typeface="Poppins"/>
                <a:sym typeface="Poppins"/>
              </a:rPr>
              <a:t>"Unlocking efficiency, one workflow at a time."</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Product Overview: Key Features</a:t>
            </a:r>
            <a:endParaRPr lang="en-US" sz="1100"/>
          </a:p>
        </p:txBody>
      </p:sp>
      <p:sp>
        <p:nvSpPr>
          <p:cNvPr id="3" name="AutoShape 3"/>
          <p:cNvSpPr/>
          <p:nvPr/>
        </p:nvSpPr>
        <p:spPr>
          <a:xfrm>
            <a:off x="762000" y="1651000"/>
            <a:ext cx="10668000" cy="2032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6200" cy="2032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43000" y="1905000"/>
            <a:ext cx="990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1" i="0" u="none" strike="noStrike">
                <a:solidFill>
                  <a:srgbClr val="1F2937"/>
                </a:solidFill>
                <a:latin typeface="Poppins"/>
                <a:ea typeface="Poppins"/>
                <a:cs typeface="Poppins"/>
                <a:sym typeface="Poppins"/>
              </a:rPr>
              <a:t>An All-in-One Platform for Modern Teams</a:t>
            </a:r>
            <a:endParaRPr lang="en-US" sz="1100"/>
          </a:p>
          <a:p>
            <a:pPr marL="0" indent="0" algn="l">
              <a:lnSpc>
                <a:spcPct val="125000"/>
              </a:lnSpc>
            </a:pPr>
            <a:r>
              <a:rPr lang="en-US" sz="1400" b="0" i="0" u="none" strike="noStrike">
                <a:solidFill>
                  <a:srgbClr val="4B5563"/>
                </a:solidFill>
                <a:latin typeface="Poppins"/>
                <a:ea typeface="Poppins"/>
                <a:cs typeface="Poppins"/>
                <a:sym typeface="Poppins"/>
              </a:rPr>
              <a:t>Seamlessly integrating data, processes, and people to deliver a unified experience. Our intuitive interface centralizes critical business functions, enabling faster decisions and streamlined operations—all within a single, accessible workspace.</a:t>
            </a:r>
            <a:endParaRPr lang="en-US" sz="1400" b="0" i="0" u="none" strike="noStrike">
              <a:solidFill>
                <a:srgbClr val="4B5563"/>
              </a:solidFill>
              <a:latin typeface="Poppins"/>
              <a:ea typeface="Poppins"/>
              <a:cs typeface="Poppins"/>
              <a:sym typeface="Poppins"/>
            </a:endParaRPr>
          </a:p>
        </p:txBody>
      </p:sp>
      <p:sp>
        <p:nvSpPr>
          <p:cNvPr id="6" name="AutoShape 6"/>
          <p:cNvSpPr/>
          <p:nvPr/>
        </p:nvSpPr>
        <p:spPr>
          <a:xfrm>
            <a:off x="762000" y="4191000"/>
            <a:ext cx="33782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4381500"/>
            <a:ext cx="406400" cy="406400"/>
          </a:xfrm>
          <a:prstGeom prst="rect">
            <a:avLst/>
          </a:prstGeom>
        </p:spPr>
      </p:pic>
      <p:sp>
        <p:nvSpPr>
          <p:cNvPr id="8" name="AutoShape 8"/>
          <p:cNvSpPr/>
          <p:nvPr/>
        </p:nvSpPr>
        <p:spPr>
          <a:xfrm>
            <a:off x="1549400" y="4343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Smart Dashboard</a:t>
            </a:r>
            <a:endParaRPr lang="en-US" sz="1100"/>
          </a:p>
        </p:txBody>
      </p:sp>
      <p:cxnSp>
        <p:nvCxnSpPr>
          <p:cNvPr id="9" name="Connector 9"/>
          <p:cNvCxnSpPr/>
          <p:nvPr/>
        </p:nvCxnSpPr>
        <p:spPr>
          <a:xfrm rot="-15211">
            <a:off x="1016014" y="4946650"/>
            <a:ext cx="28702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10" name="AutoShape 10"/>
          <p:cNvSpPr/>
          <p:nvPr/>
        </p:nvSpPr>
        <p:spPr>
          <a:xfrm>
            <a:off x="1016000" y="51435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Gain a bird's-eye view of your business with real-time analytics and fully customizable reporting modules, turning raw data into actionable insights at a glance.</a:t>
            </a:r>
            <a:endParaRPr lang="en-US" sz="1100"/>
          </a:p>
        </p:txBody>
      </p:sp>
      <p:sp>
        <p:nvSpPr>
          <p:cNvPr id="11" name="AutoShape 11"/>
          <p:cNvSpPr/>
          <p:nvPr/>
        </p:nvSpPr>
        <p:spPr>
          <a:xfrm>
            <a:off x="4406900" y="4191000"/>
            <a:ext cx="33782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60900" y="4381500"/>
            <a:ext cx="406400" cy="406400"/>
          </a:xfrm>
          <a:prstGeom prst="rect">
            <a:avLst/>
          </a:prstGeom>
        </p:spPr>
      </p:pic>
      <p:sp>
        <p:nvSpPr>
          <p:cNvPr id="13" name="AutoShape 13"/>
          <p:cNvSpPr/>
          <p:nvPr/>
        </p:nvSpPr>
        <p:spPr>
          <a:xfrm>
            <a:off x="5194300" y="4343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Automated Workflows</a:t>
            </a:r>
            <a:endParaRPr lang="en-US" sz="1100"/>
          </a:p>
        </p:txBody>
      </p:sp>
      <p:cxnSp>
        <p:nvCxnSpPr>
          <p:cNvPr id="14" name="Connector 14"/>
          <p:cNvCxnSpPr/>
          <p:nvPr/>
        </p:nvCxnSpPr>
        <p:spPr>
          <a:xfrm rot="-15211">
            <a:off x="4660914" y="4946650"/>
            <a:ext cx="28702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15" name="AutoShape 15"/>
          <p:cNvSpPr/>
          <p:nvPr/>
        </p:nvSpPr>
        <p:spPr>
          <a:xfrm>
            <a:off x="4660900" y="51435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Eliminate repetitive manual tasks with flexible automation rules. Streamline approvals, data entry, and notifications to save hours of work every week for your team.</a:t>
            </a:r>
            <a:endParaRPr lang="en-US" sz="1100"/>
          </a:p>
        </p:txBody>
      </p:sp>
      <p:sp>
        <p:nvSpPr>
          <p:cNvPr id="16" name="AutoShape 16"/>
          <p:cNvSpPr/>
          <p:nvPr/>
        </p:nvSpPr>
        <p:spPr>
          <a:xfrm>
            <a:off x="8051800" y="4191000"/>
            <a:ext cx="33782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4381500"/>
            <a:ext cx="406400" cy="406400"/>
          </a:xfrm>
          <a:prstGeom prst="rect">
            <a:avLst/>
          </a:prstGeom>
        </p:spPr>
      </p:pic>
      <p:sp>
        <p:nvSpPr>
          <p:cNvPr id="18" name="AutoShape 18"/>
          <p:cNvSpPr/>
          <p:nvPr/>
        </p:nvSpPr>
        <p:spPr>
          <a:xfrm>
            <a:off x="8839200" y="4343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Advanced Collaboration</a:t>
            </a:r>
            <a:endParaRPr lang="en-US" sz="1100"/>
          </a:p>
        </p:txBody>
      </p:sp>
      <p:cxnSp>
        <p:nvCxnSpPr>
          <p:cNvPr id="19" name="Connector 19"/>
          <p:cNvCxnSpPr/>
          <p:nvPr/>
        </p:nvCxnSpPr>
        <p:spPr>
          <a:xfrm rot="-15211">
            <a:off x="8305814" y="4946650"/>
            <a:ext cx="28702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20" name="AutoShape 20"/>
          <p:cNvSpPr/>
          <p:nvPr/>
        </p:nvSpPr>
        <p:spPr>
          <a:xfrm>
            <a:off x="8305800" y="51435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Foster seamless teamwork with integrated chat, shared workspaces, and real-time co-editing. Keep everyone aligned and connected, no matter where your team is located.</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Market Opportunity: A Massive, Growing Market</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2032000"/>
            <a:ext cx="3378200" cy="3302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3782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406400" cy="406400"/>
          </a:xfrm>
          <a:prstGeom prst="rect">
            <a:avLst/>
          </a:prstGeom>
        </p:spPr>
      </p:pic>
      <p:sp>
        <p:nvSpPr>
          <p:cNvPr id="7" name="AutoShape 7"/>
          <p:cNvSpPr/>
          <p:nvPr/>
        </p:nvSpPr>
        <p:spPr>
          <a:xfrm>
            <a:off x="1524000" y="2387600"/>
            <a:ext cx="23622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Total Addressable Market (TAM)</a:t>
            </a:r>
            <a:endParaRPr lang="en-US" sz="1100"/>
          </a:p>
        </p:txBody>
      </p:sp>
      <p:cxnSp>
        <p:nvCxnSpPr>
          <p:cNvPr id="8" name="Connector 8"/>
          <p:cNvCxnSpPr/>
          <p:nvPr/>
        </p:nvCxnSpPr>
        <p:spPr>
          <a:xfrm rot="-15211">
            <a:off x="1016014" y="3168650"/>
            <a:ext cx="28702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9" name="AutoShape 9"/>
          <p:cNvSpPr/>
          <p:nvPr/>
        </p:nvSpPr>
        <p:spPr>
          <a:xfrm>
            <a:off x="1016000" y="3429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10B981"/>
                </a:solidFill>
                <a:latin typeface="Poppins"/>
                <a:ea typeface="Poppins"/>
                <a:cs typeface="Poppins"/>
                <a:sym typeface="Poppins"/>
              </a:rPr>
              <a:t>$XX.X B</a:t>
            </a:r>
            <a:endParaRPr lang="en-US" sz="1100"/>
          </a:p>
        </p:txBody>
      </p:sp>
      <p:sp>
        <p:nvSpPr>
          <p:cNvPr id="10" name="AutoShape 10"/>
          <p:cNvSpPr/>
          <p:nvPr/>
        </p:nvSpPr>
        <p:spPr>
          <a:xfrm>
            <a:off x="1016000" y="4572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The global market for enterprise software solutions, encompassing all industries and regions with demand for scalable digital transformation tools.</a:t>
            </a:r>
            <a:endParaRPr lang="en-US" sz="1100"/>
          </a:p>
        </p:txBody>
      </p:sp>
      <p:sp>
        <p:nvSpPr>
          <p:cNvPr id="11" name="AutoShape 11"/>
          <p:cNvSpPr/>
          <p:nvPr/>
        </p:nvSpPr>
        <p:spPr>
          <a:xfrm>
            <a:off x="4394200" y="2032000"/>
            <a:ext cx="3378200" cy="3302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394200" y="2032000"/>
            <a:ext cx="3378200" cy="76200"/>
          </a:xfrm>
          <a:prstGeom prst="roundRect">
            <a:avLst>
              <a:gd name="adj" fmla="val 0"/>
            </a:avLst>
          </a:prstGeom>
          <a:solidFill>
            <a:srgbClr val="10B981">
              <a:alpha val="7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2413000"/>
            <a:ext cx="406400" cy="406400"/>
          </a:xfrm>
          <a:prstGeom prst="rect">
            <a:avLst/>
          </a:prstGeom>
        </p:spPr>
      </p:pic>
      <p:sp>
        <p:nvSpPr>
          <p:cNvPr id="14" name="AutoShape 14"/>
          <p:cNvSpPr/>
          <p:nvPr/>
        </p:nvSpPr>
        <p:spPr>
          <a:xfrm>
            <a:off x="5156200" y="2387600"/>
            <a:ext cx="23622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Serviceable Addressable Market (SAM)</a:t>
            </a:r>
            <a:endParaRPr lang="en-US" sz="1100"/>
          </a:p>
        </p:txBody>
      </p:sp>
      <p:cxnSp>
        <p:nvCxnSpPr>
          <p:cNvPr id="15" name="Connector 15"/>
          <p:cNvCxnSpPr/>
          <p:nvPr/>
        </p:nvCxnSpPr>
        <p:spPr>
          <a:xfrm rot="-15211">
            <a:off x="4648214" y="3168650"/>
            <a:ext cx="28702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6" name="AutoShape 16"/>
          <p:cNvSpPr/>
          <p:nvPr/>
        </p:nvSpPr>
        <p:spPr>
          <a:xfrm>
            <a:off x="4648200" y="3429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10B981"/>
                </a:solidFill>
                <a:latin typeface="Poppins"/>
                <a:ea typeface="Poppins"/>
                <a:cs typeface="Poppins"/>
                <a:sym typeface="Poppins"/>
              </a:rPr>
              <a:t>$XX.X B</a:t>
            </a:r>
            <a:endParaRPr lang="en-US" sz="1100"/>
          </a:p>
        </p:txBody>
      </p:sp>
      <p:sp>
        <p:nvSpPr>
          <p:cNvPr id="17" name="AutoShape 17"/>
          <p:cNvSpPr/>
          <p:nvPr/>
        </p:nvSpPr>
        <p:spPr>
          <a:xfrm>
            <a:off x="4648200" y="4572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The focused segment of mid-sized retail businesses in North America actively seeking cloud-based SaaS inventory and customer management platforms.</a:t>
            </a:r>
            <a:endParaRPr lang="en-US" sz="1100"/>
          </a:p>
        </p:txBody>
      </p:sp>
      <p:sp>
        <p:nvSpPr>
          <p:cNvPr id="18" name="AutoShape 18"/>
          <p:cNvSpPr/>
          <p:nvPr/>
        </p:nvSpPr>
        <p:spPr>
          <a:xfrm>
            <a:off x="8026400" y="2032000"/>
            <a:ext cx="3378200" cy="3302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026400" y="2032000"/>
            <a:ext cx="3378200" cy="76200"/>
          </a:xfrm>
          <a:prstGeom prst="roundRect">
            <a:avLst>
              <a:gd name="adj" fmla="val 0"/>
            </a:avLst>
          </a:prstGeom>
          <a:solidFill>
            <a:srgbClr val="10B981">
              <a:alpha val="4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2413000"/>
            <a:ext cx="406400" cy="406400"/>
          </a:xfrm>
          <a:prstGeom prst="rect">
            <a:avLst/>
          </a:prstGeom>
        </p:spPr>
      </p:pic>
      <p:sp>
        <p:nvSpPr>
          <p:cNvPr id="21" name="AutoShape 21"/>
          <p:cNvSpPr/>
          <p:nvPr/>
        </p:nvSpPr>
        <p:spPr>
          <a:xfrm>
            <a:off x="8788400" y="2387600"/>
            <a:ext cx="23622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Serviceable Obtainable Market (SOM)</a:t>
            </a:r>
            <a:endParaRPr lang="en-US" sz="1100"/>
          </a:p>
        </p:txBody>
      </p:sp>
      <p:cxnSp>
        <p:nvCxnSpPr>
          <p:cNvPr id="22" name="Connector 22"/>
          <p:cNvCxnSpPr/>
          <p:nvPr/>
        </p:nvCxnSpPr>
        <p:spPr>
          <a:xfrm rot="-15211">
            <a:off x="8280414" y="3168650"/>
            <a:ext cx="28702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3" name="AutoShape 23"/>
          <p:cNvSpPr/>
          <p:nvPr/>
        </p:nvSpPr>
        <p:spPr>
          <a:xfrm>
            <a:off x="8280400" y="3429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10B981"/>
                </a:solidFill>
                <a:latin typeface="Poppins"/>
                <a:ea typeface="Poppins"/>
                <a:cs typeface="Poppins"/>
                <a:sym typeface="Poppins"/>
              </a:rPr>
              <a:t>$XX.X M</a:t>
            </a:r>
            <a:endParaRPr lang="en-US" sz="1100"/>
          </a:p>
        </p:txBody>
      </p:sp>
      <p:sp>
        <p:nvSpPr>
          <p:cNvPr id="24" name="AutoShape 24"/>
          <p:cNvSpPr/>
          <p:nvPr/>
        </p:nvSpPr>
        <p:spPr>
          <a:xfrm>
            <a:off x="8280400" y="4572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Our realistic, near-term target: capturing a measurable share of the SAM within the next 3–5 years through strategic partnerships and regional expansion.</a:t>
            </a:r>
            <a:endParaRPr lang="en-US" sz="1100"/>
          </a:p>
        </p:txBody>
      </p:sp>
      <p:sp>
        <p:nvSpPr>
          <p:cNvPr id="25" name="AutoShape 25"/>
          <p:cNvSpPr/>
          <p:nvPr/>
        </p:nvSpPr>
        <p:spPr>
          <a:xfrm>
            <a:off x="762000" y="5715000"/>
            <a:ext cx="10668000" cy="762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F2937"/>
                </a:solidFill>
                <a:latin typeface="Poppins"/>
                <a:ea typeface="Poppins"/>
                <a:cs typeface="Poppins"/>
                <a:sym typeface="Poppins"/>
              </a:rPr>
              <a:t>This tiered market structure validates a clear path from broad potential to actionable, revenue-driving opportunities, ensuring sustainable growth and scalability.</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Business Model: Proven &amp; Profitable</a:t>
            </a:r>
            <a:endParaRPr lang="en-US" sz="1100"/>
          </a:p>
        </p:txBody>
      </p:sp>
      <p:sp>
        <p:nvSpPr>
          <p:cNvPr id="3" name="AutoShape 3"/>
          <p:cNvSpPr/>
          <p:nvPr/>
        </p:nvSpPr>
        <p:spPr>
          <a:xfrm>
            <a:off x="762000" y="1270000"/>
            <a:ext cx="76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2032000"/>
            <a:ext cx="533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Poppins"/>
                <a:ea typeface="Poppins"/>
                <a:cs typeface="Poppins"/>
                <a:sym typeface="Poppins"/>
              </a:rPr>
              <a:t>We operate on a</a:t>
            </a:r>
            <a:r>
              <a:rPr lang="en-US" sz="1600" b="1" i="0" u="none" strike="noStrike">
                <a:solidFill>
                  <a:srgbClr val="1F2937"/>
                </a:solidFill>
                <a:latin typeface="Poppins"/>
                <a:ea typeface="Poppins"/>
                <a:cs typeface="Poppins"/>
                <a:sym typeface="Poppins"/>
              </a:rPr>
              <a:t>SaaS subscription model</a:t>
            </a:r>
            <a:r>
              <a:rPr lang="en-US" sz="1600" b="0" i="0" u="none" strike="noStrike">
                <a:solidFill>
                  <a:srgbClr val="374151"/>
                </a:solidFill>
                <a:latin typeface="Poppins"/>
                <a:ea typeface="Poppins"/>
                <a:cs typeface="Poppins"/>
                <a:sym typeface="Poppins"/>
              </a:rPr>
              <a:t>with tiered pricing designed to align with businesses of all sizes, from startups to enterprise clients. This recurring revenue structure ensures predictable cash flow and sustainable long-term growth.</a:t>
            </a:r>
            <a:endParaRPr lang="en-US" sz="1100"/>
          </a:p>
        </p:txBody>
      </p:sp>
      <p:cxnSp>
        <p:nvCxnSpPr>
          <p:cNvPr id="5" name="Connector 5"/>
          <p:cNvCxnSpPr/>
          <p:nvPr/>
        </p:nvCxnSpPr>
        <p:spPr>
          <a:xfrm rot="-8185">
            <a:off x="762008" y="3549650"/>
            <a:ext cx="533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4064000"/>
            <a:ext cx="355600" cy="355600"/>
          </a:xfrm>
          <a:prstGeom prst="rect">
            <a:avLst/>
          </a:prstGeom>
        </p:spPr>
      </p:pic>
      <p:sp>
        <p:nvSpPr>
          <p:cNvPr id="7" name="AutoShape 7"/>
          <p:cNvSpPr/>
          <p:nvPr/>
        </p:nvSpPr>
        <p:spPr>
          <a:xfrm>
            <a:off x="1270000" y="40386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Poppins"/>
                <a:ea typeface="Poppins"/>
                <a:cs typeface="Poppins"/>
                <a:sym typeface="Poppins"/>
              </a:rPr>
              <a:t>Basic Tier: For Individuals &amp; Startups</a:t>
            </a:r>
            <a:endParaRPr lang="en-US" sz="1100"/>
          </a:p>
          <a:p>
            <a:pPr marL="0" indent="0" algn="l">
              <a:lnSpc>
                <a:spcPct val="108000"/>
              </a:lnSpc>
            </a:pPr>
            <a:r>
              <a:rPr lang="en-US" sz="1300" b="0" i="0" u="none" strike="noStrike">
                <a:solidFill>
                  <a:srgbClr val="4B5563"/>
                </a:solidFill>
                <a:latin typeface="Poppins"/>
                <a:ea typeface="Poppins"/>
                <a:cs typeface="Poppins"/>
                <a:sym typeface="Poppins"/>
              </a:rPr>
              <a:t>Entry-level access to core features, ideal for early-stage teams looking to adopt our platform with minimal upfront investment.</a:t>
            </a:r>
            <a:endParaRPr lang="en-US" sz="1300" b="0" i="0" u="none" strike="noStrike">
              <a:solidFill>
                <a:srgbClr val="4B5563"/>
              </a:solidFill>
              <a:latin typeface="Poppins"/>
              <a:ea typeface="Poppins"/>
              <a:cs typeface="Poppins"/>
              <a:sym typeface="Poppins"/>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5334000"/>
            <a:ext cx="355600" cy="355600"/>
          </a:xfrm>
          <a:prstGeom prst="rect">
            <a:avLst/>
          </a:prstGeom>
        </p:spPr>
      </p:pic>
      <p:sp>
        <p:nvSpPr>
          <p:cNvPr id="9" name="AutoShape 9"/>
          <p:cNvSpPr/>
          <p:nvPr/>
        </p:nvSpPr>
        <p:spPr>
          <a:xfrm>
            <a:off x="1270000" y="53086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Poppins"/>
                <a:ea typeface="Poppins"/>
                <a:cs typeface="Poppins"/>
                <a:sym typeface="Poppins"/>
              </a:rPr>
              <a:t>Pro &amp; Enterprise: For Scaling &amp; Enterprise Teams</a:t>
            </a:r>
            <a:endParaRPr lang="en-US" sz="1100"/>
          </a:p>
          <a:p>
            <a:pPr marL="0" indent="0" algn="l">
              <a:lnSpc>
                <a:spcPct val="108000"/>
              </a:lnSpc>
            </a:pPr>
            <a:r>
              <a:rPr lang="en-US" sz="1300" b="0" i="0" u="none" strike="noStrike">
                <a:solidFill>
                  <a:srgbClr val="4B5563"/>
                </a:solidFill>
                <a:latin typeface="Poppins"/>
                <a:ea typeface="Poppins"/>
                <a:cs typeface="Poppins"/>
                <a:sym typeface="Poppins"/>
              </a:rPr>
              <a:t>Advanced functionality, dedicated support, and custom integrations for growing businesses and large organizations requiring tailored solutions.</a:t>
            </a:r>
            <a:endParaRPr lang="en-US" sz="1300" b="0" i="0" u="none" strike="noStrike">
              <a:solidFill>
                <a:srgbClr val="4B5563"/>
              </a:solidFill>
              <a:latin typeface="Poppins"/>
              <a:ea typeface="Poppins"/>
              <a:cs typeface="Poppins"/>
              <a:sym typeface="Poppins"/>
            </a:endParaRPr>
          </a:p>
        </p:txBody>
      </p:sp>
      <p:cxnSp>
        <p:nvCxnSpPr>
          <p:cNvPr id="10" name="Connector 10"/>
          <p:cNvCxnSpPr/>
          <p:nvPr/>
        </p:nvCxnSpPr>
        <p:spPr>
          <a:xfrm rot="5389257">
            <a:off x="4445000" y="4057660"/>
            <a:ext cx="4064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1" name="AutoShape 11"/>
          <p:cNvSpPr/>
          <p:nvPr/>
        </p:nvSpPr>
        <p:spPr>
          <a:xfrm>
            <a:off x="6731000" y="2032000"/>
            <a:ext cx="2349500" cy="2032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731000" y="2032000"/>
            <a:ext cx="2349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921500" y="22860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Poppins"/>
                <a:ea typeface="Poppins"/>
                <a:cs typeface="Poppins"/>
                <a:sym typeface="Poppins"/>
              </a:rPr>
              <a:t>Customer Lifetime Value (LTV)</a:t>
            </a:r>
            <a:endParaRPr lang="en-US" sz="1100"/>
          </a:p>
        </p:txBody>
      </p:sp>
      <p:sp>
        <p:nvSpPr>
          <p:cNvPr id="14" name="AutoShape 14"/>
          <p:cNvSpPr/>
          <p:nvPr/>
        </p:nvSpPr>
        <p:spPr>
          <a:xfrm>
            <a:off x="6921500" y="3048000"/>
            <a:ext cx="196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F2937"/>
                </a:solidFill>
                <a:latin typeface="Poppins"/>
                <a:ea typeface="Poppins"/>
                <a:cs typeface="Poppins"/>
                <a:sym typeface="Poppins"/>
              </a:rPr>
              <a:t>$2,400</a:t>
            </a:r>
            <a:endParaRPr lang="en-US" sz="1100"/>
          </a:p>
        </p:txBody>
      </p:sp>
      <p:sp>
        <p:nvSpPr>
          <p:cNvPr id="15" name="AutoShape 15"/>
          <p:cNvSpPr/>
          <p:nvPr/>
        </p:nvSpPr>
        <p:spPr>
          <a:xfrm>
            <a:off x="9334500" y="2032000"/>
            <a:ext cx="2349500" cy="2032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334500" y="2032000"/>
            <a:ext cx="2349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525000" y="22860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Poppins"/>
                <a:ea typeface="Poppins"/>
                <a:cs typeface="Poppins"/>
                <a:sym typeface="Poppins"/>
              </a:rPr>
              <a:t>Customer Acquisition Cost (CAC)</a:t>
            </a:r>
            <a:endParaRPr lang="en-US" sz="1100"/>
          </a:p>
        </p:txBody>
      </p:sp>
      <p:sp>
        <p:nvSpPr>
          <p:cNvPr id="18" name="AutoShape 18"/>
          <p:cNvSpPr/>
          <p:nvPr/>
        </p:nvSpPr>
        <p:spPr>
          <a:xfrm>
            <a:off x="9525000" y="3048000"/>
            <a:ext cx="196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F2937"/>
                </a:solidFill>
                <a:latin typeface="Poppins"/>
                <a:ea typeface="Poppins"/>
                <a:cs typeface="Poppins"/>
                <a:sym typeface="Poppins"/>
              </a:rPr>
              <a:t>$450</a:t>
            </a:r>
            <a:endParaRPr lang="en-US" sz="1100"/>
          </a:p>
        </p:txBody>
      </p:sp>
      <p:sp>
        <p:nvSpPr>
          <p:cNvPr id="19" name="AutoShape 19"/>
          <p:cNvSpPr/>
          <p:nvPr/>
        </p:nvSpPr>
        <p:spPr>
          <a:xfrm>
            <a:off x="6731000" y="4572000"/>
            <a:ext cx="4953000" cy="15240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0" y="4826000"/>
            <a:ext cx="609600" cy="609600"/>
          </a:xfrm>
          <a:prstGeom prst="rect">
            <a:avLst/>
          </a:prstGeom>
        </p:spPr>
      </p:pic>
      <p:sp>
        <p:nvSpPr>
          <p:cNvPr id="21" name="AutoShape 21"/>
          <p:cNvSpPr/>
          <p:nvPr/>
        </p:nvSpPr>
        <p:spPr>
          <a:xfrm>
            <a:off x="7874000" y="4762500"/>
            <a:ext cx="355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70196"/>
                  </a:srgbClr>
                </a:solidFill>
                <a:latin typeface="Poppins"/>
                <a:ea typeface="Poppins"/>
                <a:cs typeface="Poppins"/>
                <a:sym typeface="Poppins"/>
              </a:rPr>
              <a:t>LTV / CAC Ratio (Industry Benchmark: 3:1)</a:t>
            </a:r>
            <a:endParaRPr lang="en-US" sz="1100"/>
          </a:p>
          <a:p>
            <a:pPr marL="0" indent="0" algn="l">
              <a:lnSpc>
                <a:spcPct val="117000"/>
              </a:lnSpc>
            </a:pPr>
            <a:r>
              <a:rPr lang="en-US" sz="2800" b="1" i="0" u="none" strike="noStrike">
                <a:solidFill>
                  <a:srgbClr val="10B981"/>
                </a:solidFill>
                <a:latin typeface="Poppins"/>
                <a:ea typeface="Poppins"/>
                <a:cs typeface="Poppins"/>
                <a:sym typeface="Poppins"/>
              </a:rPr>
              <a:t>5.3:1</a:t>
            </a:r>
            <a:r>
              <a:rPr lang="en-US" sz="1400" b="0" i="0" u="none" strike="noStrike">
                <a:solidFill>
                  <a:srgbClr val="FFFFFF"/>
                </a:solidFill>
                <a:latin typeface="Poppins"/>
                <a:ea typeface="Poppins"/>
                <a:cs typeface="Poppins"/>
                <a:sym typeface="Poppins"/>
              </a:rPr>
              <a:t>— Demonstrating highly efficient and sustainable customer acquisition and retention.</a:t>
            </a:r>
            <a:endParaRPr lang="en-US" sz="1400" b="0" i="0" u="none" strike="noStrike">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Competitive Landscape: Standing Out from the Crowd</a:t>
            </a:r>
            <a:endParaRPr lang="en-US" sz="1100"/>
          </a:p>
        </p:txBody>
      </p:sp>
      <p:sp>
        <p:nvSpPr>
          <p:cNvPr id="3" name="AutoShape 3"/>
          <p:cNvSpPr/>
          <p:nvPr/>
        </p:nvSpPr>
        <p:spPr>
          <a:xfrm>
            <a:off x="762000" y="1651000"/>
            <a:ext cx="5270500" cy="1714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6200" cy="1714500"/>
          </a:xfrm>
          <a:prstGeom prst="roundRect">
            <a:avLst>
              <a:gd name="adj" fmla="val 0"/>
            </a:avLst>
          </a:prstGeom>
          <a:solidFill>
            <a:srgbClr val="9CA3A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4762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Competitor A</a:t>
            </a:r>
            <a:endParaRPr lang="en-US" sz="1100"/>
          </a:p>
        </p:txBody>
      </p:sp>
      <p:cxnSp>
        <p:nvCxnSpPr>
          <p:cNvPr id="6" name="Connector 6"/>
          <p:cNvCxnSpPr/>
          <p:nvPr/>
        </p:nvCxnSpPr>
        <p:spPr>
          <a:xfrm rot="-9167">
            <a:off x="1016008" y="2216150"/>
            <a:ext cx="47625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7" name="AutoShape 7"/>
          <p:cNvSpPr/>
          <p:nvPr/>
        </p:nvSpPr>
        <p:spPr>
          <a:xfrm>
            <a:off x="1016000" y="2349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374151"/>
                </a:solidFill>
                <a:latin typeface="Poppins"/>
                <a:ea typeface="Poppins"/>
                <a:cs typeface="Poppins"/>
                <a:sym typeface="Poppins"/>
              </a:rPr>
              <a:t>STRENGTHS:</a:t>
            </a:r>
            <a:br>
              <a:rPr lang="en-US" sz="12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Established large brand presence with a comprehensive, wide feature set for enterprise use cases.</a:t>
            </a:r>
            <a:endParaRPr lang="en-US" sz="1100"/>
          </a:p>
        </p:txBody>
      </p:sp>
      <p:cxnSp>
        <p:nvCxnSpPr>
          <p:cNvPr id="8" name="Connector 8"/>
          <p:cNvCxnSpPr/>
          <p:nvPr/>
        </p:nvCxnSpPr>
        <p:spPr>
          <a:xfrm rot="5342709">
            <a:off x="3048000" y="2724203"/>
            <a:ext cx="762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3556000" y="2349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DC2626"/>
                </a:solidFill>
                <a:latin typeface="Poppins"/>
                <a:ea typeface="Poppins"/>
                <a:cs typeface="Poppins"/>
                <a:sym typeface="Poppins"/>
              </a:rPr>
              <a:t>WEAKNESSES:</a:t>
            </a:r>
            <a:br>
              <a:rPr lang="en-US" sz="12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Prohibitive pricing tiers, outdated and clunky UI, and notoriously slow customer support response.</a:t>
            </a:r>
            <a:endParaRPr lang="en-US" sz="1100"/>
          </a:p>
        </p:txBody>
      </p:sp>
      <p:sp>
        <p:nvSpPr>
          <p:cNvPr id="10" name="AutoShape 10"/>
          <p:cNvSpPr/>
          <p:nvPr/>
        </p:nvSpPr>
        <p:spPr>
          <a:xfrm>
            <a:off x="6413500" y="1651000"/>
            <a:ext cx="5270500" cy="1714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1651000"/>
            <a:ext cx="76200" cy="1714500"/>
          </a:xfrm>
          <a:prstGeom prst="roundRect">
            <a:avLst>
              <a:gd name="adj" fmla="val 0"/>
            </a:avLst>
          </a:prstGeom>
          <a:solidFill>
            <a:srgbClr val="9CA3A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667500" y="1778000"/>
            <a:ext cx="4762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Competitor B</a:t>
            </a:r>
            <a:endParaRPr lang="en-US" sz="1100"/>
          </a:p>
        </p:txBody>
      </p:sp>
      <p:cxnSp>
        <p:nvCxnSpPr>
          <p:cNvPr id="13" name="Connector 13"/>
          <p:cNvCxnSpPr/>
          <p:nvPr/>
        </p:nvCxnSpPr>
        <p:spPr>
          <a:xfrm rot="-9167">
            <a:off x="6667508" y="2216150"/>
            <a:ext cx="47625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4" name="AutoShape 14"/>
          <p:cNvSpPr/>
          <p:nvPr/>
        </p:nvSpPr>
        <p:spPr>
          <a:xfrm>
            <a:off x="6667500" y="2349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374151"/>
                </a:solidFill>
                <a:latin typeface="Poppins"/>
                <a:ea typeface="Poppins"/>
                <a:cs typeface="Poppins"/>
                <a:sym typeface="Poppins"/>
              </a:rPr>
              <a:t>STRENGTHS:</a:t>
            </a:r>
            <a:br>
              <a:rPr lang="en-US" sz="12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Aggressively low price point that appeals to small businesses and price-sensitive startups.</a:t>
            </a:r>
            <a:endParaRPr lang="en-US" sz="1100"/>
          </a:p>
        </p:txBody>
      </p:sp>
      <p:cxnSp>
        <p:nvCxnSpPr>
          <p:cNvPr id="15" name="Connector 15"/>
          <p:cNvCxnSpPr/>
          <p:nvPr/>
        </p:nvCxnSpPr>
        <p:spPr>
          <a:xfrm rot="5342709">
            <a:off x="8699500" y="2724203"/>
            <a:ext cx="762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9207500" y="2349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DC2626"/>
                </a:solidFill>
                <a:latin typeface="Poppins"/>
                <a:ea typeface="Poppins"/>
                <a:cs typeface="Poppins"/>
                <a:sym typeface="Poppins"/>
              </a:rPr>
              <a:t>WEAKNESSES:</a:t>
            </a:r>
            <a:br>
              <a:rPr lang="en-US" sz="12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Extremely limited core functionality and a rigid architecture that offers poor scalability for growth.</a:t>
            </a:r>
            <a:endParaRPr lang="en-US" sz="1100"/>
          </a:p>
        </p:txBody>
      </p:sp>
      <p:sp>
        <p:nvSpPr>
          <p:cNvPr id="17" name="AutoShape 17"/>
          <p:cNvSpPr/>
          <p:nvPr/>
        </p:nvSpPr>
        <p:spPr>
          <a:xfrm>
            <a:off x="762000" y="3683000"/>
            <a:ext cx="5270500" cy="1714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62000" y="3683000"/>
            <a:ext cx="76200" cy="1714500"/>
          </a:xfrm>
          <a:prstGeom prst="roundRect">
            <a:avLst>
              <a:gd name="adj" fmla="val 0"/>
            </a:avLst>
          </a:prstGeom>
          <a:solidFill>
            <a:srgbClr val="9CA3A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3810000"/>
            <a:ext cx="4762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Competitor C</a:t>
            </a:r>
            <a:endParaRPr lang="en-US" sz="1100"/>
          </a:p>
        </p:txBody>
      </p:sp>
      <p:cxnSp>
        <p:nvCxnSpPr>
          <p:cNvPr id="20" name="Connector 20"/>
          <p:cNvCxnSpPr/>
          <p:nvPr/>
        </p:nvCxnSpPr>
        <p:spPr>
          <a:xfrm rot="-9167">
            <a:off x="1016008" y="4248150"/>
            <a:ext cx="47625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1" name="AutoShape 21"/>
          <p:cNvSpPr/>
          <p:nvPr/>
        </p:nvSpPr>
        <p:spPr>
          <a:xfrm>
            <a:off x="1016000" y="4381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374151"/>
                </a:solidFill>
                <a:latin typeface="Poppins"/>
                <a:ea typeface="Poppins"/>
                <a:cs typeface="Poppins"/>
                <a:sym typeface="Poppins"/>
              </a:rPr>
              <a:t>STRENGTHS:</a:t>
            </a:r>
            <a:br>
              <a:rPr lang="en-US" sz="12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Hyper-focused on a narrow niche market, delivering specialized features for that segment.</a:t>
            </a:r>
            <a:endParaRPr lang="en-US" sz="1100"/>
          </a:p>
        </p:txBody>
      </p:sp>
      <p:cxnSp>
        <p:nvCxnSpPr>
          <p:cNvPr id="22" name="Connector 22"/>
          <p:cNvCxnSpPr/>
          <p:nvPr/>
        </p:nvCxnSpPr>
        <p:spPr>
          <a:xfrm rot="5342709">
            <a:off x="3048000" y="4756203"/>
            <a:ext cx="762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3" name="AutoShape 23"/>
          <p:cNvSpPr/>
          <p:nvPr/>
        </p:nvSpPr>
        <p:spPr>
          <a:xfrm>
            <a:off x="3556000" y="4381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DC2626"/>
                </a:solidFill>
                <a:latin typeface="Poppins"/>
                <a:ea typeface="Poppins"/>
                <a:cs typeface="Poppins"/>
                <a:sym typeface="Poppins"/>
              </a:rPr>
              <a:t>WEAKNESSES:</a:t>
            </a:r>
            <a:br>
              <a:rPr lang="en-US" sz="12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Lacks third-party integrations, has a stagnant product roadmap, and struggles to adapt to broader needs.</a:t>
            </a:r>
            <a:endParaRPr lang="en-US" sz="1100"/>
          </a:p>
        </p:txBody>
      </p:sp>
      <p:sp>
        <p:nvSpPr>
          <p:cNvPr id="24" name="AutoShape 24"/>
          <p:cNvSpPr/>
          <p:nvPr/>
        </p:nvSpPr>
        <p:spPr>
          <a:xfrm>
            <a:off x="6413500" y="3683000"/>
            <a:ext cx="5270500" cy="17145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413500" y="3683000"/>
            <a:ext cx="76200" cy="1714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667500" y="3810000"/>
            <a:ext cx="4762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Poppins"/>
                <a:ea typeface="Poppins"/>
                <a:cs typeface="Poppins"/>
                <a:sym typeface="Poppins"/>
              </a:rPr>
              <a:t>[Our Product]</a:t>
            </a:r>
            <a:endParaRPr lang="en-US" sz="1100"/>
          </a:p>
        </p:txBody>
      </p:sp>
      <p:cxnSp>
        <p:nvCxnSpPr>
          <p:cNvPr id="27" name="Connector 27"/>
          <p:cNvCxnSpPr/>
          <p:nvPr/>
        </p:nvCxnSpPr>
        <p:spPr>
          <a:xfrm rot="-9167">
            <a:off x="6667508" y="4248150"/>
            <a:ext cx="4762500" cy="12700"/>
          </a:xfrm>
          <a:prstGeom prst="straightConnector1">
            <a:avLst/>
          </a:prstGeom>
          <a:solidFill>
            <a:srgbClr val="DEE0E3">
              <a:alpha val="100000"/>
            </a:srgbClr>
          </a:solidFill>
          <a:ln w="12700" cap="flat" cmpd="sng">
            <a:solidFill>
              <a:srgbClr val="A7F3D0">
                <a:alpha val="100000"/>
              </a:srgbClr>
            </a:solidFill>
            <a:prstDash val="solid"/>
            <a:round/>
            <a:headEnd type="none" w="med" len="med"/>
            <a:tailEnd type="none" w="med" len="med"/>
          </a:ln>
        </p:spPr>
      </p:cxnSp>
      <p:sp>
        <p:nvSpPr>
          <p:cNvPr id="28" name="AutoShape 28"/>
          <p:cNvSpPr/>
          <p:nvPr/>
        </p:nvSpPr>
        <p:spPr>
          <a:xfrm>
            <a:off x="6667500" y="4381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059669"/>
                </a:solidFill>
                <a:latin typeface="Poppins"/>
                <a:ea typeface="Poppins"/>
                <a:cs typeface="Poppins"/>
                <a:sym typeface="Poppins"/>
              </a:rPr>
              <a:t>OUR STRENGTHS:</a:t>
            </a:r>
            <a:br>
              <a:rPr lang="en-US" sz="1200" b="0" i="0" u="none" strike="noStrike">
                <a:solidFill>
                  <a:srgbClr val="1F2329"/>
                </a:solidFill>
                <a:latin typeface="Poppins"/>
                <a:ea typeface="Poppins"/>
                <a:cs typeface="Poppins"/>
                <a:sym typeface="Poppins"/>
              </a:rPr>
            </a:br>
            <a:r>
              <a:rPr lang="en-US" sz="1200" b="0" i="0" u="none" strike="noStrike">
                <a:solidFill>
                  <a:srgbClr val="065F46"/>
                </a:solidFill>
                <a:latin typeface="Poppins"/>
                <a:ea typeface="Poppins"/>
                <a:cs typeface="Poppins"/>
                <a:sym typeface="Poppins"/>
              </a:rPr>
              <a:t>Industry-first AI-powered insights, seamless cross-tool integration, and an intuitive, user-centric UX.</a:t>
            </a:r>
            <a:endParaRPr lang="en-US" sz="1100"/>
          </a:p>
        </p:txBody>
      </p:sp>
      <p:cxnSp>
        <p:nvCxnSpPr>
          <p:cNvPr id="29" name="Connector 29"/>
          <p:cNvCxnSpPr/>
          <p:nvPr/>
        </p:nvCxnSpPr>
        <p:spPr>
          <a:xfrm rot="5342709">
            <a:off x="8699500" y="4756203"/>
            <a:ext cx="762000" cy="12700"/>
          </a:xfrm>
          <a:prstGeom prst="straightConnector1">
            <a:avLst/>
          </a:prstGeom>
          <a:solidFill>
            <a:srgbClr val="DEE0E3">
              <a:alpha val="100000"/>
            </a:srgbClr>
          </a:solidFill>
          <a:ln w="12700" cap="flat" cmpd="sng">
            <a:solidFill>
              <a:srgbClr val="A7F3D0">
                <a:alpha val="100000"/>
              </a:srgbClr>
            </a:solidFill>
            <a:prstDash val="solid"/>
            <a:round/>
            <a:headEnd type="none" w="med" len="med"/>
            <a:tailEnd type="none" w="med" len="med"/>
          </a:ln>
        </p:spPr>
      </p:cxnSp>
      <p:sp>
        <p:nvSpPr>
          <p:cNvPr id="30" name="AutoShape 30"/>
          <p:cNvSpPr/>
          <p:nvPr/>
        </p:nvSpPr>
        <p:spPr>
          <a:xfrm>
            <a:off x="9207500" y="4381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6B7280"/>
                </a:solidFill>
                <a:latin typeface="Poppins"/>
                <a:ea typeface="Poppins"/>
                <a:cs typeface="Poppins"/>
                <a:sym typeface="Poppins"/>
              </a:rPr>
              <a:t>KEY CONSIDERATIONS:</a:t>
            </a:r>
            <a:br>
              <a:rPr lang="en-US" sz="12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As a newer brand, we are actively building market share and trust, with rapid iteration to address feedback.</a:t>
            </a:r>
            <a:endParaRPr lang="en-US" sz="1100"/>
          </a:p>
        </p:txBody>
      </p:sp>
      <p:sp>
        <p:nvSpPr>
          <p:cNvPr id="31" name="AutoShape 31"/>
          <p:cNvSpPr/>
          <p:nvPr/>
        </p:nvSpPr>
        <p:spPr>
          <a:xfrm>
            <a:off x="762000" y="5715000"/>
            <a:ext cx="10922000" cy="8890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762000" y="5715000"/>
            <a:ext cx="76200" cy="889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5918200"/>
            <a:ext cx="457200" cy="457200"/>
          </a:xfrm>
          <a:prstGeom prst="rect">
            <a:avLst/>
          </a:prstGeom>
        </p:spPr>
      </p:pic>
      <p:sp>
        <p:nvSpPr>
          <p:cNvPr id="34" name="AutoShape 34"/>
          <p:cNvSpPr/>
          <p:nvPr/>
        </p:nvSpPr>
        <p:spPr>
          <a:xfrm>
            <a:off x="1778000" y="5842000"/>
            <a:ext cx="952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FFFFFF"/>
                </a:solidFill>
                <a:latin typeface="Poppins"/>
                <a:ea typeface="Poppins"/>
                <a:cs typeface="Poppins"/>
                <a:sym typeface="Poppins"/>
              </a:rPr>
              <a:t>OUR USP:</a:t>
            </a:r>
            <a:r>
              <a:rPr lang="en-US" sz="1400" b="0" i="0" u="none" strike="noStrike">
                <a:solidFill>
                  <a:srgbClr val="E5E7EB"/>
                </a:solidFill>
                <a:latin typeface="Poppins"/>
                <a:ea typeface="Poppins"/>
                <a:cs typeface="Poppins"/>
                <a:sym typeface="Poppins"/>
              </a:rPr>
              <a:t>We combine the power of AI-driven insights with a truly unified platform experience—eliminating the tradeoffs of cost, complexity, and capability that plague our competitors.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Go-to-Market Strategy</a:t>
            </a:r>
            <a:endParaRPr lang="en-US" sz="1100"/>
          </a:p>
        </p:txBody>
      </p:sp>
      <p:sp>
        <p:nvSpPr>
          <p:cNvPr id="3" name="AutoShape 3"/>
          <p:cNvSpPr/>
          <p:nvPr/>
        </p:nvSpPr>
        <p:spPr>
          <a:xfrm>
            <a:off x="762000" y="1397000"/>
            <a:ext cx="10668000" cy="25400"/>
          </a:xfrm>
          <a:prstGeom prst="roundRect">
            <a:avLst>
              <a:gd name="adj" fmla="val 0"/>
            </a:avLst>
          </a:prstGeom>
          <a:solidFill>
            <a:srgbClr val="1F2937">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2032000"/>
            <a:ext cx="3429000" cy="3175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429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413000"/>
            <a:ext cx="457200" cy="457200"/>
          </a:xfrm>
          <a:prstGeom prst="rect">
            <a:avLst/>
          </a:prstGeom>
        </p:spPr>
      </p:pic>
      <p:sp>
        <p:nvSpPr>
          <p:cNvPr id="7" name="AutoShape 7"/>
          <p:cNvSpPr/>
          <p:nvPr/>
        </p:nvSpPr>
        <p:spPr>
          <a:xfrm>
            <a:off x="1651000" y="23876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Phase 1: Product-Led</a:t>
            </a:r>
            <a:endParaRPr lang="en-US" sz="1100"/>
          </a:p>
        </p:txBody>
      </p:sp>
      <p:cxnSp>
        <p:nvCxnSpPr>
          <p:cNvPr id="8" name="Connector 8"/>
          <p:cNvCxnSpPr/>
          <p:nvPr/>
        </p:nvCxnSpPr>
        <p:spPr>
          <a:xfrm rot="-14946">
            <a:off x="1016014" y="3168650"/>
            <a:ext cx="2921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9" name="AutoShape 9"/>
          <p:cNvSpPr/>
          <p:nvPr/>
        </p:nvSpPr>
        <p:spPr>
          <a:xfrm>
            <a:off x="1016000" y="34290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Poppins"/>
                <a:ea typeface="Poppins"/>
                <a:cs typeface="Poppins"/>
                <a:sym typeface="Poppins"/>
              </a:rPr>
              <a:t>Utilize a freemium model and data-driven content marketing to drive organic sign-ups. Focus on building a loyal user base and refining the product through direct user feedback loops.</a:t>
            </a:r>
            <a:endParaRPr lang="en-US" sz="1100"/>
          </a:p>
        </p:txBody>
      </p:sp>
      <p:sp>
        <p:nvSpPr>
          <p:cNvPr id="10" name="AutoShape 10"/>
          <p:cNvSpPr/>
          <p:nvPr/>
        </p:nvSpPr>
        <p:spPr>
          <a:xfrm>
            <a:off x="1016000" y="5461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0B981"/>
                </a:solidFill>
                <a:latin typeface="Poppins"/>
                <a:ea typeface="Poppins"/>
                <a:cs typeface="Poppins"/>
                <a:sym typeface="Poppins"/>
              </a:rPr>
              <a:t>NOW — Immediate Traction</a:t>
            </a:r>
            <a:endParaRPr lang="en-US" sz="1100"/>
          </a:p>
        </p:txBody>
      </p:sp>
      <p:sp>
        <p:nvSpPr>
          <p:cNvPr id="11" name="AutoShape 11"/>
          <p:cNvSpPr/>
          <p:nvPr/>
        </p:nvSpPr>
        <p:spPr>
          <a:xfrm>
            <a:off x="4381500" y="2032000"/>
            <a:ext cx="3429000" cy="3175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381500" y="2032000"/>
            <a:ext cx="3429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413000"/>
            <a:ext cx="457200" cy="457200"/>
          </a:xfrm>
          <a:prstGeom prst="rect">
            <a:avLst/>
          </a:prstGeom>
        </p:spPr>
      </p:pic>
      <p:sp>
        <p:nvSpPr>
          <p:cNvPr id="14" name="AutoShape 14"/>
          <p:cNvSpPr/>
          <p:nvPr/>
        </p:nvSpPr>
        <p:spPr>
          <a:xfrm>
            <a:off x="5270500" y="23876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Phase 2: Sales-Led</a:t>
            </a:r>
            <a:endParaRPr lang="en-US" sz="1100"/>
          </a:p>
        </p:txBody>
      </p:sp>
      <p:cxnSp>
        <p:nvCxnSpPr>
          <p:cNvPr id="15" name="Connector 15"/>
          <p:cNvCxnSpPr/>
          <p:nvPr/>
        </p:nvCxnSpPr>
        <p:spPr>
          <a:xfrm rot="-14946">
            <a:off x="4635514" y="3168650"/>
            <a:ext cx="2921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6" name="AutoShape 16"/>
          <p:cNvSpPr/>
          <p:nvPr/>
        </p:nvSpPr>
        <p:spPr>
          <a:xfrm>
            <a:off x="4635500" y="34290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Poppins"/>
                <a:ea typeface="Poppins"/>
                <a:cs typeface="Poppins"/>
                <a:sym typeface="Poppins"/>
              </a:rPr>
              <a:t>Build a dedicated sales team to target mid-market and enterprise clients. Implement account-based sales strategies to close high-value deals and scale revenue efficiently.</a:t>
            </a:r>
            <a:endParaRPr lang="en-US" sz="1100"/>
          </a:p>
        </p:txBody>
      </p:sp>
      <p:sp>
        <p:nvSpPr>
          <p:cNvPr id="17" name="AutoShape 17"/>
          <p:cNvSpPr/>
          <p:nvPr/>
        </p:nvSpPr>
        <p:spPr>
          <a:xfrm>
            <a:off x="4635500" y="5461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0B981"/>
                </a:solidFill>
                <a:latin typeface="Poppins"/>
                <a:ea typeface="Poppins"/>
                <a:cs typeface="Poppins"/>
                <a:sym typeface="Poppins"/>
              </a:rPr>
              <a:t>NEXT 6–12 MONTHS — Scaling Revenue</a:t>
            </a:r>
            <a:endParaRPr lang="en-US" sz="1100"/>
          </a:p>
        </p:txBody>
      </p:sp>
      <p:sp>
        <p:nvSpPr>
          <p:cNvPr id="18" name="AutoShape 18"/>
          <p:cNvSpPr/>
          <p:nvPr/>
        </p:nvSpPr>
        <p:spPr>
          <a:xfrm>
            <a:off x="8001000" y="2032000"/>
            <a:ext cx="3429000" cy="3175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01000" y="2032000"/>
            <a:ext cx="3429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2413000"/>
            <a:ext cx="457200" cy="457200"/>
          </a:xfrm>
          <a:prstGeom prst="rect">
            <a:avLst/>
          </a:prstGeom>
        </p:spPr>
      </p:pic>
      <p:sp>
        <p:nvSpPr>
          <p:cNvPr id="21" name="AutoShape 21"/>
          <p:cNvSpPr/>
          <p:nvPr/>
        </p:nvSpPr>
        <p:spPr>
          <a:xfrm>
            <a:off x="8890000" y="23876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Poppins"/>
                <a:ea typeface="Poppins"/>
                <a:cs typeface="Poppins"/>
                <a:sym typeface="Poppins"/>
              </a:rPr>
              <a:t>Phase 3: Channel Partners</a:t>
            </a:r>
            <a:endParaRPr lang="en-US" sz="1100"/>
          </a:p>
        </p:txBody>
      </p:sp>
      <p:cxnSp>
        <p:nvCxnSpPr>
          <p:cNvPr id="22" name="Connector 22"/>
          <p:cNvCxnSpPr/>
          <p:nvPr/>
        </p:nvCxnSpPr>
        <p:spPr>
          <a:xfrm rot="-14946">
            <a:off x="8255014" y="3168650"/>
            <a:ext cx="2921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3" name="AutoShape 23"/>
          <p:cNvSpPr/>
          <p:nvPr/>
        </p:nvSpPr>
        <p:spPr>
          <a:xfrm>
            <a:off x="8255000" y="34290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Poppins"/>
                <a:ea typeface="Poppins"/>
                <a:cs typeface="Poppins"/>
                <a:sym typeface="Poppins"/>
              </a:rPr>
              <a:t>Establish strategic alliances with complementary software providers and industry consultants. Leverage partner networks for expanded market reach and accelerated customer acquisition.</a:t>
            </a:r>
            <a:endParaRPr lang="en-US" sz="1100"/>
          </a:p>
        </p:txBody>
      </p:sp>
      <p:sp>
        <p:nvSpPr>
          <p:cNvPr id="24" name="AutoShape 24"/>
          <p:cNvSpPr/>
          <p:nvPr/>
        </p:nvSpPr>
        <p:spPr>
          <a:xfrm>
            <a:off x="8255000" y="5461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0B981"/>
                </a:solidFill>
                <a:latin typeface="Poppins"/>
                <a:ea typeface="Poppins"/>
                <a:cs typeface="Poppins"/>
                <a:sym typeface="Poppins"/>
              </a:rPr>
              <a:t>12+ MONTHS — Ecosystem Expansion</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The Team: Built for Success</a:t>
            </a:r>
            <a:endParaRPr lang="en-US" sz="1100"/>
          </a:p>
        </p:txBody>
      </p:sp>
      <p:sp>
        <p:nvSpPr>
          <p:cNvPr id="3" name="AutoShape 3"/>
          <p:cNvSpPr/>
          <p:nvPr/>
        </p:nvSpPr>
        <p:spPr>
          <a:xfrm>
            <a:off x="762000" y="1333500"/>
            <a:ext cx="10668000" cy="25400"/>
          </a:xfrm>
          <a:prstGeom prst="roundRect">
            <a:avLst>
              <a:gd name="adj" fmla="val 0"/>
            </a:avLst>
          </a:prstGeom>
          <a:solidFill>
            <a:srgbClr val="10B981">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3378200" cy="342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33782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22500"/>
            <a:ext cx="508000" cy="508000"/>
          </a:xfrm>
          <a:prstGeom prst="rect">
            <a:avLst/>
          </a:prstGeom>
        </p:spPr>
      </p:pic>
      <p:sp>
        <p:nvSpPr>
          <p:cNvPr id="7" name="AutoShape 7"/>
          <p:cNvSpPr/>
          <p:nvPr/>
        </p:nvSpPr>
        <p:spPr>
          <a:xfrm>
            <a:off x="1714500" y="2184400"/>
            <a:ext cx="21717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Poppins"/>
                <a:ea typeface="Poppins"/>
                <a:cs typeface="Poppins"/>
                <a:sym typeface="Poppins"/>
              </a:rPr>
              <a:t>Elena Marquez</a:t>
            </a:r>
            <a:endParaRPr lang="en-US" sz="1100"/>
          </a:p>
          <a:p>
            <a:pPr marL="0" indent="0" algn="l">
              <a:lnSpc>
                <a:spcPct val="125000"/>
              </a:lnSpc>
            </a:pPr>
            <a:r>
              <a:rPr lang="en-US" sz="1400" b="0" i="0" u="none" strike="noStrike">
                <a:solidFill>
                  <a:srgbClr val="10B981"/>
                </a:solidFill>
                <a:latin typeface="Poppins"/>
                <a:ea typeface="Poppins"/>
                <a:cs typeface="Poppins"/>
                <a:sym typeface="Poppins"/>
              </a:rPr>
              <a:t>FOUNDER &amp; CEO</a:t>
            </a:r>
            <a:endParaRPr lang="en-US" sz="1400" b="0" i="0" u="none" strike="noStrike">
              <a:solidFill>
                <a:srgbClr val="10B981"/>
              </a:solidFill>
              <a:latin typeface="Poppins"/>
              <a:ea typeface="Poppins"/>
              <a:cs typeface="Poppins"/>
              <a:sym typeface="Poppins"/>
            </a:endParaRPr>
          </a:p>
        </p:txBody>
      </p:sp>
      <p:cxnSp>
        <p:nvCxnSpPr>
          <p:cNvPr id="8" name="Connector 8"/>
          <p:cNvCxnSpPr/>
          <p:nvPr/>
        </p:nvCxnSpPr>
        <p:spPr>
          <a:xfrm rot="-15211">
            <a:off x="1016014" y="3105150"/>
            <a:ext cx="28702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9" name="AutoShape 9"/>
          <p:cNvSpPr/>
          <p:nvPr/>
        </p:nvSpPr>
        <p:spPr>
          <a:xfrm>
            <a:off x="1016000" y="3365500"/>
            <a:ext cx="28702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Serial entrepreneur with 15+ years of experience scaling SaaS and AI ventures. Previously founded and exited a B2B SaaS platform acquired by a Fortune 500 tech leader. Deeply passionate about building products that solve real-world operational pain points.</a:t>
            </a:r>
            <a:endParaRPr lang="en-US" sz="1100"/>
          </a:p>
        </p:txBody>
      </p:sp>
      <p:sp>
        <p:nvSpPr>
          <p:cNvPr id="10" name="AutoShape 10"/>
          <p:cNvSpPr/>
          <p:nvPr/>
        </p:nvSpPr>
        <p:spPr>
          <a:xfrm>
            <a:off x="4406900" y="1905000"/>
            <a:ext cx="3378200" cy="342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06900" y="1905000"/>
            <a:ext cx="33782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60900" y="2222500"/>
            <a:ext cx="508000" cy="508000"/>
          </a:xfrm>
          <a:prstGeom prst="rect">
            <a:avLst/>
          </a:prstGeom>
        </p:spPr>
      </p:pic>
      <p:sp>
        <p:nvSpPr>
          <p:cNvPr id="13" name="AutoShape 13"/>
          <p:cNvSpPr/>
          <p:nvPr/>
        </p:nvSpPr>
        <p:spPr>
          <a:xfrm>
            <a:off x="5359400" y="2184400"/>
            <a:ext cx="21717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Poppins"/>
                <a:ea typeface="Poppins"/>
                <a:cs typeface="Poppins"/>
                <a:sym typeface="Poppins"/>
              </a:rPr>
              <a:t>Marcus Reed</a:t>
            </a:r>
            <a:endParaRPr lang="en-US" sz="1100"/>
          </a:p>
          <a:p>
            <a:pPr marL="0" indent="0" algn="l">
              <a:lnSpc>
                <a:spcPct val="125000"/>
              </a:lnSpc>
            </a:pPr>
            <a:r>
              <a:rPr lang="en-US" sz="1400" b="0" i="0" u="none" strike="noStrike">
                <a:solidFill>
                  <a:srgbClr val="10B981"/>
                </a:solidFill>
                <a:latin typeface="Poppins"/>
                <a:ea typeface="Poppins"/>
                <a:cs typeface="Poppins"/>
                <a:sym typeface="Poppins"/>
              </a:rPr>
              <a:t>CHIEF TECHNOLOGY OFFICER</a:t>
            </a:r>
            <a:endParaRPr lang="en-US" sz="1400" b="0" i="0" u="none" strike="noStrike">
              <a:solidFill>
                <a:srgbClr val="10B981"/>
              </a:solidFill>
              <a:latin typeface="Poppins"/>
              <a:ea typeface="Poppins"/>
              <a:cs typeface="Poppins"/>
              <a:sym typeface="Poppins"/>
            </a:endParaRPr>
          </a:p>
        </p:txBody>
      </p:sp>
      <p:cxnSp>
        <p:nvCxnSpPr>
          <p:cNvPr id="14" name="Connector 14"/>
          <p:cNvCxnSpPr/>
          <p:nvPr/>
        </p:nvCxnSpPr>
        <p:spPr>
          <a:xfrm rot="-15211">
            <a:off x="4660914" y="3105150"/>
            <a:ext cx="28702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5" name="AutoShape 15"/>
          <p:cNvSpPr/>
          <p:nvPr/>
        </p:nvSpPr>
        <p:spPr>
          <a:xfrm>
            <a:off x="4660900" y="3365500"/>
            <a:ext cx="28702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Tech visionary with 12 years of building resilient, scalable cloud-native platforms. Expert in AI/ML model deployment and distributed systems architecture. Led engineering teams at two high-growth startups, delivering enterprise-grade solutions with 99.99% uptime.</a:t>
            </a:r>
            <a:endParaRPr lang="en-US" sz="1100"/>
          </a:p>
        </p:txBody>
      </p:sp>
      <p:sp>
        <p:nvSpPr>
          <p:cNvPr id="16" name="AutoShape 16"/>
          <p:cNvSpPr/>
          <p:nvPr/>
        </p:nvSpPr>
        <p:spPr>
          <a:xfrm>
            <a:off x="8051800" y="1905000"/>
            <a:ext cx="3378200" cy="342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51800" y="1905000"/>
            <a:ext cx="33782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2222500"/>
            <a:ext cx="508000" cy="508000"/>
          </a:xfrm>
          <a:prstGeom prst="rect">
            <a:avLst/>
          </a:prstGeom>
        </p:spPr>
      </p:pic>
      <p:sp>
        <p:nvSpPr>
          <p:cNvPr id="19" name="AutoShape 19"/>
          <p:cNvSpPr/>
          <p:nvPr/>
        </p:nvSpPr>
        <p:spPr>
          <a:xfrm>
            <a:off x="9004300" y="2184400"/>
            <a:ext cx="21717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Poppins"/>
                <a:ea typeface="Poppins"/>
                <a:cs typeface="Poppins"/>
                <a:sym typeface="Poppins"/>
              </a:rPr>
              <a:t>Sofia Chen</a:t>
            </a:r>
            <a:endParaRPr lang="en-US" sz="1100"/>
          </a:p>
          <a:p>
            <a:pPr marL="0" indent="0" algn="l">
              <a:lnSpc>
                <a:spcPct val="125000"/>
              </a:lnSpc>
            </a:pPr>
            <a:r>
              <a:rPr lang="en-US" sz="1400" b="0" i="0" u="none" strike="noStrike">
                <a:solidFill>
                  <a:srgbClr val="10B981"/>
                </a:solidFill>
                <a:latin typeface="Poppins"/>
                <a:ea typeface="Poppins"/>
                <a:cs typeface="Poppins"/>
                <a:sym typeface="Poppins"/>
              </a:rPr>
              <a:t>CHIEF PRODUCT OFFICER</a:t>
            </a:r>
            <a:endParaRPr lang="en-US" sz="1400" b="0" i="0" u="none" strike="noStrike">
              <a:solidFill>
                <a:srgbClr val="10B981"/>
              </a:solidFill>
              <a:latin typeface="Poppins"/>
              <a:ea typeface="Poppins"/>
              <a:cs typeface="Poppins"/>
              <a:sym typeface="Poppins"/>
            </a:endParaRPr>
          </a:p>
        </p:txBody>
      </p:sp>
      <p:cxnSp>
        <p:nvCxnSpPr>
          <p:cNvPr id="20" name="Connector 20"/>
          <p:cNvCxnSpPr/>
          <p:nvPr/>
        </p:nvCxnSpPr>
        <p:spPr>
          <a:xfrm rot="-15211">
            <a:off x="8305814" y="3105150"/>
            <a:ext cx="28702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1" name="AutoShape 21"/>
          <p:cNvSpPr/>
          <p:nvPr/>
        </p:nvSpPr>
        <p:spPr>
          <a:xfrm>
            <a:off x="8305800" y="3365500"/>
            <a:ext cx="28702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Poppins"/>
                <a:ea typeface="Poppins"/>
                <a:cs typeface="Poppins"/>
                <a:sym typeface="Poppins"/>
              </a:rPr>
              <a:t>Product growth expert with a proven track record of scaling user bases from 0 to millions. Previously led product strategy at a top-tier fintech unicorn, driving adoption through data-informed iteration and user-centric design principles.</a:t>
            </a:r>
            <a:endParaRPr lang="en-US" sz="1100"/>
          </a:p>
        </p:txBody>
      </p:sp>
      <p:sp>
        <p:nvSpPr>
          <p:cNvPr id="22" name="AutoShape 22"/>
          <p:cNvSpPr/>
          <p:nvPr/>
        </p:nvSpPr>
        <p:spPr>
          <a:xfrm>
            <a:off x="762000" y="5715000"/>
            <a:ext cx="10668000" cy="762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F2937"/>
                </a:solidFill>
                <a:latin typeface="Poppins"/>
                <a:ea typeface="Poppins"/>
                <a:cs typeface="Poppins"/>
                <a:sym typeface="Poppins"/>
              </a:rPr>
              <a:t>Combining entrepreneurial grit, cutting-edge technical expertise, and data-driven product strategy, our team is uniquely positioned to deliver transformative solutions for the market.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Poppins"/>
                <a:ea typeface="Poppins"/>
                <a:cs typeface="Poppins"/>
                <a:sym typeface="Poppins"/>
              </a:rPr>
              <a:t>The Ask: Fueling Our Growth</a:t>
            </a:r>
            <a:endParaRPr lang="en-US" sz="1100"/>
          </a:p>
        </p:txBody>
      </p:sp>
      <p:sp>
        <p:nvSpPr>
          <p:cNvPr id="3" name="AutoShape 3"/>
          <p:cNvSpPr/>
          <p:nvPr/>
        </p:nvSpPr>
        <p:spPr>
          <a:xfrm>
            <a:off x="762000" y="1270000"/>
            <a:ext cx="1016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2032000"/>
            <a:ext cx="5207000" cy="1905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905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9500" y="22225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10B981"/>
                </a:solidFill>
                <a:latin typeface="Poppins"/>
                <a:ea typeface="Poppins"/>
                <a:cs typeface="Poppins"/>
                <a:sym typeface="Poppins"/>
              </a:rPr>
              <a:t>$[X] Million</a:t>
            </a:r>
            <a:endParaRPr lang="en-US" sz="1100"/>
          </a:p>
        </p:txBody>
      </p:sp>
      <p:sp>
        <p:nvSpPr>
          <p:cNvPr id="7" name="AutoShape 7"/>
          <p:cNvSpPr/>
          <p:nvPr/>
        </p:nvSpPr>
        <p:spPr>
          <a:xfrm>
            <a:off x="1079500" y="33020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0" i="0" u="none" strike="noStrike">
                <a:solidFill>
                  <a:srgbClr val="1F2937"/>
                </a:solidFill>
                <a:latin typeface="Poppins"/>
                <a:ea typeface="Poppins"/>
                <a:cs typeface="Poppins"/>
                <a:sym typeface="Poppins"/>
              </a:rPr>
              <a:t>Seeking Seed / Series A funding to accelerate product development and scale go-to-market operations.</a:t>
            </a:r>
            <a:endParaRPr lang="en-US" sz="1100"/>
          </a:p>
        </p:txBody>
      </p:sp>
      <p:sp>
        <p:nvSpPr>
          <p:cNvPr id="8" name="AutoShape 8"/>
          <p:cNvSpPr/>
          <p:nvPr/>
        </p:nvSpPr>
        <p:spPr>
          <a:xfrm>
            <a:off x="762000" y="4445000"/>
            <a:ext cx="5207000" cy="1651000"/>
          </a:xfrm>
          <a:prstGeom prst="roundRect">
            <a:avLst>
              <a:gd name="adj" fmla="val 0"/>
            </a:avLst>
          </a:prstGeom>
          <a:solidFill>
            <a:srgbClr val="1F2937">
              <a:alpha val="4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4445000"/>
            <a:ext cx="76200" cy="16510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4635500"/>
            <a:ext cx="406400" cy="406400"/>
          </a:xfrm>
          <a:prstGeom prst="rect">
            <a:avLst/>
          </a:prstGeom>
        </p:spPr>
      </p:pic>
      <p:sp>
        <p:nvSpPr>
          <p:cNvPr id="11" name="AutoShape 11"/>
          <p:cNvSpPr/>
          <p:nvPr/>
        </p:nvSpPr>
        <p:spPr>
          <a:xfrm>
            <a:off x="1651000" y="4597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Poppins"/>
                <a:ea typeface="Poppins"/>
                <a:cs typeface="Poppins"/>
                <a:sym typeface="Poppins"/>
              </a:rPr>
              <a:t>3-Year ARR Target</a:t>
            </a:r>
            <a:endParaRPr lang="en-US" sz="1100"/>
          </a:p>
        </p:txBody>
      </p:sp>
      <p:cxnSp>
        <p:nvCxnSpPr>
          <p:cNvPr id="12" name="Connector 12"/>
          <p:cNvCxnSpPr/>
          <p:nvPr/>
        </p:nvCxnSpPr>
        <p:spPr>
          <a:xfrm rot="-9418">
            <a:off x="1079509" y="5200650"/>
            <a:ext cx="4635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3" name="AutoShape 13"/>
          <p:cNvSpPr/>
          <p:nvPr/>
        </p:nvSpPr>
        <p:spPr>
          <a:xfrm>
            <a:off x="1079500" y="5397500"/>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Poppins"/>
                <a:ea typeface="Poppins"/>
                <a:cs typeface="Poppins"/>
                <a:sym typeface="Poppins"/>
              </a:rPr>
              <a:t>Projecting $[X] Million in Annual Recurring Revenue by Year 3, driven by market adoption and scalable customer acquisition channels.</a:t>
            </a:r>
            <a:endParaRPr lang="en-US" sz="1100"/>
          </a:p>
        </p:txBody>
      </p:sp>
      <p:cxnSp>
        <p:nvCxnSpPr>
          <p:cNvPr id="14" name="Connector 14"/>
          <p:cNvCxnSpPr/>
          <p:nvPr/>
        </p:nvCxnSpPr>
        <p:spPr>
          <a:xfrm rot="5389257">
            <a:off x="4318000" y="4057660"/>
            <a:ext cx="4064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5" name="AutoShape 15"/>
          <p:cNvSpPr/>
          <p:nvPr/>
        </p:nvSpPr>
        <p:spPr>
          <a:xfrm>
            <a:off x="6731000" y="2032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Poppins"/>
                <a:ea typeface="Poppins"/>
                <a:cs typeface="Poppins"/>
                <a:sym typeface="Poppins"/>
              </a:rPr>
              <a:t>Use of Funds Allocation</a:t>
            </a:r>
            <a:endParaRPr lang="en-US" sz="1100"/>
          </a:p>
        </p:txBody>
      </p:sp>
      <p:pic>
        <p:nvPicPr>
          <p:cNvPr id="16" name="Picture 16"/>
          <p:cNvPicPr>
            <a:picLocks noChangeAspect="1"/>
          </p:cNvPicPr>
          <p:nvPr/>
        </p:nvPicPr>
        <p:blipFill>
          <a:blip r:embed="rId3"/>
          <a:stretch>
            <a:fillRect/>
          </a:stretch>
        </p:blipFill>
        <p:spPr>
          <a:xfrm>
            <a:off x="6604000" y="2794000"/>
            <a:ext cx="5080000" cy="3302000"/>
          </a:xfrm>
          <a:prstGeom prst="rect">
            <a:avLst/>
          </a:prstGeom>
          <a:ln w="12700">
            <a:noFill/>
            <a:prstDash val="solid"/>
          </a:ln>
        </p:spPr>
      </p:pic>
      <p:sp>
        <p:nvSpPr>
          <p:cNvPr id="17" name="AutoShape 17"/>
          <p:cNvSpPr/>
          <p:nvPr/>
        </p:nvSpPr>
        <p:spPr>
          <a:xfrm>
            <a:off x="6731000" y="6096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B7280"/>
                </a:solidFill>
                <a:latin typeface="Poppins"/>
                <a:ea typeface="Poppins"/>
                <a:cs typeface="Poppins"/>
                <a:sym typeface="Poppins"/>
              </a:rPr>
              <a:t>Prioritizing product innovation and customer growth to establish market leadership and sustainable revenue streams.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032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1F2937"/>
                </a:solidFill>
                <a:latin typeface="Poppins"/>
                <a:ea typeface="Poppins"/>
                <a:cs typeface="Poppins"/>
                <a:sym typeface="Poppins"/>
              </a:rPr>
              <a:t>Thank You</a:t>
            </a:r>
            <a:endParaRPr lang="en-US" sz="1100"/>
          </a:p>
        </p:txBody>
      </p:sp>
      <p:sp>
        <p:nvSpPr>
          <p:cNvPr id="3" name="AutoShape 3"/>
          <p:cNvSpPr/>
          <p:nvPr/>
        </p:nvSpPr>
        <p:spPr>
          <a:xfrm>
            <a:off x="5588000" y="3429000"/>
            <a:ext cx="1016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393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0" i="0" u="none" strike="noStrike">
                <a:solidFill>
                  <a:srgbClr val="4B5563"/>
                </a:solidFill>
                <a:latin typeface="Poppins"/>
                <a:ea typeface="Poppins"/>
                <a:cs typeface="Poppins"/>
                <a:sym typeface="Poppins"/>
              </a:rPr>
              <a:t>Q &amp; A</a:t>
            </a:r>
            <a:endParaRPr lang="en-US" sz="1100"/>
          </a:p>
        </p:txBody>
      </p:sp>
      <p:cxnSp>
        <p:nvCxnSpPr>
          <p:cNvPr id="5" name="Connector 5"/>
          <p:cNvCxnSpPr/>
          <p:nvPr/>
        </p:nvCxnSpPr>
        <p:spPr>
          <a:xfrm rot="-4297">
            <a:off x="1016004" y="5327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6" name="AutoShape 6"/>
          <p:cNvSpPr/>
          <p:nvPr/>
        </p:nvSpPr>
        <p:spPr>
          <a:xfrm>
            <a:off x="1016000" y="5588000"/>
            <a:ext cx="2413000" cy="88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5778500"/>
            <a:ext cx="304800" cy="304800"/>
          </a:xfrm>
          <a:prstGeom prst="rect">
            <a:avLst/>
          </a:prstGeom>
        </p:spPr>
      </p:pic>
      <p:sp>
        <p:nvSpPr>
          <p:cNvPr id="8" name="AutoShape 8"/>
          <p:cNvSpPr/>
          <p:nvPr/>
        </p:nvSpPr>
        <p:spPr>
          <a:xfrm>
            <a:off x="1651000" y="56515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Poppins"/>
                <a:ea typeface="Poppins"/>
                <a:cs typeface="Poppins"/>
                <a:sym typeface="Poppins"/>
              </a:rPr>
              <a:t>Name</a:t>
            </a:r>
            <a:br>
              <a:rPr lang="en-US" sz="1600" b="0" i="0" u="none" strike="noStrike">
                <a:solidFill>
                  <a:srgbClr val="1F2329"/>
                </a:solidFill>
                <a:latin typeface="Poppins"/>
                <a:ea typeface="Poppins"/>
                <a:cs typeface="Poppins"/>
                <a:sym typeface="Poppins"/>
              </a:rPr>
            </a:br>
            <a:r>
              <a:rPr lang="en-US" sz="1400" b="1" i="0" u="none" strike="noStrike">
                <a:solidFill>
                  <a:srgbClr val="1F2937"/>
                </a:solidFill>
                <a:latin typeface="Poppins"/>
                <a:ea typeface="Poppins"/>
                <a:cs typeface="Poppins"/>
                <a:sym typeface="Poppins"/>
              </a:rPr>
              <a:t>[Your Name]</a:t>
            </a:r>
            <a:endParaRPr lang="en-US" sz="1100"/>
          </a:p>
        </p:txBody>
      </p:sp>
      <p:sp>
        <p:nvSpPr>
          <p:cNvPr id="9" name="AutoShape 9"/>
          <p:cNvSpPr/>
          <p:nvPr/>
        </p:nvSpPr>
        <p:spPr>
          <a:xfrm>
            <a:off x="3683000" y="5588000"/>
            <a:ext cx="2413000" cy="88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73500" y="5778500"/>
            <a:ext cx="304800" cy="304800"/>
          </a:xfrm>
          <a:prstGeom prst="rect">
            <a:avLst/>
          </a:prstGeom>
        </p:spPr>
      </p:pic>
      <p:sp>
        <p:nvSpPr>
          <p:cNvPr id="11" name="AutoShape 11"/>
          <p:cNvSpPr/>
          <p:nvPr/>
        </p:nvSpPr>
        <p:spPr>
          <a:xfrm>
            <a:off x="4318000" y="56515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Poppins"/>
                <a:ea typeface="Poppins"/>
                <a:cs typeface="Poppins"/>
                <a:sym typeface="Poppins"/>
              </a:rPr>
              <a:t>Title</a:t>
            </a:r>
            <a:br>
              <a:rPr lang="en-US" sz="1600" b="0" i="0" u="none" strike="noStrike">
                <a:solidFill>
                  <a:srgbClr val="1F2329"/>
                </a:solidFill>
                <a:latin typeface="Poppins"/>
                <a:ea typeface="Poppins"/>
                <a:cs typeface="Poppins"/>
                <a:sym typeface="Poppins"/>
              </a:rPr>
            </a:br>
            <a:r>
              <a:rPr lang="en-US" sz="1400" b="1" i="0" u="none" strike="noStrike">
                <a:solidFill>
                  <a:srgbClr val="1F2937"/>
                </a:solidFill>
                <a:latin typeface="Poppins"/>
                <a:ea typeface="Poppins"/>
                <a:cs typeface="Poppins"/>
                <a:sym typeface="Poppins"/>
              </a:rPr>
              <a:t>[Your Title]</a:t>
            </a:r>
            <a:endParaRPr lang="en-US" sz="1100"/>
          </a:p>
        </p:txBody>
      </p:sp>
      <p:sp>
        <p:nvSpPr>
          <p:cNvPr id="12" name="AutoShape 12"/>
          <p:cNvSpPr/>
          <p:nvPr/>
        </p:nvSpPr>
        <p:spPr>
          <a:xfrm>
            <a:off x="6350000" y="5588000"/>
            <a:ext cx="2413000" cy="88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5778500"/>
            <a:ext cx="304800" cy="304800"/>
          </a:xfrm>
          <a:prstGeom prst="rect">
            <a:avLst/>
          </a:prstGeom>
        </p:spPr>
      </p:pic>
      <p:sp>
        <p:nvSpPr>
          <p:cNvPr id="14" name="AutoShape 14"/>
          <p:cNvSpPr/>
          <p:nvPr/>
        </p:nvSpPr>
        <p:spPr>
          <a:xfrm>
            <a:off x="6985000" y="56515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Poppins"/>
                <a:ea typeface="Poppins"/>
                <a:cs typeface="Poppins"/>
                <a:sym typeface="Poppins"/>
              </a:rPr>
              <a:t>Email</a:t>
            </a:r>
            <a:br>
              <a:rPr lang="en-US" sz="1600" b="0" i="0" u="none" strike="noStrike">
                <a:solidFill>
                  <a:srgbClr val="1F2329"/>
                </a:solidFill>
                <a:latin typeface="Poppins"/>
                <a:ea typeface="Poppins"/>
                <a:cs typeface="Poppins"/>
                <a:sym typeface="Poppins"/>
              </a:rPr>
            </a:br>
            <a:r>
              <a:rPr lang="en-US" sz="1400" b="1" i="0" u="none" strike="noStrike">
                <a:solidFill>
                  <a:srgbClr val="1F2937"/>
                </a:solidFill>
                <a:latin typeface="Poppins"/>
                <a:ea typeface="Poppins"/>
                <a:cs typeface="Poppins"/>
                <a:sym typeface="Poppins"/>
              </a:rPr>
              <a:t>[Email Address]</a:t>
            </a:r>
            <a:endParaRPr lang="en-US" sz="1100"/>
          </a:p>
        </p:txBody>
      </p:sp>
      <p:sp>
        <p:nvSpPr>
          <p:cNvPr id="15" name="AutoShape 15"/>
          <p:cNvSpPr/>
          <p:nvPr/>
        </p:nvSpPr>
        <p:spPr>
          <a:xfrm>
            <a:off x="9017000" y="5588000"/>
            <a:ext cx="2413000" cy="88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07500" y="5778500"/>
            <a:ext cx="304800" cy="304800"/>
          </a:xfrm>
          <a:prstGeom prst="rect">
            <a:avLst/>
          </a:prstGeom>
        </p:spPr>
      </p:pic>
      <p:sp>
        <p:nvSpPr>
          <p:cNvPr id="17" name="AutoShape 17"/>
          <p:cNvSpPr/>
          <p:nvPr/>
        </p:nvSpPr>
        <p:spPr>
          <a:xfrm>
            <a:off x="9652000" y="56515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Poppins"/>
                <a:ea typeface="Poppins"/>
                <a:cs typeface="Poppins"/>
                <a:sym typeface="Poppins"/>
              </a:rPr>
              <a:t>Website</a:t>
            </a:r>
            <a:br>
              <a:rPr lang="en-US" sz="1600" b="0" i="0" u="none" strike="noStrike">
                <a:solidFill>
                  <a:srgbClr val="1F2329"/>
                </a:solidFill>
                <a:latin typeface="Poppins"/>
                <a:ea typeface="Poppins"/>
                <a:cs typeface="Poppins"/>
                <a:sym typeface="Poppins"/>
              </a:rPr>
            </a:br>
            <a:r>
              <a:rPr lang="en-US" sz="1400" b="1" i="0" u="none" strike="noStrike">
                <a:solidFill>
                  <a:srgbClr val="1F2937"/>
                </a:solidFill>
                <a:latin typeface="Poppins"/>
                <a:ea typeface="Poppins"/>
                <a:cs typeface="Poppins"/>
                <a:sym typeface="Poppins"/>
              </a:rPr>
              <a:t>[Website]</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7617</Words>
  <Application>WPS 演示</Application>
  <PresentationFormat/>
  <Paragraphs>198</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11</vt:i4>
      </vt:variant>
    </vt:vector>
  </HeadingPairs>
  <TitlesOfParts>
    <vt:vector size="24" baseType="lpstr">
      <vt:lpstr>Arial</vt:lpstr>
      <vt:lpstr>宋体</vt:lpstr>
      <vt:lpstr>Wingdings</vt:lpstr>
      <vt:lpstr>Arial</vt:lpstr>
      <vt:lpstr>Poppins</vt:lpstr>
      <vt:lpstr>Thonburi</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2026-06-19T04:28:36Z</dcterms:created>
  <dcterms:modified xsi:type="dcterms:W3CDTF">2026-06-19T04:28:36Z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{"Label":"1","ContentProducer":"001191110102MACQD9K64010000","ProduceID":"7652958490247793645","ReservedCode1":"","ContentPropagator":"","PropagateID":"","ReservedCode2":""}</vt:lpwstr>
  </property>
  <property fmtid="{D5CDD505-2E9C-101B-9397-08002B2CF9AE}" pid="3" name="ICV">
    <vt:lpwstr>7C1DCBC1349D341174C5346ACE5A30BB_42</vt:lpwstr>
  </property>
  <property fmtid="{D5CDD505-2E9C-101B-9397-08002B2CF9AE}" pid="4" name="KSOProductBuildVer">
    <vt:lpwstr>2052-5.3.0.7863</vt:lpwstr>
  </property>
</Properties>
</file>
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Welcome to NOVA, where cutting-edge science meets compassionate care. We are dedicated to advancing healthcare through innovative solutions for the global medical community.</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This presentation will explore the evolving healthcare landscape, our tailored solutions, the clinical development process, regulatory compliance, and our approach to building successful partnerships.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The healthcare industry is undergoing a profound transformation. Key trends such as personalized medicine, digital health, value-based care, and regulatory evolution are shaping the future of how we prevent, diagnose, and treat disease.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expertise spans the entire healthcare ecosystem. We provide tailored solutions for Medical Devices, Biopharmaceuticals, Private Hospitals, HealthTech, Clinical Research, and Aesthetics, addressing the unique challenges of each sector.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Clinical development is a rigorous journey. We provide end-to-end support, from protocol design through all trial phases—Phase I to IV—ensuring that your product meets the highest standards of safety and efficacy for regulatory approval.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Success in healthcare hinges on regulatory approval. Our team has deep expertise with the FDA, EMA, and other global health authorities, providing strategic planning and submission support to ensure a smooth path to market.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partnership extends beyond regulatory success. We provide tailored support for doctors, distributors, payers, and investors, ensuring that your innovation reaches those who need it most and achieves its full commercial potential.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Thank you for your time. We are committed to partnering with you to advance healthcare and bring innovative solutions to patients worldwide.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svg"/><Relationship Id="rId7" Type="http://schemas.openxmlformats.org/officeDocument/2006/relationships/image" Target="../media/image4.png"/><Relationship Id="rId6" Type="http://schemas.openxmlformats.org/officeDocument/2006/relationships/image" Target="../media/image3.svg"/><Relationship Id="rId5" Type="http://schemas.openxmlformats.org/officeDocument/2006/relationships/image" Target="../media/image3.png"/><Relationship Id="rId4" Type="http://schemas.openxmlformats.org/officeDocument/2006/relationships/image" Target="../media/image2.svg"/><Relationship Id="rId3" Type="http://schemas.openxmlformats.org/officeDocument/2006/relationships/image" Target="../media/image2.png"/><Relationship Id="rId2" Type="http://schemas.openxmlformats.org/officeDocument/2006/relationships/image" Target="../media/image1.svg"/><Relationship Id="rId10" Type="http://schemas.openxmlformats.org/officeDocument/2006/relationships/notesSlide" Target="../notesSlides/notesSlide3.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8.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6.png"/><Relationship Id="rId2" Type="http://schemas.openxmlformats.org/officeDocument/2006/relationships/image" Target="../media/image5.svg"/><Relationship Id="rId10" Type="http://schemas.openxmlformats.org/officeDocument/2006/relationships/notesSlide" Target="../notesSlides/notesSlide5.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11.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0" y="-1905000"/>
            <a:ext cx="7620000" cy="7620000"/>
          </a:xfrm>
          <a:prstGeom prst="ellipse">
            <a:avLst/>
          </a:prstGeom>
          <a:solidFill>
            <a:srgbClr val="38BDF8">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270000" y="3810000"/>
            <a:ext cx="5080000" cy="5080000"/>
          </a:xfrm>
          <a:prstGeom prst="ellipse">
            <a:avLst/>
          </a:prstGeom>
          <a:solidFill>
            <a:srgbClr val="38BDF8">
              <a:alpha val="6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Playfair Display"/>
                <a:ea typeface="Playfair Display"/>
                <a:cs typeface="Playfair Display"/>
                <a:sym typeface="Playfair Display"/>
              </a:rPr>
              <a:t>NOVA</a:t>
            </a:r>
            <a:endParaRPr lang="en-US" sz="1100"/>
          </a:p>
        </p:txBody>
      </p:sp>
      <p:sp>
        <p:nvSpPr>
          <p:cNvPr id="5" name="AutoShape 5"/>
          <p:cNvSpPr/>
          <p:nvPr/>
        </p:nvSpPr>
        <p:spPr>
          <a:xfrm>
            <a:off x="5334000" y="4191000"/>
            <a:ext cx="1524000" cy="25400"/>
          </a:xfrm>
          <a:prstGeom prst="roundRect">
            <a:avLst>
              <a:gd name="adj" fmla="val 0"/>
            </a:avLst>
          </a:prstGeom>
          <a:solidFill>
            <a:srgbClr val="E5E4E2">
              <a:alpha val="9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381000" y="4699000"/>
            <a:ext cx="1143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800" b="0" i="0" u="none" strike="noStrike">
                <a:solidFill>
                  <a:srgbClr val="E5E4E2">
                    <a:alpha val="94902"/>
                  </a:srgbClr>
                </a:solidFill>
                <a:latin typeface="Lato"/>
                <a:ea typeface="Lato"/>
                <a:cs typeface="Lato"/>
                <a:sym typeface="Lato"/>
              </a:rPr>
              <a:t>Advancing Healthcare Through Innovation</a:t>
            </a:r>
            <a:endParaRPr lang="en-US" sz="1100"/>
          </a:p>
        </p:txBody>
      </p:sp>
      <p:sp>
        <p:nvSpPr>
          <p:cNvPr id="7" name="AutoShape 7"/>
          <p:cNvSpPr/>
          <p:nvPr/>
        </p:nvSpPr>
        <p:spPr>
          <a:xfrm>
            <a:off x="0" y="5969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B4B4B4"/>
                </a:solidFill>
                <a:latin typeface="Lato"/>
                <a:ea typeface="Lato"/>
                <a:cs typeface="Lato"/>
                <a:sym typeface="Lato"/>
              </a:rPr>
              <a:t>[Your Brand Name] |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CONTENTS</a:t>
            </a:r>
            <a:endParaRPr lang="en-US" sz="1100"/>
          </a:p>
        </p:txBody>
      </p:sp>
      <p:cxnSp>
        <p:nvCxnSpPr>
          <p:cNvPr id="3" name="Connector 3"/>
          <p:cNvCxnSpPr/>
          <p:nvPr/>
        </p:nvCxnSpPr>
        <p:spPr>
          <a:xfrm rot="-4297">
            <a:off x="1016004" y="1644650"/>
            <a:ext cx="10160008" cy="12700"/>
          </a:xfrm>
          <a:prstGeom prst="line">
            <a:avLst/>
          </a:prstGeom>
          <a:solidFill>
            <a:srgbClr val="DEE0E3">
              <a:alpha val="100000"/>
            </a:srgbClr>
          </a:solidFill>
          <a:ln w="12700" cap="flat" cmpd="sng">
            <a:solidFill>
              <a:srgbClr val="E5E7EB">
                <a:alpha val="40000"/>
              </a:srgbClr>
            </a:solidFill>
            <a:prstDash val="solid"/>
            <a:round/>
            <a:headEnd type="none" w="med" len="med"/>
            <a:tailEnd type="none" w="med" len="med"/>
          </a:ln>
        </p:spPr>
      </p:cxnSp>
      <p:sp>
        <p:nvSpPr>
          <p:cNvPr id="4" name="AutoShape 4"/>
          <p:cNvSpPr/>
          <p:nvPr/>
        </p:nvSpPr>
        <p:spPr>
          <a:xfrm>
            <a:off x="1016000" y="2159000"/>
            <a:ext cx="4953000" cy="1206500"/>
          </a:xfrm>
          <a:prstGeom prst="roundRect">
            <a:avLst>
              <a:gd name="adj" fmla="val 0"/>
            </a:avLst>
          </a:prstGeom>
          <a:solidFill>
            <a:srgbClr val="E5E7EB">
              <a:alpha val="10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1016000" y="2159000"/>
            <a:ext cx="50800" cy="1206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270000" y="2222500"/>
            <a:ext cx="76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7EB">
                    <a:alpha val="90196"/>
                  </a:srgbClr>
                </a:solidFill>
                <a:latin typeface="Poppins"/>
                <a:ea typeface="Poppins"/>
                <a:cs typeface="Poppins"/>
                <a:sym typeface="Poppins"/>
              </a:rPr>
              <a:t>01</a:t>
            </a:r>
            <a:endParaRPr lang="en-US" sz="1100"/>
          </a:p>
        </p:txBody>
      </p:sp>
      <p:cxnSp>
        <p:nvCxnSpPr>
          <p:cNvPr id="7" name="Connector 7"/>
          <p:cNvCxnSpPr/>
          <p:nvPr/>
        </p:nvCxnSpPr>
        <p:spPr>
          <a:xfrm rot="5354170">
            <a:off x="1682708" y="2755985"/>
            <a:ext cx="952585" cy="12700"/>
          </a:xfrm>
          <a:prstGeom prst="line">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8" name="AutoShape 8"/>
          <p:cNvSpPr/>
          <p:nvPr/>
        </p:nvSpPr>
        <p:spPr>
          <a:xfrm>
            <a:off x="2413000" y="22606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INDUSTRY INSIGHTS</a:t>
            </a:r>
            <a:endParaRPr lang="en-US" sz="1100"/>
          </a:p>
          <a:p>
            <a:pPr marL="0" indent="0" algn="l">
              <a:lnSpc>
                <a:spcPct val="108000"/>
              </a:lnSpc>
            </a:pPr>
            <a:r>
              <a:rPr lang="en-US" sz="1300" b="0" i="0" u="none" strike="noStrike">
                <a:solidFill>
                  <a:srgbClr val="D1D5DB">
                    <a:alpha val="90196"/>
                  </a:srgbClr>
                </a:solidFill>
                <a:latin typeface="Poppins"/>
                <a:ea typeface="Poppins"/>
                <a:cs typeface="Poppins"/>
                <a:sym typeface="Poppins"/>
              </a:rPr>
              <a:t>The Evolving Landscape of Healthcare: Navigating market shifts, technological advancements, and patient-centric care paradigms shaping the future of the industry.</a:t>
            </a:r>
            <a:endParaRPr lang="en-US" sz="1300" b="0" i="0" u="none" strike="noStrike">
              <a:solidFill>
                <a:srgbClr val="D1D5DB">
                  <a:alpha val="90196"/>
                </a:srgbClr>
              </a:solidFill>
              <a:latin typeface="Poppins"/>
              <a:ea typeface="Poppins"/>
              <a:cs typeface="Poppins"/>
              <a:sym typeface="Poppins"/>
            </a:endParaRPr>
          </a:p>
        </p:txBody>
      </p:sp>
      <p:sp>
        <p:nvSpPr>
          <p:cNvPr id="9" name="AutoShape 9"/>
          <p:cNvSpPr/>
          <p:nvPr/>
        </p:nvSpPr>
        <p:spPr>
          <a:xfrm>
            <a:off x="6350000" y="2159000"/>
            <a:ext cx="4953000" cy="1206500"/>
          </a:xfrm>
          <a:prstGeom prst="roundRect">
            <a:avLst>
              <a:gd name="adj" fmla="val 0"/>
            </a:avLst>
          </a:prstGeom>
          <a:solidFill>
            <a:srgbClr val="E5E7EB">
              <a:alpha val="1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6350000" y="2159000"/>
            <a:ext cx="50800" cy="1206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6604000" y="2222500"/>
            <a:ext cx="76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7EB">
                    <a:alpha val="90196"/>
                  </a:srgbClr>
                </a:solidFill>
                <a:latin typeface="Poppins"/>
                <a:ea typeface="Poppins"/>
                <a:cs typeface="Poppins"/>
                <a:sym typeface="Poppins"/>
              </a:rPr>
              <a:t>02</a:t>
            </a:r>
            <a:endParaRPr lang="en-US" sz="1100"/>
          </a:p>
        </p:txBody>
      </p:sp>
      <p:cxnSp>
        <p:nvCxnSpPr>
          <p:cNvPr id="12" name="Connector 12"/>
          <p:cNvCxnSpPr/>
          <p:nvPr/>
        </p:nvCxnSpPr>
        <p:spPr>
          <a:xfrm rot="5354170">
            <a:off x="7016708" y="2755985"/>
            <a:ext cx="952585" cy="12700"/>
          </a:xfrm>
          <a:prstGeom prst="line">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13" name="AutoShape 13"/>
          <p:cNvSpPr/>
          <p:nvPr/>
        </p:nvSpPr>
        <p:spPr>
          <a:xfrm>
            <a:off x="7747000" y="22606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SOLUTION MATRIX</a:t>
            </a:r>
            <a:endParaRPr lang="en-US" sz="1100"/>
          </a:p>
          <a:p>
            <a:pPr marL="0" indent="0" algn="l">
              <a:lnSpc>
                <a:spcPct val="108000"/>
              </a:lnSpc>
            </a:pPr>
            <a:r>
              <a:rPr lang="en-US" sz="1300" b="0" i="0" u="none" strike="noStrike">
                <a:solidFill>
                  <a:srgbClr val="D1D5DB">
                    <a:alpha val="90196"/>
                  </a:srgbClr>
                </a:solidFill>
                <a:latin typeface="Poppins"/>
                <a:ea typeface="Poppins"/>
                <a:cs typeface="Poppins"/>
                <a:sym typeface="Poppins"/>
              </a:rPr>
              <a:t>Tailored Expertise for Every Sector: Customized strategies and integrated services designed to address unique challenges across pharmaceuticals, biotech, and medical devices.</a:t>
            </a:r>
            <a:endParaRPr lang="en-US" sz="1300" b="0" i="0" u="none" strike="noStrike">
              <a:solidFill>
                <a:srgbClr val="D1D5DB">
                  <a:alpha val="90196"/>
                </a:srgbClr>
              </a:solidFill>
              <a:latin typeface="Poppins"/>
              <a:ea typeface="Poppins"/>
              <a:cs typeface="Poppins"/>
              <a:sym typeface="Poppins"/>
            </a:endParaRPr>
          </a:p>
        </p:txBody>
      </p:sp>
      <p:sp>
        <p:nvSpPr>
          <p:cNvPr id="14" name="AutoShape 14"/>
          <p:cNvSpPr/>
          <p:nvPr/>
        </p:nvSpPr>
        <p:spPr>
          <a:xfrm>
            <a:off x="1016000" y="3683000"/>
            <a:ext cx="4953000" cy="1206500"/>
          </a:xfrm>
          <a:prstGeom prst="roundRect">
            <a:avLst>
              <a:gd name="adj" fmla="val 0"/>
            </a:avLst>
          </a:prstGeom>
          <a:solidFill>
            <a:srgbClr val="E5E7EB">
              <a:alpha val="1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1016000" y="3683000"/>
            <a:ext cx="50800" cy="1206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1270000" y="3746500"/>
            <a:ext cx="76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7EB">
                    <a:alpha val="90196"/>
                  </a:srgbClr>
                </a:solidFill>
                <a:latin typeface="Poppins"/>
                <a:ea typeface="Poppins"/>
                <a:cs typeface="Poppins"/>
                <a:sym typeface="Poppins"/>
              </a:rPr>
              <a:t>03</a:t>
            </a:r>
            <a:endParaRPr lang="en-US" sz="1100"/>
          </a:p>
        </p:txBody>
      </p:sp>
      <p:cxnSp>
        <p:nvCxnSpPr>
          <p:cNvPr id="17" name="Connector 17"/>
          <p:cNvCxnSpPr/>
          <p:nvPr/>
        </p:nvCxnSpPr>
        <p:spPr>
          <a:xfrm rot="5354170">
            <a:off x="1682708" y="4279985"/>
            <a:ext cx="952585" cy="12700"/>
          </a:xfrm>
          <a:prstGeom prst="line">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18" name="AutoShape 18"/>
          <p:cNvSpPr/>
          <p:nvPr/>
        </p:nvSpPr>
        <p:spPr>
          <a:xfrm>
            <a:off x="2413000" y="37846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CLINICAL RESEARCH &amp; DEVELOPMENT</a:t>
            </a:r>
            <a:endParaRPr lang="en-US" sz="1100"/>
          </a:p>
          <a:p>
            <a:pPr marL="0" indent="0" algn="l">
              <a:lnSpc>
                <a:spcPct val="108000"/>
              </a:lnSpc>
            </a:pPr>
            <a:r>
              <a:rPr lang="en-US" sz="1300" b="0" i="0" u="none" strike="noStrike">
                <a:solidFill>
                  <a:srgbClr val="D1D5DB">
                    <a:alpha val="90196"/>
                  </a:srgbClr>
                </a:solidFill>
                <a:latin typeface="Poppins"/>
                <a:ea typeface="Poppins"/>
                <a:cs typeface="Poppins"/>
                <a:sym typeface="Poppins"/>
              </a:rPr>
              <a:t>From Discovery to Commercialization: End-to-end clinical trial management, data analytics, and scientific expertise to accelerate time-to-market for breakthrough therapies.</a:t>
            </a:r>
            <a:endParaRPr lang="en-US" sz="1300" b="0" i="0" u="none" strike="noStrike">
              <a:solidFill>
                <a:srgbClr val="D1D5DB">
                  <a:alpha val="90196"/>
                </a:srgbClr>
              </a:solidFill>
              <a:latin typeface="Poppins"/>
              <a:ea typeface="Poppins"/>
              <a:cs typeface="Poppins"/>
              <a:sym typeface="Poppins"/>
            </a:endParaRPr>
          </a:p>
        </p:txBody>
      </p:sp>
      <p:sp>
        <p:nvSpPr>
          <p:cNvPr id="19" name="AutoShape 19"/>
          <p:cNvSpPr/>
          <p:nvPr/>
        </p:nvSpPr>
        <p:spPr>
          <a:xfrm>
            <a:off x="6350000" y="3683000"/>
            <a:ext cx="4953000" cy="1206500"/>
          </a:xfrm>
          <a:prstGeom prst="roundRect">
            <a:avLst>
              <a:gd name="adj" fmla="val 0"/>
            </a:avLst>
          </a:prstGeom>
          <a:solidFill>
            <a:srgbClr val="E5E7EB">
              <a:alpha val="1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6350000" y="3683000"/>
            <a:ext cx="50800" cy="1206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21"/>
          <p:cNvSpPr/>
          <p:nvPr/>
        </p:nvSpPr>
        <p:spPr>
          <a:xfrm>
            <a:off x="6604000" y="3746500"/>
            <a:ext cx="76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7EB">
                    <a:alpha val="90196"/>
                  </a:srgbClr>
                </a:solidFill>
                <a:latin typeface="Poppins"/>
                <a:ea typeface="Poppins"/>
                <a:cs typeface="Poppins"/>
                <a:sym typeface="Poppins"/>
              </a:rPr>
              <a:t>04</a:t>
            </a:r>
            <a:endParaRPr lang="en-US" sz="1100"/>
          </a:p>
        </p:txBody>
      </p:sp>
      <p:cxnSp>
        <p:nvCxnSpPr>
          <p:cNvPr id="22" name="Connector 22"/>
          <p:cNvCxnSpPr/>
          <p:nvPr/>
        </p:nvCxnSpPr>
        <p:spPr>
          <a:xfrm rot="5354170">
            <a:off x="7016708" y="4279985"/>
            <a:ext cx="952585" cy="12700"/>
          </a:xfrm>
          <a:prstGeom prst="line">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23" name="AutoShape 23"/>
          <p:cNvSpPr/>
          <p:nvPr/>
        </p:nvSpPr>
        <p:spPr>
          <a:xfrm>
            <a:off x="7747000" y="3784600"/>
            <a:ext cx="342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REGULATORY &amp; COMPLIANCE</a:t>
            </a:r>
            <a:endParaRPr lang="en-US" sz="1100"/>
          </a:p>
          <a:p>
            <a:pPr marL="0" indent="0" algn="l">
              <a:lnSpc>
                <a:spcPct val="108000"/>
              </a:lnSpc>
            </a:pPr>
            <a:r>
              <a:rPr lang="en-US" sz="1300" b="0" i="0" u="none" strike="noStrike">
                <a:solidFill>
                  <a:srgbClr val="D1D5DB">
                    <a:alpha val="90196"/>
                  </a:srgbClr>
                </a:solidFill>
                <a:latin typeface="Poppins"/>
                <a:ea typeface="Poppins"/>
                <a:cs typeface="Poppins"/>
                <a:sym typeface="Poppins"/>
              </a:rPr>
              <a:t>Navigating the Path to Approval: Global regulatory strategy, quality assurance, and compliance solutions to ensure adherence to the highest ethical and legal standards.</a:t>
            </a:r>
            <a:endParaRPr lang="en-US" sz="1300" b="0" i="0" u="none" strike="noStrike">
              <a:solidFill>
                <a:srgbClr val="D1D5DB">
                  <a:alpha val="90196"/>
                </a:srgbClr>
              </a:solidFill>
              <a:latin typeface="Poppins"/>
              <a:ea typeface="Poppins"/>
              <a:cs typeface="Poppins"/>
              <a:sym typeface="Poppins"/>
            </a:endParaRPr>
          </a:p>
        </p:txBody>
      </p:sp>
      <p:sp>
        <p:nvSpPr>
          <p:cNvPr id="24" name="AutoShape 24"/>
          <p:cNvSpPr/>
          <p:nvPr/>
        </p:nvSpPr>
        <p:spPr>
          <a:xfrm>
            <a:off x="1016000" y="5207000"/>
            <a:ext cx="10287000" cy="1143000"/>
          </a:xfrm>
          <a:prstGeom prst="roundRect">
            <a:avLst>
              <a:gd name="adj" fmla="val 0"/>
            </a:avLst>
          </a:prstGeom>
          <a:solidFill>
            <a:srgbClr val="E5E7EB">
              <a:alpha val="15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nvSpPr>
        <p:spPr>
          <a:xfrm>
            <a:off x="1016000" y="5207000"/>
            <a:ext cx="50800" cy="11430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nvSpPr>
        <p:spPr>
          <a:xfrm>
            <a:off x="1270000" y="5270500"/>
            <a:ext cx="76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E5E7EB">
                    <a:alpha val="90196"/>
                  </a:srgbClr>
                </a:solidFill>
                <a:latin typeface="Poppins"/>
                <a:ea typeface="Poppins"/>
                <a:cs typeface="Poppins"/>
                <a:sym typeface="Poppins"/>
              </a:rPr>
              <a:t>05</a:t>
            </a:r>
            <a:endParaRPr lang="en-US" sz="1100"/>
          </a:p>
        </p:txBody>
      </p:sp>
      <p:cxnSp>
        <p:nvCxnSpPr>
          <p:cNvPr id="27" name="Connector 27"/>
          <p:cNvCxnSpPr/>
          <p:nvPr/>
        </p:nvCxnSpPr>
        <p:spPr>
          <a:xfrm rot="5350897">
            <a:off x="1714455" y="5772241"/>
            <a:ext cx="889091" cy="12700"/>
          </a:xfrm>
          <a:prstGeom prst="line">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28" name="AutoShape 28"/>
          <p:cNvSpPr/>
          <p:nvPr/>
        </p:nvSpPr>
        <p:spPr>
          <a:xfrm>
            <a:off x="2413000" y="5308600"/>
            <a:ext cx="4254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FFFFFF"/>
                </a:solidFill>
                <a:latin typeface="Poppins"/>
                <a:ea typeface="Poppins"/>
                <a:cs typeface="Poppins"/>
                <a:sym typeface="Poppins"/>
              </a:rPr>
              <a:t>BUSINESS &amp; PARTNERSHIP</a:t>
            </a:r>
            <a:endParaRPr lang="en-US" sz="1100"/>
          </a:p>
          <a:p>
            <a:pPr marL="0" indent="0" algn="l">
              <a:lnSpc>
                <a:spcPct val="108000"/>
              </a:lnSpc>
            </a:pPr>
            <a:r>
              <a:rPr lang="en-US" sz="1300" b="0" i="0" u="none" strike="noStrike">
                <a:solidFill>
                  <a:srgbClr val="D1D5DB">
                    <a:alpha val="90196"/>
                  </a:srgbClr>
                </a:solidFill>
                <a:latin typeface="Poppins"/>
                <a:ea typeface="Poppins"/>
                <a:cs typeface="Poppins"/>
                <a:sym typeface="Poppins"/>
              </a:rPr>
              <a:t>Strategic collaborations and alliance management to foster innovation, expand global reach, and co-create value-driven solutions for a healthier tomorrow.</a:t>
            </a:r>
            <a:endParaRPr lang="en-US" sz="1300" b="0" i="0" u="none" strike="noStrike">
              <a:solidFill>
                <a:srgbClr val="D1D5DB">
                  <a:alpha val="90196"/>
                </a:srgbClr>
              </a:solidFill>
              <a:latin typeface="Poppins"/>
              <a:ea typeface="Poppins"/>
              <a:cs typeface="Poppins"/>
              <a:sym typeface="Poppins"/>
            </a:endParaRPr>
          </a:p>
        </p:txBody>
      </p:sp>
      <p:cxnSp>
        <p:nvCxnSpPr>
          <p:cNvPr id="29" name="Connector 29"/>
          <p:cNvCxnSpPr/>
          <p:nvPr/>
        </p:nvCxnSpPr>
        <p:spPr>
          <a:xfrm rot="5342717">
            <a:off x="6476947" y="5772256"/>
            <a:ext cx="762106" cy="12700"/>
          </a:xfrm>
          <a:prstGeom prst="line">
            <a:avLst/>
          </a:prstGeom>
          <a:solidFill>
            <a:srgbClr val="DEE0E3">
              <a:alpha val="100000"/>
            </a:srgbClr>
          </a:solidFill>
          <a:ln w="12700" cap="flat" cmpd="sng">
            <a:solidFill>
              <a:srgbClr val="E5E7EB">
                <a:alpha val="25000"/>
              </a:srgbClr>
            </a:solidFill>
            <a:prstDash val="dash"/>
            <a:round/>
            <a:headEnd type="none" w="med" len="med"/>
            <a:tailEnd type="none" w="med" len="med"/>
          </a:ln>
        </p:spPr>
      </p:cxnSp>
      <p:sp>
        <p:nvSpPr>
          <p:cNvPr id="30" name="AutoShape 30"/>
          <p:cNvSpPr/>
          <p:nvPr/>
        </p:nvSpPr>
        <p:spPr>
          <a:xfrm>
            <a:off x="7112000" y="5397500"/>
            <a:ext cx="393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5DB">
                    <a:alpha val="94902"/>
                  </a:srgbClr>
                </a:solidFill>
                <a:latin typeface="Poppins"/>
                <a:ea typeface="Poppins"/>
                <a:cs typeface="Poppins"/>
                <a:sym typeface="Poppins"/>
              </a:rPr>
              <a:t>We believe in building long-term, trust-based relationships that drive mutual growth and enable transformative impact across the healthcare ecosystem.</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0" y="-2540000"/>
            <a:ext cx="7620000" cy="7620000"/>
          </a:xfrm>
          <a:prstGeom prst="ellipse">
            <a:avLst/>
          </a:prstGeom>
          <a:solidFill>
            <a:srgbClr val="E5E7EB">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905000" y="3810000"/>
            <a:ext cx="6350000" cy="6350000"/>
          </a:xfrm>
          <a:prstGeom prst="ellipse">
            <a:avLst/>
          </a:prstGeom>
          <a:solidFill>
            <a:srgbClr val="E5E7EB">
              <a:alpha val="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01. INDUSTRY INSIGHTS</a:t>
            </a:r>
            <a:endParaRPr lang="en-US" sz="1100"/>
          </a:p>
        </p:txBody>
      </p:sp>
      <p:sp>
        <p:nvSpPr>
          <p:cNvPr id="5" name="AutoShape 5"/>
          <p:cNvSpPr/>
          <p:nvPr/>
        </p:nvSpPr>
        <p:spPr>
          <a:xfrm>
            <a:off x="1016000" y="1587500"/>
            <a:ext cx="1016000" cy="381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6" name="AutoShape 6"/>
          <p:cNvSpPr/>
          <p:nvPr/>
        </p:nvSpPr>
        <p:spPr>
          <a:xfrm>
            <a:off x="1016000" y="2286000"/>
            <a:ext cx="5016500" cy="1714500"/>
          </a:xfrm>
          <a:prstGeom prst="roundRect">
            <a:avLst>
              <a:gd name="adj" fmla="val 0"/>
            </a:avLst>
          </a:prstGeom>
          <a:solidFill>
            <a:srgbClr val="FFFFFF">
              <a:alpha val="6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1016000" y="2286000"/>
            <a:ext cx="50800" cy="1714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2476500"/>
            <a:ext cx="457200" cy="457200"/>
          </a:xfrm>
          <a:prstGeom prst="rect">
            <a:avLst/>
          </a:prstGeom>
        </p:spPr>
      </p:pic>
      <p:sp>
        <p:nvSpPr>
          <p:cNvPr id="9" name="AutoShape 9"/>
          <p:cNvSpPr/>
          <p:nvPr/>
        </p:nvSpPr>
        <p:spPr>
          <a:xfrm>
            <a:off x="1905000" y="2476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Poppins"/>
                <a:ea typeface="Poppins"/>
                <a:cs typeface="Poppins"/>
                <a:sym typeface="Poppins"/>
              </a:rPr>
              <a:t>PERSONALIZED MEDICINE</a:t>
            </a:r>
            <a:endParaRPr lang="en-US" sz="1100"/>
          </a:p>
        </p:txBody>
      </p:sp>
      <p:cxnSp>
        <p:nvCxnSpPr>
          <p:cNvPr id="10" name="Connector 10"/>
          <p:cNvCxnSpPr/>
          <p:nvPr/>
        </p:nvCxnSpPr>
        <p:spPr>
          <a:xfrm rot="-9683">
            <a:off x="1270009" y="3105150"/>
            <a:ext cx="4508518" cy="12700"/>
          </a:xfrm>
          <a:prstGeom prst="straightConnector1">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11" name="AutoShape 11"/>
          <p:cNvSpPr/>
          <p:nvPr/>
        </p:nvSpPr>
        <p:spPr>
          <a:xfrm>
            <a:off x="1270000" y="3238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85098"/>
                  </a:srgbClr>
                </a:solidFill>
                <a:latin typeface="Poppins"/>
                <a:ea typeface="Poppins"/>
                <a:cs typeface="Poppins"/>
                <a:sym typeface="Poppins"/>
              </a:rPr>
              <a:t>Advances in genomics and AI are enabling precision treatments tailored to individual patient genetics, lifestyles, and environments, moving beyond one-size-fits-all care models.</a:t>
            </a:r>
            <a:endParaRPr lang="en-US" sz="1100"/>
          </a:p>
        </p:txBody>
      </p:sp>
      <p:sp>
        <p:nvSpPr>
          <p:cNvPr id="12" name="AutoShape 12"/>
          <p:cNvSpPr/>
          <p:nvPr/>
        </p:nvSpPr>
        <p:spPr>
          <a:xfrm>
            <a:off x="6413500" y="2286000"/>
            <a:ext cx="5016500" cy="1714500"/>
          </a:xfrm>
          <a:prstGeom prst="roundRect">
            <a:avLst>
              <a:gd name="adj" fmla="val 0"/>
            </a:avLst>
          </a:prstGeom>
          <a:solidFill>
            <a:srgbClr val="FFFFFF">
              <a:alpha val="6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13" name="AutoShape 13"/>
          <p:cNvSpPr/>
          <p:nvPr/>
        </p:nvSpPr>
        <p:spPr>
          <a:xfrm>
            <a:off x="6413500" y="2286000"/>
            <a:ext cx="50800" cy="1714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67500" y="2476500"/>
            <a:ext cx="457200" cy="457200"/>
          </a:xfrm>
          <a:prstGeom prst="rect">
            <a:avLst/>
          </a:prstGeom>
        </p:spPr>
      </p:pic>
      <p:sp>
        <p:nvSpPr>
          <p:cNvPr id="15" name="AutoShape 15"/>
          <p:cNvSpPr/>
          <p:nvPr/>
        </p:nvSpPr>
        <p:spPr>
          <a:xfrm>
            <a:off x="7302500" y="2476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Poppins"/>
                <a:ea typeface="Poppins"/>
                <a:cs typeface="Poppins"/>
                <a:sym typeface="Poppins"/>
              </a:rPr>
              <a:t>DIGITAL HEALTH INTEGRATION</a:t>
            </a:r>
            <a:endParaRPr lang="en-US" sz="1100"/>
          </a:p>
        </p:txBody>
      </p:sp>
      <p:cxnSp>
        <p:nvCxnSpPr>
          <p:cNvPr id="16" name="Connector 16"/>
          <p:cNvCxnSpPr/>
          <p:nvPr/>
        </p:nvCxnSpPr>
        <p:spPr>
          <a:xfrm rot="-9683">
            <a:off x="6667509" y="3105150"/>
            <a:ext cx="4508518" cy="12700"/>
          </a:xfrm>
          <a:prstGeom prst="straightConnector1">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17" name="AutoShape 17"/>
          <p:cNvSpPr/>
          <p:nvPr/>
        </p:nvSpPr>
        <p:spPr>
          <a:xfrm>
            <a:off x="6667500" y="3238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85098"/>
                  </a:srgbClr>
                </a:solidFill>
                <a:latin typeface="Poppins"/>
                <a:ea typeface="Poppins"/>
                <a:cs typeface="Poppins"/>
                <a:sym typeface="Poppins"/>
              </a:rPr>
              <a:t>Telemedicine platforms, wearable biosensors, and predictive health analytics are bridging gaps in care access, empowering patients with real-time data and proactive health management.</a:t>
            </a:r>
            <a:endParaRPr lang="en-US" sz="1100"/>
          </a:p>
        </p:txBody>
      </p:sp>
      <p:sp>
        <p:nvSpPr>
          <p:cNvPr id="18" name="AutoShape 18"/>
          <p:cNvSpPr/>
          <p:nvPr/>
        </p:nvSpPr>
        <p:spPr>
          <a:xfrm>
            <a:off x="1016000" y="4318000"/>
            <a:ext cx="5016500" cy="1714500"/>
          </a:xfrm>
          <a:prstGeom prst="roundRect">
            <a:avLst>
              <a:gd name="adj" fmla="val 0"/>
            </a:avLst>
          </a:prstGeom>
          <a:solidFill>
            <a:srgbClr val="FFFFFF">
              <a:alpha val="6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19" name="AutoShape 19"/>
          <p:cNvSpPr/>
          <p:nvPr/>
        </p:nvSpPr>
        <p:spPr>
          <a:xfrm>
            <a:off x="1016000" y="4318000"/>
            <a:ext cx="50800" cy="1714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4508500"/>
            <a:ext cx="457200" cy="457200"/>
          </a:xfrm>
          <a:prstGeom prst="rect">
            <a:avLst/>
          </a:prstGeom>
        </p:spPr>
      </p:pic>
      <p:sp>
        <p:nvSpPr>
          <p:cNvPr id="21" name="AutoShape 21"/>
          <p:cNvSpPr/>
          <p:nvPr/>
        </p:nvSpPr>
        <p:spPr>
          <a:xfrm>
            <a:off x="1905000" y="4508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Poppins"/>
                <a:ea typeface="Poppins"/>
                <a:cs typeface="Poppins"/>
                <a:sym typeface="Poppins"/>
              </a:rPr>
              <a:t>VALUE-BASED CARE MODELS</a:t>
            </a:r>
            <a:endParaRPr lang="en-US" sz="1100"/>
          </a:p>
        </p:txBody>
      </p:sp>
      <p:cxnSp>
        <p:nvCxnSpPr>
          <p:cNvPr id="22" name="Connector 22"/>
          <p:cNvCxnSpPr/>
          <p:nvPr/>
        </p:nvCxnSpPr>
        <p:spPr>
          <a:xfrm rot="-9683">
            <a:off x="1270009" y="5137150"/>
            <a:ext cx="4508518" cy="12700"/>
          </a:xfrm>
          <a:prstGeom prst="straightConnector1">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23" name="AutoShape 23"/>
          <p:cNvSpPr/>
          <p:nvPr/>
        </p:nvSpPr>
        <p:spPr>
          <a:xfrm>
            <a:off x="1270000" y="5270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85098"/>
                  </a:srgbClr>
                </a:solidFill>
                <a:latin typeface="Poppins"/>
                <a:ea typeface="Poppins"/>
                <a:cs typeface="Poppins"/>
                <a:sym typeface="Poppins"/>
              </a:rPr>
              <a:t>The industry is pivoting from fee-for-service to value-based reimbursement, prioritizing positive patient outcomes, cost efficiency, and holistic wellness over the volume of services rendered.</a:t>
            </a:r>
            <a:endParaRPr lang="en-US" sz="1100"/>
          </a:p>
        </p:txBody>
      </p:sp>
      <p:sp>
        <p:nvSpPr>
          <p:cNvPr id="24" name="AutoShape 24"/>
          <p:cNvSpPr/>
          <p:nvPr/>
        </p:nvSpPr>
        <p:spPr>
          <a:xfrm>
            <a:off x="6413500" y="4318000"/>
            <a:ext cx="5016500" cy="1714500"/>
          </a:xfrm>
          <a:prstGeom prst="roundRect">
            <a:avLst>
              <a:gd name="adj" fmla="val 0"/>
            </a:avLst>
          </a:prstGeom>
          <a:solidFill>
            <a:srgbClr val="FFFFFF">
              <a:alpha val="6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25" name="AutoShape 25"/>
          <p:cNvSpPr/>
          <p:nvPr/>
        </p:nvSpPr>
        <p:spPr>
          <a:xfrm>
            <a:off x="6413500" y="4318000"/>
            <a:ext cx="50800" cy="17145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67500" y="4508500"/>
            <a:ext cx="457200" cy="457200"/>
          </a:xfrm>
          <a:prstGeom prst="rect">
            <a:avLst/>
          </a:prstGeom>
        </p:spPr>
      </p:pic>
      <p:sp>
        <p:nvSpPr>
          <p:cNvPr id="27" name="AutoShape 27"/>
          <p:cNvSpPr/>
          <p:nvPr/>
        </p:nvSpPr>
        <p:spPr>
          <a:xfrm>
            <a:off x="7302500" y="45085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Poppins"/>
                <a:ea typeface="Poppins"/>
                <a:cs typeface="Poppins"/>
                <a:sym typeface="Poppins"/>
              </a:rPr>
              <a:t>REGULATORY AGILITY &amp; EVOLUTION</a:t>
            </a:r>
            <a:endParaRPr lang="en-US" sz="1100"/>
          </a:p>
        </p:txBody>
      </p:sp>
      <p:cxnSp>
        <p:nvCxnSpPr>
          <p:cNvPr id="28" name="Connector 28"/>
          <p:cNvCxnSpPr/>
          <p:nvPr/>
        </p:nvCxnSpPr>
        <p:spPr>
          <a:xfrm rot="-9683">
            <a:off x="6667509" y="5137150"/>
            <a:ext cx="4508518" cy="12700"/>
          </a:xfrm>
          <a:prstGeom prst="straightConnector1">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29" name="AutoShape 29"/>
          <p:cNvSpPr/>
          <p:nvPr/>
        </p:nvSpPr>
        <p:spPr>
          <a:xfrm>
            <a:off x="6667500" y="5270500"/>
            <a:ext cx="450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6E6E6">
                    <a:alpha val="85098"/>
                  </a:srgbClr>
                </a:solidFill>
                <a:latin typeface="Poppins"/>
                <a:ea typeface="Poppins"/>
                <a:cs typeface="Poppins"/>
                <a:sym typeface="Poppins"/>
              </a:rPr>
              <a:t>Global health agencies like the FDA are adapting frameworks to streamline pathways for safe, innovative medical technologies, ensuring faster access to life-saving treatments without compromising standards.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02. SOLUTION MATRIX</a:t>
            </a:r>
            <a:endParaRPr lang="en-US" sz="1100"/>
          </a:p>
        </p:txBody>
      </p:sp>
      <p:sp>
        <p:nvSpPr>
          <p:cNvPr id="3" name="AutoShape 3"/>
          <p:cNvSpPr/>
          <p:nvPr/>
        </p:nvSpPr>
        <p:spPr>
          <a:xfrm>
            <a:off x="1016000" y="2032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2032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206500" y="2159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Medical Devices</a:t>
            </a:r>
            <a:endParaRPr lang="en-US" sz="1100"/>
          </a:p>
        </p:txBody>
      </p:sp>
      <p:cxnSp>
        <p:nvCxnSpPr>
          <p:cNvPr id="6" name="Connector 6"/>
          <p:cNvCxnSpPr/>
          <p:nvPr/>
        </p:nvCxnSpPr>
        <p:spPr>
          <a:xfrm rot="-14628">
            <a:off x="1206514" y="2660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7" name="AutoShape 7"/>
          <p:cNvSpPr/>
          <p:nvPr/>
        </p:nvSpPr>
        <p:spPr>
          <a:xfrm>
            <a:off x="1206500" y="2794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Regulatory Strategy &amp; Submission | Clinical Affairs &amp; Post-Market Surveillance | Quality Management Systems tailored for global compliance.</a:t>
            </a:r>
            <a:endParaRPr lang="en-US" sz="1100"/>
          </a:p>
        </p:txBody>
      </p:sp>
      <p:sp>
        <p:nvSpPr>
          <p:cNvPr id="8" name="AutoShape 8"/>
          <p:cNvSpPr/>
          <p:nvPr/>
        </p:nvSpPr>
        <p:spPr>
          <a:xfrm>
            <a:off x="4572000" y="2032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9" name="AutoShape 9"/>
          <p:cNvSpPr/>
          <p:nvPr/>
        </p:nvSpPr>
        <p:spPr>
          <a:xfrm>
            <a:off x="4572000" y="2032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762500" y="2159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Biopharmaceuticals</a:t>
            </a:r>
            <a:endParaRPr lang="en-US" sz="1100"/>
          </a:p>
        </p:txBody>
      </p:sp>
      <p:cxnSp>
        <p:nvCxnSpPr>
          <p:cNvPr id="11" name="Connector 11"/>
          <p:cNvCxnSpPr/>
          <p:nvPr/>
        </p:nvCxnSpPr>
        <p:spPr>
          <a:xfrm rot="-14628">
            <a:off x="4762514" y="2660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12" name="AutoShape 12"/>
          <p:cNvSpPr/>
          <p:nvPr/>
        </p:nvSpPr>
        <p:spPr>
          <a:xfrm>
            <a:off x="4762500" y="2794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End-to-end Drug Development &amp; Lifecycle Management, robust Pharmacovigilance, and data-driven Commercialization Strategy for market access.</a:t>
            </a:r>
            <a:endParaRPr lang="en-US" sz="1100"/>
          </a:p>
        </p:txBody>
      </p:sp>
      <p:sp>
        <p:nvSpPr>
          <p:cNvPr id="13" name="AutoShape 13"/>
          <p:cNvSpPr/>
          <p:nvPr/>
        </p:nvSpPr>
        <p:spPr>
          <a:xfrm>
            <a:off x="8128000" y="2032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8128000" y="2032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318500" y="2159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Private Hospitals</a:t>
            </a:r>
            <a:endParaRPr lang="en-US" sz="1100"/>
          </a:p>
        </p:txBody>
      </p:sp>
      <p:cxnSp>
        <p:nvCxnSpPr>
          <p:cNvPr id="16" name="Connector 16"/>
          <p:cNvCxnSpPr/>
          <p:nvPr/>
        </p:nvCxnSpPr>
        <p:spPr>
          <a:xfrm rot="-14628">
            <a:off x="8318514" y="2660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17" name="AutoShape 17"/>
          <p:cNvSpPr/>
          <p:nvPr/>
        </p:nvSpPr>
        <p:spPr>
          <a:xfrm>
            <a:off x="8318500" y="2794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Operational Excellence to boost efficiency, Patient Experience Enhancement protocols, and seamless Digital Transformation integration.</a:t>
            </a:r>
            <a:endParaRPr lang="en-US" sz="1100"/>
          </a:p>
        </p:txBody>
      </p:sp>
      <p:sp>
        <p:nvSpPr>
          <p:cNvPr id="18" name="AutoShape 18"/>
          <p:cNvSpPr/>
          <p:nvPr/>
        </p:nvSpPr>
        <p:spPr>
          <a:xfrm>
            <a:off x="1016000" y="4318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1016000" y="4318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206500" y="4445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HealthTech</a:t>
            </a:r>
            <a:endParaRPr lang="en-US" sz="1100"/>
          </a:p>
        </p:txBody>
      </p:sp>
      <p:cxnSp>
        <p:nvCxnSpPr>
          <p:cNvPr id="21" name="Connector 21"/>
          <p:cNvCxnSpPr/>
          <p:nvPr/>
        </p:nvCxnSpPr>
        <p:spPr>
          <a:xfrm rot="-14628">
            <a:off x="1206514" y="4946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22" name="AutoShape 22"/>
          <p:cNvSpPr/>
          <p:nvPr/>
        </p:nvSpPr>
        <p:spPr>
          <a:xfrm>
            <a:off x="1206500" y="5080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Strategic guidance for SaMD, rigorous AI/ML Algorithm Validation, and fortified Cybersecurity &amp; Data Privacy frameworks.</a:t>
            </a:r>
            <a:endParaRPr lang="en-US" sz="1100"/>
          </a:p>
        </p:txBody>
      </p:sp>
      <p:sp>
        <p:nvSpPr>
          <p:cNvPr id="23" name="AutoShape 23"/>
          <p:cNvSpPr/>
          <p:nvPr/>
        </p:nvSpPr>
        <p:spPr>
          <a:xfrm>
            <a:off x="4572000" y="4318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nvSpPr>
        <p:spPr>
          <a:xfrm>
            <a:off x="4572000" y="4318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4762500" y="4445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Clinical Research</a:t>
            </a:r>
            <a:endParaRPr lang="en-US" sz="1100"/>
          </a:p>
        </p:txBody>
      </p:sp>
      <p:cxnSp>
        <p:nvCxnSpPr>
          <p:cNvPr id="26" name="Connector 26"/>
          <p:cNvCxnSpPr/>
          <p:nvPr/>
        </p:nvCxnSpPr>
        <p:spPr>
          <a:xfrm rot="-14628">
            <a:off x="4762514" y="4946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27" name="AutoShape 27"/>
          <p:cNvSpPr/>
          <p:nvPr/>
        </p:nvSpPr>
        <p:spPr>
          <a:xfrm>
            <a:off x="4762500" y="5080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Comprehensive Site Management, advanced Data Management &amp; Biostatistics, and expert Regulatory Writing for successful submissions.</a:t>
            </a:r>
            <a:endParaRPr lang="en-US" sz="1100"/>
          </a:p>
        </p:txBody>
      </p:sp>
      <p:sp>
        <p:nvSpPr>
          <p:cNvPr id="28" name="AutoShape 28"/>
          <p:cNvSpPr/>
          <p:nvPr/>
        </p:nvSpPr>
        <p:spPr>
          <a:xfrm>
            <a:off x="8128000" y="4318000"/>
            <a:ext cx="3302000" cy="1905000"/>
          </a:xfrm>
          <a:prstGeom prst="roundRect">
            <a:avLst>
              <a:gd name="adj" fmla="val 0"/>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nvSpPr>
        <p:spPr>
          <a:xfrm>
            <a:off x="8128000" y="4318000"/>
            <a:ext cx="50800" cy="19050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318500" y="4445000"/>
            <a:ext cx="298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4E2"/>
                </a:solidFill>
                <a:latin typeface="Poppins"/>
                <a:ea typeface="Poppins"/>
                <a:cs typeface="Poppins"/>
                <a:sym typeface="Poppins"/>
              </a:rPr>
              <a:t>Aesthetics</a:t>
            </a:r>
            <a:endParaRPr lang="en-US" sz="1100"/>
          </a:p>
        </p:txBody>
      </p:sp>
      <p:cxnSp>
        <p:nvCxnSpPr>
          <p:cNvPr id="31" name="Connector 31"/>
          <p:cNvCxnSpPr/>
          <p:nvPr/>
        </p:nvCxnSpPr>
        <p:spPr>
          <a:xfrm rot="-14628">
            <a:off x="8318514" y="4946650"/>
            <a:ext cx="2984527" cy="12700"/>
          </a:xfrm>
          <a:prstGeom prst="straightConnector1">
            <a:avLst/>
          </a:prstGeom>
          <a:solidFill>
            <a:srgbClr val="DEE0E3">
              <a:alpha val="100000"/>
            </a:srgbClr>
          </a:solidFill>
          <a:ln w="12700" cap="flat" cmpd="sng">
            <a:solidFill>
              <a:srgbClr val="E5E4E2">
                <a:alpha val="50000"/>
              </a:srgbClr>
            </a:solidFill>
            <a:prstDash val="solid"/>
            <a:round/>
            <a:headEnd type="none" w="med" len="med"/>
            <a:tailEnd type="none" w="med" len="med"/>
          </a:ln>
        </p:spPr>
      </p:cxnSp>
      <p:sp>
        <p:nvSpPr>
          <p:cNvPr id="32" name="AutoShape 32"/>
          <p:cNvSpPr/>
          <p:nvPr/>
        </p:nvSpPr>
        <p:spPr>
          <a:xfrm>
            <a:off x="8318500" y="5080000"/>
            <a:ext cx="2984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Poppins"/>
                <a:ea typeface="Poppins"/>
                <a:cs typeface="Poppins"/>
                <a:sym typeface="Poppins"/>
              </a:rPr>
              <a:t>Product Development with Efficacy Studies, strategic Marketing &amp; Reimbursement plans, and impactful Brand Building &amp; KOL Management.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03. CLINICAL RESEARCH &amp; DEVELOPMENT</a:t>
            </a:r>
            <a:endParaRPr lang="en-US" sz="1100"/>
          </a:p>
        </p:txBody>
      </p:sp>
      <p:sp>
        <p:nvSpPr>
          <p:cNvPr id="3" name="AutoShape 3"/>
          <p:cNvSpPr/>
          <p:nvPr/>
        </p:nvSpPr>
        <p:spPr>
          <a:xfrm>
            <a:off x="1016000" y="1778000"/>
            <a:ext cx="50800" cy="762000"/>
          </a:xfrm>
          <a:prstGeom prst="roundRect">
            <a:avLst>
              <a:gd name="adj" fmla="val 0"/>
            </a:avLst>
          </a:prstGeom>
          <a:solidFill>
            <a:srgbClr val="E5E7EB">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193800" y="1752600"/>
            <a:ext cx="9982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E5E7EB"/>
                </a:solidFill>
                <a:latin typeface="Poppins"/>
                <a:ea typeface="Poppins"/>
                <a:cs typeface="Poppins"/>
                <a:sym typeface="Poppins"/>
              </a:rPr>
              <a:t>A Structured Path to Success</a:t>
            </a:r>
            <a:endParaRPr lang="en-US" sz="1100"/>
          </a:p>
          <a:p>
            <a:pPr marL="0" indent="0" algn="l">
              <a:lnSpc>
                <a:spcPct val="108000"/>
              </a:lnSpc>
            </a:pPr>
            <a:r>
              <a:rPr lang="en-US" sz="1300" b="0" i="0" u="none" strike="noStrike">
                <a:solidFill>
                  <a:srgbClr val="ECF0F1">
                    <a:alpha val="90196"/>
                  </a:srgbClr>
                </a:solidFill>
                <a:latin typeface="Poppins"/>
                <a:ea typeface="Poppins"/>
                <a:cs typeface="Poppins"/>
                <a:sym typeface="Poppins"/>
              </a:rPr>
              <a:t>We guide our clients through every stage of clinical development, ensuring compliance, efficiency, and success—navigating the complex regulatory landscape to deliver safe, effective therapies to patients worldwide.</a:t>
            </a:r>
            <a:endParaRPr lang="en-US" sz="1300" b="0" i="0" u="none" strike="noStrike">
              <a:solidFill>
                <a:srgbClr val="ECF0F1">
                  <a:alpha val="90196"/>
                </a:srgbClr>
              </a:solidFill>
              <a:latin typeface="Poppins"/>
              <a:ea typeface="Poppins"/>
              <a:cs typeface="Poppins"/>
              <a:sym typeface="Poppins"/>
            </a:endParaRPr>
          </a:p>
        </p:txBody>
      </p:sp>
      <p:cxnSp>
        <p:nvCxnSpPr>
          <p:cNvPr id="5" name="Connector 5"/>
          <p:cNvCxnSpPr/>
          <p:nvPr/>
        </p:nvCxnSpPr>
        <p:spPr>
          <a:xfrm rot="5385053">
            <a:off x="4635486" y="4629178"/>
            <a:ext cx="2921028" cy="12700"/>
          </a:xfrm>
          <a:prstGeom prst="straightConnector1">
            <a:avLst/>
          </a:prstGeom>
          <a:solidFill>
            <a:srgbClr val="DEE0E3">
              <a:alpha val="100000"/>
            </a:srgbClr>
          </a:solidFill>
          <a:ln w="12700" cap="flat" cmpd="sng">
            <a:solidFill>
              <a:srgbClr val="E5E7EB">
                <a:alpha val="30000"/>
              </a:srgbClr>
            </a:solidFill>
            <a:prstDash val="solid"/>
            <a:round/>
            <a:headEnd type="none" w="med" len="med"/>
            <a:tailEnd type="none" w="med" len="med"/>
          </a:ln>
        </p:spPr>
      </p:cxnSp>
      <p:sp>
        <p:nvSpPr>
          <p:cNvPr id="6" name="AutoShape 6"/>
          <p:cNvSpPr/>
          <p:nvPr/>
        </p:nvSpPr>
        <p:spPr>
          <a:xfrm>
            <a:off x="1016000" y="3175000"/>
            <a:ext cx="2413000" cy="1333500"/>
          </a:xfrm>
          <a:prstGeom prst="roundRect">
            <a:avLst>
              <a:gd name="adj" fmla="val 0"/>
            </a:avLst>
          </a:prstGeom>
          <a:solidFill>
            <a:srgbClr val="E5E7EB">
              <a:alpha val="10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7" name="AutoShape 7"/>
          <p:cNvSpPr/>
          <p:nvPr/>
        </p:nvSpPr>
        <p:spPr>
          <a:xfrm>
            <a:off x="1143000" y="33020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7EB"/>
                </a:solidFill>
                <a:latin typeface="Poppins"/>
                <a:ea typeface="Poppins"/>
                <a:cs typeface="Poppins"/>
                <a:sym typeface="Poppins"/>
              </a:rPr>
              <a:t>PHASE I</a:t>
            </a:r>
            <a:endParaRPr lang="en-US" sz="1100"/>
          </a:p>
          <a:p>
            <a:pPr marL="0" indent="0" algn="l">
              <a:lnSpc>
                <a:spcPct val="100000"/>
              </a:lnSpc>
            </a:pPr>
            <a:r>
              <a:rPr lang="en-US" sz="1100" b="0" i="0" u="none" strike="noStrike">
                <a:solidFill>
                  <a:srgbClr val="ECF0F1">
                    <a:alpha val="80000"/>
                  </a:srgbClr>
                </a:solidFill>
                <a:latin typeface="Poppins"/>
                <a:ea typeface="Poppins"/>
                <a:cs typeface="Poppins"/>
                <a:sym typeface="Poppins"/>
              </a:rPr>
              <a:t>Initial safety and dosage evaluation in a small cohort of healthy volunteers to establish tolerability and pharmacokinetic profiles.</a:t>
            </a:r>
            <a:endParaRPr lang="en-US" sz="1100" b="0" i="0" u="none" strike="noStrike">
              <a:solidFill>
                <a:srgbClr val="ECF0F1">
                  <a:alpha val="80000"/>
                </a:srgbClr>
              </a:solidFill>
              <a:latin typeface="Poppins"/>
              <a:ea typeface="Poppins"/>
              <a:cs typeface="Poppins"/>
              <a:sym typeface="Poppins"/>
            </a:endParaRPr>
          </a:p>
        </p:txBody>
      </p:sp>
      <p:sp>
        <p:nvSpPr>
          <p:cNvPr id="8" name="AutoShape 8"/>
          <p:cNvSpPr/>
          <p:nvPr/>
        </p:nvSpPr>
        <p:spPr>
          <a:xfrm>
            <a:off x="3556000" y="3175000"/>
            <a:ext cx="2413000" cy="1333500"/>
          </a:xfrm>
          <a:prstGeom prst="roundRect">
            <a:avLst>
              <a:gd name="adj" fmla="val 0"/>
            </a:avLst>
          </a:prstGeom>
          <a:solidFill>
            <a:srgbClr val="E5E7EB">
              <a:alpha val="10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3683000" y="33020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7EB"/>
                </a:solidFill>
                <a:latin typeface="Poppins"/>
                <a:ea typeface="Poppins"/>
                <a:cs typeface="Poppins"/>
                <a:sym typeface="Poppins"/>
              </a:rPr>
              <a:t>PHASE II</a:t>
            </a:r>
            <a:endParaRPr lang="en-US" sz="1100"/>
          </a:p>
          <a:p>
            <a:pPr marL="0" indent="0" algn="l">
              <a:lnSpc>
                <a:spcPct val="100000"/>
              </a:lnSpc>
            </a:pPr>
            <a:r>
              <a:rPr lang="en-US" sz="1100" b="0" i="0" u="none" strike="noStrike">
                <a:solidFill>
                  <a:srgbClr val="ECF0F1">
                    <a:alpha val="80000"/>
                  </a:srgbClr>
                </a:solidFill>
                <a:latin typeface="Poppins"/>
                <a:ea typeface="Poppins"/>
                <a:cs typeface="Poppins"/>
                <a:sym typeface="Poppins"/>
              </a:rPr>
              <a:t>Assess efficacy and monitor side effects in a larger group of patients with the target condition, refining dosage ranges and study protocols.</a:t>
            </a:r>
            <a:endParaRPr lang="en-US" sz="1100" b="0" i="0" u="none" strike="noStrike">
              <a:solidFill>
                <a:srgbClr val="ECF0F1">
                  <a:alpha val="80000"/>
                </a:srgbClr>
              </a:solidFill>
              <a:latin typeface="Poppins"/>
              <a:ea typeface="Poppins"/>
              <a:cs typeface="Poppins"/>
              <a:sym typeface="Poppins"/>
            </a:endParaRPr>
          </a:p>
        </p:txBody>
      </p:sp>
      <p:sp>
        <p:nvSpPr>
          <p:cNvPr id="10" name="AutoShape 10"/>
          <p:cNvSpPr/>
          <p:nvPr/>
        </p:nvSpPr>
        <p:spPr>
          <a:xfrm>
            <a:off x="1016000" y="4699000"/>
            <a:ext cx="2413000" cy="1333500"/>
          </a:xfrm>
          <a:prstGeom prst="roundRect">
            <a:avLst>
              <a:gd name="adj" fmla="val 0"/>
            </a:avLst>
          </a:prstGeom>
          <a:solidFill>
            <a:srgbClr val="E5E7EB">
              <a:alpha val="10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11" name="AutoShape 11"/>
          <p:cNvSpPr/>
          <p:nvPr/>
        </p:nvSpPr>
        <p:spPr>
          <a:xfrm>
            <a:off x="1143000" y="48260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7EB"/>
                </a:solidFill>
                <a:latin typeface="Poppins"/>
                <a:ea typeface="Poppins"/>
                <a:cs typeface="Poppins"/>
                <a:sym typeface="Poppins"/>
              </a:rPr>
              <a:t>PHASE III</a:t>
            </a:r>
            <a:endParaRPr lang="en-US" sz="1100"/>
          </a:p>
          <a:p>
            <a:pPr marL="0" indent="0" algn="l">
              <a:lnSpc>
                <a:spcPct val="100000"/>
              </a:lnSpc>
            </a:pPr>
            <a:r>
              <a:rPr lang="en-US" sz="1100" b="0" i="0" u="none" strike="noStrike">
                <a:solidFill>
                  <a:srgbClr val="ECF0F1">
                    <a:alpha val="80000"/>
                  </a:srgbClr>
                </a:solidFill>
                <a:latin typeface="Poppins"/>
                <a:ea typeface="Poppins"/>
                <a:cs typeface="Poppins"/>
                <a:sym typeface="Poppins"/>
              </a:rPr>
              <a:t>Large-scale trials comparing the therapy to standard treatments, confirming efficacy, safety, and generating data for regulatory approval submissions.</a:t>
            </a:r>
            <a:endParaRPr lang="en-US" sz="1100" b="0" i="0" u="none" strike="noStrike">
              <a:solidFill>
                <a:srgbClr val="ECF0F1">
                  <a:alpha val="80000"/>
                </a:srgbClr>
              </a:solidFill>
              <a:latin typeface="Poppins"/>
              <a:ea typeface="Poppins"/>
              <a:cs typeface="Poppins"/>
              <a:sym typeface="Poppins"/>
            </a:endParaRPr>
          </a:p>
        </p:txBody>
      </p:sp>
      <p:sp>
        <p:nvSpPr>
          <p:cNvPr id="12" name="AutoShape 12"/>
          <p:cNvSpPr/>
          <p:nvPr/>
        </p:nvSpPr>
        <p:spPr>
          <a:xfrm>
            <a:off x="3556000" y="4699000"/>
            <a:ext cx="2413000" cy="1333500"/>
          </a:xfrm>
          <a:prstGeom prst="roundRect">
            <a:avLst>
              <a:gd name="adj" fmla="val 0"/>
            </a:avLst>
          </a:prstGeom>
          <a:solidFill>
            <a:srgbClr val="E5E7EB">
              <a:alpha val="10000"/>
            </a:srgbClr>
          </a:solidFill>
          <a:ln w="12700" cap="flat" cmpd="sng">
            <a:solidFill>
              <a:srgbClr val="E5E7EB">
                <a:alpha val="30000"/>
              </a:srgbClr>
            </a:solidFill>
            <a:prstDash val="solid"/>
            <a:round/>
          </a:ln>
        </p:spPr>
        <p:txBody>
          <a:bodyPr vert="horz" wrap="square" lIns="0" tIns="0" rIns="0" bIns="0" rtlCol="0" anchor="ctr" anchorCtr="0"/>
          <a:lstStyle/>
          <a:p>
            <a:pPr algn="ctr">
              <a:defRPr/>
            </a:pPr>
          </a:p>
        </p:txBody>
      </p:sp>
      <p:sp>
        <p:nvSpPr>
          <p:cNvPr id="13" name="AutoShape 13"/>
          <p:cNvSpPr/>
          <p:nvPr/>
        </p:nvSpPr>
        <p:spPr>
          <a:xfrm>
            <a:off x="3683000" y="4826000"/>
            <a:ext cx="215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7EB"/>
                </a:solidFill>
                <a:latin typeface="Poppins"/>
                <a:ea typeface="Poppins"/>
                <a:cs typeface="Poppins"/>
                <a:sym typeface="Poppins"/>
              </a:rPr>
              <a:t>PHASE IV</a:t>
            </a:r>
            <a:endParaRPr lang="en-US" sz="1100"/>
          </a:p>
          <a:p>
            <a:pPr marL="0" indent="0" algn="l">
              <a:lnSpc>
                <a:spcPct val="100000"/>
              </a:lnSpc>
            </a:pPr>
            <a:r>
              <a:rPr lang="en-US" sz="1100" b="0" i="0" u="none" strike="noStrike">
                <a:solidFill>
                  <a:srgbClr val="ECF0F1">
                    <a:alpha val="80000"/>
                  </a:srgbClr>
                </a:solidFill>
                <a:latin typeface="Poppins"/>
                <a:ea typeface="Poppins"/>
                <a:cs typeface="Poppins"/>
                <a:sym typeface="Poppins"/>
              </a:rPr>
              <a:t>Post-approval surveillance studies to monitor long-term effects, optimal use, and identify rare adverse reactions in real-world patient populations.</a:t>
            </a:r>
            <a:endParaRPr lang="en-US" sz="1100" b="0" i="0" u="none" strike="noStrike">
              <a:solidFill>
                <a:srgbClr val="ECF0F1">
                  <a:alpha val="80000"/>
                </a:srgbClr>
              </a:solidFill>
              <a:latin typeface="Poppins"/>
              <a:ea typeface="Poppins"/>
              <a:cs typeface="Poppins"/>
              <a:sym typeface="Poppins"/>
            </a:endParaRPr>
          </a:p>
        </p:txBody>
      </p:sp>
      <p:sp>
        <p:nvSpPr>
          <p:cNvPr id="14" name="AutoShape 14"/>
          <p:cNvSpPr/>
          <p:nvPr/>
        </p:nvSpPr>
        <p:spPr>
          <a:xfrm>
            <a:off x="6477000" y="3111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Poppins"/>
                <a:ea typeface="Poppins"/>
                <a:cs typeface="Poppins"/>
                <a:sym typeface="Poppins"/>
              </a:rPr>
              <a:t>OUR STRATEGIC ROLE</a:t>
            </a:r>
            <a:endParaRPr lang="en-US" sz="1100"/>
          </a:p>
        </p:txBody>
      </p:sp>
      <p:sp>
        <p:nvSpPr>
          <p:cNvPr id="15" name="AutoShape 15"/>
          <p:cNvSpPr/>
          <p:nvPr/>
        </p:nvSpPr>
        <p:spPr>
          <a:xfrm>
            <a:off x="6477000" y="3810000"/>
            <a:ext cx="2286000" cy="1079500"/>
          </a:xfrm>
          <a:prstGeom prst="roundRect">
            <a:avLst>
              <a:gd name="adj" fmla="val 0"/>
            </a:avLst>
          </a:prstGeom>
          <a:solidFill>
            <a:srgbClr val="E5E7EB">
              <a:alpha val="8000"/>
            </a:srgbClr>
          </a:solidFill>
          <a:ln w="25400" cap="flat" cmpd="sng">
            <a:noFill/>
            <a:prstDash val="solid"/>
            <a:round/>
          </a:ln>
        </p:spPr>
        <p:txBody>
          <a:bodyPr vert="horz" wrap="square" lIns="0" tIns="0" rIns="0" bIns="0" rtlCol="0" anchor="ctr" anchorCtr="0"/>
          <a:lstStyle/>
          <a:p>
            <a:pPr algn="ctr">
              <a:defRPr/>
            </a:pPr>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3937000"/>
            <a:ext cx="304800" cy="304800"/>
          </a:xfrm>
          <a:prstGeom prst="rect">
            <a:avLst/>
          </a:prstGeom>
        </p:spPr>
      </p:pic>
      <p:sp>
        <p:nvSpPr>
          <p:cNvPr id="17" name="AutoShape 17"/>
          <p:cNvSpPr/>
          <p:nvPr/>
        </p:nvSpPr>
        <p:spPr>
          <a:xfrm>
            <a:off x="6985000" y="39116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Protocol Design</a:t>
            </a:r>
            <a:endParaRPr lang="en-US" sz="1100"/>
          </a:p>
          <a:p>
            <a:pPr marL="0" indent="0" algn="l">
              <a:lnSpc>
                <a:spcPct val="100000"/>
              </a:lnSpc>
            </a:pPr>
            <a:r>
              <a:rPr lang="en-US" sz="1100" b="0" i="0" u="none" strike="noStrike">
                <a:solidFill>
                  <a:srgbClr val="ECF0F1">
                    <a:alpha val="70196"/>
                  </a:srgbClr>
                </a:solidFill>
                <a:latin typeface="Poppins"/>
                <a:ea typeface="Poppins"/>
                <a:cs typeface="Poppins"/>
                <a:sym typeface="Poppins"/>
              </a:rPr>
              <a:t>Scientifically robust, compliant study plans tailored to global regulatory standards and trial objectives.</a:t>
            </a:r>
            <a:endParaRPr lang="en-US" sz="1100" b="0" i="0" u="none" strike="noStrike">
              <a:solidFill>
                <a:srgbClr val="ECF0F1">
                  <a:alpha val="70196"/>
                </a:srgbClr>
              </a:solidFill>
              <a:latin typeface="Poppins"/>
              <a:ea typeface="Poppins"/>
              <a:cs typeface="Poppins"/>
              <a:sym typeface="Poppins"/>
            </a:endParaRPr>
          </a:p>
        </p:txBody>
      </p:sp>
      <p:sp>
        <p:nvSpPr>
          <p:cNvPr id="18" name="AutoShape 18"/>
          <p:cNvSpPr/>
          <p:nvPr/>
        </p:nvSpPr>
        <p:spPr>
          <a:xfrm>
            <a:off x="8890000" y="3810000"/>
            <a:ext cx="2286000" cy="1079500"/>
          </a:xfrm>
          <a:prstGeom prst="roundRect">
            <a:avLst>
              <a:gd name="adj" fmla="val 0"/>
            </a:avLst>
          </a:prstGeom>
          <a:solidFill>
            <a:srgbClr val="E5E7EB">
              <a:alpha val="8000"/>
            </a:srgbClr>
          </a:solidFill>
          <a:ln w="25400" cap="flat" cmpd="sng">
            <a:noFill/>
            <a:prstDash val="solid"/>
            <a:round/>
          </a:ln>
        </p:spPr>
        <p:txBody>
          <a:bodyPr vert="horz" wrap="square" lIns="0" tIns="0" rIns="0" bIns="0" rtlCol="0" anchor="ctr" anchorCtr="0"/>
          <a:lstStyle/>
          <a:p>
            <a:pPr algn="ctr">
              <a:defRPr/>
            </a:pPr>
          </a:p>
        </p:txBody>
      </p:sp>
      <p:pic>
        <p:nvPicPr>
          <p:cNvPr id="19"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7000" y="3937000"/>
            <a:ext cx="304800" cy="304800"/>
          </a:xfrm>
          <a:prstGeom prst="rect">
            <a:avLst/>
          </a:prstGeom>
        </p:spPr>
      </p:pic>
      <p:sp>
        <p:nvSpPr>
          <p:cNvPr id="20" name="AutoShape 20"/>
          <p:cNvSpPr/>
          <p:nvPr/>
        </p:nvSpPr>
        <p:spPr>
          <a:xfrm>
            <a:off x="9398000" y="39116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Site Selection &amp; Mgmt</a:t>
            </a:r>
            <a:endParaRPr lang="en-US" sz="1100"/>
          </a:p>
          <a:p>
            <a:pPr marL="0" indent="0" algn="l">
              <a:lnSpc>
                <a:spcPct val="100000"/>
              </a:lnSpc>
            </a:pPr>
            <a:r>
              <a:rPr lang="en-US" sz="1100" b="0" i="0" u="none" strike="noStrike">
                <a:solidFill>
                  <a:srgbClr val="ECF0F1">
                    <a:alpha val="70196"/>
                  </a:srgbClr>
                </a:solidFill>
                <a:latin typeface="Poppins"/>
                <a:ea typeface="Poppins"/>
                <a:cs typeface="Poppins"/>
                <a:sym typeface="Poppins"/>
              </a:rPr>
              <a:t>End-to-end oversight of site activation, training, and performance optimization for seamless trial execution.</a:t>
            </a:r>
            <a:endParaRPr lang="en-US" sz="1100" b="0" i="0" u="none" strike="noStrike">
              <a:solidFill>
                <a:srgbClr val="ECF0F1">
                  <a:alpha val="70196"/>
                </a:srgbClr>
              </a:solidFill>
              <a:latin typeface="Poppins"/>
              <a:ea typeface="Poppins"/>
              <a:cs typeface="Poppins"/>
              <a:sym typeface="Poppins"/>
            </a:endParaRPr>
          </a:p>
        </p:txBody>
      </p:sp>
      <p:sp>
        <p:nvSpPr>
          <p:cNvPr id="21" name="AutoShape 21"/>
          <p:cNvSpPr/>
          <p:nvPr/>
        </p:nvSpPr>
        <p:spPr>
          <a:xfrm>
            <a:off x="6477000" y="5080000"/>
            <a:ext cx="2286000" cy="1079500"/>
          </a:xfrm>
          <a:prstGeom prst="roundRect">
            <a:avLst>
              <a:gd name="adj" fmla="val 0"/>
            </a:avLst>
          </a:prstGeom>
          <a:solidFill>
            <a:srgbClr val="E5E7EB">
              <a:alpha val="8000"/>
            </a:srgbClr>
          </a:solidFill>
          <a:ln w="25400" cap="flat" cmpd="sng">
            <a:noFill/>
            <a:prstDash val="solid"/>
            <a:round/>
          </a:ln>
        </p:spPr>
        <p:txBody>
          <a:bodyPr vert="horz" wrap="square" lIns="0" tIns="0" rIns="0" bIns="0" rtlCol="0" anchor="ctr" anchorCtr="0"/>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5207000"/>
            <a:ext cx="304800" cy="304800"/>
          </a:xfrm>
          <a:prstGeom prst="rect">
            <a:avLst/>
          </a:prstGeom>
        </p:spPr>
      </p:pic>
      <p:sp>
        <p:nvSpPr>
          <p:cNvPr id="23" name="AutoShape 23"/>
          <p:cNvSpPr/>
          <p:nvPr/>
        </p:nvSpPr>
        <p:spPr>
          <a:xfrm>
            <a:off x="6985000" y="51816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Data &amp; Statistics</a:t>
            </a:r>
            <a:endParaRPr lang="en-US" sz="1100"/>
          </a:p>
          <a:p>
            <a:pPr marL="0" indent="0" algn="l">
              <a:lnSpc>
                <a:spcPct val="100000"/>
              </a:lnSpc>
            </a:pPr>
            <a:r>
              <a:rPr lang="en-US" sz="1100" b="0" i="0" u="none" strike="noStrike">
                <a:solidFill>
                  <a:srgbClr val="ECF0F1">
                    <a:alpha val="70196"/>
                  </a:srgbClr>
                </a:solidFill>
                <a:latin typeface="Poppins"/>
                <a:ea typeface="Poppins"/>
                <a:cs typeface="Poppins"/>
                <a:sym typeface="Poppins"/>
              </a:rPr>
              <a:t>Advanced data management, validation, and statistical analysis to ensure data integrity and actionable interpretability.</a:t>
            </a:r>
            <a:endParaRPr lang="en-US" sz="1100" b="0" i="0" u="none" strike="noStrike">
              <a:solidFill>
                <a:srgbClr val="ECF0F1">
                  <a:alpha val="70196"/>
                </a:srgbClr>
              </a:solidFill>
              <a:latin typeface="Poppins"/>
              <a:ea typeface="Poppins"/>
              <a:cs typeface="Poppins"/>
              <a:sym typeface="Poppins"/>
            </a:endParaRPr>
          </a:p>
        </p:txBody>
      </p:sp>
      <p:sp>
        <p:nvSpPr>
          <p:cNvPr id="24" name="AutoShape 24"/>
          <p:cNvSpPr/>
          <p:nvPr/>
        </p:nvSpPr>
        <p:spPr>
          <a:xfrm>
            <a:off x="8890000" y="5080000"/>
            <a:ext cx="2286000" cy="1079500"/>
          </a:xfrm>
          <a:prstGeom prst="roundRect">
            <a:avLst>
              <a:gd name="adj" fmla="val 0"/>
            </a:avLst>
          </a:prstGeom>
          <a:solidFill>
            <a:srgbClr val="E5E7EB">
              <a:alpha val="8000"/>
            </a:srgbClr>
          </a:solidFill>
          <a:ln w="25400" cap="flat" cmpd="sng">
            <a:noFill/>
            <a:prstDash val="solid"/>
            <a:round/>
          </a:ln>
        </p:spPr>
        <p:txBody>
          <a:bodyPr vert="horz" wrap="square" lIns="0" tIns="0" rIns="0" bIns="0" rtlCol="0" anchor="ctr" anchorCtr="0"/>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17000" y="5207000"/>
            <a:ext cx="304800" cy="304800"/>
          </a:xfrm>
          <a:prstGeom prst="rect">
            <a:avLst/>
          </a:prstGeom>
        </p:spPr>
      </p:pic>
      <p:sp>
        <p:nvSpPr>
          <p:cNvPr id="26" name="AutoShape 26"/>
          <p:cNvSpPr/>
          <p:nvPr/>
        </p:nvSpPr>
        <p:spPr>
          <a:xfrm>
            <a:off x="9398000" y="5181600"/>
            <a:ext cx="1714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FFFFFF"/>
                </a:solidFill>
                <a:latin typeface="Poppins"/>
                <a:ea typeface="Poppins"/>
                <a:cs typeface="Poppins"/>
                <a:sym typeface="Poppins"/>
              </a:rPr>
              <a:t>Regulatory Submissions</a:t>
            </a:r>
            <a:endParaRPr lang="en-US" sz="1100"/>
          </a:p>
          <a:p>
            <a:pPr marL="0" indent="0" algn="l">
              <a:lnSpc>
                <a:spcPct val="100000"/>
              </a:lnSpc>
            </a:pPr>
            <a:r>
              <a:rPr lang="en-US" sz="1100" b="0" i="0" u="none" strike="noStrike">
                <a:solidFill>
                  <a:srgbClr val="ECF0F1">
                    <a:alpha val="70196"/>
                  </a:srgbClr>
                </a:solidFill>
                <a:latin typeface="Poppins"/>
                <a:ea typeface="Poppins"/>
                <a:cs typeface="Poppins"/>
                <a:sym typeface="Poppins"/>
              </a:rPr>
              <a:t>Strategic preparation and compilation of dossiers for global regulatory bodies to achieve timely and successful approvals.</a:t>
            </a:r>
            <a:endParaRPr lang="en-US" sz="1100" b="0" i="0" u="none" strike="noStrike">
              <a:solidFill>
                <a:srgbClr val="ECF0F1">
                  <a:alpha val="70196"/>
                </a:srgbClr>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255000" y="3810000"/>
            <a:ext cx="5080000" cy="5080000"/>
          </a:xfrm>
          <a:prstGeom prst="ellipse">
            <a:avLst/>
          </a:prstGeom>
          <a:solidFill>
            <a:srgbClr val="FFFFFF">
              <a:alpha val="3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04. REGULATORY &amp; COMPLIANCE</a:t>
            </a:r>
            <a:endParaRPr lang="en-US" sz="1100"/>
          </a:p>
        </p:txBody>
      </p:sp>
      <p:sp>
        <p:nvSpPr>
          <p:cNvPr id="4" name="AutoShape 4"/>
          <p:cNvSpPr/>
          <p:nvPr/>
        </p:nvSpPr>
        <p:spPr>
          <a:xfrm>
            <a:off x="1016000" y="1587500"/>
            <a:ext cx="10160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FFFFF">
                    <a:alpha val="80000"/>
                  </a:srgbClr>
                </a:solidFill>
                <a:latin typeface="Poppins"/>
                <a:ea typeface="Poppins"/>
                <a:cs typeface="Poppins"/>
                <a:sym typeface="Poppins"/>
              </a:rPr>
              <a:t>Navigating the Global Regulatory Maze — Our team of experts specializes in navigating the complex and stringent regulatory requirements of global health authorities, ensuring compliance and accelerating market access for life-saving medical innovations.</a:t>
            </a:r>
            <a:endParaRPr lang="en-US" sz="1100"/>
          </a:p>
        </p:txBody>
      </p:sp>
      <p:cxnSp>
        <p:nvCxnSpPr>
          <p:cNvPr id="6" name="Connector 6"/>
          <p:cNvCxnSpPr/>
          <p:nvPr/>
        </p:nvCxnSpPr>
        <p:spPr>
          <a:xfrm rot="-4297">
            <a:off x="1016004" y="3295650"/>
            <a:ext cx="10160008" cy="12700"/>
          </a:xfrm>
          <a:prstGeom prst="straightConnector1">
            <a:avLst/>
          </a:prstGeom>
          <a:solidFill>
            <a:srgbClr val="DEE0E3">
              <a:alpha val="100000"/>
            </a:srgbClr>
          </a:solidFill>
          <a:ln w="12700" cap="flat" cmpd="sng">
            <a:solidFill>
              <a:srgbClr val="E5E4E2">
                <a:alpha val="30000"/>
              </a:srgbClr>
            </a:solidFill>
            <a:prstDash val="solid"/>
            <a:round/>
            <a:headEnd type="none" w="med" len="med"/>
            <a:tailEnd type="none" w="med" len="med"/>
          </a:ln>
        </p:spPr>
      </p:cxnSp>
      <p:sp>
        <p:nvSpPr>
          <p:cNvPr id="7" name="AutoShape 7"/>
          <p:cNvSpPr/>
          <p:nvPr/>
        </p:nvSpPr>
        <p:spPr>
          <a:xfrm>
            <a:off x="1016000" y="3810000"/>
            <a:ext cx="2413000" cy="12065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1016000" y="3810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06500" y="3937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4E2"/>
                </a:solidFill>
                <a:latin typeface="Poppins"/>
                <a:ea typeface="Poppins"/>
                <a:cs typeface="Poppins"/>
                <a:sym typeface="Poppins"/>
              </a:rPr>
              <a:t>FDA (U.S.)</a:t>
            </a:r>
            <a:endParaRPr lang="en-US" sz="1100"/>
          </a:p>
          <a:p>
            <a:pPr marL="0" indent="0" algn="l">
              <a:lnSpc>
                <a:spcPct val="100000"/>
              </a:lnSpc>
            </a:pPr>
            <a:r>
              <a:rPr lang="en-US" sz="1200" b="0" i="0" u="none" strike="noStrike">
                <a:solidFill>
                  <a:srgbClr val="FFFFFF">
                    <a:alpha val="70196"/>
                  </a:srgbClr>
                </a:solidFill>
                <a:latin typeface="Poppins"/>
                <a:ea typeface="Poppins"/>
                <a:cs typeface="Poppins"/>
                <a:sym typeface="Poppins"/>
              </a:rPr>
              <a:t>Food and Drug Administration — Leading authority for medical product safety and efficacy in the United States.</a:t>
            </a:r>
            <a:endParaRPr lang="en-US" sz="1200" b="0" i="0" u="none" strike="noStrike">
              <a:solidFill>
                <a:srgbClr val="FFFFFF">
                  <a:alpha val="70196"/>
                </a:srgbClr>
              </a:solidFill>
              <a:latin typeface="Poppins"/>
              <a:ea typeface="Poppins"/>
              <a:cs typeface="Poppins"/>
              <a:sym typeface="Poppins"/>
            </a:endParaRPr>
          </a:p>
        </p:txBody>
      </p:sp>
      <p:sp>
        <p:nvSpPr>
          <p:cNvPr id="10" name="AutoShape 10"/>
          <p:cNvSpPr/>
          <p:nvPr/>
        </p:nvSpPr>
        <p:spPr>
          <a:xfrm>
            <a:off x="3683000" y="3810000"/>
            <a:ext cx="2413000" cy="12065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3683000" y="3810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873500" y="3937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4E2"/>
                </a:solidFill>
                <a:latin typeface="Poppins"/>
                <a:ea typeface="Poppins"/>
                <a:cs typeface="Poppins"/>
                <a:sym typeface="Poppins"/>
              </a:rPr>
              <a:t>EMA (EU)</a:t>
            </a:r>
            <a:endParaRPr lang="en-US" sz="1100"/>
          </a:p>
          <a:p>
            <a:pPr marL="0" indent="0" algn="l">
              <a:lnSpc>
                <a:spcPct val="100000"/>
              </a:lnSpc>
            </a:pPr>
            <a:r>
              <a:rPr lang="en-US" sz="1200" b="0" i="0" u="none" strike="noStrike">
                <a:solidFill>
                  <a:srgbClr val="FFFFFF">
                    <a:alpha val="70196"/>
                  </a:srgbClr>
                </a:solidFill>
                <a:latin typeface="Poppins"/>
                <a:ea typeface="Poppins"/>
                <a:cs typeface="Poppins"/>
                <a:sym typeface="Poppins"/>
              </a:rPr>
              <a:t>European Medicines Agency — Centralized regulatory body overseeing pharmaceutical products across the European Union.</a:t>
            </a:r>
            <a:endParaRPr lang="en-US" sz="1200" b="0" i="0" u="none" strike="noStrike">
              <a:solidFill>
                <a:srgbClr val="FFFFFF">
                  <a:alpha val="70196"/>
                </a:srgbClr>
              </a:solidFill>
              <a:latin typeface="Poppins"/>
              <a:ea typeface="Poppins"/>
              <a:cs typeface="Poppins"/>
              <a:sym typeface="Poppins"/>
            </a:endParaRPr>
          </a:p>
        </p:txBody>
      </p:sp>
      <p:sp>
        <p:nvSpPr>
          <p:cNvPr id="13" name="AutoShape 13"/>
          <p:cNvSpPr/>
          <p:nvPr/>
        </p:nvSpPr>
        <p:spPr>
          <a:xfrm>
            <a:off x="1016000" y="5207000"/>
            <a:ext cx="2413000" cy="12065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14" name="AutoShape 14"/>
          <p:cNvSpPr/>
          <p:nvPr/>
        </p:nvSpPr>
        <p:spPr>
          <a:xfrm>
            <a:off x="1016000" y="5207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1206500" y="5334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4E2"/>
                </a:solidFill>
                <a:latin typeface="Poppins"/>
                <a:ea typeface="Poppins"/>
                <a:cs typeface="Poppins"/>
                <a:sym typeface="Poppins"/>
              </a:rPr>
              <a:t>PMDA (Japan)</a:t>
            </a:r>
            <a:endParaRPr lang="en-US" sz="1100"/>
          </a:p>
          <a:p>
            <a:pPr marL="0" indent="0" algn="l">
              <a:lnSpc>
                <a:spcPct val="100000"/>
              </a:lnSpc>
            </a:pPr>
            <a:r>
              <a:rPr lang="en-US" sz="1200" b="0" i="0" u="none" strike="noStrike">
                <a:solidFill>
                  <a:srgbClr val="FFFFFF">
                    <a:alpha val="70196"/>
                  </a:srgbClr>
                </a:solidFill>
                <a:latin typeface="Poppins"/>
                <a:ea typeface="Poppins"/>
                <a:cs typeface="Poppins"/>
                <a:sym typeface="Poppins"/>
              </a:rPr>
              <a:t>Pharmaceuticals and Medical Devices Agency — Regulator for ensuring the safety of drugs and medical devices in Japan.</a:t>
            </a:r>
            <a:endParaRPr lang="en-US" sz="1200" b="0" i="0" u="none" strike="noStrike">
              <a:solidFill>
                <a:srgbClr val="FFFFFF">
                  <a:alpha val="70196"/>
                </a:srgbClr>
              </a:solidFill>
              <a:latin typeface="Poppins"/>
              <a:ea typeface="Poppins"/>
              <a:cs typeface="Poppins"/>
              <a:sym typeface="Poppins"/>
            </a:endParaRPr>
          </a:p>
        </p:txBody>
      </p:sp>
      <p:sp>
        <p:nvSpPr>
          <p:cNvPr id="16" name="AutoShape 16"/>
          <p:cNvSpPr/>
          <p:nvPr/>
        </p:nvSpPr>
        <p:spPr>
          <a:xfrm>
            <a:off x="3683000" y="5207000"/>
            <a:ext cx="2413000" cy="12065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3683000" y="5207000"/>
            <a:ext cx="50800" cy="12065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3873500" y="5334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4E2"/>
                </a:solidFill>
                <a:latin typeface="Poppins"/>
                <a:ea typeface="Poppins"/>
                <a:cs typeface="Poppins"/>
                <a:sym typeface="Poppins"/>
              </a:rPr>
              <a:t>NMPA (China)</a:t>
            </a:r>
            <a:endParaRPr lang="en-US" sz="1100"/>
          </a:p>
          <a:p>
            <a:pPr marL="0" indent="0" algn="l">
              <a:lnSpc>
                <a:spcPct val="100000"/>
              </a:lnSpc>
            </a:pPr>
            <a:r>
              <a:rPr lang="en-US" sz="1200" b="0" i="0" u="none" strike="noStrike">
                <a:solidFill>
                  <a:srgbClr val="FFFFFF">
                    <a:alpha val="70196"/>
                  </a:srgbClr>
                </a:solidFill>
                <a:latin typeface="Poppins"/>
                <a:ea typeface="Poppins"/>
                <a:cs typeface="Poppins"/>
                <a:sym typeface="Poppins"/>
              </a:rPr>
              <a:t>National Medical Products Administration — Governing body for the supervision and administration of medical products in China.</a:t>
            </a:r>
            <a:endParaRPr lang="en-US" sz="1200" b="0" i="0" u="none" strike="noStrike">
              <a:solidFill>
                <a:srgbClr val="FFFFFF">
                  <a:alpha val="70196"/>
                </a:srgbClr>
              </a:solidFill>
              <a:latin typeface="Poppins"/>
              <a:ea typeface="Poppins"/>
              <a:cs typeface="Poppins"/>
              <a:sym typeface="Poppins"/>
            </a:endParaRPr>
          </a:p>
        </p:txBody>
      </p:sp>
      <p:cxnSp>
        <p:nvCxnSpPr>
          <p:cNvPr id="19" name="Connector 19"/>
          <p:cNvCxnSpPr/>
          <p:nvPr/>
        </p:nvCxnSpPr>
        <p:spPr>
          <a:xfrm rot="5383230">
            <a:off x="5048235" y="5105431"/>
            <a:ext cx="2603531" cy="12700"/>
          </a:xfrm>
          <a:prstGeom prst="straightConnector1">
            <a:avLst/>
          </a:prstGeom>
          <a:solidFill>
            <a:srgbClr val="DEE0E3">
              <a:alpha val="100000"/>
            </a:srgbClr>
          </a:solidFill>
          <a:ln w="12700" cap="flat" cmpd="sng">
            <a:solidFill>
              <a:srgbClr val="E5E4E2">
                <a:alpha val="30000"/>
              </a:srgbClr>
            </a:solidFill>
            <a:prstDash val="dash"/>
            <a:round/>
            <a:headEnd type="none" w="med" len="med"/>
            <a:tailEnd type="none" w="med" len="med"/>
          </a:ln>
        </p:spPr>
      </p:cxnSp>
      <p:pic>
        <p:nvPicPr>
          <p:cNvPr id="20" name="Picture 2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04000" y="3810000"/>
            <a:ext cx="355600" cy="355600"/>
          </a:xfrm>
          <a:prstGeom prst="rect">
            <a:avLst/>
          </a:prstGeom>
        </p:spPr>
      </p:pic>
      <p:sp>
        <p:nvSpPr>
          <p:cNvPr id="21" name="AutoShape 21"/>
          <p:cNvSpPr/>
          <p:nvPr/>
        </p:nvSpPr>
        <p:spPr>
          <a:xfrm>
            <a:off x="7112000" y="3810000"/>
            <a:ext cx="406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5E4E2"/>
                </a:solidFill>
                <a:latin typeface="Poppins"/>
                <a:ea typeface="Poppins"/>
                <a:cs typeface="Poppins"/>
                <a:sym typeface="Poppins"/>
              </a:rPr>
              <a:t>Strategic Regulatory Planning</a:t>
            </a:r>
            <a:endParaRPr lang="en-US" sz="1100"/>
          </a:p>
          <a:p>
            <a:pPr marL="0" indent="0" algn="l">
              <a:lnSpc>
                <a:spcPct val="108000"/>
              </a:lnSpc>
            </a:pPr>
            <a:r>
              <a:rPr lang="en-US" sz="1300" b="0" i="0" u="none" strike="noStrike">
                <a:solidFill>
                  <a:srgbClr val="FFFFFF">
                    <a:alpha val="74902"/>
                  </a:srgbClr>
                </a:solidFill>
                <a:latin typeface="Poppins"/>
                <a:ea typeface="Poppins"/>
                <a:cs typeface="Poppins"/>
                <a:sym typeface="Poppins"/>
              </a:rPr>
              <a:t>Aligning product development roadmaps with regional regulatory expectations to de-risk timelines and optimize approval pathways from concept to launch.</a:t>
            </a:r>
            <a:endParaRPr lang="en-US" sz="1300" b="0" i="0" u="none" strike="noStrike">
              <a:solidFill>
                <a:srgbClr val="FFFFFF">
                  <a:alpha val="74902"/>
                </a:srgbClr>
              </a:solidFill>
              <a:latin typeface="Poppins"/>
              <a:ea typeface="Poppins"/>
              <a:cs typeface="Poppins"/>
              <a:sym typeface="Poppins"/>
            </a:endParaRPr>
          </a:p>
        </p:txBody>
      </p:sp>
      <p:cxnSp>
        <p:nvCxnSpPr>
          <p:cNvPr id="22" name="Connector 22"/>
          <p:cNvCxnSpPr/>
          <p:nvPr/>
        </p:nvCxnSpPr>
        <p:spPr>
          <a:xfrm rot="-9549">
            <a:off x="6604009" y="4946650"/>
            <a:ext cx="4572018" cy="12700"/>
          </a:xfrm>
          <a:prstGeom prst="straightConnector1">
            <a:avLst/>
          </a:prstGeom>
          <a:solidFill>
            <a:srgbClr val="DEE0E3">
              <a:alpha val="100000"/>
            </a:srgbClr>
          </a:solidFill>
          <a:ln w="12700" cap="flat" cmpd="sng">
            <a:solidFill>
              <a:srgbClr val="E5E4E2">
                <a:alpha val="25000"/>
              </a:srgbClr>
            </a:solidFill>
            <a:prstDash val="solid"/>
            <a:round/>
            <a:headEnd type="none" w="med" len="med"/>
            <a:tailEnd type="none" w="med" len="med"/>
          </a:ln>
        </p:spPr>
      </p:cxnSp>
      <p:sp>
        <p:nvSpPr>
          <p:cNvPr id="23" name="AutoShape 23"/>
          <p:cNvSpPr/>
          <p:nvPr/>
        </p:nvSpPr>
        <p:spPr>
          <a:xfrm>
            <a:off x="6604000" y="5207000"/>
            <a:ext cx="2222500" cy="1206500"/>
          </a:xfrm>
          <a:prstGeom prst="roundRect">
            <a:avLst>
              <a:gd name="adj" fmla="val 0"/>
            </a:avLst>
          </a:prstGeom>
          <a:solidFill>
            <a:srgbClr val="FFFFFF">
              <a:alpha val="6000"/>
            </a:srgbClr>
          </a:solidFill>
          <a:ln w="25400" cap="flat" cmpd="sng">
            <a:noFill/>
            <a:prstDash val="solid"/>
            <a:round/>
          </a:ln>
        </p:spPr>
        <p:txBody>
          <a:bodyPr vert="horz" wrap="square" lIns="0" tIns="0" rIns="0" bIns="0" rtlCol="0" anchor="ctr" anchorCtr="0"/>
          <a:lstStyle/>
          <a:p>
            <a:pPr algn="ctr">
              <a:defRPr/>
            </a:pPr>
          </a:p>
        </p:txBody>
      </p:sp>
      <p:pic>
        <p:nvPicPr>
          <p:cNvPr id="24" name="Picture 2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5334000"/>
            <a:ext cx="304800" cy="304800"/>
          </a:xfrm>
          <a:prstGeom prst="rect">
            <a:avLst/>
          </a:prstGeom>
        </p:spPr>
      </p:pic>
      <p:sp>
        <p:nvSpPr>
          <p:cNvPr id="25" name="AutoShape 25"/>
          <p:cNvSpPr/>
          <p:nvPr/>
        </p:nvSpPr>
        <p:spPr>
          <a:xfrm>
            <a:off x="7112000" y="53086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5E4E2"/>
                </a:solidFill>
                <a:latin typeface="Poppins"/>
                <a:ea typeface="Poppins"/>
                <a:cs typeface="Poppins"/>
                <a:sym typeface="Poppins"/>
              </a:rPr>
              <a:t>Submission Prep &amp; Review</a:t>
            </a:r>
            <a:endParaRPr lang="en-US" sz="1100"/>
          </a:p>
          <a:p>
            <a:pPr marL="0" indent="0" algn="l">
              <a:lnSpc>
                <a:spcPct val="100000"/>
              </a:lnSpc>
            </a:pPr>
            <a:r>
              <a:rPr lang="en-US" sz="1100" b="0" i="0" u="none" strike="noStrike">
                <a:solidFill>
                  <a:srgbClr val="FFFFFF">
                    <a:alpha val="70196"/>
                  </a:srgbClr>
                </a:solidFill>
                <a:latin typeface="Poppins"/>
                <a:ea typeface="Poppins"/>
                <a:cs typeface="Poppins"/>
                <a:sym typeface="Poppins"/>
              </a:rPr>
              <a:t>Meticulous preparation and review of marketing authorization dossiers for global submissions.</a:t>
            </a:r>
            <a:endParaRPr lang="en-US" sz="1100" b="0" i="0" u="none" strike="noStrike">
              <a:solidFill>
                <a:srgbClr val="FFFFFF">
                  <a:alpha val="70196"/>
                </a:srgbClr>
              </a:solidFill>
              <a:latin typeface="Poppins"/>
              <a:ea typeface="Poppins"/>
              <a:cs typeface="Poppins"/>
              <a:sym typeface="Poppins"/>
            </a:endParaRPr>
          </a:p>
        </p:txBody>
      </p:sp>
      <p:sp>
        <p:nvSpPr>
          <p:cNvPr id="26" name="AutoShape 26"/>
          <p:cNvSpPr/>
          <p:nvPr/>
        </p:nvSpPr>
        <p:spPr>
          <a:xfrm>
            <a:off x="8953500" y="5207000"/>
            <a:ext cx="2222500" cy="1206500"/>
          </a:xfrm>
          <a:prstGeom prst="roundRect">
            <a:avLst>
              <a:gd name="adj" fmla="val 0"/>
            </a:avLst>
          </a:prstGeom>
          <a:solidFill>
            <a:srgbClr val="FFFFFF">
              <a:alpha val="6000"/>
            </a:srgbClr>
          </a:solidFill>
          <a:ln w="25400" cap="flat" cmpd="sng">
            <a:noFill/>
            <a:prstDash val="solid"/>
            <a:round/>
          </a:ln>
        </p:spPr>
        <p:txBody>
          <a:bodyPr vert="horz" wrap="square" lIns="0" tIns="0" rIns="0" bIns="0" rtlCol="0" anchor="ctr" anchorCtr="0"/>
          <a:lstStyle/>
          <a:p>
            <a:pPr algn="ctr">
              <a:defRPr/>
            </a:pPr>
          </a:p>
        </p:txBody>
      </p:sp>
      <p:pic>
        <p:nvPicPr>
          <p:cNvPr id="27" name="Picture 2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80500" y="5334000"/>
            <a:ext cx="304800" cy="304800"/>
          </a:xfrm>
          <a:prstGeom prst="rect">
            <a:avLst/>
          </a:prstGeom>
        </p:spPr>
      </p:pic>
      <p:sp>
        <p:nvSpPr>
          <p:cNvPr id="28" name="AutoShape 28"/>
          <p:cNvSpPr/>
          <p:nvPr/>
        </p:nvSpPr>
        <p:spPr>
          <a:xfrm>
            <a:off x="9461500" y="5308600"/>
            <a:ext cx="165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5E4E2"/>
                </a:solidFill>
                <a:latin typeface="Poppins"/>
                <a:ea typeface="Poppins"/>
                <a:cs typeface="Poppins"/>
                <a:sym typeface="Poppins"/>
              </a:rPr>
              <a:t>Post-Market Compliance</a:t>
            </a:r>
            <a:endParaRPr lang="en-US" sz="1100"/>
          </a:p>
          <a:p>
            <a:pPr marL="0" indent="0" algn="l">
              <a:lnSpc>
                <a:spcPct val="100000"/>
              </a:lnSpc>
            </a:pPr>
            <a:r>
              <a:rPr lang="en-US" sz="1100" b="0" i="0" u="none" strike="noStrike">
                <a:solidFill>
                  <a:srgbClr val="FFFFFF">
                    <a:alpha val="70196"/>
                  </a:srgbClr>
                </a:solidFill>
                <a:latin typeface="Poppins"/>
                <a:ea typeface="Poppins"/>
                <a:cs typeface="Poppins"/>
                <a:sym typeface="Poppins"/>
              </a:rPr>
              <a:t>Ongoing adherence to regulations, adverse event reporting, and lifecycle management support.</a:t>
            </a:r>
            <a:endParaRPr lang="en-US" sz="1100" b="0" i="0" u="none" strike="noStrike">
              <a:solidFill>
                <a:srgbClr val="FFFFFF">
                  <a:alpha val="70196"/>
                </a:srgbClr>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Poppins"/>
                <a:ea typeface="Poppins"/>
                <a:cs typeface="Poppins"/>
                <a:sym typeface="Poppins"/>
              </a:rPr>
              <a:t>05. BUSINESS &amp; PARTNERSHIP</a:t>
            </a:r>
            <a:endParaRPr lang="en-US" sz="1100"/>
          </a:p>
        </p:txBody>
      </p:sp>
      <p:sp>
        <p:nvSpPr>
          <p:cNvPr id="3" name="AutoShape 3"/>
          <p:cNvSpPr/>
          <p:nvPr/>
        </p:nvSpPr>
        <p:spPr>
          <a:xfrm>
            <a:off x="1016000" y="1651000"/>
            <a:ext cx="10160000" cy="12700"/>
          </a:xfrm>
          <a:prstGeom prst="roundRect">
            <a:avLst>
              <a:gd name="adj" fmla="val 0"/>
            </a:avLst>
          </a:prstGeom>
          <a:solidFill>
            <a:srgbClr val="E5E4E2">
              <a:alpha val="4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1016000" y="19685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E5E4E2"/>
                </a:solidFill>
                <a:latin typeface="Poppins"/>
                <a:ea typeface="Poppins"/>
                <a:cs typeface="Poppins"/>
                <a:sym typeface="Poppins"/>
              </a:rPr>
              <a:t>Driving Commercial Success</a:t>
            </a:r>
            <a:br>
              <a:rPr lang="en-US" sz="1600" b="0" i="0" u="none" strike="noStrike">
                <a:solidFill>
                  <a:srgbClr val="1F2329"/>
                </a:solidFill>
                <a:latin typeface="Poppins"/>
                <a:ea typeface="Poppins"/>
                <a:cs typeface="Poppins"/>
                <a:sym typeface="Poppins"/>
              </a:rPr>
            </a:br>
            <a:r>
              <a:rPr lang="en-US" sz="1400" b="0" i="0" u="none" strike="noStrike">
                <a:solidFill>
                  <a:srgbClr val="FFFFFF">
                    <a:alpha val="70196"/>
                  </a:srgbClr>
                </a:solidFill>
                <a:latin typeface="Poppins"/>
                <a:ea typeface="Poppins"/>
                <a:cs typeface="Poppins"/>
                <a:sym typeface="Poppins"/>
              </a:rPr>
              <a:t>Beyond development and approval, we partner with you to ensure commercial success in the marketplace, delivering tailored support across every critical stakeholder group.</a:t>
            </a:r>
            <a:endParaRPr lang="en-US" sz="1100"/>
          </a:p>
        </p:txBody>
      </p:sp>
      <p:cxnSp>
        <p:nvCxnSpPr>
          <p:cNvPr id="5" name="Connector 5"/>
          <p:cNvCxnSpPr/>
          <p:nvPr/>
        </p:nvCxnSpPr>
        <p:spPr>
          <a:xfrm rot="-4297">
            <a:off x="1016004" y="3295650"/>
            <a:ext cx="10160008" cy="12700"/>
          </a:xfrm>
          <a:prstGeom prst="straightConnector1">
            <a:avLst/>
          </a:prstGeom>
          <a:solidFill>
            <a:srgbClr val="DEE0E3">
              <a:alpha val="100000"/>
            </a:srgbClr>
          </a:solidFill>
          <a:ln w="12700" cap="flat" cmpd="sng">
            <a:solidFill>
              <a:srgbClr val="E5E4E2">
                <a:alpha val="20000"/>
              </a:srgbClr>
            </a:solidFill>
            <a:prstDash val="solid"/>
            <a:round/>
            <a:headEnd type="none" w="med" len="med"/>
            <a:tailEnd type="none" w="med" len="med"/>
          </a:ln>
        </p:spPr>
      </p:cxnSp>
      <p:sp>
        <p:nvSpPr>
          <p:cNvPr id="6" name="AutoShape 6"/>
          <p:cNvSpPr/>
          <p:nvPr/>
        </p:nvSpPr>
        <p:spPr>
          <a:xfrm>
            <a:off x="1016000" y="3683000"/>
            <a:ext cx="3213100" cy="24130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1016000" y="3683000"/>
            <a:ext cx="32131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3937000"/>
            <a:ext cx="304800" cy="304800"/>
          </a:xfrm>
          <a:prstGeom prst="rect">
            <a:avLst/>
          </a:prstGeom>
        </p:spPr>
      </p:pic>
      <p:sp>
        <p:nvSpPr>
          <p:cNvPr id="9" name="AutoShape 9"/>
          <p:cNvSpPr/>
          <p:nvPr/>
        </p:nvSpPr>
        <p:spPr>
          <a:xfrm>
            <a:off x="1651000" y="38989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For Doctors &amp; Specialists</a:t>
            </a:r>
            <a:endParaRPr lang="en-US" sz="1100"/>
          </a:p>
        </p:txBody>
      </p:sp>
      <p:cxnSp>
        <p:nvCxnSpPr>
          <p:cNvPr id="10" name="Connector 10"/>
          <p:cNvCxnSpPr/>
          <p:nvPr/>
        </p:nvCxnSpPr>
        <p:spPr>
          <a:xfrm rot="-15415">
            <a:off x="1206514" y="4502150"/>
            <a:ext cx="2832128" cy="12700"/>
          </a:xfrm>
          <a:prstGeom prst="straightConnector1">
            <a:avLst/>
          </a:prstGeom>
          <a:solidFill>
            <a:srgbClr val="DEE0E3">
              <a:alpha val="100000"/>
            </a:srgbClr>
          </a:solidFill>
          <a:ln w="12700" cap="flat" cmpd="sng">
            <a:solidFill>
              <a:srgbClr val="E5E4E2">
                <a:alpha val="30000"/>
              </a:srgbClr>
            </a:solidFill>
            <a:prstDash val="dash"/>
            <a:round/>
            <a:headEnd type="none" w="med" len="med"/>
            <a:tailEnd type="none" w="med" len="med"/>
          </a:ln>
        </p:spPr>
      </p:cxnSp>
      <p:sp>
        <p:nvSpPr>
          <p:cNvPr id="11" name="AutoShape 11"/>
          <p:cNvSpPr/>
          <p:nvPr/>
        </p:nvSpPr>
        <p:spPr>
          <a:xfrm>
            <a:off x="1206500" y="4699000"/>
            <a:ext cx="28321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E5E4E2"/>
                </a:solidFill>
                <a:latin typeface="Poppins"/>
                <a:ea typeface="Poppins"/>
                <a:cs typeface="Poppins"/>
                <a:sym typeface="Poppins"/>
              </a:rPr>
              <a:t>Clinical Education &amp; KOL Engagement</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Delivering comprehensive scientific training materials and curating speaker programs with Key Opinion Leaders to share robust clinical evidence and build trust.</a:t>
            </a:r>
            <a:endParaRPr lang="en-US" sz="1100"/>
          </a:p>
        </p:txBody>
      </p:sp>
      <p:sp>
        <p:nvSpPr>
          <p:cNvPr id="12" name="AutoShape 12"/>
          <p:cNvSpPr/>
          <p:nvPr/>
        </p:nvSpPr>
        <p:spPr>
          <a:xfrm>
            <a:off x="4483100" y="3683000"/>
            <a:ext cx="3225800" cy="24130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nvSpPr>
        <p:spPr>
          <a:xfrm>
            <a:off x="4483100" y="3683000"/>
            <a:ext cx="32258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73600" y="3937000"/>
            <a:ext cx="304800" cy="304800"/>
          </a:xfrm>
          <a:prstGeom prst="rect">
            <a:avLst/>
          </a:prstGeom>
        </p:spPr>
      </p:pic>
      <p:sp>
        <p:nvSpPr>
          <p:cNvPr id="15" name="AutoShape 15"/>
          <p:cNvSpPr/>
          <p:nvPr/>
        </p:nvSpPr>
        <p:spPr>
          <a:xfrm>
            <a:off x="5118100" y="38989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For Distributors &amp; Payers</a:t>
            </a:r>
            <a:endParaRPr lang="en-US" sz="1100"/>
          </a:p>
        </p:txBody>
      </p:sp>
      <p:cxnSp>
        <p:nvCxnSpPr>
          <p:cNvPr id="16" name="Connector 16"/>
          <p:cNvCxnSpPr/>
          <p:nvPr/>
        </p:nvCxnSpPr>
        <p:spPr>
          <a:xfrm rot="-15346">
            <a:off x="4673614" y="4502150"/>
            <a:ext cx="2844828" cy="12700"/>
          </a:xfrm>
          <a:prstGeom prst="straightConnector1">
            <a:avLst/>
          </a:prstGeom>
          <a:solidFill>
            <a:srgbClr val="DEE0E3">
              <a:alpha val="100000"/>
            </a:srgbClr>
          </a:solidFill>
          <a:ln w="12700" cap="flat" cmpd="sng">
            <a:solidFill>
              <a:srgbClr val="E5E4E2">
                <a:alpha val="30000"/>
              </a:srgbClr>
            </a:solidFill>
            <a:prstDash val="dash"/>
            <a:round/>
            <a:headEnd type="none" w="med" len="med"/>
            <a:tailEnd type="none" w="med" len="med"/>
          </a:ln>
        </p:spPr>
      </p:cxnSp>
      <p:sp>
        <p:nvSpPr>
          <p:cNvPr id="17" name="AutoShape 17"/>
          <p:cNvSpPr/>
          <p:nvPr/>
        </p:nvSpPr>
        <p:spPr>
          <a:xfrm>
            <a:off x="4673600" y="4699000"/>
            <a:ext cx="28448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E5E4E2"/>
                </a:solidFill>
                <a:latin typeface="Poppins"/>
                <a:ea typeface="Poppins"/>
                <a:cs typeface="Poppins"/>
                <a:sym typeface="Poppins"/>
              </a:rPr>
              <a:t>Market Access &amp; Go-to-Market Support</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Crafting strategic pricing and reimbursement pathways, paired with tailored tools and salesforce training to maximize market penetration and adoption.</a:t>
            </a:r>
            <a:endParaRPr lang="en-US" sz="1100"/>
          </a:p>
        </p:txBody>
      </p:sp>
      <p:sp>
        <p:nvSpPr>
          <p:cNvPr id="18" name="AutoShape 18"/>
          <p:cNvSpPr/>
          <p:nvPr/>
        </p:nvSpPr>
        <p:spPr>
          <a:xfrm>
            <a:off x="7962900" y="3683000"/>
            <a:ext cx="3213100" cy="2413000"/>
          </a:xfrm>
          <a:prstGeom prst="roundRect">
            <a:avLst>
              <a:gd name="adj" fmla="val 0"/>
            </a:avLst>
          </a:prstGeom>
          <a:solidFill>
            <a:srgbClr val="FFFFFF">
              <a:alpha val="8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7962900" y="3683000"/>
            <a:ext cx="3213100" cy="381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53400" y="3937000"/>
            <a:ext cx="304800" cy="304800"/>
          </a:xfrm>
          <a:prstGeom prst="rect">
            <a:avLst/>
          </a:prstGeom>
        </p:spPr>
      </p:pic>
      <p:sp>
        <p:nvSpPr>
          <p:cNvPr id="21" name="AutoShape 21"/>
          <p:cNvSpPr/>
          <p:nvPr/>
        </p:nvSpPr>
        <p:spPr>
          <a:xfrm>
            <a:off x="8597900" y="38989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For Investors</a:t>
            </a:r>
            <a:endParaRPr lang="en-US" sz="1100"/>
          </a:p>
        </p:txBody>
      </p:sp>
      <p:cxnSp>
        <p:nvCxnSpPr>
          <p:cNvPr id="22" name="Connector 22"/>
          <p:cNvCxnSpPr/>
          <p:nvPr/>
        </p:nvCxnSpPr>
        <p:spPr>
          <a:xfrm rot="-15415">
            <a:off x="8153414" y="4502150"/>
            <a:ext cx="2832128" cy="12700"/>
          </a:xfrm>
          <a:prstGeom prst="straightConnector1">
            <a:avLst/>
          </a:prstGeom>
          <a:solidFill>
            <a:srgbClr val="DEE0E3">
              <a:alpha val="100000"/>
            </a:srgbClr>
          </a:solidFill>
          <a:ln w="12700" cap="flat" cmpd="sng">
            <a:solidFill>
              <a:srgbClr val="E5E4E2">
                <a:alpha val="30000"/>
              </a:srgbClr>
            </a:solidFill>
            <a:prstDash val="dash"/>
            <a:round/>
            <a:headEnd type="none" w="med" len="med"/>
            <a:tailEnd type="none" w="med" len="med"/>
          </a:ln>
        </p:spPr>
      </p:cxnSp>
      <p:sp>
        <p:nvSpPr>
          <p:cNvPr id="23" name="AutoShape 23"/>
          <p:cNvSpPr/>
          <p:nvPr/>
        </p:nvSpPr>
        <p:spPr>
          <a:xfrm>
            <a:off x="8153400" y="4699000"/>
            <a:ext cx="28321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E5E4E2"/>
                </a:solidFill>
                <a:latin typeface="Poppins"/>
                <a:ea typeface="Poppins"/>
                <a:cs typeface="Poppins"/>
                <a:sym typeface="Poppins"/>
              </a:rPr>
              <a:t>Strategic Due Diligence &amp; Portfolio Growth</a:t>
            </a:r>
            <a:br>
              <a:rPr lang="en-US" sz="1600" b="0" i="0" u="none" strike="noStrike">
                <a:solidFill>
                  <a:srgbClr val="1F2329"/>
                </a:solidFill>
                <a:latin typeface="Poppins"/>
                <a:ea typeface="Poppins"/>
                <a:cs typeface="Poppins"/>
                <a:sym typeface="Poppins"/>
              </a:rPr>
            </a:br>
            <a:r>
              <a:rPr lang="en-US" sz="1200" b="0" i="0" u="none" strike="noStrike">
                <a:solidFill>
                  <a:srgbClr val="FFFFFF">
                    <a:alpha val="60000"/>
                  </a:srgbClr>
                </a:solidFill>
                <a:latin typeface="Poppins"/>
                <a:ea typeface="Poppins"/>
                <a:cs typeface="Poppins"/>
                <a:sym typeface="Poppins"/>
              </a:rPr>
              <a:t>Providing expert analysis to inform investment decisions and advising on pipeline development, optimization, and long-term value creation strategies.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556000" y="-1270000"/>
            <a:ext cx="5080000" cy="5080000"/>
          </a:xfrm>
          <a:prstGeom prst="ellipse">
            <a:avLst/>
          </a:prstGeom>
          <a:solidFill>
            <a:srgbClr val="E5E4E2">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366000" y="3810000"/>
            <a:ext cx="4445000" cy="4445000"/>
          </a:xfrm>
          <a:prstGeom prst="ellipse">
            <a:avLst/>
          </a:prstGeom>
          <a:solidFill>
            <a:srgbClr val="E5E4E2">
              <a:alpha val="5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0" y="2794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Playfair Display"/>
                <a:ea typeface="Playfair Display"/>
                <a:cs typeface="Playfair Display"/>
                <a:sym typeface="Playfair Display"/>
              </a:rPr>
              <a:t>Thank You</a:t>
            </a:r>
            <a:endParaRPr lang="en-US" sz="1100"/>
          </a:p>
        </p:txBody>
      </p:sp>
      <p:sp>
        <p:nvSpPr>
          <p:cNvPr id="5" name="AutoShape 5"/>
          <p:cNvSpPr/>
          <p:nvPr/>
        </p:nvSpPr>
        <p:spPr>
          <a:xfrm>
            <a:off x="5588000" y="4572000"/>
            <a:ext cx="1016000" cy="25400"/>
          </a:xfrm>
          <a:prstGeom prst="roundRect">
            <a:avLst>
              <a:gd name="adj" fmla="val 0"/>
            </a:avLst>
          </a:prstGeom>
          <a:solidFill>
            <a:srgbClr val="E5E4E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715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AAAAAA"/>
                </a:solidFill>
                <a:latin typeface="Lato"/>
                <a:ea typeface="Lato"/>
                <a:cs typeface="Lato"/>
                <a:sym typeface="Lato"/>
              </a:rPr>
              <a:t>www.yourcompany.com | contact@yourcompany.com | +1 (000) 000-0000</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6520</Words>
  <Application>WPS 演示</Application>
  <PresentationFormat/>
  <Paragraphs>155</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8</vt:i4>
      </vt:variant>
    </vt:vector>
  </HeadingPairs>
  <TitlesOfParts>
    <vt:vector size="23" baseType="lpstr">
      <vt:lpstr>Arial</vt:lpstr>
      <vt:lpstr>宋体</vt:lpstr>
      <vt:lpstr>Wingdings</vt:lpstr>
      <vt:lpstr>Arial</vt:lpstr>
      <vt:lpstr>Playfair Display</vt:lpstr>
      <vt:lpstr>Thonburi</vt:lpstr>
      <vt:lpstr>Lato</vt:lpstr>
      <vt:lpstr>Poppins</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huangzhuohui</cp:lastModifiedBy>
  <cp:revision>1</cp:revision>
  <dcterms:created xsi:type="dcterms:W3CDTF">2026-06-19T04:44:58Z</dcterms:created>
  <dcterms:modified xsi:type="dcterms:W3CDTF">2026-06-19T04:44:58Z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{"Label":"1","ContentProducer":"001191110102MACQD9K64010000","ProduceID":"7652962689358990268","ReservedCode1":"","ContentPropagator":"","PropagateID":"","ReservedCode2":""}</vt:lpwstr>
  </property>
  <property fmtid="{D5CDD505-2E9C-101B-9397-08002B2CF9AE}" pid="3" name="ICV">
    <vt:lpwstr>74130DFB17981A044AC9346A86ED54EF_42</vt:lpwstr>
  </property>
  <property fmtid="{D5CDD505-2E9C-101B-9397-08002B2CF9AE}" pid="4" name="KSOProductBuildVer">
    <vt:lpwstr>2052-5.3.0.7863</vt:lpwstr>
  </property>
</Properties>
</file>
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{{Entry plan $/mo}}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FFAF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Us</c:v>
                  </c:pt>
                  <c:pt idx="1">
                    <c:v>{{A}}</c:v>
                  </c:pt>
                  <c:pt idx="2">
                    <c:v>{{B}}</c:v>
                  </c:pt>
                  <c:pt idx="3">
                    <c:v>{{C}}</c:v>
                  </c:pt>
                  <c:pt idx="4">
                    <c:v>{{D}}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</c:v>
                </c:pt>
                <c:pt idx="1">
                  <c:v>49</c:v>
                </c:pt>
                <c:pt idx="2">
                  <c:v>39</c:v>
                </c:pt>
                <c:pt idx="3">
                  <c:v>25</c:v>
                </c:pt>
                <c:pt idx="4">
                  <c:v>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FFAF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B0A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GUIDE: Replace every {{placeholder}} with your own content. Change accent colors in the generator (C.accent / C.accent2) to match your brand. Delete slides you do not need. Keep competitor facts factual and sourced; mark opinions clearly.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34D399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6EE7B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FBBF24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FF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{{Market / Category}} Landscape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{{Company}} · {{Quarter Year}} · Confidential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line: what changed in the market that prompted this analysis.}}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v1.0   ·   Replace every {{placeholder}}   ·   Free to use &amp; modify (CC0)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market at a glance}}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1224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{{size}}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{{CAGR {{x}}%}}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02152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1224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02152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02152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players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85032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{{tracked: {{N}}}}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64224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1224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64224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64224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share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47104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{{concentration}}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26296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1224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26296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226296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Entrants (2y)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09176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{{funded {{amount}}}}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1A332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48006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{{the structural shift (technology, regulation, buyer behavior) reshaping this market}}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we are up against}}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224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{{Competitor A}}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{{positioning one-liner}}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{{~{{x}}% share}}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224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{{Competitor B}}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2606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{{positioning one-liner}}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0" y="3200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{{~{{x}}% share}}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224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{{Competitor C}}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0120" y="4709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{{positioning one-liner}}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5303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{{~{{x}}% share}}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224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{{Competitor D}}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29400" y="4709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{{positioning one-liner}}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5303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{{~{{x}}% share}}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{{Head-to-head matrix}}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949440" y="1828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92440" y="1828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35440" y="1828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378440" y="1828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10881360" cy="621792"/>
          </a:xfrm>
          <a:prstGeom prst="roundRect">
            <a:avLst>
              <a:gd name="adj" fmla="val 17647"/>
            </a:avLst>
          </a:prstGeom>
          <a:solidFill>
            <a:srgbClr val="1A332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33172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{{Capability 1}}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9440" y="233172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92440" y="233172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235440" y="233172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378440" y="233172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035808"/>
            <a:ext cx="10881360" cy="621792"/>
          </a:xfrm>
          <a:prstGeom prst="roundRect">
            <a:avLst>
              <a:gd name="adj" fmla="val 17647"/>
            </a:avLst>
          </a:prstGeom>
          <a:solidFill>
            <a:srgbClr val="1224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081528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{{Capability 2}}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9440" y="308152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92440" y="308152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35440" y="308152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378440" y="308152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3785616"/>
            <a:ext cx="10881360" cy="621792"/>
          </a:xfrm>
          <a:prstGeom prst="roundRect">
            <a:avLst>
              <a:gd name="adj" fmla="val 17647"/>
            </a:avLst>
          </a:prstGeom>
          <a:solidFill>
            <a:srgbClr val="1A332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831336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{{Capability 3}}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38313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092440" y="38313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35440" y="38313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378440" y="38313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" y="4535424"/>
            <a:ext cx="10881360" cy="621792"/>
          </a:xfrm>
          <a:prstGeom prst="roundRect">
            <a:avLst>
              <a:gd name="adj" fmla="val 17647"/>
            </a:avLst>
          </a:prstGeom>
          <a:solidFill>
            <a:srgbClr val="1224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4581144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{{Capability 4}}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49440" y="458114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092440" y="458114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235440" y="458114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378440" y="458114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40080" y="5285232"/>
            <a:ext cx="10881360" cy="621792"/>
          </a:xfrm>
          <a:prstGeom prst="roundRect">
            <a:avLst>
              <a:gd name="adj" fmla="val 17647"/>
            </a:avLst>
          </a:prstGeom>
          <a:solidFill>
            <a:srgbClr val="1A332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14400" y="5330952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{{Capability 5}}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49440" y="533095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092440" y="533095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235440" y="533095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378440" y="533095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full   ○ partial / missing — fill from your own evaluation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the market charges}}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874520"/>
          <a:ext cx="62179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in PowerPoint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406640" y="187452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1224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8096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{{Model}}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80960" y="23957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model: {{per-seat / usage / flat}}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06640" y="324612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1224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680960" y="3383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{{Packaging}}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680960" y="37673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we bundle vs unbundle}}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06640" y="461772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1224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680960" y="4754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{{Signal}}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680960" y="51389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{{Recent price moves in the market}}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2×2 that matters}}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463040" y="1920240"/>
            <a:ext cx="7863840" cy="4023360"/>
          </a:xfrm>
          <a:prstGeom prst="rect">
            <a:avLst/>
          </a:prstGeom>
          <a:solidFill>
            <a:srgbClr val="12241C"/>
          </a:solidFill>
          <a:ln w="12700">
            <a:solidFill>
              <a:srgbClr val="8FB0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94960" y="1920240"/>
            <a:ext cx="9144" cy="4023360"/>
          </a:xfrm>
          <a:prstGeom prst="line">
            <a:avLst/>
          </a:prstGeom>
          <a:noFill/>
          <a:ln w="12700">
            <a:solidFill>
              <a:srgbClr val="8FB0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3931920"/>
            <a:ext cx="7863840" cy="9144"/>
          </a:xfrm>
          <a:prstGeom prst="line">
            <a:avLst/>
          </a:prstGeom>
          <a:noFill/>
          <a:ln w="12700">
            <a:solidFill>
              <a:srgbClr val="8FB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5361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{{Axis: {{high → low}}}}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 rot="16200000">
            <a:off x="59436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{{Axis: {{high ← low}}}}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2651760"/>
            <a:ext cx="502920" cy="502920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0" y="31821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0" y="2377440"/>
            <a:ext cx="502920" cy="502920"/>
          </a:xfrm>
          <a:prstGeom prst="ellipse">
            <a:avLst/>
          </a:prstGeom>
          <a:solidFill>
            <a:srgbClr val="8FB0A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29077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{{A}}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0" y="4206240"/>
            <a:ext cx="502920" cy="502920"/>
          </a:xfrm>
          <a:prstGeom prst="ellipse">
            <a:avLst/>
          </a:prstGeom>
          <a:solidFill>
            <a:srgbClr val="8FB0A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23760" y="47365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{{B}}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4754880"/>
            <a:ext cx="502920" cy="502920"/>
          </a:xfrm>
          <a:prstGeom prst="ellipse">
            <a:avLst/>
          </a:prstGeom>
          <a:solidFill>
            <a:srgbClr val="8FB0A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834640" y="52852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{{C}}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{{White space: the quadrant where demand is unmet — that is the story of this slide.}}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WEAKNESSES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{{Top competitor: {{name}}}}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1224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031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03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8803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{{S1}}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7947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{{S2}}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47091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{{S3}}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1A332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21031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103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8803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{{W1}}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37947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{{W2}}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46520" y="47091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{{W3}}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{{Opportunities &amp; threats for us}}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1224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{{O1: gap we can attack}}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657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{{O2: weakness we exploit}}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617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{{O3: segment they ignore}}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1A332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46520" y="2697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{{T1: move they could make}}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3657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{{T2: pricing pressure}}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4617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{{T3: new entrant with {{advantage}}}}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customers pick us}}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224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94560"/>
            <a:ext cx="566928" cy="566928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{{Wedge 1}}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{{Proof: {{evidence}}}}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A332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94560"/>
            <a:ext cx="566928" cy="566928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{{Wedge 2}}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7720" y="35661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{{Proof: {{evidence}}}}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224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194560"/>
            <a:ext cx="566928" cy="566928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2104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21040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{{Wedge 3}}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21040" y="35661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{{Proof: {{evidence}}}}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we do about it}}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1224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659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{{Action 1}}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0" y="1965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{{Product / GTM / Pricing}}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21040" y="1965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 · {{By}}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1224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29718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{{Action 2}}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2971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{{Product / GTM / Pricing}}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21040" y="2971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 · {{By}}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1224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3977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{{Action 3}}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3977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{{Product / GTM / Pricing}}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21040" y="3977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 · {{By}}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9204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1224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4983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{{Action 4}}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4983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{{Product / GTM / Pricing}}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4983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 · {{By}}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{{Signals to monitor}}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A332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{{Competitor / signal}}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5603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would change our strategy}}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{{Where we check: {{source}}}}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224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{{Competitor / signal}}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5603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would change our strategy}}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3200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{{Where we check: {{source}}}}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224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{{Competitor / signal}}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4663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would change our strategy}}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5303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{{Where we check: {{source}}}}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A332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{{Competitor / signal}}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4663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would change our strategy}}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5303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{{Where we check: {{source}}}}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34D399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6EE7B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FBBF24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FF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{{The one sentence the room should remember.}}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review: {{date}} · Sources: {{link}} · Owner: {{name}} · {{email}}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 — use, modify, and share. No attribution required. (CC0)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Competitive Analysis Template</dc:title>
  <dc:subject>PptxGenJS Presentation</dc:subject>
  <dc:creator>WorkBuddy</dc:creator>
  <cp:lastModifiedBy>WorkBuddy</cp:lastModifiedBy>
  <cp:revision>1</cp:revision>
  <dcterms:created xsi:type="dcterms:W3CDTF">2026-10-29T08:41:16Z</dcterms:created>
  <dcterms:modified xsi:type="dcterms:W3CDTF">2026-10-29T08:41:16Z</dcterms:modified>
</cp:coreProperties>
</file>
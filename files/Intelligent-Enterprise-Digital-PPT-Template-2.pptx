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welcome to this presentation. Today I will introduce our latest enterprise application product to you. This product aims to reshape enterprise efficiency and empower business growth through digital means. Next, I will elaborate on the project background, core functions, product advantages and future development plans.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八个部分。首先，我会对项目进行一个整体概述；接着，将深入介绍产品的核心功能和独特优势；然后，我们会探讨其技术架构和数据表现；之后，通过一个成功案例来展示产品的实际应用效果；最后，介绍我们的团队实力并进行总结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start with the project overview. Enterprises face immense pressure in digital transformation, and traditional management models are outdated. Our project addresses these pain points, aiming to build an integrated intelligent platform. Its core values lie in cost reduction &amp; efficiency, data-driven decisions, agile collaboration, and robust security.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Next are the core features of the product. We offer four core modules: Intelligent Process Engine for automating business processes; Multi-dimensional Data Analysis for real-time insights; Efficient Collaborative Office for breaking communication barriers; and Mobile Office Portal for working anytime, anywhere. These features together form a powerful integrated solution.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So, why choose our product? Compared with traditional methods or competitors, we have significant advantages in six aspects: technical architecture, deployment method, integration capability, security level, user experience, and cost-effectiveness. In particular, our microservice architecture, flexible deployment modes, and rich integration capabilities can provide enterprises with a more robust, open, and cost-effective solution.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is our product's technical architecture diagram. We adopt an advanced microservices architecture, from the presentation layer, business layer to data layer, all following the design philosophy of robustness, openness and scalability. Through containerized deployment and automated operations, we can ensure the high availability and rapid iteration capability of the system, providing a solid technical guarantee for the long-term development of the enterprise.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Data is the most intuitive way to measure product value. As seen in the charts, the average efficiency of business processes has improved by 45% after using our product; user activity continues to grow with a month-on-month increase of over 15%; meanwhile, user satisfaction reaches 92%. These data fully prove the product's actual effectiveness and market recognition.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Next, let's look at a real customer case. This benchmark enterprise in the new retail industry successfully solved problems such as disconnected data, difficult marketing, and cumbersome processes after using our solutions. Ultimately, their inventory turnover rate increased by 30%, member repurchase rate by 25%, and new product launch cycle was shortened by 40%, achieving significant business growth.</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项目的成功离不开一支专业的团队。我们的核心成员均来自行业顶尖公司，拥有丰富的技术研发、产品设计和客户服务经验。从CEO到CTO，再到产品和客户成功负责人，我们团队的每一位成员都致力于为客户提供最专业的服务和最可靠的产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summary, our product offers an integrated platform, enables data-driven decisions, delivers an ultimate user experience, and ensures robustness and security. We believe it will be a powerful assistant for your enterprise's digital transformation. Thank you for listening. We look forward to partnering with you to co-create a digital future.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6.png"/><Relationship Id="rId7" Type="http://schemas.openxmlformats.org/officeDocument/2006/relationships/image" Target="../media/image3.svg"/><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4.png"/><Relationship Id="rId3" Type="http://schemas.openxmlformats.org/officeDocument/2006/relationships/image" Target="../media/image1.svg"/><Relationship Id="rId2" Type="http://schemas.openxmlformats.org/officeDocument/2006/relationships/image" Target="../media/image3.png"/><Relationship Id="rId15" Type="http://schemas.openxmlformats.org/officeDocument/2006/relationships/notesSlide" Target="../notesSlides/notesSlide3.xml"/><Relationship Id="rId14" Type="http://schemas.openxmlformats.org/officeDocument/2006/relationships/slideLayout" Target="../slideLayouts/slideLayout12.xml"/><Relationship Id="rId13" Type="http://schemas.openxmlformats.org/officeDocument/2006/relationships/image" Target="../media/image6.svg"/><Relationship Id="rId12" Type="http://schemas.openxmlformats.org/officeDocument/2006/relationships/image" Target="../media/image8.png"/><Relationship Id="rId11" Type="http://schemas.openxmlformats.org/officeDocument/2006/relationships/image" Target="../media/image5.svg"/><Relationship Id="rId10" Type="http://schemas.openxmlformats.org/officeDocument/2006/relationships/image" Target="../media/image7.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12.png"/><Relationship Id="rId7" Type="http://schemas.openxmlformats.org/officeDocument/2006/relationships/image" Target="../media/image8.svg"/><Relationship Id="rId6" Type="http://schemas.openxmlformats.org/officeDocument/2006/relationships/image" Target="../media/image11.png"/><Relationship Id="rId5" Type="http://schemas.openxmlformats.org/officeDocument/2006/relationships/image" Target="../media/image5.svg"/><Relationship Id="rId4" Type="http://schemas.openxmlformats.org/officeDocument/2006/relationships/image" Target="../media/image7.png"/><Relationship Id="rId3" Type="http://schemas.openxmlformats.org/officeDocument/2006/relationships/image" Target="../media/image7.svg"/><Relationship Id="rId2" Type="http://schemas.openxmlformats.org/officeDocument/2006/relationships/image" Target="../media/image10.pn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7.jpeg"/></Relationships>
</file>

<file path=ppt/slides/_rels/slide10.xml.rels><?xml version="1.0" encoding="UTF-8" standalone="yes"?>
<Relationships xmlns="http://schemas.openxmlformats.org/package/2006/relationships"><Relationship Id="rId9" Type="http://schemas.openxmlformats.org/officeDocument/2006/relationships/image" Target="../media/image11.svg"/><Relationship Id="rId8" Type="http://schemas.openxmlformats.org/officeDocument/2006/relationships/image" Target="../media/image20.png"/><Relationship Id="rId7" Type="http://schemas.openxmlformats.org/officeDocument/2006/relationships/image" Target="../media/image10.svg"/><Relationship Id="rId6" Type="http://schemas.openxmlformats.org/officeDocument/2006/relationships/image" Target="../media/image19.png"/><Relationship Id="rId5" Type="http://schemas.openxmlformats.org/officeDocument/2006/relationships/image" Target="../media/image4.svg"/><Relationship Id="rId4" Type="http://schemas.openxmlformats.org/officeDocument/2006/relationships/image" Target="../media/image6.png"/><Relationship Id="rId3" Type="http://schemas.openxmlformats.org/officeDocument/2006/relationships/image" Target="../media/image5.svg"/><Relationship Id="rId2" Type="http://schemas.openxmlformats.org/officeDocument/2006/relationships/image" Target="../media/image7.png"/><Relationship Id="rId19" Type="http://schemas.openxmlformats.org/officeDocument/2006/relationships/notesSlide" Target="../notesSlides/notesSlide10.xml"/><Relationship Id="rId18" Type="http://schemas.openxmlformats.org/officeDocument/2006/relationships/slideLayout" Target="../slideLayouts/slideLayout12.xml"/><Relationship Id="rId17" Type="http://schemas.openxmlformats.org/officeDocument/2006/relationships/image" Target="../media/image15.svg"/><Relationship Id="rId16" Type="http://schemas.openxmlformats.org/officeDocument/2006/relationships/image" Target="../media/image24.png"/><Relationship Id="rId15" Type="http://schemas.openxmlformats.org/officeDocument/2006/relationships/image" Target="../media/image14.svg"/><Relationship Id="rId14" Type="http://schemas.openxmlformats.org/officeDocument/2006/relationships/image" Target="../media/image23.png"/><Relationship Id="rId13" Type="http://schemas.openxmlformats.org/officeDocument/2006/relationships/image" Target="../media/image13.svg"/><Relationship Id="rId12" Type="http://schemas.openxmlformats.org/officeDocument/2006/relationships/image" Target="../media/image22.png"/><Relationship Id="rId11" Type="http://schemas.openxmlformats.org/officeDocument/2006/relationships/image" Target="../media/image12.svg"/><Relationship Id="rId10" Type="http://schemas.openxmlformats.org/officeDocument/2006/relationships/image" Target="../media/image21.png"/><Relationship Id="rId1"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381000" y="2667000"/>
            <a:ext cx="11430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3000" b="1" i="0" u="none" strike="noStrike">
                <a:solidFill>
                  <a:srgbClr val="64FFDA"/>
                </a:solidFill>
                <a:latin typeface="Noto Sans SC"/>
                <a:ea typeface="Noto Sans SC"/>
                <a:cs typeface="Noto Sans SC"/>
                <a:sym typeface="Noto Sans SC"/>
              </a:rPr>
              <a:t>Intelligent Enterprise Digital Collaboration Platform</a:t>
            </a:r>
            <a:endParaRPr lang="en-US" sz="1100"/>
          </a:p>
        </p:txBody>
      </p:sp>
      <p:sp>
        <p:nvSpPr>
          <p:cNvPr id="4" name="AutoShape 4"/>
          <p:cNvSpPr/>
          <p:nvPr/>
        </p:nvSpPr>
        <p:spPr>
          <a:xfrm>
            <a:off x="1016000" y="4191000"/>
            <a:ext cx="1016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600" b="0" i="0" u="none" strike="noStrike">
                <a:solidFill>
                  <a:srgbClr val="CCD6F6"/>
                </a:solidFill>
                <a:latin typeface="Noto Sans SC"/>
                <a:ea typeface="Noto Sans SC"/>
                <a:cs typeface="Noto Sans SC"/>
                <a:sym typeface="Noto Sans SC"/>
              </a:rPr>
              <a:t>Empowering Business Growth Through Data-Driven Decisions and Intelligent Process Reengineering.</a:t>
            </a:r>
            <a:endParaRPr lang="en-US" sz="1100"/>
          </a:p>
        </p:txBody>
      </p:sp>
      <p:cxnSp>
        <p:nvCxnSpPr>
          <p:cNvPr id="5" name="Connector 5"/>
          <p:cNvCxnSpPr/>
          <p:nvPr/>
        </p:nvCxnSpPr>
        <p:spPr>
          <a:xfrm rot="-4774">
            <a:off x="1524004" y="5391150"/>
            <a:ext cx="9144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6" name="AutoShape 6"/>
          <p:cNvSpPr/>
          <p:nvPr/>
        </p:nvSpPr>
        <p:spPr>
          <a:xfrm>
            <a:off x="1016000" y="57785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CCD6F6">
                    <a:alpha val="90196"/>
                  </a:srgbClr>
                </a:solidFill>
                <a:latin typeface="Noto Sans SC"/>
                <a:ea typeface="Noto Sans SC"/>
                <a:cs typeface="Noto Sans SC"/>
                <a:sym typeface="Noto Sans SC"/>
              </a:rPr>
              <a:t>Presenter: Li Ming</a:t>
            </a:r>
            <a:endParaRPr lang="en-US" sz="1100"/>
          </a:p>
        </p:txBody>
      </p:sp>
      <p:cxnSp>
        <p:nvCxnSpPr>
          <p:cNvPr id="7" name="Connector 7"/>
          <p:cNvCxnSpPr/>
          <p:nvPr/>
        </p:nvCxnSpPr>
        <p:spPr>
          <a:xfrm rot="5301805">
            <a:off x="4095750" y="6057991"/>
            <a:ext cx="444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8" name="AutoShape 8"/>
          <p:cNvSpPr/>
          <p:nvPr/>
        </p:nvSpPr>
        <p:spPr>
          <a:xfrm>
            <a:off x="4572000" y="57785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CCD6F6">
                    <a:alpha val="90196"/>
                  </a:srgbClr>
                </a:solidFill>
                <a:latin typeface="Noto Sans SC"/>
                <a:ea typeface="Noto Sans SC"/>
                <a:cs typeface="Noto Sans SC"/>
                <a:sym typeface="Noto Sans SC"/>
              </a:rPr>
              <a:t>Dept: Product Center</a:t>
            </a:r>
            <a:endParaRPr lang="en-US" sz="1100"/>
          </a:p>
        </p:txBody>
      </p:sp>
      <p:cxnSp>
        <p:nvCxnSpPr>
          <p:cNvPr id="9" name="Connector 9"/>
          <p:cNvCxnSpPr/>
          <p:nvPr/>
        </p:nvCxnSpPr>
        <p:spPr>
          <a:xfrm rot="5301805">
            <a:off x="7651750" y="6057991"/>
            <a:ext cx="444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0" name="AutoShape 10"/>
          <p:cNvSpPr/>
          <p:nvPr/>
        </p:nvSpPr>
        <p:spPr>
          <a:xfrm>
            <a:off x="8128000" y="5778500"/>
            <a:ext cx="330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CCD6F6">
                    <a:alpha val="90196"/>
                  </a:srgbClr>
                </a:solidFill>
                <a:latin typeface="Noto Sans SC"/>
                <a:ea typeface="Noto Sans SC"/>
                <a:cs typeface="Noto Sans SC"/>
                <a:sym typeface="Noto Sans SC"/>
              </a:rPr>
              <a:t>Date: June 18,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CONTENTS</a:t>
            </a:r>
            <a:endParaRPr lang="en-US" sz="1100"/>
          </a:p>
        </p:txBody>
      </p:sp>
      <p:sp>
        <p:nvSpPr>
          <p:cNvPr id="4" name="AutoShape 4"/>
          <p:cNvSpPr/>
          <p:nvPr/>
        </p:nvSpPr>
        <p:spPr>
          <a:xfrm>
            <a:off x="762000" y="1524000"/>
            <a:ext cx="10668000" cy="12700"/>
          </a:xfrm>
          <a:prstGeom prst="roundRect">
            <a:avLst>
              <a:gd name="adj" fmla="val 0"/>
            </a:avLst>
          </a:prstGeom>
          <a:solidFill>
            <a:srgbClr val="64FFDA">
              <a:alpha val="6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762000" y="2032000"/>
            <a:ext cx="5207000" cy="952500"/>
          </a:xfrm>
          <a:prstGeom prst="roundRect">
            <a:avLst>
              <a:gd name="adj" fmla="val 0"/>
            </a:avLst>
          </a:prstGeom>
          <a:solidFill>
            <a:srgbClr val="0D253F">
              <a:alpha val="8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762000" y="2032000"/>
            <a:ext cx="76200" cy="9525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nvSpPr>
        <p:spPr>
          <a:xfrm>
            <a:off x="1016000" y="209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01</a:t>
            </a:r>
            <a:endParaRPr lang="en-US" sz="1100"/>
          </a:p>
        </p:txBody>
      </p:sp>
      <p:cxnSp>
        <p:nvCxnSpPr>
          <p:cNvPr id="8" name="Connector 8"/>
          <p:cNvCxnSpPr/>
          <p:nvPr/>
        </p:nvCxnSpPr>
        <p:spPr>
          <a:xfrm rot="5337502">
            <a:off x="1682750" y="2501958"/>
            <a:ext cx="698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9" name="AutoShape 9"/>
          <p:cNvSpPr/>
          <p:nvPr/>
        </p:nvSpPr>
        <p:spPr>
          <a:xfrm>
            <a:off x="2222500" y="21336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Project Overview</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Project background, goals, and core values</a:t>
            </a:r>
            <a:endParaRPr lang="en-US" sz="1200" b="0" i="0" u="none" strike="noStrike">
              <a:solidFill>
                <a:srgbClr val="CCD6F6"/>
              </a:solidFill>
              <a:latin typeface="Noto Sans SC"/>
              <a:ea typeface="Noto Sans SC"/>
              <a:cs typeface="Noto Sans SC"/>
              <a:sym typeface="Noto Sans SC"/>
            </a:endParaRPr>
          </a:p>
        </p:txBody>
      </p:sp>
      <p:sp>
        <p:nvSpPr>
          <p:cNvPr id="10" name="AutoShape 10"/>
          <p:cNvSpPr/>
          <p:nvPr/>
        </p:nvSpPr>
        <p:spPr>
          <a:xfrm>
            <a:off x="762000" y="3302000"/>
            <a:ext cx="5207000" cy="952500"/>
          </a:xfrm>
          <a:prstGeom prst="roundRect">
            <a:avLst>
              <a:gd name="adj" fmla="val 0"/>
            </a:avLst>
          </a:prstGeom>
          <a:solidFill>
            <a:srgbClr val="0D253F">
              <a:alpha val="8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762000" y="3302000"/>
            <a:ext cx="76200" cy="9525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1016000" y="336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02</a:t>
            </a:r>
            <a:endParaRPr lang="en-US" sz="1100"/>
          </a:p>
        </p:txBody>
      </p:sp>
      <p:cxnSp>
        <p:nvCxnSpPr>
          <p:cNvPr id="13" name="Connector 13"/>
          <p:cNvCxnSpPr/>
          <p:nvPr/>
        </p:nvCxnSpPr>
        <p:spPr>
          <a:xfrm rot="5337502">
            <a:off x="1682750" y="3771958"/>
            <a:ext cx="698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4" name="AutoShape 14"/>
          <p:cNvSpPr/>
          <p:nvPr/>
        </p:nvSpPr>
        <p:spPr>
          <a:xfrm>
            <a:off x="2222500" y="34036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Core Features</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In-depth analysis of the product's core capabilities and highlights</a:t>
            </a:r>
            <a:endParaRPr lang="en-US" sz="1200" b="0" i="0" u="none" strike="noStrike">
              <a:solidFill>
                <a:srgbClr val="CCD6F6"/>
              </a:solidFill>
              <a:latin typeface="Noto Sans SC"/>
              <a:ea typeface="Noto Sans SC"/>
              <a:cs typeface="Noto Sans SC"/>
              <a:sym typeface="Noto Sans SC"/>
            </a:endParaRPr>
          </a:p>
        </p:txBody>
      </p:sp>
      <p:sp>
        <p:nvSpPr>
          <p:cNvPr id="15" name="AutoShape 15"/>
          <p:cNvSpPr/>
          <p:nvPr/>
        </p:nvSpPr>
        <p:spPr>
          <a:xfrm>
            <a:off x="762000" y="4445000"/>
            <a:ext cx="5207000" cy="952500"/>
          </a:xfrm>
          <a:prstGeom prst="roundRect">
            <a:avLst>
              <a:gd name="adj" fmla="val 0"/>
            </a:avLst>
          </a:prstGeom>
          <a:solidFill>
            <a:srgbClr val="0D253F">
              <a:alpha val="80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nvSpPr>
        <p:spPr>
          <a:xfrm>
            <a:off x="762000" y="4445000"/>
            <a:ext cx="76200" cy="9525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nvSpPr>
        <p:spPr>
          <a:xfrm>
            <a:off x="1016000" y="4508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03</a:t>
            </a:r>
            <a:endParaRPr lang="en-US" sz="1100"/>
          </a:p>
        </p:txBody>
      </p:sp>
      <p:cxnSp>
        <p:nvCxnSpPr>
          <p:cNvPr id="18" name="Connector 18"/>
          <p:cNvCxnSpPr/>
          <p:nvPr/>
        </p:nvCxnSpPr>
        <p:spPr>
          <a:xfrm rot="5337502">
            <a:off x="1682750" y="4914958"/>
            <a:ext cx="698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9" name="AutoShape 19"/>
          <p:cNvSpPr/>
          <p:nvPr/>
        </p:nvSpPr>
        <p:spPr>
          <a:xfrm>
            <a:off x="2222500" y="45466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Product Advantages</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Comparing with the market to highlight our unique value</a:t>
            </a:r>
            <a:endParaRPr lang="en-US" sz="1200" b="0" i="0" u="none" strike="noStrike">
              <a:solidFill>
                <a:srgbClr val="CCD6F6"/>
              </a:solidFill>
              <a:latin typeface="Noto Sans SC"/>
              <a:ea typeface="Noto Sans SC"/>
              <a:cs typeface="Noto Sans SC"/>
              <a:sym typeface="Noto Sans SC"/>
            </a:endParaRPr>
          </a:p>
        </p:txBody>
      </p:sp>
      <p:sp>
        <p:nvSpPr>
          <p:cNvPr id="20" name="AutoShape 20"/>
          <p:cNvSpPr/>
          <p:nvPr/>
        </p:nvSpPr>
        <p:spPr>
          <a:xfrm>
            <a:off x="762000" y="5524500"/>
            <a:ext cx="5207000" cy="952500"/>
          </a:xfrm>
          <a:prstGeom prst="roundRect">
            <a:avLst>
              <a:gd name="adj" fmla="val 0"/>
            </a:avLst>
          </a:prstGeom>
          <a:solidFill>
            <a:srgbClr val="0D253F">
              <a:alpha val="80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nvSpPr>
        <p:spPr>
          <a:xfrm>
            <a:off x="762000" y="5524500"/>
            <a:ext cx="76200" cy="9525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22" name="AutoShape 22"/>
          <p:cNvSpPr/>
          <p:nvPr/>
        </p:nvSpPr>
        <p:spPr>
          <a:xfrm>
            <a:off x="1016000" y="5588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04</a:t>
            </a:r>
            <a:endParaRPr lang="en-US" sz="1100"/>
          </a:p>
        </p:txBody>
      </p:sp>
      <p:cxnSp>
        <p:nvCxnSpPr>
          <p:cNvPr id="23" name="Connector 23"/>
          <p:cNvCxnSpPr/>
          <p:nvPr/>
        </p:nvCxnSpPr>
        <p:spPr>
          <a:xfrm rot="5331254">
            <a:off x="1714500" y="5962713"/>
            <a:ext cx="635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24" name="AutoShape 24"/>
          <p:cNvSpPr/>
          <p:nvPr/>
        </p:nvSpPr>
        <p:spPr>
          <a:xfrm>
            <a:off x="2222500" y="56261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Technical Architecture</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Robust and scalable system design philosophy</a:t>
            </a:r>
            <a:endParaRPr lang="en-US" sz="1200" b="0" i="0" u="none" strike="noStrike">
              <a:solidFill>
                <a:srgbClr val="CCD6F6"/>
              </a:solidFill>
              <a:latin typeface="Noto Sans SC"/>
              <a:ea typeface="Noto Sans SC"/>
              <a:cs typeface="Noto Sans SC"/>
              <a:sym typeface="Noto Sans SC"/>
            </a:endParaRPr>
          </a:p>
        </p:txBody>
      </p:sp>
      <p:sp>
        <p:nvSpPr>
          <p:cNvPr id="25" name="AutoShape 25"/>
          <p:cNvSpPr/>
          <p:nvPr/>
        </p:nvSpPr>
        <p:spPr>
          <a:xfrm>
            <a:off x="6350000" y="2032000"/>
            <a:ext cx="5207000" cy="952500"/>
          </a:xfrm>
          <a:prstGeom prst="roundRect">
            <a:avLst>
              <a:gd name="adj" fmla="val 0"/>
            </a:avLst>
          </a:prstGeom>
          <a:solidFill>
            <a:srgbClr val="0D253F">
              <a:alpha val="80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nvSpPr>
        <p:spPr>
          <a:xfrm>
            <a:off x="6350000" y="2032000"/>
            <a:ext cx="76200" cy="9525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6604000" y="209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05</a:t>
            </a:r>
            <a:endParaRPr lang="en-US" sz="1100"/>
          </a:p>
        </p:txBody>
      </p:sp>
      <p:cxnSp>
        <p:nvCxnSpPr>
          <p:cNvPr id="28" name="Connector 28"/>
          <p:cNvCxnSpPr/>
          <p:nvPr/>
        </p:nvCxnSpPr>
        <p:spPr>
          <a:xfrm rot="5337502">
            <a:off x="7270750" y="2501958"/>
            <a:ext cx="698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29" name="AutoShape 29"/>
          <p:cNvSpPr/>
          <p:nvPr/>
        </p:nvSpPr>
        <p:spPr>
          <a:xfrm>
            <a:off x="7810500" y="21336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Data Insights</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Seeing the product's actual effectiveness through data</a:t>
            </a:r>
            <a:endParaRPr lang="en-US" sz="1200" b="0" i="0" u="none" strike="noStrike">
              <a:solidFill>
                <a:srgbClr val="CCD6F6"/>
              </a:solidFill>
              <a:latin typeface="Noto Sans SC"/>
              <a:ea typeface="Noto Sans SC"/>
              <a:cs typeface="Noto Sans SC"/>
              <a:sym typeface="Noto Sans SC"/>
            </a:endParaRPr>
          </a:p>
        </p:txBody>
      </p:sp>
      <p:sp>
        <p:nvSpPr>
          <p:cNvPr id="30" name="AutoShape 30"/>
          <p:cNvSpPr/>
          <p:nvPr/>
        </p:nvSpPr>
        <p:spPr>
          <a:xfrm>
            <a:off x="6350000" y="3302000"/>
            <a:ext cx="5207000" cy="952500"/>
          </a:xfrm>
          <a:prstGeom prst="roundRect">
            <a:avLst>
              <a:gd name="adj" fmla="val 0"/>
            </a:avLst>
          </a:prstGeom>
          <a:solidFill>
            <a:srgbClr val="0D253F">
              <a:alpha val="80000"/>
            </a:srgbClr>
          </a:solidFill>
          <a:ln w="25400" cap="flat" cmpd="sng">
            <a:noFill/>
            <a:prstDash val="solid"/>
            <a:round/>
          </a:ln>
        </p:spPr>
        <p:txBody>
          <a:bodyPr vert="horz" wrap="square" lIns="0" tIns="0" rIns="0" bIns="0" rtlCol="0" anchor="ctr" anchorCtr="0"/>
          <a:lstStyle/>
          <a:p>
            <a:pPr algn="ctr">
              <a:defRPr/>
            </a:pPr>
          </a:p>
        </p:txBody>
      </p:sp>
      <p:sp>
        <p:nvSpPr>
          <p:cNvPr id="31" name="AutoShape 31"/>
          <p:cNvSpPr/>
          <p:nvPr/>
        </p:nvSpPr>
        <p:spPr>
          <a:xfrm>
            <a:off x="6350000" y="3302000"/>
            <a:ext cx="76200" cy="9525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32" name="AutoShape 32"/>
          <p:cNvSpPr/>
          <p:nvPr/>
        </p:nvSpPr>
        <p:spPr>
          <a:xfrm>
            <a:off x="6604000" y="336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06</a:t>
            </a:r>
            <a:endParaRPr lang="en-US" sz="1100"/>
          </a:p>
        </p:txBody>
      </p:sp>
      <p:cxnSp>
        <p:nvCxnSpPr>
          <p:cNvPr id="33" name="Connector 33"/>
          <p:cNvCxnSpPr/>
          <p:nvPr/>
        </p:nvCxnSpPr>
        <p:spPr>
          <a:xfrm rot="5337502">
            <a:off x="7270750" y="3771958"/>
            <a:ext cx="698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34" name="AutoShape 34"/>
          <p:cNvSpPr/>
          <p:nvPr/>
        </p:nvSpPr>
        <p:spPr>
          <a:xfrm>
            <a:off x="7810500" y="34036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Success Stories</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Real recognition and practice from customers</a:t>
            </a:r>
            <a:endParaRPr lang="en-US" sz="1200" b="0" i="0" u="none" strike="noStrike">
              <a:solidFill>
                <a:srgbClr val="CCD6F6"/>
              </a:solidFill>
              <a:latin typeface="Noto Sans SC"/>
              <a:ea typeface="Noto Sans SC"/>
              <a:cs typeface="Noto Sans SC"/>
              <a:sym typeface="Noto Sans SC"/>
            </a:endParaRPr>
          </a:p>
        </p:txBody>
      </p:sp>
      <p:sp>
        <p:nvSpPr>
          <p:cNvPr id="35" name="AutoShape 35"/>
          <p:cNvSpPr/>
          <p:nvPr/>
        </p:nvSpPr>
        <p:spPr>
          <a:xfrm>
            <a:off x="6350000" y="4445000"/>
            <a:ext cx="5207000" cy="952500"/>
          </a:xfrm>
          <a:prstGeom prst="roundRect">
            <a:avLst>
              <a:gd name="adj" fmla="val 0"/>
            </a:avLst>
          </a:prstGeom>
          <a:solidFill>
            <a:srgbClr val="0D253F">
              <a:alpha val="80000"/>
            </a:srgbClr>
          </a:solidFill>
          <a:ln w="25400" cap="flat" cmpd="sng">
            <a:noFill/>
            <a:prstDash val="solid"/>
            <a:round/>
          </a:ln>
        </p:spPr>
        <p:txBody>
          <a:bodyPr vert="horz" wrap="square" lIns="0" tIns="0" rIns="0" bIns="0" rtlCol="0" anchor="ctr" anchorCtr="0"/>
          <a:lstStyle/>
          <a:p>
            <a:pPr algn="ctr">
              <a:defRPr/>
            </a:pPr>
          </a:p>
        </p:txBody>
      </p:sp>
      <p:sp>
        <p:nvSpPr>
          <p:cNvPr id="36" name="AutoShape 36"/>
          <p:cNvSpPr/>
          <p:nvPr/>
        </p:nvSpPr>
        <p:spPr>
          <a:xfrm>
            <a:off x="6350000" y="4445000"/>
            <a:ext cx="76200" cy="9525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37" name="AutoShape 37"/>
          <p:cNvSpPr/>
          <p:nvPr/>
        </p:nvSpPr>
        <p:spPr>
          <a:xfrm>
            <a:off x="6604000" y="4508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07</a:t>
            </a:r>
            <a:endParaRPr lang="en-US" sz="1100"/>
          </a:p>
        </p:txBody>
      </p:sp>
      <p:cxnSp>
        <p:nvCxnSpPr>
          <p:cNvPr id="38" name="Connector 38"/>
          <p:cNvCxnSpPr/>
          <p:nvPr/>
        </p:nvCxnSpPr>
        <p:spPr>
          <a:xfrm rot="5337502">
            <a:off x="7270750" y="4914958"/>
            <a:ext cx="698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39" name="AutoShape 39"/>
          <p:cNvSpPr/>
          <p:nvPr/>
        </p:nvSpPr>
        <p:spPr>
          <a:xfrm>
            <a:off x="7810500" y="45466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Team Strength</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A professional team is the guarantee of project success</a:t>
            </a:r>
            <a:endParaRPr lang="en-US" sz="1200" b="0" i="0" u="none" strike="noStrike">
              <a:solidFill>
                <a:srgbClr val="CCD6F6"/>
              </a:solidFill>
              <a:latin typeface="Noto Sans SC"/>
              <a:ea typeface="Noto Sans SC"/>
              <a:cs typeface="Noto Sans SC"/>
              <a:sym typeface="Noto Sans SC"/>
            </a:endParaRPr>
          </a:p>
        </p:txBody>
      </p:sp>
      <p:sp>
        <p:nvSpPr>
          <p:cNvPr id="40" name="AutoShape 40"/>
          <p:cNvSpPr/>
          <p:nvPr/>
        </p:nvSpPr>
        <p:spPr>
          <a:xfrm>
            <a:off x="6350000" y="5524500"/>
            <a:ext cx="5207000" cy="952500"/>
          </a:xfrm>
          <a:prstGeom prst="roundRect">
            <a:avLst>
              <a:gd name="adj" fmla="val 0"/>
            </a:avLst>
          </a:prstGeom>
          <a:solidFill>
            <a:srgbClr val="0D253F">
              <a:alpha val="80000"/>
            </a:srgbClr>
          </a:solidFill>
          <a:ln w="25400" cap="flat" cmpd="sng">
            <a:noFill/>
            <a:prstDash val="solid"/>
            <a:round/>
          </a:ln>
        </p:spPr>
        <p:txBody>
          <a:bodyPr vert="horz" wrap="square" lIns="0" tIns="0" rIns="0" bIns="0" rtlCol="0" anchor="ctr" anchorCtr="0"/>
          <a:lstStyle/>
          <a:p>
            <a:pPr algn="ctr">
              <a:defRPr/>
            </a:pPr>
          </a:p>
        </p:txBody>
      </p:sp>
      <p:sp>
        <p:nvSpPr>
          <p:cNvPr id="41" name="AutoShape 41"/>
          <p:cNvSpPr/>
          <p:nvPr/>
        </p:nvSpPr>
        <p:spPr>
          <a:xfrm>
            <a:off x="6350000" y="5524500"/>
            <a:ext cx="76200" cy="9525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42" name="AutoShape 42"/>
          <p:cNvSpPr/>
          <p:nvPr/>
        </p:nvSpPr>
        <p:spPr>
          <a:xfrm>
            <a:off x="6604000" y="5588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08</a:t>
            </a:r>
            <a:endParaRPr lang="en-US" sz="1100"/>
          </a:p>
        </p:txBody>
      </p:sp>
      <p:cxnSp>
        <p:nvCxnSpPr>
          <p:cNvPr id="43" name="Connector 43"/>
          <p:cNvCxnSpPr/>
          <p:nvPr/>
        </p:nvCxnSpPr>
        <p:spPr>
          <a:xfrm rot="5331254">
            <a:off x="7302500" y="5962713"/>
            <a:ext cx="635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44" name="AutoShape 44"/>
          <p:cNvSpPr/>
          <p:nvPr/>
        </p:nvSpPr>
        <p:spPr>
          <a:xfrm>
            <a:off x="7810500" y="56261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Summary &amp; Outlook</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Review core values and look forward to future development</a:t>
            </a:r>
            <a:endParaRPr lang="en-US" sz="1200" b="0" i="0" u="none" strike="noStrike">
              <a:solidFill>
                <a:srgbClr val="CCD6F6"/>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64FFDA"/>
                </a:solidFill>
                <a:latin typeface="Noto Sans SC"/>
                <a:ea typeface="Noto Sans SC"/>
                <a:cs typeface="Noto Sans SC"/>
                <a:sym typeface="Noto Sans SC"/>
              </a:rPr>
              <a:t>Project Overview: Unleashing a New Digital Era</a:t>
            </a:r>
            <a:endParaRPr lang="en-US" sz="1100"/>
          </a:p>
        </p:txBody>
      </p:sp>
      <p:sp>
        <p:nvSpPr>
          <p:cNvPr id="4" name="AutoShape 4"/>
          <p:cNvSpPr/>
          <p:nvPr/>
        </p:nvSpPr>
        <p:spPr>
          <a:xfrm>
            <a:off x="762000" y="1651000"/>
            <a:ext cx="10668000" cy="25400"/>
          </a:xfrm>
          <a:prstGeom prst="roundRect">
            <a:avLst>
              <a:gd name="adj" fmla="val 0"/>
            </a:avLst>
          </a:prstGeom>
          <a:solidFill>
            <a:srgbClr val="64FFDA">
              <a:alpha val="4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762000" y="2159000"/>
            <a:ext cx="3556000" cy="4064000"/>
          </a:xfrm>
          <a:prstGeom prst="roundRect">
            <a:avLst>
              <a:gd name="adj" fmla="val 0"/>
            </a:avLst>
          </a:prstGeom>
          <a:solidFill>
            <a:srgbClr val="172C47">
              <a:alpha val="8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762000" y="2159000"/>
            <a:ext cx="76200" cy="40640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nvSpPr>
        <p:spPr>
          <a:xfrm>
            <a:off x="1016000" y="2794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64FFDA"/>
                </a:solidFill>
                <a:latin typeface="Noto Sans SC"/>
                <a:ea typeface="Noto Sans SC"/>
                <a:cs typeface="Noto Sans SC"/>
                <a:sym typeface="Noto Sans SC"/>
              </a:rPr>
              <a:t>REINVENTING EFFICIENCY</a:t>
            </a:r>
            <a:br>
              <a:rPr lang="en-US" sz="1800" b="1" i="0" u="none" strike="noStrike">
                <a:solidFill>
                  <a:srgbClr val="64FFDA"/>
                </a:solidFill>
                <a:latin typeface="Noto Sans SC"/>
                <a:ea typeface="Noto Sans SC"/>
                <a:cs typeface="Noto Sans SC"/>
                <a:sym typeface="Noto Sans SC"/>
              </a:rPr>
            </a:br>
            <a:r>
              <a:rPr lang="en-US" sz="1800" b="1" i="0" u="none" strike="noStrike">
                <a:solidFill>
                  <a:srgbClr val="64FFDA"/>
                </a:solidFill>
                <a:latin typeface="Noto Sans SC"/>
                <a:ea typeface="Noto Sans SC"/>
                <a:cs typeface="Noto Sans SC"/>
                <a:sym typeface="Noto Sans SC"/>
              </a:rPr>
              <a:t>EMPOWERING GROWTH</a:t>
            </a:r>
            <a:endParaRPr lang="en-US" sz="1100"/>
          </a:p>
        </p:txBody>
      </p:sp>
      <p:cxnSp>
        <p:nvCxnSpPr>
          <p:cNvPr id="8" name="Connector 8"/>
          <p:cNvCxnSpPr/>
          <p:nvPr/>
        </p:nvCxnSpPr>
        <p:spPr>
          <a:xfrm rot="-14323">
            <a:off x="1016013" y="4311650"/>
            <a:ext cx="3048000" cy="12700"/>
          </a:xfrm>
          <a:prstGeom prst="straightConnector1">
            <a:avLst/>
          </a:prstGeom>
          <a:solidFill>
            <a:srgbClr val="DEE0E3">
              <a:alpha val="100000"/>
            </a:srgbClr>
          </a:solidFill>
          <a:ln w="12700" cap="flat" cmpd="sng">
            <a:solidFill>
              <a:srgbClr val="64FFDA">
                <a:alpha val="60000"/>
              </a:srgbClr>
            </a:solidFill>
            <a:prstDash val="solid"/>
            <a:round/>
            <a:headEnd type="none" w="med" len="med"/>
            <a:tailEnd type="none" w="med" len="med"/>
          </a:ln>
        </p:spPr>
      </p:cxnSp>
      <p:sp>
        <p:nvSpPr>
          <p:cNvPr id="9" name="AutoShape 9"/>
          <p:cNvSpPr/>
          <p:nvPr/>
        </p:nvSpPr>
        <p:spPr>
          <a:xfrm>
            <a:off x="1016000" y="4572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CD6F6"/>
                </a:solidFill>
                <a:latin typeface="Noto Sans SC"/>
                <a:ea typeface="Noto Sans SC"/>
                <a:cs typeface="Noto Sans SC"/>
                <a:sym typeface="Noto Sans SC"/>
              </a:rPr>
              <a:t>Driven by digital transformation, we break down silos, integrate technology with business, and build sustainable core competitiveness.</a:t>
            </a:r>
            <a:endParaRPr lang="en-US" sz="1100"/>
          </a:p>
        </p:txBody>
      </p:sp>
      <p:sp>
        <p:nvSpPr>
          <p:cNvPr id="10" name="AutoShape 10"/>
          <p:cNvSpPr/>
          <p:nvPr/>
        </p:nvSpPr>
        <p:spPr>
          <a:xfrm>
            <a:off x="4826000" y="2159000"/>
            <a:ext cx="3238500" cy="2032000"/>
          </a:xfrm>
          <a:prstGeom prst="roundRect">
            <a:avLst>
              <a:gd name="adj" fmla="val 0"/>
            </a:avLst>
          </a:prstGeom>
          <a:solidFill>
            <a:srgbClr val="172C47">
              <a:alpha val="90000"/>
            </a:srgbClr>
          </a:solidFill>
          <a:ln w="12700" cap="flat" cmpd="sng">
            <a:solidFill>
              <a:srgbClr val="64FFDA">
                <a:alpha val="50000"/>
              </a:srgbClr>
            </a:solidFill>
            <a:prstDash val="solid"/>
            <a:round/>
          </a:ln>
        </p:spPr>
        <p:txBody>
          <a:bodyPr vert="horz" wrap="square" lIns="0" tIns="0" rIns="0" bIns="0" rtlCol="0" anchor="ctr" anchorCtr="0"/>
          <a:lstStyle/>
          <a:p>
            <a:pPr algn="ctr">
              <a:defRPr/>
            </a:pPr>
          </a:p>
        </p:txBody>
      </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16500" y="2349500"/>
            <a:ext cx="304800" cy="304800"/>
          </a:xfrm>
          <a:prstGeom prst="rect">
            <a:avLst/>
          </a:prstGeom>
        </p:spPr>
      </p:pic>
      <p:sp>
        <p:nvSpPr>
          <p:cNvPr id="12" name="AutoShape 12"/>
          <p:cNvSpPr/>
          <p:nvPr/>
        </p:nvSpPr>
        <p:spPr>
          <a:xfrm>
            <a:off x="5461000" y="2311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Project Background</a:t>
            </a:r>
            <a:endParaRPr lang="en-US" sz="1100"/>
          </a:p>
        </p:txBody>
      </p:sp>
      <p:cxnSp>
        <p:nvCxnSpPr>
          <p:cNvPr id="13" name="Connector 13"/>
          <p:cNvCxnSpPr/>
          <p:nvPr/>
        </p:nvCxnSpPr>
        <p:spPr>
          <a:xfrm rot="-15278">
            <a:off x="5016514" y="2851150"/>
            <a:ext cx="2857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4" name="AutoShape 14"/>
          <p:cNvSpPr/>
          <p:nvPr/>
        </p:nvSpPr>
        <p:spPr>
          <a:xfrm>
            <a:off x="5016500" y="2984500"/>
            <a:ext cx="2857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CD6F6"/>
                </a:solidFill>
                <a:latin typeface="Noto Sans SC"/>
                <a:ea typeface="Noto Sans SC"/>
                <a:cs typeface="Noto Sans SC"/>
                <a:sym typeface="Noto Sans SC"/>
              </a:rPr>
              <a:t>Rapid tech changes reveal limitations in traditional management. Information silos, cumbersome processes, and delayed decisions restrict operational refinement and growth.</a:t>
            </a:r>
            <a:endParaRPr lang="en-US" sz="1100"/>
          </a:p>
        </p:txBody>
      </p:sp>
      <p:sp>
        <p:nvSpPr>
          <p:cNvPr id="15" name="AutoShape 15"/>
          <p:cNvSpPr/>
          <p:nvPr/>
        </p:nvSpPr>
        <p:spPr>
          <a:xfrm>
            <a:off x="8318500" y="2159000"/>
            <a:ext cx="3238500" cy="2032000"/>
          </a:xfrm>
          <a:prstGeom prst="roundRect">
            <a:avLst>
              <a:gd name="adj" fmla="val 0"/>
            </a:avLst>
          </a:prstGeom>
          <a:solidFill>
            <a:srgbClr val="172C47">
              <a:alpha val="90000"/>
            </a:srgbClr>
          </a:solidFill>
          <a:ln w="12700" cap="flat" cmpd="sng">
            <a:solidFill>
              <a:srgbClr val="64FFDA">
                <a:alpha val="50000"/>
              </a:srgbClr>
            </a:solidFill>
            <a:prstDash val="solid"/>
            <a:round/>
          </a:ln>
        </p:spPr>
        <p:txBody>
          <a:bodyPr vert="horz" wrap="square" lIns="0" tIns="0" rIns="0" bIns="0" rtlCol="0" anchor="ctr" anchorCtr="0"/>
          <a:lstStyle/>
          <a:p>
            <a:pPr algn="ctr">
              <a:defRPr/>
            </a:p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09000" y="2349500"/>
            <a:ext cx="304800" cy="304800"/>
          </a:xfrm>
          <a:prstGeom prst="rect">
            <a:avLst/>
          </a:prstGeom>
        </p:spPr>
      </p:pic>
      <p:sp>
        <p:nvSpPr>
          <p:cNvPr id="17" name="AutoShape 17"/>
          <p:cNvSpPr/>
          <p:nvPr/>
        </p:nvSpPr>
        <p:spPr>
          <a:xfrm>
            <a:off x="8953500" y="2311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Project Goals</a:t>
            </a:r>
            <a:endParaRPr lang="en-US" sz="1100"/>
          </a:p>
        </p:txBody>
      </p:sp>
      <p:cxnSp>
        <p:nvCxnSpPr>
          <p:cNvPr id="18" name="Connector 18"/>
          <p:cNvCxnSpPr/>
          <p:nvPr/>
        </p:nvCxnSpPr>
        <p:spPr>
          <a:xfrm rot="-15278">
            <a:off x="8509014" y="2851150"/>
            <a:ext cx="28575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9" name="AutoShape 19"/>
          <p:cNvSpPr/>
          <p:nvPr/>
        </p:nvSpPr>
        <p:spPr>
          <a:xfrm>
            <a:off x="8509000" y="2984500"/>
            <a:ext cx="2857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CD6F6"/>
                </a:solidFill>
                <a:latin typeface="Noto Sans SC"/>
                <a:ea typeface="Noto Sans SC"/>
                <a:cs typeface="Noto Sans SC"/>
                <a:sym typeface="Noto Sans SC"/>
              </a:rPr>
              <a:t>Build an integrated intelligent platform to enable process automation and data-driven decisions, optimizing management and boosting core competitiveness.</a:t>
            </a:r>
            <a:endParaRPr lang="en-US" sz="1100"/>
          </a:p>
        </p:txBody>
      </p:sp>
      <p:sp>
        <p:nvSpPr>
          <p:cNvPr id="20" name="AutoShape 20"/>
          <p:cNvSpPr/>
          <p:nvPr/>
        </p:nvSpPr>
        <p:spPr>
          <a:xfrm>
            <a:off x="4826000" y="4572000"/>
            <a:ext cx="1549400" cy="1651000"/>
          </a:xfrm>
          <a:prstGeom prst="roundRect">
            <a:avLst>
              <a:gd name="adj" fmla="val 0"/>
            </a:avLst>
          </a:prstGeom>
          <a:solidFill>
            <a:srgbClr val="172C47">
              <a:alpha val="70000"/>
            </a:srgbClr>
          </a:solidFill>
          <a:ln w="25400" cap="flat" cmpd="sng">
            <a:noFill/>
            <a:prstDash val="solid"/>
            <a:round/>
          </a:ln>
        </p:spPr>
        <p:txBody>
          <a:bodyPr vert="horz" wrap="square" lIns="0" tIns="0" rIns="0" bIns="0" rtlCol="0" anchor="ctr" anchorCtr="0"/>
          <a:lstStyle/>
          <a:p>
            <a:pPr algn="ctr">
              <a:defRPr/>
            </a:pPr>
          </a:p>
        </p:txBody>
      </p:sp>
      <p:pic>
        <p:nvPicPr>
          <p:cNvPr id="21" name="Picture 2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78400" y="4762500"/>
            <a:ext cx="279400" cy="279400"/>
          </a:xfrm>
          <a:prstGeom prst="rect">
            <a:avLst/>
          </a:prstGeom>
        </p:spPr>
      </p:pic>
      <p:sp>
        <p:nvSpPr>
          <p:cNvPr id="22" name="AutoShape 22"/>
          <p:cNvSpPr/>
          <p:nvPr/>
        </p:nvSpPr>
        <p:spPr>
          <a:xfrm>
            <a:off x="5308600" y="4699000"/>
            <a:ext cx="107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Cost Reduction &amp; Efficiency</a:t>
            </a:r>
            <a:endParaRPr lang="en-US" sz="1100"/>
          </a:p>
        </p:txBody>
      </p:sp>
      <p:cxnSp>
        <p:nvCxnSpPr>
          <p:cNvPr id="23" name="Connector 23"/>
          <p:cNvCxnSpPr/>
          <p:nvPr/>
        </p:nvCxnSpPr>
        <p:spPr>
          <a:xfrm rot="-35077">
            <a:off x="4978432" y="5327650"/>
            <a:ext cx="12446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24" name="AutoShape 24"/>
          <p:cNvSpPr/>
          <p:nvPr/>
        </p:nvSpPr>
        <p:spPr>
          <a:xfrm>
            <a:off x="4978400" y="5461000"/>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CCD6F6">
                    <a:alpha val="90196"/>
                  </a:srgbClr>
                </a:solidFill>
                <a:latin typeface="Noto Sans SC"/>
                <a:ea typeface="Noto Sans SC"/>
                <a:cs typeface="Noto Sans SC"/>
                <a:sym typeface="Noto Sans SC"/>
              </a:rPr>
              <a:t>Automate repetitive tasks, cut labor costs, and boost operational efficiency.</a:t>
            </a:r>
            <a:endParaRPr lang="en-US" sz="1100"/>
          </a:p>
        </p:txBody>
      </p:sp>
      <p:sp>
        <p:nvSpPr>
          <p:cNvPr id="25" name="AutoShape 25"/>
          <p:cNvSpPr/>
          <p:nvPr/>
        </p:nvSpPr>
        <p:spPr>
          <a:xfrm>
            <a:off x="6515100" y="4572000"/>
            <a:ext cx="1549400" cy="1651000"/>
          </a:xfrm>
          <a:prstGeom prst="roundRect">
            <a:avLst>
              <a:gd name="adj" fmla="val 0"/>
            </a:avLst>
          </a:prstGeom>
          <a:solidFill>
            <a:srgbClr val="172C47">
              <a:alpha val="70000"/>
            </a:srgbClr>
          </a:solidFill>
          <a:ln w="25400" cap="flat" cmpd="sng">
            <a:noFill/>
            <a:prstDash val="solid"/>
            <a:round/>
          </a:ln>
        </p:spPr>
        <p:txBody>
          <a:bodyPr vert="horz" wrap="square" lIns="0" tIns="0" rIns="0" bIns="0" rtlCol="0" anchor="ctr" anchorCtr="0"/>
          <a:lstStyle/>
          <a:p>
            <a:pPr algn="ctr">
              <a:defRPr/>
            </a:pPr>
          </a:p>
        </p:txBody>
      </p:sp>
      <p:pic>
        <p:nvPicPr>
          <p:cNvPr id="26" name="Picture 2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4762500"/>
            <a:ext cx="279400" cy="279400"/>
          </a:xfrm>
          <a:prstGeom prst="rect">
            <a:avLst/>
          </a:prstGeom>
        </p:spPr>
      </p:pic>
      <p:sp>
        <p:nvSpPr>
          <p:cNvPr id="27" name="AutoShape 27"/>
          <p:cNvSpPr/>
          <p:nvPr/>
        </p:nvSpPr>
        <p:spPr>
          <a:xfrm>
            <a:off x="6997700" y="4699000"/>
            <a:ext cx="107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Data-Driven</a:t>
            </a:r>
            <a:endParaRPr lang="en-US" sz="1100"/>
          </a:p>
        </p:txBody>
      </p:sp>
      <p:cxnSp>
        <p:nvCxnSpPr>
          <p:cNvPr id="28" name="Connector 28"/>
          <p:cNvCxnSpPr/>
          <p:nvPr/>
        </p:nvCxnSpPr>
        <p:spPr>
          <a:xfrm rot="-35077">
            <a:off x="6667532" y="5327650"/>
            <a:ext cx="12446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29" name="AutoShape 29"/>
          <p:cNvSpPr/>
          <p:nvPr/>
        </p:nvSpPr>
        <p:spPr>
          <a:xfrm>
            <a:off x="6667500" y="5461000"/>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CCD6F6">
                    <a:alpha val="90196"/>
                  </a:srgbClr>
                </a:solidFill>
                <a:latin typeface="Noto Sans SC"/>
                <a:ea typeface="Noto Sans SC"/>
                <a:cs typeface="Noto Sans SC"/>
                <a:sym typeface="Noto Sans SC"/>
              </a:rPr>
              <a:t>Integrate full-link data for real-time insights and support scientific decisions.</a:t>
            </a:r>
            <a:endParaRPr lang="en-US" sz="1100"/>
          </a:p>
        </p:txBody>
      </p:sp>
      <p:sp>
        <p:nvSpPr>
          <p:cNvPr id="30" name="AutoShape 30"/>
          <p:cNvSpPr/>
          <p:nvPr/>
        </p:nvSpPr>
        <p:spPr>
          <a:xfrm>
            <a:off x="8191500" y="4572000"/>
            <a:ext cx="1549400" cy="1651000"/>
          </a:xfrm>
          <a:prstGeom prst="roundRect">
            <a:avLst>
              <a:gd name="adj" fmla="val 0"/>
            </a:avLst>
          </a:prstGeom>
          <a:solidFill>
            <a:srgbClr val="172C47">
              <a:alpha val="70000"/>
            </a:srgbClr>
          </a:solidFill>
          <a:ln w="25400" cap="flat" cmpd="sng">
            <a:noFill/>
            <a:prstDash val="solid"/>
            <a:round/>
          </a:ln>
        </p:spPr>
        <p:txBody>
          <a:bodyPr vert="horz" wrap="square" lIns="0" tIns="0" rIns="0" bIns="0" rtlCol="0" anchor="ctr" anchorCtr="0"/>
          <a:lstStyle/>
          <a:p>
            <a:pPr algn="ctr">
              <a:defRPr/>
            </a:pPr>
          </a:p>
        </p:txBody>
      </p:sp>
      <p:pic>
        <p:nvPicPr>
          <p:cNvPr id="31" name="Picture 3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43900" y="4762500"/>
            <a:ext cx="279400" cy="279400"/>
          </a:xfrm>
          <a:prstGeom prst="rect">
            <a:avLst/>
          </a:prstGeom>
        </p:spPr>
      </p:pic>
      <p:sp>
        <p:nvSpPr>
          <p:cNvPr id="32" name="AutoShape 32"/>
          <p:cNvSpPr/>
          <p:nvPr/>
        </p:nvSpPr>
        <p:spPr>
          <a:xfrm>
            <a:off x="8674100" y="4699000"/>
            <a:ext cx="107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Agile Collaboration</a:t>
            </a:r>
            <a:endParaRPr lang="en-US" sz="1100"/>
          </a:p>
        </p:txBody>
      </p:sp>
      <p:cxnSp>
        <p:nvCxnSpPr>
          <p:cNvPr id="33" name="Connector 33"/>
          <p:cNvCxnSpPr/>
          <p:nvPr/>
        </p:nvCxnSpPr>
        <p:spPr>
          <a:xfrm rot="-35077">
            <a:off x="8343932" y="5327650"/>
            <a:ext cx="12446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34" name="AutoShape 34"/>
          <p:cNvSpPr/>
          <p:nvPr/>
        </p:nvSpPr>
        <p:spPr>
          <a:xfrm>
            <a:off x="8343900" y="5461000"/>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CCD6F6">
                    <a:alpha val="90196"/>
                  </a:srgbClr>
                </a:solidFill>
                <a:latin typeface="Noto Sans SC"/>
                <a:ea typeface="Noto Sans SC"/>
                <a:cs typeface="Noto Sans SC"/>
                <a:sym typeface="Noto Sans SC"/>
              </a:rPr>
              <a:t>Break down silos, enable seamless info flow, and enhance team collaboration.</a:t>
            </a:r>
            <a:endParaRPr lang="en-US" sz="1100"/>
          </a:p>
        </p:txBody>
      </p:sp>
      <p:sp>
        <p:nvSpPr>
          <p:cNvPr id="35" name="AutoShape 35"/>
          <p:cNvSpPr/>
          <p:nvPr/>
        </p:nvSpPr>
        <p:spPr>
          <a:xfrm>
            <a:off x="9880600" y="4572000"/>
            <a:ext cx="1549400" cy="1651000"/>
          </a:xfrm>
          <a:prstGeom prst="roundRect">
            <a:avLst>
              <a:gd name="adj" fmla="val 0"/>
            </a:avLst>
          </a:prstGeom>
          <a:solidFill>
            <a:srgbClr val="172C47">
              <a:alpha val="70000"/>
            </a:srgbClr>
          </a:solidFill>
          <a:ln w="25400" cap="flat" cmpd="sng">
            <a:noFill/>
            <a:prstDash val="solid"/>
            <a:round/>
          </a:ln>
        </p:spPr>
        <p:txBody>
          <a:bodyPr vert="horz" wrap="square" lIns="0" tIns="0" rIns="0" bIns="0" rtlCol="0" anchor="ctr" anchorCtr="0"/>
          <a:lstStyle/>
          <a:p>
            <a:pPr algn="ctr">
              <a:defRPr/>
            </a:pPr>
          </a:p>
        </p:txBody>
      </p:sp>
      <p:pic>
        <p:nvPicPr>
          <p:cNvPr id="36" name="Picture 3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033000" y="4762500"/>
            <a:ext cx="279400" cy="279400"/>
          </a:xfrm>
          <a:prstGeom prst="rect">
            <a:avLst/>
          </a:prstGeom>
        </p:spPr>
      </p:pic>
      <p:sp>
        <p:nvSpPr>
          <p:cNvPr id="37" name="AutoShape 37"/>
          <p:cNvSpPr/>
          <p:nvPr/>
        </p:nvSpPr>
        <p:spPr>
          <a:xfrm>
            <a:off x="10363200" y="4699000"/>
            <a:ext cx="107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Secure &amp; Reliable</a:t>
            </a:r>
            <a:endParaRPr lang="en-US" sz="1100"/>
          </a:p>
        </p:txBody>
      </p:sp>
      <p:cxnSp>
        <p:nvCxnSpPr>
          <p:cNvPr id="38" name="Connector 38"/>
          <p:cNvCxnSpPr/>
          <p:nvPr/>
        </p:nvCxnSpPr>
        <p:spPr>
          <a:xfrm rot="-35077">
            <a:off x="10033032" y="5327650"/>
            <a:ext cx="12446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39" name="AutoShape 39"/>
          <p:cNvSpPr/>
          <p:nvPr/>
        </p:nvSpPr>
        <p:spPr>
          <a:xfrm>
            <a:off x="10033000" y="5461000"/>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CCD6F6">
                    <a:alpha val="90196"/>
                  </a:srgbClr>
                </a:solidFill>
                <a:latin typeface="Noto Sans SC"/>
                <a:ea typeface="Noto Sans SC"/>
                <a:cs typeface="Noto Sans SC"/>
                <a:sym typeface="Noto Sans SC"/>
              </a:rPr>
              <a:t>Adopt enterprise-grade security architecture to protect data assets and compliance.</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64FFDA"/>
                </a:solidFill>
                <a:latin typeface="Noto Sans SC"/>
                <a:ea typeface="Noto Sans SC"/>
                <a:cs typeface="Noto Sans SC"/>
                <a:sym typeface="Noto Sans SC"/>
              </a:rPr>
              <a:t>Core Features: An Integrated Solution</a:t>
            </a:r>
            <a:endParaRPr lang="en-US" sz="1100"/>
          </a:p>
        </p:txBody>
      </p:sp>
      <p:sp>
        <p:nvSpPr>
          <p:cNvPr id="4" name="AutoShape 4"/>
          <p:cNvSpPr/>
          <p:nvPr/>
        </p:nvSpPr>
        <p:spPr>
          <a:xfrm>
            <a:off x="762000" y="2032000"/>
            <a:ext cx="2540000" cy="3683000"/>
          </a:xfrm>
          <a:prstGeom prst="roundRect">
            <a:avLst>
              <a:gd name="adj" fmla="val 0"/>
            </a:avLst>
          </a:prstGeom>
          <a:solidFill>
            <a:srgbClr val="172A45">
              <a:alpha val="85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8890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64FFDA"/>
                </a:solidFill>
                <a:latin typeface="Noto Sans SC"/>
                <a:ea typeface="Noto Sans SC"/>
                <a:cs typeface="Noto Sans SC"/>
                <a:sym typeface="Noto Sans SC"/>
              </a:rPr>
              <a:t>Intelligent Process Engine</a:t>
            </a:r>
            <a:endParaRPr lang="en-US" sz="1100"/>
          </a:p>
        </p:txBody>
      </p:sp>
      <p:cxnSp>
        <p:nvCxnSpPr>
          <p:cNvPr id="6" name="Connector 6"/>
          <p:cNvCxnSpPr/>
          <p:nvPr/>
        </p:nvCxnSpPr>
        <p:spPr>
          <a:xfrm rot="-21485">
            <a:off x="1016020" y="4057650"/>
            <a:ext cx="2032000" cy="12700"/>
          </a:xfrm>
          <a:prstGeom prst="straightConnector1">
            <a:avLst/>
          </a:prstGeom>
          <a:solidFill>
            <a:srgbClr val="DEE0E3">
              <a:alpha val="100000"/>
            </a:srgbClr>
          </a:solidFill>
          <a:ln w="12700" cap="flat" cmpd="sng">
            <a:solidFill>
              <a:srgbClr val="64FFDA">
                <a:alpha val="50000"/>
              </a:srgbClr>
            </a:solidFill>
            <a:prstDash val="solid"/>
            <a:round/>
            <a:headEnd type="none" w="med" len="med"/>
            <a:tailEnd type="none" w="med" len="med"/>
          </a:ln>
        </p:spPr>
      </p:cxnSp>
      <p:sp>
        <p:nvSpPr>
          <p:cNvPr id="7" name="AutoShape 7"/>
          <p:cNvSpPr/>
          <p:nvPr/>
        </p:nvSpPr>
        <p:spPr>
          <a:xfrm>
            <a:off x="889000" y="4191000"/>
            <a:ext cx="228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CD6F6"/>
                </a:solidFill>
                <a:latin typeface="Noto Sans SC"/>
                <a:ea typeface="Noto Sans SC"/>
                <a:cs typeface="Noto Sans SC"/>
                <a:sym typeface="Noto Sans SC"/>
              </a:rPr>
              <a:t>Build approval and workflow processes through visual drag-and-drop. Supports complex logic like conditional branching, joint &amp; parallel signing, automating and standardizing business processes.</a:t>
            </a:r>
            <a:endParaRPr lang="en-US" sz="1100"/>
          </a:p>
        </p:txBody>
      </p:sp>
      <p:sp>
        <p:nvSpPr>
          <p:cNvPr id="8" name="AutoShape 8"/>
          <p:cNvSpPr/>
          <p:nvPr/>
        </p:nvSpPr>
        <p:spPr>
          <a:xfrm>
            <a:off x="3467100" y="2032000"/>
            <a:ext cx="2540000" cy="3683000"/>
          </a:xfrm>
          <a:prstGeom prst="roundRect">
            <a:avLst>
              <a:gd name="adj" fmla="val 0"/>
            </a:avLst>
          </a:prstGeom>
          <a:solidFill>
            <a:srgbClr val="172A45">
              <a:alpha val="85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35941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64FFDA"/>
                </a:solidFill>
                <a:latin typeface="Noto Sans SC"/>
                <a:ea typeface="Noto Sans SC"/>
                <a:cs typeface="Noto Sans SC"/>
                <a:sym typeface="Noto Sans SC"/>
              </a:rPr>
              <a:t>Multi-dimensional Data Analysis</a:t>
            </a:r>
            <a:endParaRPr lang="en-US" sz="1100"/>
          </a:p>
        </p:txBody>
      </p:sp>
      <p:cxnSp>
        <p:nvCxnSpPr>
          <p:cNvPr id="10" name="Connector 10"/>
          <p:cNvCxnSpPr/>
          <p:nvPr/>
        </p:nvCxnSpPr>
        <p:spPr>
          <a:xfrm rot="-21485">
            <a:off x="3721120" y="4057650"/>
            <a:ext cx="2032000" cy="12700"/>
          </a:xfrm>
          <a:prstGeom prst="straightConnector1">
            <a:avLst/>
          </a:prstGeom>
          <a:solidFill>
            <a:srgbClr val="DEE0E3">
              <a:alpha val="100000"/>
            </a:srgbClr>
          </a:solidFill>
          <a:ln w="12700" cap="flat" cmpd="sng">
            <a:solidFill>
              <a:srgbClr val="64FFDA">
                <a:alpha val="50000"/>
              </a:srgbClr>
            </a:solidFill>
            <a:prstDash val="solid"/>
            <a:round/>
            <a:headEnd type="none" w="med" len="med"/>
            <a:tailEnd type="none" w="med" len="med"/>
          </a:ln>
        </p:spPr>
      </p:cxnSp>
      <p:sp>
        <p:nvSpPr>
          <p:cNvPr id="11" name="AutoShape 11"/>
          <p:cNvSpPr/>
          <p:nvPr/>
        </p:nvSpPr>
        <p:spPr>
          <a:xfrm>
            <a:off x="3594100" y="4191000"/>
            <a:ext cx="228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CD6F6"/>
                </a:solidFill>
                <a:latin typeface="Noto Sans SC"/>
                <a:ea typeface="Noto Sans SC"/>
                <a:cs typeface="Noto Sans SC"/>
                <a:sym typeface="Noto Sans SC"/>
              </a:rPr>
              <a:t>Built-in rich report templates &amp; custom dashboards. Supports multi-dimensional data drilling, real-time calculations &amp; visualization for instant business insights.</a:t>
            </a:r>
            <a:endParaRPr lang="en-US" sz="1100"/>
          </a:p>
        </p:txBody>
      </p:sp>
      <p:sp>
        <p:nvSpPr>
          <p:cNvPr id="12" name="AutoShape 12"/>
          <p:cNvSpPr/>
          <p:nvPr/>
        </p:nvSpPr>
        <p:spPr>
          <a:xfrm>
            <a:off x="6172200" y="2032000"/>
            <a:ext cx="2540000" cy="3683000"/>
          </a:xfrm>
          <a:prstGeom prst="roundRect">
            <a:avLst>
              <a:gd name="adj" fmla="val 0"/>
            </a:avLst>
          </a:prstGeom>
          <a:solidFill>
            <a:srgbClr val="172A45">
              <a:alpha val="85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13" name="AutoShape 13"/>
          <p:cNvSpPr/>
          <p:nvPr/>
        </p:nvSpPr>
        <p:spPr>
          <a:xfrm>
            <a:off x="62992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64FFDA"/>
                </a:solidFill>
                <a:latin typeface="Noto Sans SC"/>
                <a:ea typeface="Noto Sans SC"/>
                <a:cs typeface="Noto Sans SC"/>
                <a:sym typeface="Noto Sans SC"/>
              </a:rPr>
              <a:t>Efficient Collaborative Office</a:t>
            </a:r>
            <a:endParaRPr lang="en-US" sz="1100"/>
          </a:p>
        </p:txBody>
      </p:sp>
      <p:cxnSp>
        <p:nvCxnSpPr>
          <p:cNvPr id="14" name="Connector 14"/>
          <p:cNvCxnSpPr/>
          <p:nvPr/>
        </p:nvCxnSpPr>
        <p:spPr>
          <a:xfrm rot="-21485">
            <a:off x="6426220" y="4057650"/>
            <a:ext cx="2032000" cy="12700"/>
          </a:xfrm>
          <a:prstGeom prst="straightConnector1">
            <a:avLst/>
          </a:prstGeom>
          <a:solidFill>
            <a:srgbClr val="DEE0E3">
              <a:alpha val="100000"/>
            </a:srgbClr>
          </a:solidFill>
          <a:ln w="12700" cap="flat" cmpd="sng">
            <a:solidFill>
              <a:srgbClr val="64FFDA">
                <a:alpha val="50000"/>
              </a:srgbClr>
            </a:solidFill>
            <a:prstDash val="solid"/>
            <a:round/>
            <a:headEnd type="none" w="med" len="med"/>
            <a:tailEnd type="none" w="med" len="med"/>
          </a:ln>
        </p:spPr>
      </p:cxnSp>
      <p:sp>
        <p:nvSpPr>
          <p:cNvPr id="15" name="AutoShape 15"/>
          <p:cNvSpPr/>
          <p:nvPr/>
        </p:nvSpPr>
        <p:spPr>
          <a:xfrm>
            <a:off x="6299200" y="4191000"/>
            <a:ext cx="228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CD6F6"/>
                </a:solidFill>
                <a:latin typeface="Noto Sans SC"/>
                <a:ea typeface="Noto Sans SC"/>
                <a:cs typeface="Noto Sans SC"/>
                <a:sym typeface="Noto Sans SC"/>
              </a:rPr>
              <a:t>Integrates instant messaging, online docs &amp; task management. Supports collaborative editing and auto-versioning for zero-delay team communication.</a:t>
            </a:r>
            <a:endParaRPr lang="en-US" sz="1100"/>
          </a:p>
        </p:txBody>
      </p:sp>
      <p:sp>
        <p:nvSpPr>
          <p:cNvPr id="16" name="AutoShape 16"/>
          <p:cNvSpPr/>
          <p:nvPr/>
        </p:nvSpPr>
        <p:spPr>
          <a:xfrm>
            <a:off x="8877300" y="2032000"/>
            <a:ext cx="2540000" cy="3683000"/>
          </a:xfrm>
          <a:prstGeom prst="roundRect">
            <a:avLst>
              <a:gd name="adj" fmla="val 0"/>
            </a:avLst>
          </a:prstGeom>
          <a:solidFill>
            <a:srgbClr val="172A45">
              <a:alpha val="85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17" name="AutoShape 17"/>
          <p:cNvSpPr/>
          <p:nvPr/>
        </p:nvSpPr>
        <p:spPr>
          <a:xfrm>
            <a:off x="9004300" y="34290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64FFDA"/>
                </a:solidFill>
                <a:latin typeface="Noto Sans SC"/>
                <a:ea typeface="Noto Sans SC"/>
                <a:cs typeface="Noto Sans SC"/>
                <a:sym typeface="Noto Sans SC"/>
              </a:rPr>
              <a:t>Mobile Office Portal</a:t>
            </a:r>
            <a:endParaRPr lang="en-US" sz="1100"/>
          </a:p>
        </p:txBody>
      </p:sp>
      <p:cxnSp>
        <p:nvCxnSpPr>
          <p:cNvPr id="18" name="Connector 18"/>
          <p:cNvCxnSpPr/>
          <p:nvPr/>
        </p:nvCxnSpPr>
        <p:spPr>
          <a:xfrm rot="-21485">
            <a:off x="9131320" y="4057650"/>
            <a:ext cx="2032000" cy="12700"/>
          </a:xfrm>
          <a:prstGeom prst="straightConnector1">
            <a:avLst/>
          </a:prstGeom>
          <a:solidFill>
            <a:srgbClr val="DEE0E3">
              <a:alpha val="100000"/>
            </a:srgbClr>
          </a:solidFill>
          <a:ln w="12700" cap="flat" cmpd="sng">
            <a:solidFill>
              <a:srgbClr val="64FFDA">
                <a:alpha val="50000"/>
              </a:srgbClr>
            </a:solidFill>
            <a:prstDash val="solid"/>
            <a:round/>
            <a:headEnd type="none" w="med" len="med"/>
            <a:tailEnd type="none" w="med" len="med"/>
          </a:ln>
        </p:spPr>
      </p:cxnSp>
      <p:sp>
        <p:nvSpPr>
          <p:cNvPr id="19" name="AutoShape 19"/>
          <p:cNvSpPr/>
          <p:nvPr/>
        </p:nvSpPr>
        <p:spPr>
          <a:xfrm>
            <a:off x="9004300" y="4191000"/>
            <a:ext cx="228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CD6F6"/>
                </a:solidFill>
                <a:latin typeface="Noto Sans SC"/>
                <a:ea typeface="Noto Sans SC"/>
                <a:cs typeface="Noto Sans SC"/>
                <a:sym typeface="Noto Sans SC"/>
              </a:rPr>
              <a:t>Provides full-functional iOS &amp; Android Apps. Handle approvals, view reports &amp; collaborate anytime, anywhere, breaking location limits.</a:t>
            </a:r>
            <a:endParaRPr lang="en-US" sz="1100"/>
          </a:p>
        </p:txBody>
      </p:sp>
      <p:sp>
        <p:nvSpPr>
          <p:cNvPr id="20" name="AutoShape 20"/>
          <p:cNvSpPr/>
          <p:nvPr/>
        </p:nvSpPr>
        <p:spPr>
          <a:xfrm>
            <a:off x="762000" y="5969000"/>
            <a:ext cx="10668000" cy="508000"/>
          </a:xfrm>
          <a:prstGeom prst="roundRect">
            <a:avLst>
              <a:gd name="adj" fmla="val 0"/>
            </a:avLst>
          </a:prstGeom>
          <a:solidFill>
            <a:srgbClr val="172A45">
              <a:alpha val="80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nvSpPr>
        <p:spPr>
          <a:xfrm>
            <a:off x="889000" y="6070600"/>
            <a:ext cx="10414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CCD6F6"/>
                </a:solidFill>
                <a:latin typeface="Noto Sans SC"/>
                <a:ea typeface="Noto Sans SC"/>
                <a:cs typeface="Noto Sans SC"/>
                <a:sym typeface="Noto Sans SC"/>
              </a:rPr>
              <a:t>The four core modules are deeply integrated to build an efficient, intelligent, and flexible integrated digital management system for enterprises.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64FFDA"/>
                </a:solidFill>
                <a:latin typeface="Noto Sans SC"/>
                <a:ea typeface="Noto Sans SC"/>
                <a:cs typeface="Noto Sans SC"/>
                <a:sym typeface="Noto Sans SC"/>
              </a:rPr>
              <a:t>Product Advantages: Why Choose Us?</a:t>
            </a:r>
            <a:endParaRPr lang="en-US" sz="1100"/>
          </a:p>
        </p:txBody>
      </p:sp>
      <p:sp>
        <p:nvSpPr>
          <p:cNvPr id="4" name="AutoShape 4"/>
          <p:cNvSpPr/>
          <p:nvPr/>
        </p:nvSpPr>
        <p:spPr>
          <a:xfrm>
            <a:off x="762000" y="1778000"/>
            <a:ext cx="3429000" cy="2286000"/>
          </a:xfrm>
          <a:prstGeom prst="roundRect">
            <a:avLst>
              <a:gd name="adj" fmla="val 0"/>
            </a:avLst>
          </a:prstGeom>
          <a:solidFill>
            <a:srgbClr val="112240">
              <a:alpha val="9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762000" y="1778000"/>
            <a:ext cx="50800" cy="22860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952500" y="19685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FFDA"/>
                </a:solidFill>
                <a:latin typeface="Noto Sans SC"/>
                <a:ea typeface="Noto Sans SC"/>
                <a:cs typeface="Noto Sans SC"/>
                <a:sym typeface="Noto Sans SC"/>
              </a:rPr>
              <a:t>01 Technical Architecture</a:t>
            </a:r>
            <a:endParaRPr lang="en-US" sz="1100"/>
          </a:p>
        </p:txBody>
      </p:sp>
      <p:cxnSp>
        <p:nvCxnSpPr>
          <p:cNvPr id="7" name="Connector 7"/>
          <p:cNvCxnSpPr/>
          <p:nvPr/>
        </p:nvCxnSpPr>
        <p:spPr>
          <a:xfrm rot="-14323">
            <a:off x="952513" y="2470150"/>
            <a:ext cx="3048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8" name="AutoShape 8"/>
          <p:cNvSpPr/>
          <p:nvPr/>
        </p:nvSpPr>
        <p:spPr>
          <a:xfrm>
            <a:off x="952500" y="26416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CD6F6"/>
                </a:solidFill>
                <a:latin typeface="Noto Sans SC"/>
                <a:ea typeface="Noto Sans SC"/>
                <a:cs typeface="Noto Sans SC"/>
                <a:sym typeface="Noto Sans SC"/>
              </a:rPr>
              <a:t>Traditional: Monolithic architecture, high coupling, difficult to scale.</a:t>
            </a:r>
            <a:endParaRPr lang="en-US" sz="1100"/>
          </a:p>
        </p:txBody>
      </p:sp>
      <p:sp>
        <p:nvSpPr>
          <p:cNvPr id="9" name="AutoShape 9"/>
          <p:cNvSpPr/>
          <p:nvPr/>
        </p:nvSpPr>
        <p:spPr>
          <a:xfrm>
            <a:off x="952500" y="3302000"/>
            <a:ext cx="311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FFFFFF">
                    <a:alpha val="94902"/>
                  </a:srgbClr>
                </a:solidFill>
                <a:latin typeface="Noto Sans SC"/>
                <a:ea typeface="Noto Sans SC"/>
                <a:cs typeface="Noto Sans SC"/>
                <a:sym typeface="Noto Sans SC"/>
              </a:rPr>
              <a:t>Product:</a:t>
            </a:r>
            <a:r>
              <a:rPr lang="en-US" sz="1200" b="1" i="0" u="none" strike="noStrike">
                <a:solidFill>
                  <a:srgbClr val="64FFDA"/>
                </a:solidFill>
                <a:latin typeface="Noto Sans SC"/>
                <a:ea typeface="Noto Sans SC"/>
                <a:cs typeface="Noto Sans SC"/>
                <a:sym typeface="Noto Sans SC"/>
              </a:rPr>
              <a:t>Microservice architecture</a:t>
            </a:r>
            <a:r>
              <a:rPr lang="en-US" sz="1200" b="1" i="0" u="none" strike="noStrike">
                <a:solidFill>
                  <a:srgbClr val="FFFFFF">
                    <a:alpha val="94902"/>
                  </a:srgbClr>
                </a:solidFill>
                <a:latin typeface="Noto Sans SC"/>
                <a:ea typeface="Noto Sans SC"/>
                <a:cs typeface="Noto Sans SC"/>
                <a:sym typeface="Noto Sans SC"/>
              </a:rPr>
              <a:t>, high cohesion, low coupling, easy to scale and maintain.</a:t>
            </a:r>
            <a:endParaRPr lang="en-US" sz="1100"/>
          </a:p>
        </p:txBody>
      </p:sp>
      <p:sp>
        <p:nvSpPr>
          <p:cNvPr id="10" name="AutoShape 10"/>
          <p:cNvSpPr/>
          <p:nvPr/>
        </p:nvSpPr>
        <p:spPr>
          <a:xfrm>
            <a:off x="4381500" y="1778000"/>
            <a:ext cx="3429000" cy="2286000"/>
          </a:xfrm>
          <a:prstGeom prst="roundRect">
            <a:avLst>
              <a:gd name="adj" fmla="val 0"/>
            </a:avLst>
          </a:prstGeom>
          <a:solidFill>
            <a:srgbClr val="112240">
              <a:alpha val="9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11" name="AutoShape 11"/>
          <p:cNvSpPr/>
          <p:nvPr/>
        </p:nvSpPr>
        <p:spPr>
          <a:xfrm>
            <a:off x="4381500" y="1778000"/>
            <a:ext cx="50800" cy="22860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4572000" y="19685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FFDA"/>
                </a:solidFill>
                <a:latin typeface="Noto Sans SC"/>
                <a:ea typeface="Noto Sans SC"/>
                <a:cs typeface="Noto Sans SC"/>
                <a:sym typeface="Noto Sans SC"/>
              </a:rPr>
              <a:t>02 Deployment Method</a:t>
            </a:r>
            <a:endParaRPr lang="en-US" sz="1100"/>
          </a:p>
        </p:txBody>
      </p:sp>
      <p:cxnSp>
        <p:nvCxnSpPr>
          <p:cNvPr id="13" name="Connector 13"/>
          <p:cNvCxnSpPr/>
          <p:nvPr/>
        </p:nvCxnSpPr>
        <p:spPr>
          <a:xfrm rot="-14323">
            <a:off x="4572013" y="2470150"/>
            <a:ext cx="3048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4" name="AutoShape 14"/>
          <p:cNvSpPr/>
          <p:nvPr/>
        </p:nvSpPr>
        <p:spPr>
          <a:xfrm>
            <a:off x="4572000" y="26416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CD6F6"/>
                </a:solidFill>
                <a:latin typeface="Noto Sans SC"/>
                <a:ea typeface="Noto Sans SC"/>
                <a:cs typeface="Noto Sans SC"/>
                <a:sym typeface="Noto Sans SC"/>
              </a:rPr>
              <a:t>Traditional: Only supports private deployment, high cost.</a:t>
            </a:r>
            <a:endParaRPr lang="en-US" sz="1100"/>
          </a:p>
        </p:txBody>
      </p:sp>
      <p:sp>
        <p:nvSpPr>
          <p:cNvPr id="15" name="AutoShape 15"/>
          <p:cNvSpPr/>
          <p:nvPr/>
        </p:nvSpPr>
        <p:spPr>
          <a:xfrm>
            <a:off x="4572000" y="3302000"/>
            <a:ext cx="311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FFFFFF">
                    <a:alpha val="94902"/>
                  </a:srgbClr>
                </a:solidFill>
                <a:latin typeface="Noto Sans SC"/>
                <a:ea typeface="Noto Sans SC"/>
                <a:cs typeface="Noto Sans SC"/>
                <a:sym typeface="Noto Sans SC"/>
              </a:rPr>
              <a:t>Product:</a:t>
            </a:r>
            <a:r>
              <a:rPr lang="en-US" sz="1200" b="1" i="0" u="none" strike="noStrike">
                <a:solidFill>
                  <a:srgbClr val="64FFDA"/>
                </a:solidFill>
                <a:latin typeface="Noto Sans SC"/>
                <a:ea typeface="Noto Sans SC"/>
                <a:cs typeface="Noto Sans SC"/>
                <a:sym typeface="Noto Sans SC"/>
              </a:rPr>
              <a:t>Supports public cloud, private cloud, hybrid cloud</a:t>
            </a:r>
            <a:r>
              <a:rPr lang="en-US" sz="1200" b="1" i="0" u="none" strike="noStrike">
                <a:solidFill>
                  <a:srgbClr val="FFFFFF">
                    <a:alpha val="94902"/>
                  </a:srgbClr>
                </a:solidFill>
                <a:latin typeface="Noto Sans SC"/>
                <a:ea typeface="Noto Sans SC"/>
                <a:cs typeface="Noto Sans SC"/>
                <a:sym typeface="Noto Sans SC"/>
              </a:rPr>
              <a:t>deployment modes, flexible choice.</a:t>
            </a:r>
            <a:endParaRPr lang="en-US" sz="1100"/>
          </a:p>
        </p:txBody>
      </p:sp>
      <p:sp>
        <p:nvSpPr>
          <p:cNvPr id="16" name="AutoShape 16"/>
          <p:cNvSpPr/>
          <p:nvPr/>
        </p:nvSpPr>
        <p:spPr>
          <a:xfrm>
            <a:off x="8001000" y="1778000"/>
            <a:ext cx="3429000" cy="2286000"/>
          </a:xfrm>
          <a:prstGeom prst="roundRect">
            <a:avLst>
              <a:gd name="adj" fmla="val 0"/>
            </a:avLst>
          </a:prstGeom>
          <a:solidFill>
            <a:srgbClr val="112240">
              <a:alpha val="9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17" name="AutoShape 17"/>
          <p:cNvSpPr/>
          <p:nvPr/>
        </p:nvSpPr>
        <p:spPr>
          <a:xfrm>
            <a:off x="8001000" y="1778000"/>
            <a:ext cx="50800" cy="22860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8191500" y="19685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FFDA"/>
                </a:solidFill>
                <a:latin typeface="Noto Sans SC"/>
                <a:ea typeface="Noto Sans SC"/>
                <a:cs typeface="Noto Sans SC"/>
                <a:sym typeface="Noto Sans SC"/>
              </a:rPr>
              <a:t>03 Integration Capability</a:t>
            </a:r>
            <a:endParaRPr lang="en-US" sz="1100"/>
          </a:p>
        </p:txBody>
      </p:sp>
      <p:cxnSp>
        <p:nvCxnSpPr>
          <p:cNvPr id="19" name="Connector 19"/>
          <p:cNvCxnSpPr/>
          <p:nvPr/>
        </p:nvCxnSpPr>
        <p:spPr>
          <a:xfrm rot="-14323">
            <a:off x="8191513" y="2470150"/>
            <a:ext cx="3048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20" name="AutoShape 20"/>
          <p:cNvSpPr/>
          <p:nvPr/>
        </p:nvSpPr>
        <p:spPr>
          <a:xfrm>
            <a:off x="8191500" y="26416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CD6F6"/>
                </a:solidFill>
                <a:latin typeface="Noto Sans SC"/>
                <a:ea typeface="Noto Sans SC"/>
                <a:cs typeface="Noto Sans SC"/>
                <a:sym typeface="Noto Sans SC"/>
              </a:rPr>
              <a:t>Traditional: Limited API interfaces, complex integration.</a:t>
            </a:r>
            <a:endParaRPr lang="en-US" sz="1100"/>
          </a:p>
        </p:txBody>
      </p:sp>
      <p:sp>
        <p:nvSpPr>
          <p:cNvPr id="21" name="AutoShape 21"/>
          <p:cNvSpPr/>
          <p:nvPr/>
        </p:nvSpPr>
        <p:spPr>
          <a:xfrm>
            <a:off x="8191500" y="3302000"/>
            <a:ext cx="311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FFFFFF">
                    <a:alpha val="94902"/>
                  </a:srgbClr>
                </a:solidFill>
                <a:latin typeface="Noto Sans SC"/>
                <a:ea typeface="Noto Sans SC"/>
                <a:cs typeface="Noto Sans SC"/>
                <a:sym typeface="Noto Sans SC"/>
              </a:rPr>
              <a:t>Product:</a:t>
            </a:r>
            <a:r>
              <a:rPr lang="en-US" sz="1200" b="1" i="0" u="none" strike="noStrike">
                <a:solidFill>
                  <a:srgbClr val="64FFDA"/>
                </a:solidFill>
                <a:latin typeface="Noto Sans SC"/>
                <a:ea typeface="Noto Sans SC"/>
                <a:cs typeface="Noto Sans SC"/>
                <a:sym typeface="Noto Sans SC"/>
              </a:rPr>
              <a:t>Provides rich API interfaces and standard connectors</a:t>
            </a:r>
            <a:r>
              <a:rPr lang="en-US" sz="1200" b="1" i="0" u="none" strike="noStrike">
                <a:solidFill>
                  <a:srgbClr val="FFFFFF">
                    <a:alpha val="94902"/>
                  </a:srgbClr>
                </a:solidFill>
                <a:latin typeface="Noto Sans SC"/>
                <a:ea typeface="Noto Sans SC"/>
                <a:cs typeface="Noto Sans SC"/>
                <a:sym typeface="Noto Sans SC"/>
              </a:rPr>
              <a:t>for easy connection to existing enterprise systems.</a:t>
            </a:r>
            <a:endParaRPr lang="en-US" sz="1100"/>
          </a:p>
        </p:txBody>
      </p:sp>
      <p:sp>
        <p:nvSpPr>
          <p:cNvPr id="22" name="AutoShape 22"/>
          <p:cNvSpPr/>
          <p:nvPr/>
        </p:nvSpPr>
        <p:spPr>
          <a:xfrm>
            <a:off x="762000" y="4254500"/>
            <a:ext cx="3429000" cy="2286000"/>
          </a:xfrm>
          <a:prstGeom prst="roundRect">
            <a:avLst>
              <a:gd name="adj" fmla="val 0"/>
            </a:avLst>
          </a:prstGeom>
          <a:solidFill>
            <a:srgbClr val="112240">
              <a:alpha val="9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23" name="AutoShape 23"/>
          <p:cNvSpPr/>
          <p:nvPr/>
        </p:nvSpPr>
        <p:spPr>
          <a:xfrm>
            <a:off x="762000" y="4254500"/>
            <a:ext cx="50800" cy="22860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24" name="AutoShape 24"/>
          <p:cNvSpPr/>
          <p:nvPr/>
        </p:nvSpPr>
        <p:spPr>
          <a:xfrm>
            <a:off x="952500" y="44450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FFDA"/>
                </a:solidFill>
                <a:latin typeface="Noto Sans SC"/>
                <a:ea typeface="Noto Sans SC"/>
                <a:cs typeface="Noto Sans SC"/>
                <a:sym typeface="Noto Sans SC"/>
              </a:rPr>
              <a:t>04 Security Level</a:t>
            </a:r>
            <a:endParaRPr lang="en-US" sz="1100"/>
          </a:p>
        </p:txBody>
      </p:sp>
      <p:cxnSp>
        <p:nvCxnSpPr>
          <p:cNvPr id="25" name="Connector 25"/>
          <p:cNvCxnSpPr/>
          <p:nvPr/>
        </p:nvCxnSpPr>
        <p:spPr>
          <a:xfrm rot="-14323">
            <a:off x="952513" y="4946650"/>
            <a:ext cx="3048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26" name="AutoShape 26"/>
          <p:cNvSpPr/>
          <p:nvPr/>
        </p:nvSpPr>
        <p:spPr>
          <a:xfrm>
            <a:off x="952500" y="51181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CD6F6"/>
                </a:solidFill>
                <a:latin typeface="Noto Sans SC"/>
                <a:ea typeface="Noto Sans SC"/>
                <a:cs typeface="Noto Sans SC"/>
                <a:sym typeface="Noto Sans SC"/>
              </a:rPr>
              <a:t>Traditional: Basic security protection.</a:t>
            </a:r>
            <a:endParaRPr lang="en-US" sz="1100"/>
          </a:p>
        </p:txBody>
      </p:sp>
      <p:sp>
        <p:nvSpPr>
          <p:cNvPr id="27" name="AutoShape 27"/>
          <p:cNvSpPr/>
          <p:nvPr/>
        </p:nvSpPr>
        <p:spPr>
          <a:xfrm>
            <a:off x="952500" y="5778500"/>
            <a:ext cx="311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FFFFFF">
                    <a:alpha val="94902"/>
                  </a:srgbClr>
                </a:solidFill>
                <a:latin typeface="Noto Sans SC"/>
                <a:ea typeface="Noto Sans SC"/>
                <a:cs typeface="Noto Sans SC"/>
                <a:sym typeface="Noto Sans SC"/>
              </a:rPr>
              <a:t>Product:</a:t>
            </a:r>
            <a:r>
              <a:rPr lang="en-US" sz="1200" b="1" i="0" u="none" strike="noStrike">
                <a:solidFill>
                  <a:srgbClr val="64FFDA"/>
                </a:solidFill>
                <a:latin typeface="Noto Sans SC"/>
                <a:ea typeface="Noto Sans SC"/>
                <a:cs typeface="Noto Sans SC"/>
                <a:sym typeface="Noto Sans SC"/>
              </a:rPr>
              <a:t>Enterprise-grade end-to-end encryption</a:t>
            </a:r>
            <a:r>
              <a:rPr lang="en-US" sz="1200" b="1" i="0" u="none" strike="noStrike">
                <a:solidFill>
                  <a:srgbClr val="FFFFFF">
                    <a:alpha val="94902"/>
                  </a:srgbClr>
                </a:solidFill>
                <a:latin typeface="Noto Sans SC"/>
                <a:ea typeface="Noto Sans SC"/>
                <a:cs typeface="Noto Sans SC"/>
                <a:sym typeface="Noto Sans SC"/>
              </a:rPr>
              <a:t>, compliant with international security standards, ensuring data security.</a:t>
            </a:r>
            <a:endParaRPr lang="en-US" sz="1100"/>
          </a:p>
        </p:txBody>
      </p:sp>
      <p:sp>
        <p:nvSpPr>
          <p:cNvPr id="28" name="AutoShape 28"/>
          <p:cNvSpPr/>
          <p:nvPr/>
        </p:nvSpPr>
        <p:spPr>
          <a:xfrm>
            <a:off x="4381500" y="4254500"/>
            <a:ext cx="3429000" cy="2286000"/>
          </a:xfrm>
          <a:prstGeom prst="roundRect">
            <a:avLst>
              <a:gd name="adj" fmla="val 0"/>
            </a:avLst>
          </a:prstGeom>
          <a:solidFill>
            <a:srgbClr val="112240">
              <a:alpha val="9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29" name="AutoShape 29"/>
          <p:cNvSpPr/>
          <p:nvPr/>
        </p:nvSpPr>
        <p:spPr>
          <a:xfrm>
            <a:off x="4381500" y="4254500"/>
            <a:ext cx="50800" cy="22860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nvSpPr>
        <p:spPr>
          <a:xfrm>
            <a:off x="4572000" y="44450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FFDA"/>
                </a:solidFill>
                <a:latin typeface="Noto Sans SC"/>
                <a:ea typeface="Noto Sans SC"/>
                <a:cs typeface="Noto Sans SC"/>
                <a:sym typeface="Noto Sans SC"/>
              </a:rPr>
              <a:t>05 User Experience</a:t>
            </a:r>
            <a:endParaRPr lang="en-US" sz="1100"/>
          </a:p>
        </p:txBody>
      </p:sp>
      <p:cxnSp>
        <p:nvCxnSpPr>
          <p:cNvPr id="31" name="Connector 31"/>
          <p:cNvCxnSpPr/>
          <p:nvPr/>
        </p:nvCxnSpPr>
        <p:spPr>
          <a:xfrm rot="-14323">
            <a:off x="4572013" y="4946650"/>
            <a:ext cx="3048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32" name="AutoShape 32"/>
          <p:cNvSpPr/>
          <p:nvPr/>
        </p:nvSpPr>
        <p:spPr>
          <a:xfrm>
            <a:off x="4572000" y="51181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CD6F6"/>
                </a:solidFill>
                <a:latin typeface="Noto Sans SC"/>
                <a:ea typeface="Noto Sans SC"/>
                <a:cs typeface="Noto Sans SC"/>
                <a:sym typeface="Noto Sans SC"/>
              </a:rPr>
              <a:t>Traditional: Outdated interface, complicated operation.</a:t>
            </a:r>
            <a:endParaRPr lang="en-US" sz="1100"/>
          </a:p>
        </p:txBody>
      </p:sp>
      <p:sp>
        <p:nvSpPr>
          <p:cNvPr id="33" name="AutoShape 33"/>
          <p:cNvSpPr/>
          <p:nvPr/>
        </p:nvSpPr>
        <p:spPr>
          <a:xfrm>
            <a:off x="4572000" y="5778500"/>
            <a:ext cx="311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FFFFFF">
                    <a:alpha val="94902"/>
                  </a:srgbClr>
                </a:solidFill>
                <a:latin typeface="Noto Sans SC"/>
                <a:ea typeface="Noto Sans SC"/>
                <a:cs typeface="Noto Sans SC"/>
                <a:sym typeface="Noto Sans SC"/>
              </a:rPr>
              <a:t>Product:</a:t>
            </a:r>
            <a:r>
              <a:rPr lang="en-US" sz="1200" b="1" i="0" u="none" strike="noStrike">
                <a:solidFill>
                  <a:srgbClr val="64FFDA"/>
                </a:solidFill>
                <a:latin typeface="Noto Sans SC"/>
                <a:ea typeface="Noto Sans SC"/>
                <a:cs typeface="Noto Sans SC"/>
                <a:sym typeface="Noto Sans SC"/>
              </a:rPr>
              <a:t>Modern UI/UX design</a:t>
            </a:r>
            <a:r>
              <a:rPr lang="en-US" sz="1200" b="1" i="0" u="none" strike="noStrike">
                <a:solidFill>
                  <a:srgbClr val="FFFFFF">
                    <a:alpha val="94902"/>
                  </a:srgbClr>
                </a:solidFill>
                <a:latin typeface="Noto Sans SC"/>
                <a:ea typeface="Noto Sans SC"/>
                <a:cs typeface="Noto Sans SC"/>
                <a:sym typeface="Noto Sans SC"/>
              </a:rPr>
              <a:t>, clean and intuitive, greatly reducing training costs.</a:t>
            </a:r>
            <a:endParaRPr lang="en-US" sz="1100"/>
          </a:p>
        </p:txBody>
      </p:sp>
      <p:sp>
        <p:nvSpPr>
          <p:cNvPr id="34" name="AutoShape 34"/>
          <p:cNvSpPr/>
          <p:nvPr/>
        </p:nvSpPr>
        <p:spPr>
          <a:xfrm>
            <a:off x="8001000" y="4254500"/>
            <a:ext cx="3429000" cy="2286000"/>
          </a:xfrm>
          <a:prstGeom prst="roundRect">
            <a:avLst>
              <a:gd name="adj" fmla="val 0"/>
            </a:avLst>
          </a:prstGeom>
          <a:solidFill>
            <a:srgbClr val="112240">
              <a:alpha val="9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sp>
        <p:nvSpPr>
          <p:cNvPr id="35" name="AutoShape 35"/>
          <p:cNvSpPr/>
          <p:nvPr/>
        </p:nvSpPr>
        <p:spPr>
          <a:xfrm>
            <a:off x="8001000" y="4254500"/>
            <a:ext cx="50800" cy="22860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36" name="AutoShape 36"/>
          <p:cNvSpPr/>
          <p:nvPr/>
        </p:nvSpPr>
        <p:spPr>
          <a:xfrm>
            <a:off x="8191500" y="44450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FFDA"/>
                </a:solidFill>
                <a:latin typeface="Noto Sans SC"/>
                <a:ea typeface="Noto Sans SC"/>
                <a:cs typeface="Noto Sans SC"/>
                <a:sym typeface="Noto Sans SC"/>
              </a:rPr>
              <a:t>06 Cost-Effectiveness</a:t>
            </a:r>
            <a:endParaRPr lang="en-US" sz="1100"/>
          </a:p>
        </p:txBody>
      </p:sp>
      <p:cxnSp>
        <p:nvCxnSpPr>
          <p:cNvPr id="37" name="Connector 37"/>
          <p:cNvCxnSpPr/>
          <p:nvPr/>
        </p:nvCxnSpPr>
        <p:spPr>
          <a:xfrm rot="-14323">
            <a:off x="8191513" y="4946650"/>
            <a:ext cx="3048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38" name="AutoShape 38"/>
          <p:cNvSpPr/>
          <p:nvPr/>
        </p:nvSpPr>
        <p:spPr>
          <a:xfrm>
            <a:off x="8191500" y="51181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CD6F6"/>
                </a:solidFill>
                <a:latin typeface="Noto Sans SC"/>
                <a:ea typeface="Noto Sans SC"/>
                <a:cs typeface="Noto Sans SC"/>
                <a:sym typeface="Noto Sans SC"/>
              </a:rPr>
              <a:t>Traditional: High price, charged by module.</a:t>
            </a:r>
            <a:endParaRPr lang="en-US" sz="1100"/>
          </a:p>
        </p:txBody>
      </p:sp>
      <p:sp>
        <p:nvSpPr>
          <p:cNvPr id="39" name="AutoShape 39"/>
          <p:cNvSpPr/>
          <p:nvPr/>
        </p:nvSpPr>
        <p:spPr>
          <a:xfrm>
            <a:off x="8191500" y="5778500"/>
            <a:ext cx="311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FFFFFF">
                    <a:alpha val="94902"/>
                  </a:srgbClr>
                </a:solidFill>
                <a:latin typeface="Noto Sans SC"/>
                <a:ea typeface="Noto Sans SC"/>
                <a:cs typeface="Noto Sans SC"/>
                <a:sym typeface="Noto Sans SC"/>
              </a:rPr>
              <a:t>Product:</a:t>
            </a:r>
            <a:r>
              <a:rPr lang="en-US" sz="1200" b="1" i="0" u="none" strike="noStrike">
                <a:solidFill>
                  <a:srgbClr val="64FFDA"/>
                </a:solidFill>
                <a:latin typeface="Noto Sans SC"/>
                <a:ea typeface="Noto Sans SC"/>
                <a:cs typeface="Noto Sans SC"/>
                <a:sym typeface="Noto Sans SC"/>
              </a:rPr>
              <a:t>Offers a more competitive pricing strategy</a:t>
            </a:r>
            <a:r>
              <a:rPr lang="en-US" sz="1200" b="1" i="0" u="none" strike="noStrike">
                <a:solidFill>
                  <a:srgbClr val="FFFFFF">
                    <a:alpha val="94902"/>
                  </a:srgbClr>
                </a:solidFill>
                <a:latin typeface="Noto Sans SC"/>
                <a:ea typeface="Noto Sans SC"/>
                <a:cs typeface="Noto Sans SC"/>
                <a:sym typeface="Noto Sans SC"/>
              </a:rPr>
              <a:t>, pay-as-you-go, quick value realization.</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715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64FFDA"/>
                </a:solidFill>
                <a:latin typeface="Noto Sans SC"/>
                <a:ea typeface="Noto Sans SC"/>
                <a:cs typeface="Noto Sans SC"/>
                <a:sym typeface="Noto Sans SC"/>
              </a:rPr>
              <a:t>Technical Architecture: Robust, Open, Scalable</a:t>
            </a:r>
            <a:endParaRPr lang="en-US" sz="1100"/>
          </a:p>
        </p:txBody>
      </p:sp>
      <p:pic>
        <p:nvPicPr>
          <p:cNvPr id="4" name="Picture 4"/>
          <p:cNvPicPr>
            <a:picLocks noChangeAspect="1"/>
          </p:cNvPicPr>
          <p:nvPr/>
        </p:nvPicPr>
        <p:blipFill>
          <a:blip r:embed="rId1"/>
          <a:srcRect t="5128" b="5128"/>
          <a:stretch>
            <a:fillRect/>
          </a:stretch>
        </p:blipFill>
        <p:spPr>
          <a:xfrm>
            <a:off x="762000" y="1651000"/>
            <a:ext cx="5080000" cy="2286000"/>
          </a:xfrm>
          <a:prstGeom prst="rect">
            <a:avLst/>
          </a:prstGeom>
          <a:noFill/>
          <a:ln w="12700" cap="flat" cmpd="sng">
            <a:solidFill>
              <a:srgbClr val="64FFDA">
                <a:alpha val="60000"/>
              </a:srgbClr>
            </a:solidFill>
            <a:prstDash val="solid"/>
            <a:round/>
          </a:ln>
        </p:spPr>
      </p:pic>
      <p:sp>
        <p:nvSpPr>
          <p:cNvPr id="5" name="AutoShape 5"/>
          <p:cNvSpPr/>
          <p:nvPr/>
        </p:nvSpPr>
        <p:spPr>
          <a:xfrm>
            <a:off x="6350000" y="1651000"/>
            <a:ext cx="5080000" cy="2286000"/>
          </a:xfrm>
          <a:prstGeom prst="roundRect">
            <a:avLst>
              <a:gd name="adj" fmla="val 0"/>
            </a:avLst>
          </a:prstGeom>
          <a:solidFill>
            <a:srgbClr val="172A45">
              <a:alpha val="8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6540500" y="1841500"/>
            <a:ext cx="4699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64FFDA"/>
                </a:solidFill>
                <a:latin typeface="Noto Sans SC"/>
                <a:ea typeface="Noto Sans SC"/>
                <a:cs typeface="Noto Sans SC"/>
                <a:sym typeface="Noto Sans SC"/>
              </a:rPr>
              <a:t>Full-link Microservice Architecture</a:t>
            </a:r>
            <a:endParaRPr lang="en-US" sz="1100"/>
          </a:p>
          <a:p>
            <a:pPr marL="0" indent="0" algn="l">
              <a:lnSpc>
                <a:spcPct val="108000"/>
              </a:lnSpc>
            </a:pPr>
            <a:r>
              <a:rPr lang="en-US" sz="1200" b="0" i="0" u="none" strike="noStrike">
                <a:solidFill>
                  <a:srgbClr val="CCD6F6"/>
                </a:solidFill>
                <a:latin typeface="Noto Sans SC"/>
                <a:ea typeface="Noto Sans SC"/>
                <a:cs typeface="Noto Sans SC"/>
                <a:sym typeface="Noto Sans SC"/>
              </a:rPr>
              <a:t>A layered, decoupled microservices architecture with standardized interfaces. It enables independent evolution and elastic scaling of business modules, supported by containerization and automated ops for high availability and concurrency.</a:t>
            </a:r>
            <a:endParaRPr lang="en-US" sz="1200" b="0" i="0" u="none" strike="noStrike">
              <a:solidFill>
                <a:srgbClr val="CCD6F6"/>
              </a:solidFill>
              <a:latin typeface="Noto Sans SC"/>
              <a:ea typeface="Noto Sans SC"/>
              <a:cs typeface="Noto Sans SC"/>
              <a:sym typeface="Noto Sans SC"/>
            </a:endParaRPr>
          </a:p>
        </p:txBody>
      </p:sp>
      <p:sp>
        <p:nvSpPr>
          <p:cNvPr id="7" name="AutoShape 7"/>
          <p:cNvSpPr/>
          <p:nvPr/>
        </p:nvSpPr>
        <p:spPr>
          <a:xfrm>
            <a:off x="762000" y="4318000"/>
            <a:ext cx="2540000" cy="2159000"/>
          </a:xfrm>
          <a:prstGeom prst="roundRect">
            <a:avLst>
              <a:gd name="adj" fmla="val 0"/>
            </a:avLst>
          </a:prstGeom>
          <a:solidFill>
            <a:srgbClr val="172A45">
              <a:alpha val="7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508500"/>
            <a:ext cx="304800" cy="304800"/>
          </a:xfrm>
          <a:prstGeom prst="rect">
            <a:avLst/>
          </a:prstGeom>
        </p:spPr>
      </p:pic>
      <p:sp>
        <p:nvSpPr>
          <p:cNvPr id="9" name="AutoShape 9"/>
          <p:cNvSpPr/>
          <p:nvPr/>
        </p:nvSpPr>
        <p:spPr>
          <a:xfrm>
            <a:off x="1333500" y="4483100"/>
            <a:ext cx="177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4FFDA"/>
                </a:solidFill>
                <a:latin typeface="Noto Sans SC"/>
                <a:ea typeface="Noto Sans SC"/>
                <a:cs typeface="Noto Sans SC"/>
                <a:sym typeface="Noto Sans SC"/>
              </a:rPr>
              <a:t>Presentation Layer</a:t>
            </a:r>
            <a:endParaRPr lang="en-US" sz="1100"/>
          </a:p>
        </p:txBody>
      </p:sp>
      <p:cxnSp>
        <p:nvCxnSpPr>
          <p:cNvPr id="10" name="Connector 10"/>
          <p:cNvCxnSpPr/>
          <p:nvPr/>
        </p:nvCxnSpPr>
        <p:spPr>
          <a:xfrm rot="-20221">
            <a:off x="952519" y="5073650"/>
            <a:ext cx="2159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1" name="AutoShape 11"/>
          <p:cNvSpPr/>
          <p:nvPr/>
        </p:nvSpPr>
        <p:spPr>
          <a:xfrm>
            <a:off x="952500" y="5207000"/>
            <a:ext cx="215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CD6F6"/>
                </a:solidFill>
                <a:latin typeface="Noto Sans SC"/>
                <a:ea typeface="Noto Sans SC"/>
                <a:cs typeface="Noto Sans SC"/>
                <a:sym typeface="Noto Sans SC"/>
              </a:rPr>
              <a:t>Web: Modern SPA (Vue.js/React). Mobile: Native + React Native hybrid development for real-time data sync.</a:t>
            </a:r>
            <a:endParaRPr lang="en-US" sz="1100"/>
          </a:p>
        </p:txBody>
      </p:sp>
      <p:sp>
        <p:nvSpPr>
          <p:cNvPr id="12" name="AutoShape 12"/>
          <p:cNvSpPr/>
          <p:nvPr/>
        </p:nvSpPr>
        <p:spPr>
          <a:xfrm>
            <a:off x="3556000" y="4318000"/>
            <a:ext cx="2540000" cy="2159000"/>
          </a:xfrm>
          <a:prstGeom prst="roundRect">
            <a:avLst>
              <a:gd name="adj" fmla="val 0"/>
            </a:avLst>
          </a:prstGeom>
          <a:solidFill>
            <a:srgbClr val="172A45">
              <a:alpha val="7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46500" y="4508500"/>
            <a:ext cx="304800" cy="304800"/>
          </a:xfrm>
          <a:prstGeom prst="rect">
            <a:avLst/>
          </a:prstGeom>
        </p:spPr>
      </p:pic>
      <p:sp>
        <p:nvSpPr>
          <p:cNvPr id="14" name="AutoShape 14"/>
          <p:cNvSpPr/>
          <p:nvPr/>
        </p:nvSpPr>
        <p:spPr>
          <a:xfrm>
            <a:off x="4127500" y="4483100"/>
            <a:ext cx="177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4FFDA"/>
                </a:solidFill>
                <a:latin typeface="Noto Sans SC"/>
                <a:ea typeface="Noto Sans SC"/>
                <a:cs typeface="Noto Sans SC"/>
                <a:sym typeface="Noto Sans SC"/>
              </a:rPr>
              <a:t>Business Layer</a:t>
            </a:r>
            <a:endParaRPr lang="en-US" sz="1100"/>
          </a:p>
        </p:txBody>
      </p:sp>
      <p:cxnSp>
        <p:nvCxnSpPr>
          <p:cNvPr id="15" name="Connector 15"/>
          <p:cNvCxnSpPr/>
          <p:nvPr/>
        </p:nvCxnSpPr>
        <p:spPr>
          <a:xfrm rot="-20221">
            <a:off x="3746519" y="5073650"/>
            <a:ext cx="2159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6" name="AutoShape 16"/>
          <p:cNvSpPr/>
          <p:nvPr/>
        </p:nvSpPr>
        <p:spPr>
          <a:xfrm>
            <a:off x="3746500" y="5207000"/>
            <a:ext cx="215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CD6F6"/>
                </a:solidFill>
                <a:latin typeface="Noto Sans SC"/>
                <a:ea typeface="Noto Sans SC"/>
                <a:cs typeface="Noto Sans SC"/>
                <a:sym typeface="Noto Sans SC"/>
              </a:rPr>
              <a:t>Microservice Cluster &amp; API Gateway for traffic management, service governance and high cohesion.</a:t>
            </a:r>
            <a:endParaRPr lang="en-US" sz="1100"/>
          </a:p>
        </p:txBody>
      </p:sp>
      <p:sp>
        <p:nvSpPr>
          <p:cNvPr id="17" name="AutoShape 17"/>
          <p:cNvSpPr/>
          <p:nvPr/>
        </p:nvSpPr>
        <p:spPr>
          <a:xfrm>
            <a:off x="6350000" y="4318000"/>
            <a:ext cx="2540000" cy="2159000"/>
          </a:xfrm>
          <a:prstGeom prst="roundRect">
            <a:avLst>
              <a:gd name="adj" fmla="val 0"/>
            </a:avLst>
          </a:prstGeom>
          <a:solidFill>
            <a:srgbClr val="172A45">
              <a:alpha val="7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4508500"/>
            <a:ext cx="304800" cy="304800"/>
          </a:xfrm>
          <a:prstGeom prst="rect">
            <a:avLst/>
          </a:prstGeom>
        </p:spPr>
      </p:pic>
      <p:sp>
        <p:nvSpPr>
          <p:cNvPr id="19" name="AutoShape 19"/>
          <p:cNvSpPr/>
          <p:nvPr/>
        </p:nvSpPr>
        <p:spPr>
          <a:xfrm>
            <a:off x="6921500" y="4483100"/>
            <a:ext cx="177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4FFDA"/>
                </a:solidFill>
                <a:latin typeface="Noto Sans SC"/>
                <a:ea typeface="Noto Sans SC"/>
                <a:cs typeface="Noto Sans SC"/>
                <a:sym typeface="Noto Sans SC"/>
              </a:rPr>
              <a:t>Data Layer</a:t>
            </a:r>
            <a:endParaRPr lang="en-US" sz="1100"/>
          </a:p>
        </p:txBody>
      </p:sp>
      <p:cxnSp>
        <p:nvCxnSpPr>
          <p:cNvPr id="20" name="Connector 20"/>
          <p:cNvCxnSpPr/>
          <p:nvPr/>
        </p:nvCxnSpPr>
        <p:spPr>
          <a:xfrm rot="-20221">
            <a:off x="6540519" y="5073650"/>
            <a:ext cx="2159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21" name="AutoShape 21"/>
          <p:cNvSpPr/>
          <p:nvPr/>
        </p:nvSpPr>
        <p:spPr>
          <a:xfrm>
            <a:off x="6540500" y="5207000"/>
            <a:ext cx="215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CD6F6"/>
                </a:solidFill>
                <a:latin typeface="Noto Sans SC"/>
                <a:ea typeface="Noto Sans SC"/>
                <a:cs typeface="Noto Sans SC"/>
                <a:sym typeface="Noto Sans SC"/>
              </a:rPr>
              <a:t>MySQL/PG for core data, Redis for caching, Elasticsearch for full-text search (read-write separation).</a:t>
            </a:r>
            <a:endParaRPr lang="en-US" sz="1100"/>
          </a:p>
        </p:txBody>
      </p:sp>
      <p:sp>
        <p:nvSpPr>
          <p:cNvPr id="22" name="AutoShape 22"/>
          <p:cNvSpPr/>
          <p:nvPr/>
        </p:nvSpPr>
        <p:spPr>
          <a:xfrm>
            <a:off x="9144000" y="4318000"/>
            <a:ext cx="2540000" cy="2159000"/>
          </a:xfrm>
          <a:prstGeom prst="roundRect">
            <a:avLst>
              <a:gd name="adj" fmla="val 0"/>
            </a:avLst>
          </a:prstGeom>
          <a:solidFill>
            <a:srgbClr val="172A45">
              <a:alpha val="7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pic>
        <p:nvPicPr>
          <p:cNvPr id="23"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34500" y="4508500"/>
            <a:ext cx="304800" cy="304800"/>
          </a:xfrm>
          <a:prstGeom prst="rect">
            <a:avLst/>
          </a:prstGeom>
        </p:spPr>
      </p:pic>
      <p:sp>
        <p:nvSpPr>
          <p:cNvPr id="24" name="AutoShape 24"/>
          <p:cNvSpPr/>
          <p:nvPr/>
        </p:nvSpPr>
        <p:spPr>
          <a:xfrm>
            <a:off x="9715500" y="4483100"/>
            <a:ext cx="177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4FFDA"/>
                </a:solidFill>
                <a:latin typeface="Noto Sans SC"/>
                <a:ea typeface="Noto Sans SC"/>
                <a:cs typeface="Noto Sans SC"/>
                <a:sym typeface="Noto Sans SC"/>
              </a:rPr>
              <a:t>Infrastructure</a:t>
            </a:r>
            <a:endParaRPr lang="en-US" sz="1100"/>
          </a:p>
        </p:txBody>
      </p:sp>
      <p:cxnSp>
        <p:nvCxnSpPr>
          <p:cNvPr id="25" name="Connector 25"/>
          <p:cNvCxnSpPr/>
          <p:nvPr/>
        </p:nvCxnSpPr>
        <p:spPr>
          <a:xfrm rot="-20221">
            <a:off x="9334519" y="5073650"/>
            <a:ext cx="2159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26" name="AutoShape 26"/>
          <p:cNvSpPr/>
          <p:nvPr/>
        </p:nvSpPr>
        <p:spPr>
          <a:xfrm>
            <a:off x="9334500" y="5207000"/>
            <a:ext cx="215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CD6F6"/>
                </a:solidFill>
                <a:latin typeface="Noto Sans SC"/>
                <a:ea typeface="Noto Sans SC"/>
                <a:cs typeface="Noto Sans SC"/>
                <a:sym typeface="Noto Sans SC"/>
              </a:rPr>
              <a:t>Docker + K8s for containerization, Kafka for asynchronous decoupling (high concurrency support).</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64FFDA"/>
                </a:solidFill>
                <a:latin typeface="Noto Sans SC"/>
                <a:ea typeface="Noto Sans SC"/>
                <a:cs typeface="Noto Sans SC"/>
                <a:sym typeface="Noto Sans SC"/>
              </a:rPr>
              <a:t>Data Insights: Quantifying Value, Driving Decisions</a:t>
            </a:r>
            <a:endParaRPr lang="en-US" sz="1100"/>
          </a:p>
        </p:txBody>
      </p:sp>
      <p:sp>
        <p:nvSpPr>
          <p:cNvPr id="4" name="AutoShape 4"/>
          <p:cNvSpPr/>
          <p:nvPr/>
        </p:nvSpPr>
        <p:spPr>
          <a:xfrm>
            <a:off x="762000" y="1651000"/>
            <a:ext cx="5334000" cy="3302000"/>
          </a:xfrm>
          <a:prstGeom prst="roundRect">
            <a:avLst>
              <a:gd name="adj" fmla="val 0"/>
            </a:avLst>
          </a:prstGeom>
          <a:solidFill>
            <a:srgbClr val="172C4D">
              <a:alpha val="8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stretch>
            <a:fillRect/>
          </a:stretch>
        </p:blipFill>
        <p:spPr>
          <a:xfrm>
            <a:off x="889000" y="1778000"/>
            <a:ext cx="5080000" cy="2921000"/>
          </a:xfrm>
          <a:prstGeom prst="rect">
            <a:avLst/>
          </a:prstGeom>
          <a:ln w="12700">
            <a:noFill/>
            <a:prstDash val="solid"/>
          </a:ln>
        </p:spPr>
      </p:pic>
      <p:sp>
        <p:nvSpPr>
          <p:cNvPr id="6" name="AutoShape 6"/>
          <p:cNvSpPr/>
          <p:nvPr/>
        </p:nvSpPr>
        <p:spPr>
          <a:xfrm>
            <a:off x="762000" y="5207000"/>
            <a:ext cx="5334000" cy="1143000"/>
          </a:xfrm>
          <a:prstGeom prst="roundRect">
            <a:avLst>
              <a:gd name="adj" fmla="val 0"/>
            </a:avLst>
          </a:prstGeom>
          <a:solidFill>
            <a:srgbClr val="172C4D">
              <a:alpha val="60000"/>
            </a:srgbClr>
          </a:solidFill>
          <a:ln w="12700" cap="flat" cmpd="sng">
            <a:solidFill>
              <a:srgbClr val="64FFDA">
                <a:alpha val="50000"/>
              </a:srgbClr>
            </a:solidFill>
            <a:prstDash val="solid"/>
            <a:round/>
          </a:ln>
        </p:spPr>
        <p:txBody>
          <a:bodyPr vert="horz" wrap="square" lIns="0" tIns="0" rIns="0" bIns="0" rtlCol="0" anchor="ctr" anchorCtr="0"/>
          <a:lstStyle/>
          <a:p>
            <a:pPr algn="ctr">
              <a:defRPr/>
            </a:pPr>
          </a:p>
        </p:txBody>
      </p:sp>
      <p:sp>
        <p:nvSpPr>
          <p:cNvPr id="7" name="AutoShape 7"/>
          <p:cNvSpPr/>
          <p:nvPr/>
        </p:nvSpPr>
        <p:spPr>
          <a:xfrm>
            <a:off x="762000" y="5207000"/>
            <a:ext cx="76200" cy="11430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1016000" y="5334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CD6F6"/>
                </a:solidFill>
                <a:latin typeface="Noto Sans SC"/>
                <a:ea typeface="Noto Sans SC"/>
                <a:cs typeface="Noto Sans SC"/>
                <a:sym typeface="Noto Sans SC"/>
              </a:rPr>
              <a:t>The average time of key business processes is significantly reduced, with an overall efficiency improvement of</a:t>
            </a:r>
            <a:r>
              <a:rPr lang="en-US" sz="1600" b="1" i="0" u="none" strike="noStrike">
                <a:solidFill>
                  <a:srgbClr val="64FFDA"/>
                </a:solidFill>
                <a:latin typeface="Noto Sans SC"/>
                <a:ea typeface="Noto Sans SC"/>
                <a:cs typeface="Noto Sans SC"/>
                <a:sym typeface="Noto Sans SC"/>
              </a:rPr>
              <a:t>45%</a:t>
            </a:r>
            <a:r>
              <a:rPr lang="en-US" sz="1300" b="0" i="0" u="none" strike="noStrike">
                <a:solidFill>
                  <a:srgbClr val="CCD6F6"/>
                </a:solidFill>
                <a:latin typeface="Noto Sans SC"/>
                <a:ea typeface="Noto Sans SC"/>
                <a:cs typeface="Noto Sans SC"/>
                <a:sym typeface="Noto Sans SC"/>
              </a:rPr>
              <a:t>, significantly lowering operational costs.</a:t>
            </a:r>
            <a:endParaRPr lang="en-US" sz="1100"/>
          </a:p>
        </p:txBody>
      </p:sp>
      <p:sp>
        <p:nvSpPr>
          <p:cNvPr id="9" name="AutoShape 9"/>
          <p:cNvSpPr/>
          <p:nvPr/>
        </p:nvSpPr>
        <p:spPr>
          <a:xfrm>
            <a:off x="6350000" y="1651000"/>
            <a:ext cx="5080000" cy="2159000"/>
          </a:xfrm>
          <a:prstGeom prst="roundRect">
            <a:avLst>
              <a:gd name="adj" fmla="val 0"/>
            </a:avLst>
          </a:prstGeom>
          <a:solidFill>
            <a:srgbClr val="172C4D">
              <a:alpha val="8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2"/>
          <a:stretch>
            <a:fillRect/>
          </a:stretch>
        </p:blipFill>
        <p:spPr>
          <a:xfrm>
            <a:off x="6477000" y="1778000"/>
            <a:ext cx="2413000" cy="1905000"/>
          </a:xfrm>
          <a:prstGeom prst="rect">
            <a:avLst/>
          </a:prstGeom>
          <a:ln w="12700">
            <a:noFill/>
            <a:prstDash val="solid"/>
          </a:ln>
        </p:spPr>
      </p:pic>
      <p:cxnSp>
        <p:nvCxnSpPr>
          <p:cNvPr id="11" name="Connector 11"/>
          <p:cNvCxnSpPr/>
          <p:nvPr/>
        </p:nvCxnSpPr>
        <p:spPr>
          <a:xfrm rot="5376291">
            <a:off x="8096250" y="2755922"/>
            <a:ext cx="1841500" cy="12700"/>
          </a:xfrm>
          <a:prstGeom prst="straightConnector1">
            <a:avLst/>
          </a:prstGeom>
          <a:solidFill>
            <a:srgbClr val="DEE0E3">
              <a:alpha val="100000"/>
            </a:srgbClr>
          </a:solidFill>
          <a:ln w="12700" cap="flat" cmpd="sng">
            <a:solidFill>
              <a:srgbClr val="CCD6F6">
                <a:alpha val="30000"/>
              </a:srgbClr>
            </a:solidFill>
            <a:prstDash val="solid"/>
            <a:round/>
            <a:headEnd type="none" w="med" len="med"/>
            <a:tailEnd type="none" w="med" len="med"/>
          </a:ln>
        </p:spPr>
      </p:cxnSp>
      <p:sp>
        <p:nvSpPr>
          <p:cNvPr id="12" name="AutoShape 12"/>
          <p:cNvSpPr/>
          <p:nvPr/>
        </p:nvSpPr>
        <p:spPr>
          <a:xfrm>
            <a:off x="9144000" y="1841500"/>
            <a:ext cx="2159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64FFDA"/>
                </a:solidFill>
                <a:latin typeface="Noto Sans SC"/>
                <a:ea typeface="Noto Sans SC"/>
                <a:cs typeface="Noto Sans SC"/>
                <a:sym typeface="Noto Sans SC"/>
              </a:rPr>
              <a:t>User Stickiness Enhanced</a:t>
            </a:r>
            <a:endParaRPr lang="en-US" sz="1100"/>
          </a:p>
          <a:p>
            <a:pPr marL="0" indent="0" algn="l">
              <a:lnSpc>
                <a:spcPct val="108000"/>
              </a:lnSpc>
            </a:pPr>
            <a:r>
              <a:rPr lang="en-US" sz="1200" b="0" i="0" u="none" strike="noStrike">
                <a:solidFill>
                  <a:srgbClr val="CCD6F6">
                    <a:alpha val="90196"/>
                  </a:srgbClr>
                </a:solidFill>
                <a:latin typeface="Noto Sans SC"/>
                <a:ea typeface="Noto Sans SC"/>
                <a:cs typeface="Noto Sans SC"/>
                <a:sym typeface="Noto Sans SC"/>
              </a:rPr>
              <a:t>MAU has climbed steadily since launch, with a month-on-month growth rate above</a:t>
            </a:r>
            <a:r>
              <a:rPr lang="en-US" sz="1400" b="1" i="0" u="none" strike="noStrike">
                <a:solidFill>
                  <a:srgbClr val="64FFDA"/>
                </a:solidFill>
                <a:latin typeface="Noto Sans SC"/>
                <a:ea typeface="Noto Sans SC"/>
                <a:cs typeface="Noto Sans SC"/>
                <a:sym typeface="Noto Sans SC"/>
              </a:rPr>
              <a:t>15%</a:t>
            </a:r>
            <a:r>
              <a:rPr lang="en-US" sz="1200" b="0" i="0" u="none" strike="noStrike">
                <a:solidFill>
                  <a:srgbClr val="CCD6F6">
                    <a:alpha val="90196"/>
                  </a:srgbClr>
                </a:solidFill>
                <a:latin typeface="Noto Sans SC"/>
                <a:ea typeface="Noto Sans SC"/>
                <a:cs typeface="Noto Sans SC"/>
                <a:sym typeface="Noto Sans SC"/>
              </a:rPr>
              <a:t>, showing excellent user activity.</a:t>
            </a:r>
            <a:endParaRPr lang="en-US" sz="1200" b="0" i="0" u="none" strike="noStrike">
              <a:solidFill>
                <a:srgbClr val="CCD6F6">
                  <a:alpha val="90196"/>
                </a:srgbClr>
              </a:solidFill>
              <a:latin typeface="Noto Sans SC"/>
              <a:ea typeface="Noto Sans SC"/>
              <a:cs typeface="Noto Sans SC"/>
              <a:sym typeface="Noto Sans SC"/>
            </a:endParaRPr>
          </a:p>
        </p:txBody>
      </p:sp>
      <p:sp>
        <p:nvSpPr>
          <p:cNvPr id="13" name="AutoShape 13"/>
          <p:cNvSpPr/>
          <p:nvPr/>
        </p:nvSpPr>
        <p:spPr>
          <a:xfrm>
            <a:off x="6350000" y="4064000"/>
            <a:ext cx="5080000" cy="2413000"/>
          </a:xfrm>
          <a:prstGeom prst="roundRect">
            <a:avLst>
              <a:gd name="adj" fmla="val 0"/>
            </a:avLst>
          </a:prstGeom>
          <a:solidFill>
            <a:srgbClr val="172C4D">
              <a:alpha val="80000"/>
            </a:srgbClr>
          </a:solidFill>
          <a:ln w="12700" cap="flat" cmpd="sng">
            <a:solidFill>
              <a:srgbClr val="64FFDA">
                <a:alpha val="40000"/>
              </a:srgbClr>
            </a:solidFill>
            <a:prstDash val="solid"/>
            <a:round/>
          </a:ln>
        </p:spPr>
        <p:txBody>
          <a:bodyPr vert="horz" wrap="square" lIns="0" tIns="0" rIns="0" bIns="0" rtlCol="0" anchor="ctr" anchorCtr="0"/>
          <a:lstStyle/>
          <a:p>
            <a:pPr algn="ctr">
              <a:defRPr/>
            </a:pPr>
          </a:p>
        </p:txBody>
      </p:sp>
      <p:pic>
        <p:nvPicPr>
          <p:cNvPr id="14" name="Picture 14"/>
          <p:cNvPicPr>
            <a:picLocks noChangeAspect="1"/>
          </p:cNvPicPr>
          <p:nvPr/>
        </p:nvPicPr>
        <p:blipFill>
          <a:blip r:embed="rId3"/>
          <a:stretch>
            <a:fillRect/>
          </a:stretch>
        </p:blipFill>
        <p:spPr>
          <a:xfrm>
            <a:off x="6477000" y="4191000"/>
            <a:ext cx="2413000" cy="2159000"/>
          </a:xfrm>
          <a:prstGeom prst="rect">
            <a:avLst/>
          </a:prstGeom>
          <a:ln w="12700">
            <a:noFill/>
            <a:prstDash val="solid"/>
          </a:ln>
        </p:spPr>
      </p:pic>
      <p:cxnSp>
        <p:nvCxnSpPr>
          <p:cNvPr id="15" name="Connector 15"/>
          <p:cNvCxnSpPr/>
          <p:nvPr/>
        </p:nvCxnSpPr>
        <p:spPr>
          <a:xfrm rot="5378514">
            <a:off x="8001000" y="5264170"/>
            <a:ext cx="2032000" cy="12700"/>
          </a:xfrm>
          <a:prstGeom prst="straightConnector1">
            <a:avLst/>
          </a:prstGeom>
          <a:solidFill>
            <a:srgbClr val="DEE0E3">
              <a:alpha val="100000"/>
            </a:srgbClr>
          </a:solidFill>
          <a:ln w="12700" cap="flat" cmpd="sng">
            <a:solidFill>
              <a:srgbClr val="CCD6F6">
                <a:alpha val="30000"/>
              </a:srgbClr>
            </a:solidFill>
            <a:prstDash val="solid"/>
            <a:round/>
            <a:headEnd type="none" w="med" len="med"/>
            <a:tailEnd type="none" w="med" len="med"/>
          </a:ln>
        </p:spPr>
      </p:cxnSp>
      <p:sp>
        <p:nvSpPr>
          <p:cNvPr id="16" name="AutoShape 16"/>
          <p:cNvSpPr/>
          <p:nvPr/>
        </p:nvSpPr>
        <p:spPr>
          <a:xfrm>
            <a:off x="9144000" y="4254500"/>
            <a:ext cx="2159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64FFDA"/>
                </a:solidFill>
                <a:latin typeface="Noto Sans SC"/>
                <a:ea typeface="Noto Sans SC"/>
                <a:cs typeface="Noto Sans SC"/>
                <a:sym typeface="Noto Sans SC"/>
              </a:rPr>
              <a:t>High Market Recognition</a:t>
            </a:r>
            <a:endParaRPr lang="en-US" sz="1100"/>
          </a:p>
          <a:p>
            <a:pPr marL="0" indent="0" algn="l">
              <a:lnSpc>
                <a:spcPct val="108000"/>
              </a:lnSpc>
            </a:pPr>
            <a:r>
              <a:rPr lang="en-US" sz="1200" b="0" i="0" u="none" strike="noStrike">
                <a:solidFill>
                  <a:srgbClr val="CCD6F6">
                    <a:alpha val="90196"/>
                  </a:srgbClr>
                </a:solidFill>
                <a:latin typeface="Noto Sans SC"/>
                <a:ea typeface="Noto Sans SC"/>
                <a:cs typeface="Noto Sans SC"/>
                <a:sym typeface="Noto Sans SC"/>
              </a:rPr>
              <a:t>A total of</a:t>
            </a:r>
            <a:r>
              <a:rPr lang="en-US" sz="1400" b="1" i="0" u="none" strike="noStrike">
                <a:solidFill>
                  <a:srgbClr val="64FFDA"/>
                </a:solidFill>
                <a:latin typeface="Noto Sans SC"/>
                <a:ea typeface="Noto Sans SC"/>
                <a:cs typeface="Noto Sans SC"/>
                <a:sym typeface="Noto Sans SC"/>
              </a:rPr>
              <a:t>92%</a:t>
            </a:r>
            <a:r>
              <a:rPr lang="en-US" sz="1200" b="0" i="0" u="none" strike="noStrike">
                <a:solidFill>
                  <a:srgbClr val="CCD6F6">
                    <a:alpha val="90196"/>
                  </a:srgbClr>
                </a:solidFill>
                <a:latin typeface="Noto Sans SC"/>
                <a:ea typeface="Noto Sans SC"/>
                <a:cs typeface="Noto Sans SC"/>
                <a:sym typeface="Noto Sans SC"/>
              </a:rPr>
              <a:t>of users gave positive reviews, verifying the core value of the product's functions and services.</a:t>
            </a:r>
            <a:endParaRPr lang="en-US" sz="1200" b="0" i="0" u="none" strike="noStrike">
              <a:solidFill>
                <a:srgbClr val="CCD6F6">
                  <a:alpha val="90196"/>
                </a:srgbClr>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64FFDA"/>
                </a:solidFill>
                <a:latin typeface="Noto Sans SC"/>
                <a:ea typeface="Noto Sans SC"/>
                <a:cs typeface="Noto Sans SC"/>
                <a:sym typeface="Noto Sans SC"/>
              </a:rPr>
              <a:t>Success Stories: Empowering Industry Benchmarks</a:t>
            </a:r>
            <a:endParaRPr lang="en-US" sz="1100"/>
          </a:p>
        </p:txBody>
      </p:sp>
      <p:pic>
        <p:nvPicPr>
          <p:cNvPr id="4" name="Picture 4"/>
          <p:cNvPicPr>
            <a:picLocks noChangeAspect="1"/>
          </p:cNvPicPr>
          <p:nvPr/>
        </p:nvPicPr>
        <p:blipFill>
          <a:blip r:embed="rId1"/>
          <a:srcRect t="2941" b="2941"/>
          <a:stretch>
            <a:fillRect/>
          </a:stretch>
        </p:blipFill>
        <p:spPr>
          <a:xfrm>
            <a:off x="762000" y="1651000"/>
            <a:ext cx="4318000" cy="3048000"/>
          </a:xfrm>
          <a:prstGeom prst="rect">
            <a:avLst/>
          </a:prstGeom>
          <a:noFill/>
          <a:ln w="12700" cap="flat" cmpd="sng">
            <a:solidFill>
              <a:srgbClr val="64FFDA">
                <a:alpha val="60000"/>
              </a:srgbClr>
            </a:solidFill>
            <a:prstDash val="solid"/>
            <a:round/>
          </a:ln>
        </p:spPr>
      </p:pic>
      <p:sp>
        <p:nvSpPr>
          <p:cNvPr id="5" name="AutoShape 5"/>
          <p:cNvSpPr/>
          <p:nvPr/>
        </p:nvSpPr>
        <p:spPr>
          <a:xfrm>
            <a:off x="762000" y="4889500"/>
            <a:ext cx="431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CCD6F6"/>
                </a:solidFill>
                <a:latin typeface="Noto Sans SC"/>
                <a:ea typeface="Noto Sans SC"/>
                <a:cs typeface="Noto Sans SC"/>
                <a:sym typeface="Noto Sans SC"/>
              </a:rPr>
              <a:t>A leading new retail enterprise with thousands of employees and business operations nationwide. It has built an integrated online-offline retail network to provide consumers with a seamless shopping experience.</a:t>
            </a:r>
            <a:endParaRPr lang="en-US" sz="1100"/>
          </a:p>
        </p:txBody>
      </p:sp>
      <p:cxnSp>
        <p:nvCxnSpPr>
          <p:cNvPr id="6" name="Connector 6"/>
          <p:cNvCxnSpPr/>
          <p:nvPr/>
        </p:nvCxnSpPr>
        <p:spPr>
          <a:xfrm rot="5390708">
            <a:off x="3238500" y="3994159"/>
            <a:ext cx="4699000" cy="12700"/>
          </a:xfrm>
          <a:prstGeom prst="straightConnector1">
            <a:avLst/>
          </a:prstGeom>
          <a:solidFill>
            <a:srgbClr val="DEE0E3">
              <a:alpha val="100000"/>
            </a:srgbClr>
          </a:solidFill>
          <a:ln w="12700" cap="flat" cmpd="sng">
            <a:solidFill>
              <a:srgbClr val="64FFDA">
                <a:alpha val="30000"/>
              </a:srgbClr>
            </a:solidFill>
            <a:prstDash val="solid"/>
            <a:round/>
            <a:headEnd type="none" w="med" len="med"/>
            <a:tailEnd type="none" w="med" len="med"/>
          </a:ln>
        </p:spPr>
      </p:cxnSp>
      <p:sp>
        <p:nvSpPr>
          <p:cNvPr id="7" name="AutoShape 7"/>
          <p:cNvSpPr/>
          <p:nvPr/>
        </p:nvSpPr>
        <p:spPr>
          <a:xfrm>
            <a:off x="5842000" y="1651000"/>
            <a:ext cx="5588000" cy="1016000"/>
          </a:xfrm>
          <a:prstGeom prst="roundRect">
            <a:avLst>
              <a:gd name="adj" fmla="val 0"/>
            </a:avLst>
          </a:prstGeom>
          <a:solidFill>
            <a:srgbClr val="64FFDA">
              <a:alpha val="8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5842000" y="1651000"/>
            <a:ext cx="50800" cy="1016000"/>
          </a:xfrm>
          <a:prstGeom prst="roundRect">
            <a:avLst>
              <a:gd name="adj" fmla="val 0"/>
            </a:avLst>
          </a:prstGeom>
          <a:solidFill>
            <a:srgbClr val="64FFDA">
              <a:alpha val="10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6032500" y="1714500"/>
            <a:ext cx="527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64FFDA"/>
                </a:solidFill>
                <a:latin typeface="Noto Sans SC"/>
                <a:ea typeface="Noto Sans SC"/>
                <a:cs typeface="Noto Sans SC"/>
                <a:sym typeface="Noto Sans SC"/>
              </a:rPr>
              <a:t>A Well-known New Retail Group</a:t>
            </a:r>
            <a:r>
              <a:rPr lang="en-US" sz="1300" b="0" i="0" u="none" strike="noStrike">
                <a:solidFill>
                  <a:srgbClr val="94A3B8"/>
                </a:solidFill>
                <a:latin typeface="Noto Sans SC"/>
                <a:ea typeface="Noto Sans SC"/>
                <a:cs typeface="Noto Sans SC"/>
                <a:sym typeface="Noto Sans SC"/>
              </a:rPr>
              <a:t>| Industry: New Retail</a:t>
            </a:r>
            <a:endParaRPr lang="en-US" sz="1100"/>
          </a:p>
          <a:p>
            <a:pPr marL="0" indent="0" algn="l">
              <a:lnSpc>
                <a:spcPct val="108000"/>
              </a:lnSpc>
            </a:pPr>
            <a:r>
              <a:rPr lang="en-US" sz="1200" b="0" i="0" u="none" strike="noStrike">
                <a:solidFill>
                  <a:srgbClr val="CCD6F6"/>
                </a:solidFill>
                <a:latin typeface="Noto Sans SC"/>
                <a:ea typeface="Noto Sans SC"/>
                <a:cs typeface="Noto Sans SC"/>
                <a:sym typeface="Noto Sans SC"/>
              </a:rPr>
              <a:t>Committed to driving retail innovation through technology and enhancing operational efficiency and user experience.</a:t>
            </a:r>
            <a:endParaRPr lang="en-US" sz="1200" b="0" i="0" u="none" strike="noStrike">
              <a:solidFill>
                <a:srgbClr val="CCD6F6"/>
              </a:solidFill>
              <a:latin typeface="Noto Sans SC"/>
              <a:ea typeface="Noto Sans SC"/>
              <a:cs typeface="Noto Sans SC"/>
              <a:sym typeface="Noto Sans SC"/>
            </a:endParaRPr>
          </a:p>
        </p:txBody>
      </p:sp>
      <p:sp>
        <p:nvSpPr>
          <p:cNvPr id="10" name="AutoShape 10"/>
          <p:cNvSpPr/>
          <p:nvPr/>
        </p:nvSpPr>
        <p:spPr>
          <a:xfrm>
            <a:off x="5842000" y="3048000"/>
            <a:ext cx="2667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01 Key Challenges</a:t>
            </a:r>
            <a:endParaRPr lang="en-US" sz="1100"/>
          </a:p>
          <a:p>
            <a:pPr marL="0" indent="0" algn="l">
              <a:lnSpc>
                <a:spcPct val="117000"/>
              </a:lnSpc>
            </a:pPr>
            <a:r>
              <a:rPr lang="en-US" sz="1200" b="0" i="0" u="none" strike="noStrike">
                <a:solidFill>
                  <a:srgbClr val="CCD6F6"/>
                </a:solidFill>
                <a:latin typeface="Noto Sans SC"/>
                <a:ea typeface="Noto Sans SC"/>
                <a:cs typeface="Noto Sans SC"/>
                <a:sym typeface="Noto Sans SC"/>
              </a:rPr>
              <a:t>Disconnected online-offline data &amp; messy inventory; fragmented membership system; lengthy cross-department collaboration &amp; delayed new product launches.</a:t>
            </a:r>
            <a:endParaRPr lang="en-US" sz="1200" b="0" i="0" u="none" strike="noStrike">
              <a:solidFill>
                <a:srgbClr val="CCD6F6"/>
              </a:solidFill>
              <a:latin typeface="Noto Sans SC"/>
              <a:ea typeface="Noto Sans SC"/>
              <a:cs typeface="Noto Sans SC"/>
              <a:sym typeface="Noto Sans SC"/>
            </a:endParaRPr>
          </a:p>
        </p:txBody>
      </p:sp>
      <p:cxnSp>
        <p:nvCxnSpPr>
          <p:cNvPr id="11" name="Connector 11"/>
          <p:cNvCxnSpPr/>
          <p:nvPr/>
        </p:nvCxnSpPr>
        <p:spPr>
          <a:xfrm rot="5377082">
            <a:off x="7683500" y="4057671"/>
            <a:ext cx="1905000" cy="12700"/>
          </a:xfrm>
          <a:prstGeom prst="straightConnector1">
            <a:avLst/>
          </a:prstGeom>
          <a:solidFill>
            <a:srgbClr val="DEE0E3">
              <a:alpha val="100000"/>
            </a:srgbClr>
          </a:solidFill>
          <a:ln w="12700" cap="flat" cmpd="sng">
            <a:solidFill>
              <a:srgbClr val="64FFDA">
                <a:alpha val="20000"/>
              </a:srgbClr>
            </a:solidFill>
            <a:prstDash val="solid"/>
            <a:round/>
            <a:headEnd type="none" w="med" len="med"/>
            <a:tailEnd type="none" w="med" len="med"/>
          </a:ln>
        </p:spPr>
      </p:cxnSp>
      <p:sp>
        <p:nvSpPr>
          <p:cNvPr id="12" name="AutoShape 12"/>
          <p:cNvSpPr/>
          <p:nvPr/>
        </p:nvSpPr>
        <p:spPr>
          <a:xfrm>
            <a:off x="8763000" y="3048000"/>
            <a:ext cx="2667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02 Omni-channel Solutions</a:t>
            </a:r>
            <a:endParaRPr lang="en-US" sz="1100"/>
          </a:p>
          <a:p>
            <a:pPr marL="0" indent="0" algn="l">
              <a:lnSpc>
                <a:spcPct val="117000"/>
              </a:lnSpc>
            </a:pPr>
            <a:r>
              <a:rPr lang="en-US" sz="1200" b="0" i="0" u="none" strike="noStrike">
                <a:solidFill>
                  <a:srgbClr val="CCD6F6"/>
                </a:solidFill>
                <a:latin typeface="Noto Sans SC"/>
                <a:ea typeface="Noto Sans SC"/>
                <a:cs typeface="Noto Sans SC"/>
                <a:sym typeface="Noto Sans SC"/>
              </a:rPr>
              <a:t>Deployed retail middle platform to break data silos; built intelligent marketing engine for 360° user profiles; reshaped workflows to optimize R&amp;D and launch links.</a:t>
            </a:r>
            <a:endParaRPr lang="en-US" sz="1200" b="0" i="0" u="none" strike="noStrike">
              <a:solidFill>
                <a:srgbClr val="CCD6F6"/>
              </a:solidFill>
              <a:latin typeface="Noto Sans SC"/>
              <a:ea typeface="Noto Sans SC"/>
              <a:cs typeface="Noto Sans SC"/>
              <a:sym typeface="Noto Sans SC"/>
            </a:endParaRPr>
          </a:p>
        </p:txBody>
      </p:sp>
      <p:sp>
        <p:nvSpPr>
          <p:cNvPr id="13" name="AutoShape 13"/>
          <p:cNvSpPr/>
          <p:nvPr/>
        </p:nvSpPr>
        <p:spPr>
          <a:xfrm>
            <a:off x="5842000" y="5270500"/>
            <a:ext cx="1778000" cy="1143000"/>
          </a:xfrm>
          <a:prstGeom prst="roundRect">
            <a:avLst>
              <a:gd name="adj" fmla="val 0"/>
            </a:avLst>
          </a:prstGeom>
          <a:solidFill>
            <a:srgbClr val="64FFDA">
              <a:alpha val="10000"/>
            </a:srgbClr>
          </a:solidFill>
          <a:ln w="25400" cap="flat" cmpd="sng">
            <a:noFill/>
            <a:prstDash val="solid"/>
            <a:round/>
          </a:ln>
        </p:spPr>
        <p:txBody>
          <a:bodyPr vert="horz" wrap="square" lIns="0" tIns="0" rIns="0" bIns="0" rtlCol="0" anchor="ctr" anchorCtr="0"/>
          <a:lstStyle/>
          <a:p>
            <a:pPr algn="ctr">
              <a:defRPr/>
            </a:pPr>
          </a:p>
        </p:txBody>
      </p:sp>
      <p:sp>
        <p:nvSpPr>
          <p:cNvPr id="14" name="AutoShape 14"/>
          <p:cNvSpPr/>
          <p:nvPr/>
        </p:nvSpPr>
        <p:spPr>
          <a:xfrm>
            <a:off x="5905500" y="5334000"/>
            <a:ext cx="165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64FFDA"/>
                </a:solidFill>
                <a:latin typeface="Noto Sans SC"/>
                <a:ea typeface="Noto Sans SC"/>
                <a:cs typeface="Noto Sans SC"/>
                <a:sym typeface="Noto Sans SC"/>
              </a:rPr>
              <a:t>30%</a:t>
            </a:r>
            <a:endParaRPr lang="en-US" sz="1100"/>
          </a:p>
          <a:p>
            <a:pPr marL="0" indent="0" algn="l">
              <a:lnSpc>
                <a:spcPct val="100000"/>
              </a:lnSpc>
            </a:pPr>
            <a:r>
              <a:rPr lang="en-US" sz="1000" b="0" i="0" u="none" strike="noStrike">
                <a:solidFill>
                  <a:srgbClr val="94A3B8"/>
                </a:solidFill>
                <a:latin typeface="Noto Sans SC"/>
                <a:ea typeface="Noto Sans SC"/>
                <a:cs typeface="Noto Sans SC"/>
                <a:sym typeface="Noto Sans SC"/>
              </a:rPr>
              <a:t>Inventory turnover rate increased significantly, capital utilization optimized.</a:t>
            </a:r>
            <a:endParaRPr lang="en-US" sz="1000" b="0" i="0" u="none" strike="noStrike">
              <a:solidFill>
                <a:srgbClr val="94A3B8"/>
              </a:solidFill>
              <a:latin typeface="Noto Sans SC"/>
              <a:ea typeface="Noto Sans SC"/>
              <a:cs typeface="Noto Sans SC"/>
              <a:sym typeface="Noto Sans SC"/>
            </a:endParaRPr>
          </a:p>
        </p:txBody>
      </p:sp>
      <p:sp>
        <p:nvSpPr>
          <p:cNvPr id="15" name="AutoShape 15"/>
          <p:cNvSpPr/>
          <p:nvPr/>
        </p:nvSpPr>
        <p:spPr>
          <a:xfrm>
            <a:off x="7747000" y="5270500"/>
            <a:ext cx="1778000" cy="1143000"/>
          </a:xfrm>
          <a:prstGeom prst="roundRect">
            <a:avLst>
              <a:gd name="adj" fmla="val 0"/>
            </a:avLst>
          </a:prstGeom>
          <a:solidFill>
            <a:srgbClr val="64FFDA">
              <a:alpha val="10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nvSpPr>
        <p:spPr>
          <a:xfrm>
            <a:off x="7810500" y="5334000"/>
            <a:ext cx="165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64FFDA"/>
                </a:solidFill>
                <a:latin typeface="Noto Sans SC"/>
                <a:ea typeface="Noto Sans SC"/>
                <a:cs typeface="Noto Sans SC"/>
                <a:sym typeface="Noto Sans SC"/>
              </a:rPr>
              <a:t>25%</a:t>
            </a:r>
            <a:endParaRPr lang="en-US" sz="1100"/>
          </a:p>
          <a:p>
            <a:pPr marL="0" indent="0" algn="l">
              <a:lnSpc>
                <a:spcPct val="100000"/>
              </a:lnSpc>
            </a:pPr>
            <a:r>
              <a:rPr lang="en-US" sz="1000" b="0" i="0" u="none" strike="noStrike">
                <a:solidFill>
                  <a:srgbClr val="94A3B8"/>
                </a:solidFill>
                <a:latin typeface="Noto Sans SC"/>
                <a:ea typeface="Noto Sans SC"/>
                <a:cs typeface="Noto Sans SC"/>
                <a:sym typeface="Noto Sans SC"/>
              </a:rPr>
              <a:t>Member repurchase rate grew, user lifetime value released.</a:t>
            </a:r>
            <a:endParaRPr lang="en-US" sz="1000" b="0" i="0" u="none" strike="noStrike">
              <a:solidFill>
                <a:srgbClr val="94A3B8"/>
              </a:solidFill>
              <a:latin typeface="Noto Sans SC"/>
              <a:ea typeface="Noto Sans SC"/>
              <a:cs typeface="Noto Sans SC"/>
              <a:sym typeface="Noto Sans SC"/>
            </a:endParaRPr>
          </a:p>
        </p:txBody>
      </p:sp>
      <p:sp>
        <p:nvSpPr>
          <p:cNvPr id="17" name="AutoShape 17"/>
          <p:cNvSpPr/>
          <p:nvPr/>
        </p:nvSpPr>
        <p:spPr>
          <a:xfrm>
            <a:off x="9652000" y="5270500"/>
            <a:ext cx="1778000" cy="1143000"/>
          </a:xfrm>
          <a:prstGeom prst="roundRect">
            <a:avLst>
              <a:gd name="adj" fmla="val 0"/>
            </a:avLst>
          </a:prstGeom>
          <a:solidFill>
            <a:srgbClr val="64FFDA">
              <a:alpha val="1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9715500" y="5334000"/>
            <a:ext cx="165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64FFDA"/>
                </a:solidFill>
                <a:latin typeface="Noto Sans SC"/>
                <a:ea typeface="Noto Sans SC"/>
                <a:cs typeface="Noto Sans SC"/>
                <a:sym typeface="Noto Sans SC"/>
              </a:rPr>
              <a:t>40%</a:t>
            </a:r>
            <a:endParaRPr lang="en-US" sz="1100"/>
          </a:p>
          <a:p>
            <a:pPr marL="0" indent="0" algn="l">
              <a:lnSpc>
                <a:spcPct val="100000"/>
              </a:lnSpc>
            </a:pPr>
            <a:r>
              <a:rPr lang="en-US" sz="1000" b="0" i="0" u="none" strike="noStrike">
                <a:solidFill>
                  <a:srgbClr val="94A3B8"/>
                </a:solidFill>
                <a:latin typeface="Noto Sans SC"/>
                <a:ea typeface="Noto Sans SC"/>
                <a:cs typeface="Noto Sans SC"/>
                <a:sym typeface="Noto Sans SC"/>
              </a:rPr>
              <a:t>New product launch cycle shortened, fast response to market.</a:t>
            </a:r>
            <a:endParaRPr lang="en-US" sz="1000" b="0" i="0" u="none" strike="noStrike">
              <a:solidFill>
                <a:srgbClr val="94A3B8"/>
              </a:solidFill>
              <a:latin typeface="Noto Sans SC"/>
              <a:ea typeface="Noto Sans SC"/>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a:solidFill>
                  <a:srgbClr val="64FFDA"/>
                </a:solidFill>
                <a:latin typeface="Noto Sans SC"/>
                <a:ea typeface="Noto Sans SC"/>
                <a:cs typeface="Noto Sans SC"/>
                <a:sym typeface="Noto Sans SC"/>
              </a:rPr>
              <a:t>Team Strength: Professional Escort, Trustworthy</a:t>
            </a:r>
            <a:endParaRPr lang="en-US" sz="1100"/>
          </a:p>
        </p:txBody>
      </p:sp>
      <p:sp>
        <p:nvSpPr>
          <p:cNvPr id="4" name="AutoShape 4"/>
          <p:cNvSpPr/>
          <p:nvPr/>
        </p:nvSpPr>
        <p:spPr>
          <a:xfrm>
            <a:off x="762000" y="1651000"/>
            <a:ext cx="10668000" cy="12700"/>
          </a:xfrm>
          <a:prstGeom prst="roundRect">
            <a:avLst>
              <a:gd name="adj" fmla="val 0"/>
            </a:avLst>
          </a:prstGeom>
          <a:solidFill>
            <a:srgbClr val="64FFDA">
              <a:alpha val="4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762000" y="2032000"/>
            <a:ext cx="2540000" cy="3810000"/>
          </a:xfrm>
          <a:prstGeom prst="roundRect">
            <a:avLst>
              <a:gd name="adj" fmla="val 0"/>
            </a:avLst>
          </a:prstGeom>
          <a:solidFill>
            <a:srgbClr val="172C4D">
              <a:alpha val="90000"/>
            </a:srgbClr>
          </a:solidFill>
          <a:ln w="12700" cap="flat" cmpd="sng">
            <a:solidFill>
              <a:srgbClr val="64FFDA">
                <a:alpha val="50000"/>
              </a:srgbClr>
            </a:solid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srcRect l="16687" r="16687"/>
          <a:stretch>
            <a:fillRect/>
          </a:stretch>
        </p:blipFill>
        <p:spPr>
          <a:xfrm>
            <a:off x="952500" y="2286000"/>
            <a:ext cx="762000" cy="762000"/>
          </a:xfrm>
          <a:prstGeom prst="rect">
            <a:avLst/>
          </a:prstGeom>
          <a:noFill/>
          <a:ln w="25400" cap="flat" cmpd="sng">
            <a:noFill/>
            <a:prstDash val="solid"/>
            <a:round/>
          </a:ln>
          <a:effectLst>
            <a:outerShdw blurRad="228600" dir="2700000" algn="tl" rotWithShape="0">
              <a:srgbClr val="64FFDA">
                <a:alpha val="70000"/>
              </a:srgbClr>
            </a:outerShdw>
          </a:effectLst>
        </p:spPr>
      </p:pic>
      <p:sp>
        <p:nvSpPr>
          <p:cNvPr id="7" name="AutoShape 7"/>
          <p:cNvSpPr/>
          <p:nvPr/>
        </p:nvSpPr>
        <p:spPr>
          <a:xfrm>
            <a:off x="1778000" y="2286000"/>
            <a:ext cx="139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FFFFFF"/>
                </a:solidFill>
                <a:latin typeface="Noto Sans SC"/>
                <a:ea typeface="Noto Sans SC"/>
                <a:cs typeface="Noto Sans SC"/>
                <a:sym typeface="Noto Sans SC"/>
              </a:rPr>
              <a:t>Zhang Qihang</a:t>
            </a:r>
            <a:endParaRPr lang="en-US" sz="1100"/>
          </a:p>
          <a:p>
            <a:pPr marL="0" indent="0" algn="l">
              <a:lnSpc>
                <a:spcPct val="100000"/>
              </a:lnSpc>
            </a:pPr>
            <a:r>
              <a:rPr lang="en-US" sz="1200" b="0" i="0" u="none" strike="noStrike">
                <a:solidFill>
                  <a:srgbClr val="64FFDA"/>
                </a:solidFill>
                <a:latin typeface="Noto Sans SC"/>
                <a:ea typeface="Noto Sans SC"/>
                <a:cs typeface="Noto Sans SC"/>
                <a:sym typeface="Noto Sans SC"/>
              </a:rPr>
              <a:t>Founder / CEO</a:t>
            </a:r>
            <a:endParaRPr lang="en-US" sz="1200" b="0" i="0" u="none" strike="noStrike">
              <a:solidFill>
                <a:srgbClr val="64FFDA"/>
              </a:solidFill>
              <a:latin typeface="Noto Sans SC"/>
              <a:ea typeface="Noto Sans SC"/>
              <a:cs typeface="Noto Sans SC"/>
              <a:sym typeface="Noto Sans SC"/>
            </a:endParaRPr>
          </a:p>
        </p:txBody>
      </p:sp>
      <p:cxnSp>
        <p:nvCxnSpPr>
          <p:cNvPr id="8" name="Connector 8"/>
          <p:cNvCxnSpPr/>
          <p:nvPr/>
        </p:nvCxnSpPr>
        <p:spPr>
          <a:xfrm rot="-20221">
            <a:off x="952519" y="3359150"/>
            <a:ext cx="2159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9" name="AutoShape 9"/>
          <p:cNvSpPr/>
          <p:nvPr/>
        </p:nvSpPr>
        <p:spPr>
          <a:xfrm>
            <a:off x="952500" y="3556000"/>
            <a:ext cx="2159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CCD6F6"/>
                </a:solidFill>
                <a:latin typeface="Noto Sans SC"/>
                <a:ea typeface="Noto Sans SC"/>
                <a:cs typeface="Noto Sans SC"/>
                <a:sym typeface="Noto Sans SC"/>
              </a:rPr>
              <a:t>15 years in enterprise digitalization. Served at a Fortune 500 tech firm, led R&amp;D of national smart projects. Deep insights into industry trends and digital transformation pain points, with excellent strategic planning.</a:t>
            </a:r>
            <a:endParaRPr lang="en-US" sz="1100"/>
          </a:p>
        </p:txBody>
      </p:sp>
      <p:sp>
        <p:nvSpPr>
          <p:cNvPr id="10" name="AutoShape 10"/>
          <p:cNvSpPr/>
          <p:nvPr/>
        </p:nvSpPr>
        <p:spPr>
          <a:xfrm>
            <a:off x="3467100" y="2032000"/>
            <a:ext cx="2540000" cy="3810000"/>
          </a:xfrm>
          <a:prstGeom prst="roundRect">
            <a:avLst>
              <a:gd name="adj" fmla="val 0"/>
            </a:avLst>
          </a:prstGeom>
          <a:solidFill>
            <a:srgbClr val="172C4D">
              <a:alpha val="90000"/>
            </a:srgbClr>
          </a:solidFill>
          <a:ln w="12700" cap="flat" cmpd="sng">
            <a:solidFill>
              <a:srgbClr val="64FFDA">
                <a:alpha val="50000"/>
              </a:srgbClr>
            </a:solidFill>
            <a:prstDash val="solid"/>
            <a:round/>
          </a:ln>
        </p:spPr>
        <p:txBody>
          <a:bodyPr vert="horz" wrap="square" lIns="0" tIns="0" rIns="0" bIns="0" rtlCol="0" anchor="ctr" anchorCtr="0"/>
          <a:lstStyle/>
          <a:p>
            <a:pPr algn="ctr">
              <a:defRPr/>
            </a:pPr>
          </a:p>
        </p:txBody>
      </p:sp>
      <p:pic>
        <p:nvPicPr>
          <p:cNvPr id="11" name="Picture 11"/>
          <p:cNvPicPr>
            <a:picLocks noChangeAspect="1"/>
          </p:cNvPicPr>
          <p:nvPr/>
        </p:nvPicPr>
        <p:blipFill>
          <a:blip r:embed="rId1"/>
          <a:srcRect l="16687" r="16687"/>
          <a:stretch>
            <a:fillRect/>
          </a:stretch>
        </p:blipFill>
        <p:spPr>
          <a:xfrm>
            <a:off x="3657600" y="2286000"/>
            <a:ext cx="762000" cy="762000"/>
          </a:xfrm>
          <a:prstGeom prst="rect">
            <a:avLst/>
          </a:prstGeom>
          <a:noFill/>
          <a:ln w="25400" cap="flat" cmpd="sng">
            <a:noFill/>
            <a:prstDash val="solid"/>
            <a:round/>
          </a:ln>
          <a:effectLst>
            <a:outerShdw blurRad="228600" dir="2700000" algn="tl" rotWithShape="0">
              <a:srgbClr val="64FFDA">
                <a:alpha val="70000"/>
              </a:srgbClr>
            </a:outerShdw>
          </a:effectLst>
        </p:spPr>
      </p:pic>
      <p:sp>
        <p:nvSpPr>
          <p:cNvPr id="12" name="AutoShape 12"/>
          <p:cNvSpPr/>
          <p:nvPr/>
        </p:nvSpPr>
        <p:spPr>
          <a:xfrm>
            <a:off x="4483100" y="2286000"/>
            <a:ext cx="139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FFFFFF"/>
                </a:solidFill>
                <a:latin typeface="Noto Sans SC"/>
                <a:ea typeface="Noto Sans SC"/>
                <a:cs typeface="Noto Sans SC"/>
                <a:sym typeface="Noto Sans SC"/>
              </a:rPr>
              <a:t>Li Zeming</a:t>
            </a:r>
            <a:endParaRPr lang="en-US" sz="1100"/>
          </a:p>
          <a:p>
            <a:pPr marL="0" indent="0" algn="l">
              <a:lnSpc>
                <a:spcPct val="100000"/>
              </a:lnSpc>
            </a:pPr>
            <a:r>
              <a:rPr lang="en-US" sz="1200" b="0" i="0" u="none" strike="noStrike">
                <a:solidFill>
                  <a:srgbClr val="64FFDA"/>
                </a:solidFill>
                <a:latin typeface="Noto Sans SC"/>
                <a:ea typeface="Noto Sans SC"/>
                <a:cs typeface="Noto Sans SC"/>
                <a:sym typeface="Noto Sans SC"/>
              </a:rPr>
              <a:t>CTO</a:t>
            </a:r>
            <a:endParaRPr lang="en-US" sz="1200" b="0" i="0" u="none" strike="noStrike">
              <a:solidFill>
                <a:srgbClr val="64FFDA"/>
              </a:solidFill>
              <a:latin typeface="Noto Sans SC"/>
              <a:ea typeface="Noto Sans SC"/>
              <a:cs typeface="Noto Sans SC"/>
              <a:sym typeface="Noto Sans SC"/>
            </a:endParaRPr>
          </a:p>
        </p:txBody>
      </p:sp>
      <p:cxnSp>
        <p:nvCxnSpPr>
          <p:cNvPr id="13" name="Connector 13"/>
          <p:cNvCxnSpPr/>
          <p:nvPr/>
        </p:nvCxnSpPr>
        <p:spPr>
          <a:xfrm rot="-20221">
            <a:off x="3657619" y="3359150"/>
            <a:ext cx="2159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4" name="AutoShape 14"/>
          <p:cNvSpPr/>
          <p:nvPr/>
        </p:nvSpPr>
        <p:spPr>
          <a:xfrm>
            <a:off x="3657600" y="3556000"/>
            <a:ext cx="2159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CCD6F6"/>
                </a:solidFill>
                <a:latin typeface="Noto Sans SC"/>
                <a:ea typeface="Noto Sans SC"/>
                <a:cs typeface="Noto Sans SC"/>
                <a:sym typeface="Noto Sans SC"/>
              </a:rPr>
              <a:t>12 years in software architecture, proficient in microservices &amp; cloud computing. Designed architecture for 10M-user systems, holds 8 patents. Led team to overcome technical challenges.</a:t>
            </a:r>
            <a:endParaRPr lang="en-US" sz="1100"/>
          </a:p>
        </p:txBody>
      </p:sp>
      <p:sp>
        <p:nvSpPr>
          <p:cNvPr id="15" name="AutoShape 15"/>
          <p:cNvSpPr/>
          <p:nvPr/>
        </p:nvSpPr>
        <p:spPr>
          <a:xfrm>
            <a:off x="6172200" y="2032000"/>
            <a:ext cx="2540000" cy="3810000"/>
          </a:xfrm>
          <a:prstGeom prst="roundRect">
            <a:avLst>
              <a:gd name="adj" fmla="val 0"/>
            </a:avLst>
          </a:prstGeom>
          <a:solidFill>
            <a:srgbClr val="172C4D">
              <a:alpha val="90000"/>
            </a:srgbClr>
          </a:solidFill>
          <a:ln w="12700" cap="flat" cmpd="sng">
            <a:solidFill>
              <a:srgbClr val="64FFDA">
                <a:alpha val="50000"/>
              </a:srgbClr>
            </a:solidFill>
            <a:prstDash val="solid"/>
            <a:round/>
          </a:ln>
        </p:spPr>
        <p:txBody>
          <a:bodyPr vert="horz" wrap="square" lIns="0" tIns="0" rIns="0" bIns="0" rtlCol="0" anchor="ctr" anchorCtr="0"/>
          <a:lstStyle/>
          <a:p>
            <a:pPr algn="ctr">
              <a:defRPr/>
            </a:pPr>
          </a:p>
        </p:txBody>
      </p:sp>
      <p:pic>
        <p:nvPicPr>
          <p:cNvPr id="16" name="Picture 16"/>
          <p:cNvPicPr>
            <a:picLocks noChangeAspect="1"/>
          </p:cNvPicPr>
          <p:nvPr/>
        </p:nvPicPr>
        <p:blipFill>
          <a:blip r:embed="rId1"/>
          <a:srcRect l="16687" r="16687"/>
          <a:stretch>
            <a:fillRect/>
          </a:stretch>
        </p:blipFill>
        <p:spPr>
          <a:xfrm>
            <a:off x="6362700" y="2286000"/>
            <a:ext cx="762000" cy="762000"/>
          </a:xfrm>
          <a:prstGeom prst="rect">
            <a:avLst/>
          </a:prstGeom>
          <a:noFill/>
          <a:ln w="25400" cap="flat" cmpd="sng">
            <a:noFill/>
            <a:prstDash val="solid"/>
            <a:round/>
          </a:ln>
          <a:effectLst>
            <a:outerShdw blurRad="228600" dir="2700000" algn="tl" rotWithShape="0">
              <a:srgbClr val="64FFDA">
                <a:alpha val="70000"/>
              </a:srgbClr>
            </a:outerShdw>
          </a:effectLst>
        </p:spPr>
      </p:pic>
      <p:sp>
        <p:nvSpPr>
          <p:cNvPr id="17" name="AutoShape 17"/>
          <p:cNvSpPr/>
          <p:nvPr/>
        </p:nvSpPr>
        <p:spPr>
          <a:xfrm>
            <a:off x="7188200" y="2286000"/>
            <a:ext cx="139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FFFFFF"/>
                </a:solidFill>
                <a:latin typeface="Noto Sans SC"/>
                <a:ea typeface="Noto Sans SC"/>
                <a:cs typeface="Noto Sans SC"/>
                <a:sym typeface="Noto Sans SC"/>
              </a:rPr>
              <a:t>Wang Shuran</a:t>
            </a:r>
            <a:endParaRPr lang="en-US" sz="1100"/>
          </a:p>
          <a:p>
            <a:pPr marL="0" indent="0" algn="l">
              <a:lnSpc>
                <a:spcPct val="100000"/>
              </a:lnSpc>
            </a:pPr>
            <a:r>
              <a:rPr lang="en-US" sz="1200" b="0" i="0" u="none" strike="noStrike">
                <a:solidFill>
                  <a:srgbClr val="64FFDA"/>
                </a:solidFill>
                <a:latin typeface="Noto Sans SC"/>
                <a:ea typeface="Noto Sans SC"/>
                <a:cs typeface="Noto Sans SC"/>
                <a:sym typeface="Noto Sans SC"/>
              </a:rPr>
              <a:t>Product Director</a:t>
            </a:r>
            <a:endParaRPr lang="en-US" sz="1200" b="0" i="0" u="none" strike="noStrike">
              <a:solidFill>
                <a:srgbClr val="64FFDA"/>
              </a:solidFill>
              <a:latin typeface="Noto Sans SC"/>
              <a:ea typeface="Noto Sans SC"/>
              <a:cs typeface="Noto Sans SC"/>
              <a:sym typeface="Noto Sans SC"/>
            </a:endParaRPr>
          </a:p>
        </p:txBody>
      </p:sp>
      <p:cxnSp>
        <p:nvCxnSpPr>
          <p:cNvPr id="18" name="Connector 18"/>
          <p:cNvCxnSpPr/>
          <p:nvPr/>
        </p:nvCxnSpPr>
        <p:spPr>
          <a:xfrm rot="-20221">
            <a:off x="6362719" y="3359150"/>
            <a:ext cx="2159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19" name="AutoShape 19"/>
          <p:cNvSpPr/>
          <p:nvPr/>
        </p:nvSpPr>
        <p:spPr>
          <a:xfrm>
            <a:off x="6362700" y="3556000"/>
            <a:ext cx="2159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CCD6F6"/>
                </a:solidFill>
                <a:latin typeface="Noto Sans SC"/>
                <a:ea typeface="Noto Sans SC"/>
                <a:cs typeface="Noto Sans SC"/>
                <a:sym typeface="Noto Sans SC"/>
              </a:rPr>
              <a:t>10 years in enterprise product design. Balances business value &amp; user experience. Launched benchmark SaaS products, with sharp market insight for iteration.</a:t>
            </a:r>
            <a:endParaRPr lang="en-US" sz="1100"/>
          </a:p>
        </p:txBody>
      </p:sp>
      <p:sp>
        <p:nvSpPr>
          <p:cNvPr id="20" name="AutoShape 20"/>
          <p:cNvSpPr/>
          <p:nvPr/>
        </p:nvSpPr>
        <p:spPr>
          <a:xfrm>
            <a:off x="8877300" y="2032000"/>
            <a:ext cx="2540000" cy="3810000"/>
          </a:xfrm>
          <a:prstGeom prst="roundRect">
            <a:avLst>
              <a:gd name="adj" fmla="val 0"/>
            </a:avLst>
          </a:prstGeom>
          <a:solidFill>
            <a:srgbClr val="172C4D">
              <a:alpha val="90000"/>
            </a:srgbClr>
          </a:solidFill>
          <a:ln w="12700" cap="flat" cmpd="sng">
            <a:solidFill>
              <a:srgbClr val="64FFDA">
                <a:alpha val="50000"/>
              </a:srgbClr>
            </a:solidFill>
            <a:prstDash val="solid"/>
            <a:round/>
          </a:ln>
        </p:spPr>
        <p:txBody>
          <a:bodyPr vert="horz" wrap="square" lIns="0" tIns="0" rIns="0" bIns="0" rtlCol="0" anchor="ctr" anchorCtr="0"/>
          <a:lstStyle/>
          <a:p>
            <a:pPr algn="ctr">
              <a:defRPr/>
            </a:pPr>
          </a:p>
        </p:txBody>
      </p:sp>
      <p:pic>
        <p:nvPicPr>
          <p:cNvPr id="21" name="Picture 21"/>
          <p:cNvPicPr>
            <a:picLocks noChangeAspect="1"/>
          </p:cNvPicPr>
          <p:nvPr/>
        </p:nvPicPr>
        <p:blipFill>
          <a:blip r:embed="rId1"/>
          <a:srcRect l="16687" r="16687"/>
          <a:stretch>
            <a:fillRect/>
          </a:stretch>
        </p:blipFill>
        <p:spPr>
          <a:xfrm>
            <a:off x="9067800" y="2286000"/>
            <a:ext cx="762000" cy="762000"/>
          </a:xfrm>
          <a:prstGeom prst="rect">
            <a:avLst/>
          </a:prstGeom>
          <a:noFill/>
          <a:ln w="25400" cap="flat" cmpd="sng">
            <a:noFill/>
            <a:prstDash val="solid"/>
            <a:round/>
          </a:ln>
          <a:effectLst>
            <a:outerShdw blurRad="228600" dir="2700000" algn="tl" rotWithShape="0">
              <a:srgbClr val="64FFDA">
                <a:alpha val="70000"/>
              </a:srgbClr>
            </a:outerShdw>
          </a:effectLst>
        </p:spPr>
      </p:pic>
      <p:sp>
        <p:nvSpPr>
          <p:cNvPr id="22" name="AutoShape 22"/>
          <p:cNvSpPr/>
          <p:nvPr/>
        </p:nvSpPr>
        <p:spPr>
          <a:xfrm>
            <a:off x="9893300" y="2286000"/>
            <a:ext cx="139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FFFFFF"/>
                </a:solidFill>
                <a:latin typeface="Noto Sans SC"/>
                <a:ea typeface="Noto Sans SC"/>
                <a:cs typeface="Noto Sans SC"/>
                <a:sym typeface="Noto Sans SC"/>
              </a:rPr>
              <a:t>Chen Yuwei</a:t>
            </a:r>
            <a:endParaRPr lang="en-US" sz="1100"/>
          </a:p>
          <a:p>
            <a:pPr marL="0" indent="0" algn="l">
              <a:lnSpc>
                <a:spcPct val="100000"/>
              </a:lnSpc>
            </a:pPr>
            <a:r>
              <a:rPr lang="en-US" sz="1200" b="0" i="0" u="none" strike="noStrike">
                <a:solidFill>
                  <a:srgbClr val="64FFDA"/>
                </a:solidFill>
                <a:latin typeface="Noto Sans SC"/>
                <a:ea typeface="Noto Sans SC"/>
                <a:cs typeface="Noto Sans SC"/>
                <a:sym typeface="Noto Sans SC"/>
              </a:rPr>
              <a:t>CS Director</a:t>
            </a:r>
            <a:endParaRPr lang="en-US" sz="1200" b="0" i="0" u="none" strike="noStrike">
              <a:solidFill>
                <a:srgbClr val="64FFDA"/>
              </a:solidFill>
              <a:latin typeface="Noto Sans SC"/>
              <a:ea typeface="Noto Sans SC"/>
              <a:cs typeface="Noto Sans SC"/>
              <a:sym typeface="Noto Sans SC"/>
            </a:endParaRPr>
          </a:p>
        </p:txBody>
      </p:sp>
      <p:cxnSp>
        <p:nvCxnSpPr>
          <p:cNvPr id="23" name="Connector 23"/>
          <p:cNvCxnSpPr/>
          <p:nvPr/>
        </p:nvCxnSpPr>
        <p:spPr>
          <a:xfrm rot="-20221">
            <a:off x="9067819" y="3359150"/>
            <a:ext cx="215900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24" name="AutoShape 24"/>
          <p:cNvSpPr/>
          <p:nvPr/>
        </p:nvSpPr>
        <p:spPr>
          <a:xfrm>
            <a:off x="9067800" y="3556000"/>
            <a:ext cx="2159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CCD6F6"/>
                </a:solidFill>
                <a:latin typeface="Noto Sans SC"/>
                <a:ea typeface="Noto Sans SC"/>
                <a:cs typeface="Noto Sans SC"/>
                <a:sym typeface="Noto Sans SC"/>
              </a:rPr>
              <a:t>8 years in large client service. Committed to maximizing product value, established standard service systems, served dozens of listed companies with high satisfaction.</a:t>
            </a:r>
            <a:endParaRPr lang="en-US" sz="1100"/>
          </a:p>
        </p:txBody>
      </p:sp>
      <p:sp>
        <p:nvSpPr>
          <p:cNvPr id="25" name="AutoShape 25"/>
          <p:cNvSpPr/>
          <p:nvPr/>
        </p:nvSpPr>
        <p:spPr>
          <a:xfrm>
            <a:off x="762000" y="6045200"/>
            <a:ext cx="10668000" cy="558800"/>
          </a:xfrm>
          <a:prstGeom prst="roundRect">
            <a:avLst>
              <a:gd name="adj" fmla="val 0"/>
            </a:avLst>
          </a:prstGeom>
          <a:solidFill>
            <a:srgbClr val="172C4D">
              <a:alpha val="90000"/>
            </a:srgbClr>
          </a:solidFill>
          <a:ln w="12700" cap="flat" cmpd="sng">
            <a:solidFill>
              <a:srgbClr val="64FFDA">
                <a:alpha val="50000"/>
              </a:srgbClr>
            </a:solidFill>
            <a:prstDash val="solid"/>
            <a:round/>
          </a:ln>
        </p:spPr>
        <p:txBody>
          <a:bodyPr vert="horz" wrap="square" lIns="0" tIns="0" rIns="0" bIns="0" rtlCol="0" anchor="ctr" anchorCtr="0"/>
          <a:lstStyle/>
          <a:p>
            <a:pPr algn="ctr">
              <a:defRPr/>
            </a:pPr>
          </a:p>
        </p:txBody>
      </p:sp>
      <p:sp>
        <p:nvSpPr>
          <p:cNvPr id="26" name="AutoShape 26"/>
          <p:cNvSpPr/>
          <p:nvPr/>
        </p:nvSpPr>
        <p:spPr>
          <a:xfrm>
            <a:off x="889000" y="6134100"/>
            <a:ext cx="1041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CCD6F6"/>
                </a:solidFill>
                <a:latin typeface="Noto Sans SC"/>
                <a:ea typeface="Noto Sans SC"/>
                <a:cs typeface="Noto Sans SC"/>
                <a:sym typeface="Noto Sans SC"/>
              </a:rPr>
              <a:t>Bringing together top industry talents, we build a full-link high-quality guarantee system from R&amp;D to customer service, driven by professional capabilities.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64FFDA"/>
                </a:solidFill>
                <a:latin typeface="Noto Sans SC"/>
                <a:ea typeface="Noto Sans SC"/>
                <a:cs typeface="Noto Sans SC"/>
                <a:sym typeface="Noto Sans SC"/>
              </a:rPr>
              <a:t>Summary &amp; Outlook</a:t>
            </a:r>
            <a:endParaRPr lang="en-US" sz="1100"/>
          </a:p>
        </p:txBody>
      </p:sp>
      <p:cxnSp>
        <p:nvCxnSpPr>
          <p:cNvPr id="4" name="Connector 4"/>
          <p:cNvCxnSpPr/>
          <p:nvPr/>
        </p:nvCxnSpPr>
        <p:spPr>
          <a:xfrm rot="5388910">
            <a:off x="4127490" y="3994170"/>
            <a:ext cx="3937020"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sp>
        <p:nvSpPr>
          <p:cNvPr id="5" name="AutoShape 5"/>
          <p:cNvSpPr/>
          <p:nvPr/>
        </p:nvSpPr>
        <p:spPr>
          <a:xfrm>
            <a:off x="762000" y="2032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64FFDA"/>
                </a:solidFill>
                <a:latin typeface="Noto Sans SC"/>
                <a:ea typeface="Noto Sans SC"/>
                <a:cs typeface="Noto Sans SC"/>
                <a:sym typeface="Noto Sans SC"/>
              </a:rPr>
              <a:t>Core Value Review</a:t>
            </a:r>
            <a:endParaRPr lang="en-US" sz="1100"/>
          </a:p>
        </p:txBody>
      </p:sp>
      <p:sp>
        <p:nvSpPr>
          <p:cNvPr id="6" name="AutoShape 6"/>
          <p:cNvSpPr/>
          <p:nvPr/>
        </p:nvSpPr>
        <p:spPr>
          <a:xfrm>
            <a:off x="762000" y="2921000"/>
            <a:ext cx="5080000" cy="889000"/>
          </a:xfrm>
          <a:prstGeom prst="roundRect">
            <a:avLst>
              <a:gd name="adj" fmla="val 0"/>
            </a:avLst>
          </a:prstGeom>
          <a:solidFill>
            <a:srgbClr val="64FFDA">
              <a:alpha val="10000"/>
            </a:srgbClr>
          </a:solidFill>
          <a:ln w="25400" cap="flat" cmpd="sng">
            <a:noFill/>
            <a:prstDash val="solid"/>
            <a:round/>
          </a:ln>
        </p:spPr>
        <p:txBody>
          <a:bodyPr vert="horz" wrap="square" lIns="0" tIns="0" rIns="0" bIns="0" rtlCol="0" anchor="ctr" anchorCtr="0"/>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098800"/>
            <a:ext cx="406400" cy="406400"/>
          </a:xfrm>
          <a:prstGeom prst="rect">
            <a:avLst/>
          </a:prstGeom>
        </p:spPr>
      </p:pic>
      <p:sp>
        <p:nvSpPr>
          <p:cNvPr id="8" name="AutoShape 8"/>
          <p:cNvSpPr/>
          <p:nvPr/>
        </p:nvSpPr>
        <p:spPr>
          <a:xfrm>
            <a:off x="1524000" y="29845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64FFDA"/>
                </a:solidFill>
                <a:latin typeface="Noto Sans SC"/>
                <a:ea typeface="Noto Sans SC"/>
                <a:cs typeface="Noto Sans SC"/>
                <a:sym typeface="Noto Sans SC"/>
              </a:rPr>
              <a:t>Integrated Platform</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Integrate core workflows, break silos, and enable seamless business flow.</a:t>
            </a:r>
            <a:endParaRPr lang="en-US" sz="1200" b="0" i="0" u="none" strike="noStrike">
              <a:solidFill>
                <a:srgbClr val="CCD6F6"/>
              </a:solidFill>
              <a:latin typeface="Noto Sans SC"/>
              <a:ea typeface="Noto Sans SC"/>
              <a:cs typeface="Noto Sans SC"/>
              <a:sym typeface="Noto Sans SC"/>
            </a:endParaRPr>
          </a:p>
        </p:txBody>
      </p:sp>
      <p:sp>
        <p:nvSpPr>
          <p:cNvPr id="9" name="AutoShape 9"/>
          <p:cNvSpPr/>
          <p:nvPr/>
        </p:nvSpPr>
        <p:spPr>
          <a:xfrm>
            <a:off x="762000" y="4000500"/>
            <a:ext cx="5080000" cy="889000"/>
          </a:xfrm>
          <a:prstGeom prst="roundRect">
            <a:avLst>
              <a:gd name="adj" fmla="val 0"/>
            </a:avLst>
          </a:prstGeom>
          <a:solidFill>
            <a:srgbClr val="64FFDA">
              <a:alpha val="10000"/>
            </a:srgbClr>
          </a:solidFill>
          <a:ln w="25400" cap="flat" cmpd="sng">
            <a:no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178300"/>
            <a:ext cx="406400" cy="406400"/>
          </a:xfrm>
          <a:prstGeom prst="rect">
            <a:avLst/>
          </a:prstGeom>
        </p:spPr>
      </p:pic>
      <p:sp>
        <p:nvSpPr>
          <p:cNvPr id="11" name="AutoShape 11"/>
          <p:cNvSpPr/>
          <p:nvPr/>
        </p:nvSpPr>
        <p:spPr>
          <a:xfrm>
            <a:off x="1524000" y="40640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64FFDA"/>
                </a:solidFill>
                <a:latin typeface="Noto Sans SC"/>
                <a:ea typeface="Noto Sans SC"/>
                <a:cs typeface="Noto Sans SC"/>
                <a:sym typeface="Noto Sans SC"/>
              </a:rPr>
              <a:t>Data-Driven Decisions</a:t>
            </a:r>
            <a:endParaRPr lang="en-US" sz="1100"/>
          </a:p>
          <a:p>
            <a:pPr marL="0" indent="0" algn="l">
              <a:lnSpc>
                <a:spcPct val="100000"/>
              </a:lnSpc>
            </a:pPr>
            <a:r>
              <a:rPr lang="en-US" sz="1200" b="0" i="0" u="none" strike="noStrike">
                <a:solidFill>
                  <a:srgbClr val="CCD6F6"/>
                </a:solidFill>
                <a:latin typeface="Noto Sans SC"/>
                <a:ea typeface="Noto Sans SC"/>
                <a:cs typeface="Noto Sans SC"/>
                <a:sym typeface="Noto Sans SC"/>
              </a:rPr>
              <a:t>Provide real-time insights with visual reports for scientific decision-making.</a:t>
            </a:r>
            <a:endParaRPr lang="en-US" sz="1200" b="0" i="0" u="none" strike="noStrike">
              <a:solidFill>
                <a:srgbClr val="CCD6F6"/>
              </a:solidFill>
              <a:latin typeface="Noto Sans SC"/>
              <a:ea typeface="Noto Sans SC"/>
              <a:cs typeface="Noto Sans SC"/>
              <a:sym typeface="Noto Sans SC"/>
            </a:endParaRPr>
          </a:p>
        </p:txBody>
      </p:sp>
      <p:sp>
        <p:nvSpPr>
          <p:cNvPr id="12" name="AutoShape 12"/>
          <p:cNvSpPr/>
          <p:nvPr/>
        </p:nvSpPr>
        <p:spPr>
          <a:xfrm>
            <a:off x="762000" y="5143500"/>
            <a:ext cx="2476500" cy="1079500"/>
          </a:xfrm>
          <a:prstGeom prst="roundRect">
            <a:avLst>
              <a:gd name="adj" fmla="val 0"/>
            </a:avLst>
          </a:prstGeom>
          <a:solidFill>
            <a:srgbClr val="64FFDA">
              <a:alpha val="10000"/>
            </a:srgbClr>
          </a:solidFill>
          <a:ln w="25400" cap="flat" cmpd="sng">
            <a:no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9000" y="5270500"/>
            <a:ext cx="304800" cy="304800"/>
          </a:xfrm>
          <a:prstGeom prst="rect">
            <a:avLst/>
          </a:prstGeom>
        </p:spPr>
      </p:pic>
      <p:sp>
        <p:nvSpPr>
          <p:cNvPr id="14" name="AutoShape 14"/>
          <p:cNvSpPr/>
          <p:nvPr/>
        </p:nvSpPr>
        <p:spPr>
          <a:xfrm>
            <a:off x="1270000" y="5245100"/>
            <a:ext cx="190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4FFDA"/>
                </a:solidFill>
                <a:latin typeface="Noto Sans SC"/>
                <a:ea typeface="Noto Sans SC"/>
                <a:cs typeface="Noto Sans SC"/>
                <a:sym typeface="Noto Sans SC"/>
              </a:rPr>
              <a:t>Ultimate UX</a:t>
            </a:r>
            <a:endParaRPr lang="en-US" sz="1100"/>
          </a:p>
          <a:p>
            <a:pPr marL="0" indent="0" algn="l">
              <a:lnSpc>
                <a:spcPct val="100000"/>
              </a:lnSpc>
            </a:pPr>
            <a:r>
              <a:rPr lang="en-US" sz="1100" b="0" i="0" u="none" strike="noStrike">
                <a:solidFill>
                  <a:srgbClr val="CCD6F6"/>
                </a:solidFill>
                <a:latin typeface="Noto Sans SC"/>
                <a:ea typeface="Noto Sans SC"/>
                <a:cs typeface="Noto Sans SC"/>
                <a:sym typeface="Noto Sans SC"/>
              </a:rPr>
              <a:t>Intuitive interface reduces training costs and boosts efficiency.</a:t>
            </a:r>
            <a:endParaRPr lang="en-US" sz="1100" b="0" i="0" u="none" strike="noStrike">
              <a:solidFill>
                <a:srgbClr val="CCD6F6"/>
              </a:solidFill>
              <a:latin typeface="Noto Sans SC"/>
              <a:ea typeface="Noto Sans SC"/>
              <a:cs typeface="Noto Sans SC"/>
              <a:sym typeface="Noto Sans SC"/>
            </a:endParaRPr>
          </a:p>
        </p:txBody>
      </p:sp>
      <p:sp>
        <p:nvSpPr>
          <p:cNvPr id="15" name="AutoShape 15"/>
          <p:cNvSpPr/>
          <p:nvPr/>
        </p:nvSpPr>
        <p:spPr>
          <a:xfrm>
            <a:off x="3365500" y="5143500"/>
            <a:ext cx="2476500" cy="1079500"/>
          </a:xfrm>
          <a:prstGeom prst="roundRect">
            <a:avLst>
              <a:gd name="adj" fmla="val 0"/>
            </a:avLst>
          </a:prstGeom>
          <a:solidFill>
            <a:srgbClr val="64FFDA">
              <a:alpha val="10000"/>
            </a:srgbClr>
          </a:solidFill>
          <a:ln w="25400" cap="flat" cmpd="sng">
            <a:noFill/>
            <a:prstDash val="solid"/>
            <a:round/>
          </a:ln>
        </p:spPr>
        <p:txBody>
          <a:bodyPr vert="horz" wrap="square" lIns="0" tIns="0" rIns="0" bIns="0" rtlCol="0" anchor="ctr" anchorCtr="0"/>
          <a:lstStyle/>
          <a:p>
            <a:pPr algn="ctr">
              <a:defRPr/>
            </a:p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2500" y="5270500"/>
            <a:ext cx="304800" cy="304800"/>
          </a:xfrm>
          <a:prstGeom prst="rect">
            <a:avLst/>
          </a:prstGeom>
        </p:spPr>
      </p:pic>
      <p:sp>
        <p:nvSpPr>
          <p:cNvPr id="17" name="AutoShape 17"/>
          <p:cNvSpPr/>
          <p:nvPr/>
        </p:nvSpPr>
        <p:spPr>
          <a:xfrm>
            <a:off x="3873500" y="5245100"/>
            <a:ext cx="190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4FFDA"/>
                </a:solidFill>
                <a:latin typeface="Noto Sans SC"/>
                <a:ea typeface="Noto Sans SC"/>
                <a:cs typeface="Noto Sans SC"/>
                <a:sym typeface="Noto Sans SC"/>
              </a:rPr>
              <a:t>Robust &amp; Secure</a:t>
            </a:r>
            <a:endParaRPr lang="en-US" sz="1100"/>
          </a:p>
          <a:p>
            <a:pPr marL="0" indent="0" algn="l">
              <a:lnSpc>
                <a:spcPct val="100000"/>
              </a:lnSpc>
            </a:pPr>
            <a:r>
              <a:rPr lang="en-US" sz="1100" b="0" i="0" u="none" strike="noStrike">
                <a:solidFill>
                  <a:srgbClr val="CCD6F6"/>
                </a:solidFill>
                <a:latin typeface="Noto Sans SC"/>
                <a:ea typeface="Noto Sans SC"/>
                <a:cs typeface="Noto Sans SC"/>
                <a:sym typeface="Noto Sans SC"/>
              </a:rPr>
              <a:t>Enterprise-grade security safeguards business continuity.</a:t>
            </a:r>
            <a:endParaRPr lang="en-US" sz="1100" b="0" i="0" u="none" strike="noStrike">
              <a:solidFill>
                <a:srgbClr val="CCD6F6"/>
              </a:solidFill>
              <a:latin typeface="Noto Sans SC"/>
              <a:ea typeface="Noto Sans SC"/>
              <a:cs typeface="Noto Sans SC"/>
              <a:sym typeface="Noto Sans SC"/>
            </a:endParaRPr>
          </a:p>
        </p:txBody>
      </p:sp>
      <p:sp>
        <p:nvSpPr>
          <p:cNvPr id="18" name="AutoShape 18"/>
          <p:cNvSpPr/>
          <p:nvPr/>
        </p:nvSpPr>
        <p:spPr>
          <a:xfrm>
            <a:off x="6604000" y="3048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64FFDA"/>
                </a:solidFill>
                <a:latin typeface="Noto Sans SC"/>
                <a:ea typeface="Noto Sans SC"/>
                <a:cs typeface="Noto Sans SC"/>
                <a:sym typeface="Noto Sans SC"/>
              </a:rPr>
              <a:t>Thank You</a:t>
            </a:r>
            <a:endParaRPr lang="en-US" sz="1100"/>
          </a:p>
        </p:txBody>
      </p:sp>
      <p:sp>
        <p:nvSpPr>
          <p:cNvPr id="19" name="AutoShape 19"/>
          <p:cNvSpPr/>
          <p:nvPr/>
        </p:nvSpPr>
        <p:spPr>
          <a:xfrm>
            <a:off x="6604000" y="4318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CCD6F6"/>
                </a:solidFill>
                <a:latin typeface="Noto Sans SC"/>
                <a:ea typeface="Noto Sans SC"/>
                <a:cs typeface="Noto Sans SC"/>
                <a:sym typeface="Noto Sans SC"/>
              </a:rPr>
              <a:t>We look forward to partnering with you to empower businesses with technology and co-create a brand new future for digital transformation.</a:t>
            </a:r>
            <a:endParaRPr lang="en-US" sz="1100"/>
          </a:p>
        </p:txBody>
      </p:sp>
      <p:cxnSp>
        <p:nvCxnSpPr>
          <p:cNvPr id="20" name="Connector 20"/>
          <p:cNvCxnSpPr/>
          <p:nvPr/>
        </p:nvCxnSpPr>
        <p:spPr>
          <a:xfrm rot="-9046">
            <a:off x="6604008" y="5391150"/>
            <a:ext cx="4826017" cy="12700"/>
          </a:xfrm>
          <a:prstGeom prst="straightConnector1">
            <a:avLst/>
          </a:prstGeom>
          <a:solidFill>
            <a:srgbClr val="DEE0E3">
              <a:alpha val="100000"/>
            </a:srgbClr>
          </a:solidFill>
          <a:ln w="12700" cap="flat" cmpd="sng">
            <a:solidFill>
              <a:srgbClr val="64FFDA">
                <a:alpha val="40000"/>
              </a:srgbClr>
            </a:solidFill>
            <a:prstDash val="solid"/>
            <a:round/>
            <a:headEnd type="none" w="med" len="med"/>
            <a:tailEnd type="none" w="med" len="med"/>
          </a:ln>
        </p:spPr>
      </p:cxn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5651500"/>
            <a:ext cx="203200" cy="203200"/>
          </a:xfrm>
          <a:prstGeom prst="rect">
            <a:avLst/>
          </a:prstGeom>
        </p:spPr>
      </p:pic>
      <p:sp>
        <p:nvSpPr>
          <p:cNvPr id="22" name="AutoShape 22"/>
          <p:cNvSpPr/>
          <p:nvPr/>
        </p:nvSpPr>
        <p:spPr>
          <a:xfrm>
            <a:off x="6921500" y="56261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64FFDA"/>
                </a:solidFill>
                <a:latin typeface="Noto Sans SC"/>
                <a:ea typeface="Noto Sans SC"/>
                <a:cs typeface="Noto Sans SC"/>
                <a:sym typeface="Noto Sans SC"/>
              </a:rPr>
              <a:t>Contact:</a:t>
            </a:r>
            <a:r>
              <a:rPr lang="en-US" sz="1200" b="0" i="0" u="none" strike="noStrike">
                <a:solidFill>
                  <a:srgbClr val="CCD6F6"/>
                </a:solidFill>
                <a:latin typeface="Noto Sans SC"/>
                <a:ea typeface="Noto Sans SC"/>
                <a:cs typeface="Noto Sans SC"/>
                <a:sym typeface="Noto Sans SC"/>
              </a:rPr>
              <a:t>[Your Name]</a:t>
            </a:r>
            <a:endParaRPr lang="en-US" sz="1100"/>
          </a:p>
        </p:txBody>
      </p:sp>
      <p:pic>
        <p:nvPicPr>
          <p:cNvPr id="23" name="Picture 2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44000" y="5651500"/>
            <a:ext cx="203200" cy="203200"/>
          </a:xfrm>
          <a:prstGeom prst="rect">
            <a:avLst/>
          </a:prstGeom>
        </p:spPr>
      </p:pic>
      <p:sp>
        <p:nvSpPr>
          <p:cNvPr id="24" name="AutoShape 24"/>
          <p:cNvSpPr/>
          <p:nvPr/>
        </p:nvSpPr>
        <p:spPr>
          <a:xfrm>
            <a:off x="9461500" y="56261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64FFDA"/>
                </a:solidFill>
                <a:latin typeface="Noto Sans SC"/>
                <a:ea typeface="Noto Sans SC"/>
                <a:cs typeface="Noto Sans SC"/>
                <a:sym typeface="Noto Sans SC"/>
              </a:rPr>
              <a:t>Tel:</a:t>
            </a:r>
            <a:r>
              <a:rPr lang="en-US" sz="1200" b="0" i="0" u="none" strike="noStrike">
                <a:solidFill>
                  <a:srgbClr val="CCD6F6"/>
                </a:solidFill>
                <a:latin typeface="Noto Sans SC"/>
                <a:ea typeface="Noto Sans SC"/>
                <a:cs typeface="Noto Sans SC"/>
                <a:sym typeface="Noto Sans SC"/>
              </a:rPr>
              <a:t>[Your Phone]</a:t>
            </a:r>
            <a:endParaRPr lang="en-US" sz="1100"/>
          </a:p>
        </p:txBody>
      </p:sp>
      <p:pic>
        <p:nvPicPr>
          <p:cNvPr id="25" name="Picture 25"/>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4000" y="6096000"/>
            <a:ext cx="203200" cy="203200"/>
          </a:xfrm>
          <a:prstGeom prst="rect">
            <a:avLst/>
          </a:prstGeom>
        </p:spPr>
      </p:pic>
      <p:sp>
        <p:nvSpPr>
          <p:cNvPr id="26" name="AutoShape 26"/>
          <p:cNvSpPr/>
          <p:nvPr/>
        </p:nvSpPr>
        <p:spPr>
          <a:xfrm>
            <a:off x="6921500" y="60706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64FFDA"/>
                </a:solidFill>
                <a:latin typeface="Noto Sans SC"/>
                <a:ea typeface="Noto Sans SC"/>
                <a:cs typeface="Noto Sans SC"/>
                <a:sym typeface="Noto Sans SC"/>
              </a:rPr>
              <a:t>Email:</a:t>
            </a:r>
            <a:r>
              <a:rPr lang="en-US" sz="1200" b="0" i="0" u="none" strike="noStrike">
                <a:solidFill>
                  <a:srgbClr val="CCD6F6"/>
                </a:solidFill>
                <a:latin typeface="Noto Sans SC"/>
                <a:ea typeface="Noto Sans SC"/>
                <a:cs typeface="Noto Sans SC"/>
                <a:sym typeface="Noto Sans SC"/>
              </a:rPr>
              <a:t>[Your Email]</a:t>
            </a:r>
            <a:endParaRPr lang="en-US" sz="1100"/>
          </a:p>
        </p:txBody>
      </p:sp>
      <p:pic>
        <p:nvPicPr>
          <p:cNvPr id="27" name="Picture 27"/>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144000" y="6096000"/>
            <a:ext cx="203200" cy="203200"/>
          </a:xfrm>
          <a:prstGeom prst="rect">
            <a:avLst/>
          </a:prstGeom>
        </p:spPr>
      </p:pic>
      <p:sp>
        <p:nvSpPr>
          <p:cNvPr id="28" name="AutoShape 28"/>
          <p:cNvSpPr/>
          <p:nvPr/>
        </p:nvSpPr>
        <p:spPr>
          <a:xfrm>
            <a:off x="9461500" y="60706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64FFDA"/>
                </a:solidFill>
                <a:latin typeface="Noto Sans SC"/>
                <a:ea typeface="Noto Sans SC"/>
                <a:cs typeface="Noto Sans SC"/>
                <a:sym typeface="Noto Sans SC"/>
              </a:rPr>
              <a:t>Website:</a:t>
            </a:r>
            <a:r>
              <a:rPr lang="en-US" sz="1200" b="0" i="0" u="none" strike="noStrike">
                <a:solidFill>
                  <a:srgbClr val="CCD6F6"/>
                </a:solidFill>
                <a:latin typeface="Noto Sans SC"/>
                <a:ea typeface="Noto Sans SC"/>
                <a:cs typeface="Noto Sans SC"/>
                <a:sym typeface="Noto Sans SC"/>
              </a:rPr>
              <a:t>[Company Website]</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7589</Words>
  <Application>WPS 演示</Application>
  <PresentationFormat/>
  <Paragraphs>245</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10</vt:i4>
      </vt:variant>
    </vt:vector>
  </HeadingPairs>
  <TitlesOfParts>
    <vt:vector size="23" baseType="lpstr">
      <vt:lpstr>Arial</vt:lpstr>
      <vt:lpstr>宋体</vt:lpstr>
      <vt:lpstr>Wingdings</vt:lpstr>
      <vt:lpstr>Arial</vt:lpstr>
      <vt:lpstr>Noto Sans SC</vt:lpstr>
      <vt:lpstr>Thonburi</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1</cp:revision>
  <dcterms:created xsi:type="dcterms:W3CDTF">2026-06-19T04:55:18Z</dcterms:created>
  <dcterms:modified xsi:type="dcterms:W3CDTF">2026-06-19T04:55:18Z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{"Label":"1","ContentProducer":"001191110102MACQD9K64010000","ProduceID":"7652535229642624185","ReservedCode1":"","ContentPropagator":"","PropagateID":"","ReservedCode2":""}</vt:lpwstr>
  </property>
  <property fmtid="{D5CDD505-2E9C-101B-9397-08002B2CF9AE}" pid="3" name="ICV">
    <vt:lpwstr>29C8872350842A1EB6CB346AB9DE5AB9_42</vt:lpwstr>
  </property>
  <property fmtid="{D5CDD505-2E9C-101B-9397-08002B2CF9AE}" pid="4" name="KSOProductBuildVer">
    <vt:lpwstr>2052-5.3.0.7863</vt:lpwstr>
  </property>
</Properties>
</file>
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to AETHER, where strategic vision meets financial excellence. We provide bespoke solutions for the world's leading financial institutions and consulting firms.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presentation will guide you through our market insights, service matrix, case studies, our unique advantages, and our vision for future partnerships.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financial world is evolving at an unprecedented pace. We identify four key trends—AI, cybersecurity, sustainable finance, and RegTech—as the primary forces reshaping the industry and our clients' strategies.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service matrix is designed to address the multifaceted needs of modern financial and consulting clients. We offer expertise in Strategic Consulting, Financial Advisory, Technology Solutions, and Compliance &amp; Regulatory Affairs.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solutions deliver tangible results. For a global investment bank, we modernized their infrastructure, cutting trade execution time by 40%. For a leading asset manager, we enabled personalized services at scale, boosting client retention by 15%.</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What sets AETHER apart? Our unparalleled expertise, a rigorous data-driven approach, and a client-centric partnership model that ensures we are invested in your success.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 believe in building resilient futures together. Your journey to excellence starts with a conversation. Let's discuss how we can tailor our expertise to your specific needs and goals.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We look forward to the opportunity to partner with you.</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svg"/><Relationship Id="rId7" Type="http://schemas.openxmlformats.org/officeDocument/2006/relationships/image" Target="../media/image4.png"/><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0" Type="http://schemas.openxmlformats.org/officeDocument/2006/relationships/notesSlide" Target="../notesSlides/notesSlide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6.png"/><Relationship Id="rId2" Type="http://schemas.openxmlformats.org/officeDocument/2006/relationships/image" Target="../media/image5.svg"/><Relationship Id="rId10" Type="http://schemas.openxmlformats.org/officeDocument/2006/relationships/notesSlide" Target="../notesSlides/notesSlide5.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1905000"/>
            <a:ext cx="10160000" cy="5080000"/>
          </a:xfrm>
          <a:prstGeom prst="ellipse">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651000" y="4064000"/>
            <a:ext cx="8890000" cy="4445000"/>
          </a:xfrm>
          <a:prstGeom prst="ellipse">
            <a:avLst/>
          </a:prstGeom>
          <a:solidFill>
            <a:srgbClr val="E5E4E2">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Playfair Display"/>
                <a:ea typeface="Playfair Display"/>
                <a:cs typeface="Playfair Display"/>
                <a:sym typeface="Playfair Display"/>
              </a:rPr>
              <a:t>AETHER</a:t>
            </a:r>
            <a:endParaRPr lang="en-US" sz="1100"/>
          </a:p>
        </p:txBody>
      </p:sp>
      <p:sp>
        <p:nvSpPr>
          <p:cNvPr id="5" name="AutoShape 5"/>
          <p:cNvSpPr/>
          <p:nvPr/>
        </p:nvSpPr>
        <p:spPr>
          <a:xfrm>
            <a:off x="5588000" y="4191000"/>
            <a:ext cx="1016000" cy="254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4572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800" b="0" i="0" u="none" strike="noStrike">
                <a:solidFill>
                  <a:srgbClr val="E5E4E2"/>
                </a:solidFill>
                <a:latin typeface="Lato"/>
                <a:ea typeface="Lato"/>
                <a:cs typeface="Lato"/>
                <a:sym typeface="Lato"/>
              </a:rPr>
              <a:t>Strategic Financial &amp; Consulting Solutions</a:t>
            </a:r>
            <a:endParaRPr lang="en-US" sz="1100"/>
          </a:p>
        </p:txBody>
      </p:sp>
      <p:sp>
        <p:nvSpPr>
          <p:cNvPr id="7" name="AutoShape 7"/>
          <p:cNvSpPr/>
          <p:nvPr/>
        </p:nvSpPr>
        <p:spPr>
          <a:xfrm>
            <a:off x="0" y="5969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AAAAAA"/>
                </a:solidFill>
                <a:latin typeface="Lato"/>
                <a:ea typeface="Lato"/>
                <a:cs typeface="Lato"/>
                <a:sym typeface="Lato"/>
              </a:rPr>
              <a:t>[Your Brand Name] |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CONTENTS</a:t>
            </a:r>
            <a:endParaRPr lang="en-US" sz="1100"/>
          </a:p>
        </p:txBody>
      </p:sp>
      <p:sp>
        <p:nvSpPr>
          <p:cNvPr id="3" name="AutoShape 3"/>
          <p:cNvSpPr/>
          <p:nvPr/>
        </p:nvSpPr>
        <p:spPr>
          <a:xfrm>
            <a:off x="1016000" y="1651000"/>
            <a:ext cx="10160000" cy="12700"/>
          </a:xfrm>
          <a:prstGeom prst="roundRect">
            <a:avLst>
              <a:gd name="adj" fmla="val 0"/>
            </a:avLst>
          </a:prstGeom>
          <a:solidFill>
            <a:srgbClr val="E5E4E2">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286000"/>
            <a:ext cx="3302000" cy="1778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86000"/>
            <a:ext cx="50800" cy="1778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19200" y="2413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4E2"/>
                </a:solidFill>
                <a:latin typeface="Poppins"/>
                <a:ea typeface="Poppins"/>
                <a:cs typeface="Poppins"/>
                <a:sym typeface="Poppins"/>
              </a:rPr>
              <a:t>01.</a:t>
            </a:r>
            <a:endParaRPr lang="en-US" sz="1100"/>
          </a:p>
        </p:txBody>
      </p:sp>
      <p:sp>
        <p:nvSpPr>
          <p:cNvPr id="7" name="AutoShape 7"/>
          <p:cNvSpPr/>
          <p:nvPr/>
        </p:nvSpPr>
        <p:spPr>
          <a:xfrm>
            <a:off x="1219200" y="3111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MARKET INSIGHTS</a:t>
            </a:r>
            <a:endParaRPr lang="en-US" sz="1100"/>
          </a:p>
          <a:p>
            <a:pPr marL="0" indent="0" algn="l">
              <a:lnSpc>
                <a:spcPct val="117000"/>
              </a:lnSpc>
            </a:pPr>
            <a:r>
              <a:rPr lang="en-US" sz="1200" b="0" i="0" u="none" strike="noStrike">
                <a:solidFill>
                  <a:srgbClr val="FFFFFF">
                    <a:alpha val="70196"/>
                  </a:srgbClr>
                </a:solidFill>
                <a:latin typeface="Poppins"/>
                <a:ea typeface="Poppins"/>
                <a:cs typeface="Poppins"/>
                <a:sym typeface="Poppins"/>
              </a:rPr>
              <a:t>Navigating the Future of Finance with data-driven foresight and strategic analysis of emerging trends.</a:t>
            </a:r>
            <a:endParaRPr lang="en-US" sz="1200" b="0" i="0" u="none" strike="noStrike">
              <a:solidFill>
                <a:srgbClr val="FFFFFF">
                  <a:alpha val="70196"/>
                </a:srgbClr>
              </a:solidFill>
              <a:latin typeface="Poppins"/>
              <a:ea typeface="Poppins"/>
              <a:cs typeface="Poppins"/>
              <a:sym typeface="Poppins"/>
            </a:endParaRPr>
          </a:p>
        </p:txBody>
      </p:sp>
      <p:sp>
        <p:nvSpPr>
          <p:cNvPr id="8" name="AutoShape 8"/>
          <p:cNvSpPr/>
          <p:nvPr/>
        </p:nvSpPr>
        <p:spPr>
          <a:xfrm>
            <a:off x="4572000" y="2286000"/>
            <a:ext cx="3302000" cy="1778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572000" y="2286000"/>
            <a:ext cx="50800" cy="1778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775200" y="2413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4E2"/>
                </a:solidFill>
                <a:latin typeface="Poppins"/>
                <a:ea typeface="Poppins"/>
                <a:cs typeface="Poppins"/>
                <a:sym typeface="Poppins"/>
              </a:rPr>
              <a:t>02.</a:t>
            </a:r>
            <a:endParaRPr lang="en-US" sz="1100"/>
          </a:p>
        </p:txBody>
      </p:sp>
      <p:sp>
        <p:nvSpPr>
          <p:cNvPr id="11" name="AutoShape 11"/>
          <p:cNvSpPr/>
          <p:nvPr/>
        </p:nvSpPr>
        <p:spPr>
          <a:xfrm>
            <a:off x="4775200" y="3111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OUR SERVICE MATRIX</a:t>
            </a:r>
            <a:endParaRPr lang="en-US" sz="1100"/>
          </a:p>
          <a:p>
            <a:pPr marL="0" indent="0" algn="l">
              <a:lnSpc>
                <a:spcPct val="117000"/>
              </a:lnSpc>
            </a:pPr>
            <a:r>
              <a:rPr lang="en-US" sz="1200" b="0" i="0" u="none" strike="noStrike">
                <a:solidFill>
                  <a:srgbClr val="FFFFFF">
                    <a:alpha val="70196"/>
                  </a:srgbClr>
                </a:solidFill>
                <a:latin typeface="Poppins"/>
                <a:ea typeface="Poppins"/>
                <a:cs typeface="Poppins"/>
                <a:sym typeface="Poppins"/>
              </a:rPr>
              <a:t>A comprehensive suite of expertise tailored to address complex financial challenges across industries.</a:t>
            </a:r>
            <a:endParaRPr lang="en-US" sz="1200" b="0" i="0" u="none" strike="noStrike">
              <a:solidFill>
                <a:srgbClr val="FFFFFF">
                  <a:alpha val="70196"/>
                </a:srgbClr>
              </a:solidFill>
              <a:latin typeface="Poppins"/>
              <a:ea typeface="Poppins"/>
              <a:cs typeface="Poppins"/>
              <a:sym typeface="Poppins"/>
            </a:endParaRPr>
          </a:p>
        </p:txBody>
      </p:sp>
      <p:sp>
        <p:nvSpPr>
          <p:cNvPr id="12" name="AutoShape 12"/>
          <p:cNvSpPr/>
          <p:nvPr/>
        </p:nvSpPr>
        <p:spPr>
          <a:xfrm>
            <a:off x="8128000" y="2286000"/>
            <a:ext cx="3302000" cy="1778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28000" y="2286000"/>
            <a:ext cx="50800" cy="1778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31200" y="24130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4E2"/>
                </a:solidFill>
                <a:latin typeface="Poppins"/>
                <a:ea typeface="Poppins"/>
                <a:cs typeface="Poppins"/>
                <a:sym typeface="Poppins"/>
              </a:rPr>
              <a:t>03.</a:t>
            </a:r>
            <a:endParaRPr lang="en-US" sz="1100"/>
          </a:p>
        </p:txBody>
      </p:sp>
      <p:sp>
        <p:nvSpPr>
          <p:cNvPr id="15" name="AutoShape 15"/>
          <p:cNvSpPr/>
          <p:nvPr/>
        </p:nvSpPr>
        <p:spPr>
          <a:xfrm>
            <a:off x="8331200" y="3111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CASE STUDIES</a:t>
            </a:r>
            <a:endParaRPr lang="en-US" sz="1100"/>
          </a:p>
          <a:p>
            <a:pPr marL="0" indent="0" algn="l">
              <a:lnSpc>
                <a:spcPct val="117000"/>
              </a:lnSpc>
            </a:pPr>
            <a:r>
              <a:rPr lang="en-US" sz="1200" b="0" i="0" u="none" strike="noStrike">
                <a:solidFill>
                  <a:srgbClr val="FFFFFF">
                    <a:alpha val="70196"/>
                  </a:srgbClr>
                </a:solidFill>
                <a:latin typeface="Poppins"/>
                <a:ea typeface="Poppins"/>
                <a:cs typeface="Poppins"/>
                <a:sym typeface="Poppins"/>
              </a:rPr>
              <a:t>Delivering tangible value and measurable results through successful client engagements and real-world applications.</a:t>
            </a:r>
            <a:endParaRPr lang="en-US" sz="1200" b="0" i="0" u="none" strike="noStrike">
              <a:solidFill>
                <a:srgbClr val="FFFFFF">
                  <a:alpha val="70196"/>
                </a:srgbClr>
              </a:solidFill>
              <a:latin typeface="Poppins"/>
              <a:ea typeface="Poppins"/>
              <a:cs typeface="Poppins"/>
              <a:sym typeface="Poppins"/>
            </a:endParaRPr>
          </a:p>
        </p:txBody>
      </p:sp>
      <p:sp>
        <p:nvSpPr>
          <p:cNvPr id="16" name="AutoShape 16"/>
          <p:cNvSpPr/>
          <p:nvPr/>
        </p:nvSpPr>
        <p:spPr>
          <a:xfrm>
            <a:off x="1016000" y="4572000"/>
            <a:ext cx="5080000" cy="1651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4572000"/>
            <a:ext cx="50800" cy="1651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219200" y="4699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4E2"/>
                </a:solidFill>
                <a:latin typeface="Poppins"/>
                <a:ea typeface="Poppins"/>
                <a:cs typeface="Poppins"/>
                <a:sym typeface="Poppins"/>
              </a:rPr>
              <a:t>04.</a:t>
            </a:r>
            <a:endParaRPr lang="en-US" sz="1100"/>
          </a:p>
        </p:txBody>
      </p:sp>
      <p:sp>
        <p:nvSpPr>
          <p:cNvPr id="19" name="AutoShape 19"/>
          <p:cNvSpPr/>
          <p:nvPr/>
        </p:nvSpPr>
        <p:spPr>
          <a:xfrm>
            <a:off x="1219200" y="5334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OUR DIFFERENCE — The AETHER Advantage</a:t>
            </a:r>
            <a:endParaRPr lang="en-US" sz="1100"/>
          </a:p>
          <a:p>
            <a:pPr marL="0" indent="0" algn="l">
              <a:lnSpc>
                <a:spcPct val="117000"/>
              </a:lnSpc>
            </a:pPr>
            <a:r>
              <a:rPr lang="en-US" sz="1200" b="0" i="0" u="none" strike="noStrike">
                <a:solidFill>
                  <a:srgbClr val="FFFFFF">
                    <a:alpha val="70196"/>
                  </a:srgbClr>
                </a:solidFill>
                <a:latin typeface="Poppins"/>
                <a:ea typeface="Poppins"/>
                <a:cs typeface="Poppins"/>
                <a:sym typeface="Poppins"/>
              </a:rPr>
              <a:t>Leveraging cutting-edge innovation and deep industry experience to redefine standards and outperform expectations.</a:t>
            </a:r>
            <a:endParaRPr lang="en-US" sz="1200" b="0" i="0" u="none" strike="noStrike">
              <a:solidFill>
                <a:srgbClr val="FFFFFF">
                  <a:alpha val="70196"/>
                </a:srgbClr>
              </a:solidFill>
              <a:latin typeface="Poppins"/>
              <a:ea typeface="Poppins"/>
              <a:cs typeface="Poppins"/>
              <a:sym typeface="Poppins"/>
            </a:endParaRPr>
          </a:p>
        </p:txBody>
      </p:sp>
      <p:sp>
        <p:nvSpPr>
          <p:cNvPr id="20" name="AutoShape 20"/>
          <p:cNvSpPr/>
          <p:nvPr/>
        </p:nvSpPr>
        <p:spPr>
          <a:xfrm>
            <a:off x="6350000" y="4572000"/>
            <a:ext cx="5080000" cy="1651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4572000"/>
            <a:ext cx="50800" cy="1651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553200" y="46990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4E2"/>
                </a:solidFill>
                <a:latin typeface="Poppins"/>
                <a:ea typeface="Poppins"/>
                <a:cs typeface="Poppins"/>
                <a:sym typeface="Poppins"/>
              </a:rPr>
              <a:t>05.</a:t>
            </a:r>
            <a:endParaRPr lang="en-US" sz="1100"/>
          </a:p>
        </p:txBody>
      </p:sp>
      <p:sp>
        <p:nvSpPr>
          <p:cNvPr id="23" name="AutoShape 23"/>
          <p:cNvSpPr/>
          <p:nvPr/>
        </p:nvSpPr>
        <p:spPr>
          <a:xfrm>
            <a:off x="6553200" y="5334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Poppins"/>
                <a:ea typeface="Poppins"/>
                <a:cs typeface="Poppins"/>
                <a:sym typeface="Poppins"/>
              </a:rPr>
              <a:t>PARTNERSHIP &amp; OUTLOOK</a:t>
            </a:r>
            <a:endParaRPr lang="en-US" sz="1100"/>
          </a:p>
          <a:p>
            <a:pPr marL="0" indent="0" algn="l">
              <a:lnSpc>
                <a:spcPct val="117000"/>
              </a:lnSpc>
            </a:pPr>
            <a:r>
              <a:rPr lang="en-US" sz="1200" b="0" i="0" u="none" strike="noStrike">
                <a:solidFill>
                  <a:srgbClr val="FFFFFF">
                    <a:alpha val="70196"/>
                  </a:srgbClr>
                </a:solidFill>
                <a:latin typeface="Poppins"/>
                <a:ea typeface="Poppins"/>
                <a:cs typeface="Poppins"/>
                <a:sym typeface="Poppins"/>
              </a:rPr>
              <a:t>Building a resilient future together by fostering long-term collaborations and adapting to a rapidly evolving global landscape.</a:t>
            </a:r>
            <a:endParaRPr lang="en-US" sz="1200" b="0" i="0" u="none" strike="noStrike">
              <a:solidFill>
                <a:srgbClr val="FFFFFF">
                  <a:alpha val="70196"/>
                </a:srgbClr>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01. MARKET INSIGHTS</a:t>
            </a:r>
            <a:endParaRPr lang="en-US" sz="1100"/>
          </a:p>
        </p:txBody>
      </p:sp>
      <p:sp>
        <p:nvSpPr>
          <p:cNvPr id="3" name="AutoShape 3"/>
          <p:cNvSpPr/>
          <p:nvPr/>
        </p:nvSpPr>
        <p:spPr>
          <a:xfrm>
            <a:off x="1016000" y="1651000"/>
            <a:ext cx="10160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1016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E5E4E2"/>
                </a:solidFill>
                <a:latin typeface="Poppins"/>
                <a:ea typeface="Poppins"/>
                <a:cs typeface="Poppins"/>
                <a:sym typeface="Poppins"/>
              </a:rPr>
              <a:t>The Convergence of Finance and Technology</a:t>
            </a:r>
            <a:endParaRPr lang="en-US" sz="1100"/>
          </a:p>
          <a:p>
            <a:pPr marL="0" indent="0" algn="l">
              <a:lnSpc>
                <a:spcPct val="125000"/>
              </a:lnSpc>
            </a:pPr>
            <a:r>
              <a:rPr lang="en-US" sz="1400" b="0" i="0" u="none" strike="noStrike">
                <a:solidFill>
                  <a:srgbClr val="FFFFFF">
                    <a:alpha val="74902"/>
                  </a:srgbClr>
                </a:solidFill>
                <a:latin typeface="Poppins"/>
                <a:ea typeface="Poppins"/>
                <a:cs typeface="Poppins"/>
                <a:sym typeface="Poppins"/>
              </a:rPr>
              <a:t>The financial landscape is being reshaped by digital transformation, regulatory shifts, and evolving customer expectations. Staying ahead requires not just adaptation, but foresight—anticipating how these forces intersect to create new opportunities and mitigate emerging risks.</a:t>
            </a:r>
            <a:endParaRPr lang="en-US" sz="1400" b="0" i="0" u="none" strike="noStrike">
              <a:solidFill>
                <a:srgbClr val="FFFFFF">
                  <a:alpha val="74902"/>
                </a:srgbClr>
              </a:solidFill>
              <a:latin typeface="Poppins"/>
              <a:ea typeface="Poppins"/>
              <a:cs typeface="Poppins"/>
              <a:sym typeface="Poppins"/>
            </a:endParaRPr>
          </a:p>
        </p:txBody>
      </p:sp>
      <p:sp>
        <p:nvSpPr>
          <p:cNvPr id="5" name="AutoShape 5"/>
          <p:cNvSpPr/>
          <p:nvPr/>
        </p:nvSpPr>
        <p:spPr>
          <a:xfrm>
            <a:off x="1016000" y="3810000"/>
            <a:ext cx="5016500" cy="12065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3810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4000500"/>
            <a:ext cx="406400" cy="406400"/>
          </a:xfrm>
          <a:prstGeom prst="rect">
            <a:avLst/>
          </a:prstGeom>
        </p:spPr>
      </p:pic>
      <p:sp>
        <p:nvSpPr>
          <p:cNvPr id="8" name="AutoShape 8"/>
          <p:cNvSpPr/>
          <p:nvPr/>
        </p:nvSpPr>
        <p:spPr>
          <a:xfrm>
            <a:off x="1905000" y="3937000"/>
            <a:ext cx="393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AI &amp; Machine Learning</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From algorithmic trading optimization to hyper-personalized wealth management robo-advisors, AI is driving efficiency and scalability across all financial services verticals.</a:t>
            </a:r>
            <a:endParaRPr lang="en-US" sz="1200" b="0" i="0" u="none" strike="noStrike">
              <a:solidFill>
                <a:srgbClr val="FFFFFF">
                  <a:alpha val="60000"/>
                </a:srgbClr>
              </a:solidFill>
              <a:latin typeface="Poppins"/>
              <a:ea typeface="Poppins"/>
              <a:cs typeface="Poppins"/>
              <a:sym typeface="Poppins"/>
            </a:endParaRPr>
          </a:p>
        </p:txBody>
      </p:sp>
      <p:sp>
        <p:nvSpPr>
          <p:cNvPr id="9" name="AutoShape 9"/>
          <p:cNvSpPr/>
          <p:nvPr/>
        </p:nvSpPr>
        <p:spPr>
          <a:xfrm>
            <a:off x="6286500" y="3810000"/>
            <a:ext cx="5016500" cy="12065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286500" y="3810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4000500"/>
            <a:ext cx="406400" cy="406400"/>
          </a:xfrm>
          <a:prstGeom prst="rect">
            <a:avLst/>
          </a:prstGeom>
        </p:spPr>
      </p:pic>
      <p:sp>
        <p:nvSpPr>
          <p:cNvPr id="12" name="AutoShape 12"/>
          <p:cNvSpPr/>
          <p:nvPr/>
        </p:nvSpPr>
        <p:spPr>
          <a:xfrm>
            <a:off x="7175500" y="3937000"/>
            <a:ext cx="393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Cybersecurity &amp; Data Integrity</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As systems grow more interconnected, protecting institutional assets and sensitive client data from sophisticated cyber threats has become a non-negotiable cornerstone of trust.</a:t>
            </a:r>
            <a:endParaRPr lang="en-US" sz="1200" b="0" i="0" u="none" strike="noStrike">
              <a:solidFill>
                <a:srgbClr val="FFFFFF">
                  <a:alpha val="60000"/>
                </a:srgbClr>
              </a:solidFill>
              <a:latin typeface="Poppins"/>
              <a:ea typeface="Poppins"/>
              <a:cs typeface="Poppins"/>
              <a:sym typeface="Poppins"/>
            </a:endParaRPr>
          </a:p>
        </p:txBody>
      </p:sp>
      <p:sp>
        <p:nvSpPr>
          <p:cNvPr id="13" name="AutoShape 13"/>
          <p:cNvSpPr/>
          <p:nvPr/>
        </p:nvSpPr>
        <p:spPr>
          <a:xfrm>
            <a:off x="1016000" y="5207000"/>
            <a:ext cx="5016500" cy="12065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207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5397500"/>
            <a:ext cx="406400" cy="406400"/>
          </a:xfrm>
          <a:prstGeom prst="rect">
            <a:avLst/>
          </a:prstGeom>
        </p:spPr>
      </p:pic>
      <p:sp>
        <p:nvSpPr>
          <p:cNvPr id="16" name="AutoShape 16"/>
          <p:cNvSpPr/>
          <p:nvPr/>
        </p:nvSpPr>
        <p:spPr>
          <a:xfrm>
            <a:off x="1905000" y="5334000"/>
            <a:ext cx="393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Sustainable Finance (ESG)</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Aligning investment strategies with Environmental, Social, and Governance (ESG) principles is no longer optional—it is essential for driving long-term value and mitigating systemic risks.</a:t>
            </a:r>
            <a:endParaRPr lang="en-US" sz="1200" b="0" i="0" u="none" strike="noStrike">
              <a:solidFill>
                <a:srgbClr val="FFFFFF">
                  <a:alpha val="60000"/>
                </a:srgbClr>
              </a:solidFill>
              <a:latin typeface="Poppins"/>
              <a:ea typeface="Poppins"/>
              <a:cs typeface="Poppins"/>
              <a:sym typeface="Poppins"/>
            </a:endParaRPr>
          </a:p>
        </p:txBody>
      </p:sp>
      <p:sp>
        <p:nvSpPr>
          <p:cNvPr id="17" name="AutoShape 17"/>
          <p:cNvSpPr/>
          <p:nvPr/>
        </p:nvSpPr>
        <p:spPr>
          <a:xfrm>
            <a:off x="6286500" y="5207000"/>
            <a:ext cx="5016500" cy="12065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86500" y="5207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5397500"/>
            <a:ext cx="406400" cy="406400"/>
          </a:xfrm>
          <a:prstGeom prst="rect">
            <a:avLst/>
          </a:prstGeom>
        </p:spPr>
      </p:pic>
      <p:sp>
        <p:nvSpPr>
          <p:cNvPr id="20" name="AutoShape 20"/>
          <p:cNvSpPr/>
          <p:nvPr/>
        </p:nvSpPr>
        <p:spPr>
          <a:xfrm>
            <a:off x="7175500" y="5334000"/>
            <a:ext cx="393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RegTech Innovation</a:t>
            </a:r>
            <a:endParaRPr lang="en-US" sz="1100"/>
          </a:p>
          <a:p>
            <a:pPr marL="0" indent="0" algn="l">
              <a:lnSpc>
                <a:spcPct val="108000"/>
              </a:lnSpc>
            </a:pPr>
            <a:r>
              <a:rPr lang="en-US" sz="1200" b="0" i="0" u="none" strike="noStrike">
                <a:solidFill>
                  <a:srgbClr val="FFFFFF">
                    <a:alpha val="60000"/>
                  </a:srgbClr>
                </a:solidFill>
                <a:latin typeface="Poppins"/>
                <a:ea typeface="Poppins"/>
                <a:cs typeface="Poppins"/>
                <a:sym typeface="Poppins"/>
              </a:rPr>
              <a:t>Intelligent regulatory technology solutions are simplifying compliance, automating reporting, and enabling financial institutions to navigate an increasingly complex global regulatory environment.</a:t>
            </a:r>
            <a:endParaRPr lang="en-US" sz="1200" b="0" i="0" u="none" strike="noStrike">
              <a:solidFill>
                <a:srgbClr val="FFFFFF">
                  <a:alpha val="60000"/>
                </a:srgbClr>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02. OUR SERVICE MATRIX</a:t>
            </a:r>
            <a:endParaRPr lang="en-US" sz="1100"/>
          </a:p>
        </p:txBody>
      </p:sp>
      <p:sp>
        <p:nvSpPr>
          <p:cNvPr id="3" name="AutoShape 3"/>
          <p:cNvSpPr/>
          <p:nvPr/>
        </p:nvSpPr>
        <p:spPr>
          <a:xfrm>
            <a:off x="1016000" y="1651000"/>
            <a:ext cx="10160000" cy="12700"/>
          </a:xfrm>
          <a:prstGeom prst="roundRect">
            <a:avLst>
              <a:gd name="adj" fmla="val 0"/>
            </a:avLst>
          </a:prstGeom>
          <a:solidFill>
            <a:srgbClr val="E5E4E2">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032000"/>
            <a:ext cx="5016500" cy="1841500"/>
          </a:xfrm>
          <a:prstGeom prst="roundRect">
            <a:avLst>
              <a:gd name="adj" fmla="val 0"/>
            </a:avLst>
          </a:prstGeom>
          <a:solidFill>
            <a:srgbClr val="E5E4E2">
              <a:alpha val="5000"/>
            </a:srgbClr>
          </a:solidFill>
          <a:ln w="12700" cap="flat" cmpd="sng">
            <a:solidFill>
              <a:srgbClr val="E5E4E2">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50800" cy="1841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2159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STRATEGIC CONSULTING</a:t>
            </a:r>
            <a:endParaRPr lang="en-US" sz="1100"/>
          </a:p>
        </p:txBody>
      </p:sp>
      <p:cxnSp>
        <p:nvCxnSpPr>
          <p:cNvPr id="7" name="Connector 7"/>
          <p:cNvCxnSpPr/>
          <p:nvPr/>
        </p:nvCxnSpPr>
        <p:spPr>
          <a:xfrm rot="-9418">
            <a:off x="1270009" y="2660650"/>
            <a:ext cx="4635500" cy="12700"/>
          </a:xfrm>
          <a:prstGeom prst="straightConnector1">
            <a:avLst/>
          </a:prstGeom>
          <a:solidFill>
            <a:srgbClr val="DEE0E3">
              <a:alpha val="100000"/>
            </a:srgbClr>
          </a:solidFill>
          <a:ln w="12700" cap="flat" cmpd="sng">
            <a:solidFill>
              <a:srgbClr val="E5E4E2">
                <a:alpha val="20000"/>
              </a:srgbClr>
            </a:solidFill>
            <a:prstDash val="dash"/>
            <a:round/>
            <a:headEnd type="none" w="med" len="med"/>
            <a:tailEnd type="none" w="med" len="med"/>
          </a:ln>
        </p:spPr>
      </p:cxnSp>
      <p:sp>
        <p:nvSpPr>
          <p:cNvPr id="8" name="AutoShape 8"/>
          <p:cNvSpPr/>
          <p:nvPr/>
        </p:nvSpPr>
        <p:spPr>
          <a:xfrm>
            <a:off x="1270000" y="2794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Corporate Strategy &amp; Visioning</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Digital Transformation Roadmaps</a:t>
            </a:r>
            <a:endParaRPr lang="en-US" sz="1200" b="0" i="0" u="none" strike="noStrike">
              <a:solidFill>
                <a:srgbClr val="FFFFFF">
                  <a:alpha val="80000"/>
                </a:srgbClr>
              </a:solidFill>
              <a:latin typeface="Poppins"/>
              <a:ea typeface="Poppins"/>
              <a:cs typeface="Poppins"/>
              <a:sym typeface="Poppins"/>
            </a:endParaRPr>
          </a:p>
        </p:txBody>
      </p:sp>
      <p:cxnSp>
        <p:nvCxnSpPr>
          <p:cNvPr id="9" name="Connector 9"/>
          <p:cNvCxnSpPr/>
          <p:nvPr/>
        </p:nvCxnSpPr>
        <p:spPr>
          <a:xfrm rot="5347115">
            <a:off x="3206750" y="3263949"/>
            <a:ext cx="8255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10" name="AutoShape 10"/>
          <p:cNvSpPr/>
          <p:nvPr/>
        </p:nvSpPr>
        <p:spPr>
          <a:xfrm>
            <a:off x="3746500" y="2794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Enterprise Risk Management</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M&amp;A Advisory &amp; Integration</a:t>
            </a:r>
            <a:endParaRPr lang="en-US" sz="1200" b="0" i="0" u="none" strike="noStrike">
              <a:solidFill>
                <a:srgbClr val="FFFFFF">
                  <a:alpha val="80000"/>
                </a:srgbClr>
              </a:solidFill>
              <a:latin typeface="Poppins"/>
              <a:ea typeface="Poppins"/>
              <a:cs typeface="Poppins"/>
              <a:sym typeface="Poppins"/>
            </a:endParaRPr>
          </a:p>
        </p:txBody>
      </p:sp>
      <p:sp>
        <p:nvSpPr>
          <p:cNvPr id="11" name="AutoShape 11"/>
          <p:cNvSpPr/>
          <p:nvPr/>
        </p:nvSpPr>
        <p:spPr>
          <a:xfrm>
            <a:off x="6350000" y="2032000"/>
            <a:ext cx="5016500" cy="1841500"/>
          </a:xfrm>
          <a:prstGeom prst="roundRect">
            <a:avLst>
              <a:gd name="adj" fmla="val 0"/>
            </a:avLst>
          </a:prstGeom>
          <a:solidFill>
            <a:srgbClr val="E5E4E2">
              <a:alpha val="5000"/>
            </a:srgbClr>
          </a:solidFill>
          <a:ln w="12700" cap="flat" cmpd="sng">
            <a:solidFill>
              <a:srgbClr val="E5E4E2">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350000" y="2032000"/>
            <a:ext cx="50800" cy="1841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2159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FINANCIAL ADVISORY</a:t>
            </a:r>
            <a:endParaRPr lang="en-US" sz="1100"/>
          </a:p>
        </p:txBody>
      </p:sp>
      <p:cxnSp>
        <p:nvCxnSpPr>
          <p:cNvPr id="14" name="Connector 14"/>
          <p:cNvCxnSpPr/>
          <p:nvPr/>
        </p:nvCxnSpPr>
        <p:spPr>
          <a:xfrm rot="-9418">
            <a:off x="6604009" y="2660650"/>
            <a:ext cx="4635500" cy="12700"/>
          </a:xfrm>
          <a:prstGeom prst="straightConnector1">
            <a:avLst/>
          </a:prstGeom>
          <a:solidFill>
            <a:srgbClr val="DEE0E3">
              <a:alpha val="100000"/>
            </a:srgbClr>
          </a:solidFill>
          <a:ln w="12700" cap="flat" cmpd="sng">
            <a:solidFill>
              <a:srgbClr val="E5E4E2">
                <a:alpha val="20000"/>
              </a:srgbClr>
            </a:solidFill>
            <a:prstDash val="dash"/>
            <a:round/>
            <a:headEnd type="none" w="med" len="med"/>
            <a:tailEnd type="none" w="med" len="med"/>
          </a:ln>
        </p:spPr>
      </p:cxnSp>
      <p:sp>
        <p:nvSpPr>
          <p:cNvPr id="15" name="AutoShape 15"/>
          <p:cNvSpPr/>
          <p:nvPr/>
        </p:nvSpPr>
        <p:spPr>
          <a:xfrm>
            <a:off x="6604000" y="2794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Capital Raising &amp; Funding</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Business Valuation Services</a:t>
            </a:r>
            <a:endParaRPr lang="en-US" sz="1200" b="0" i="0" u="none" strike="noStrike">
              <a:solidFill>
                <a:srgbClr val="FFFFFF">
                  <a:alpha val="80000"/>
                </a:srgbClr>
              </a:solidFill>
              <a:latin typeface="Poppins"/>
              <a:ea typeface="Poppins"/>
              <a:cs typeface="Poppins"/>
              <a:sym typeface="Poppins"/>
            </a:endParaRPr>
          </a:p>
        </p:txBody>
      </p:sp>
      <p:cxnSp>
        <p:nvCxnSpPr>
          <p:cNvPr id="16" name="Connector 16"/>
          <p:cNvCxnSpPr/>
          <p:nvPr/>
        </p:nvCxnSpPr>
        <p:spPr>
          <a:xfrm rot="5347115">
            <a:off x="8540750" y="3263949"/>
            <a:ext cx="8255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17" name="AutoShape 17"/>
          <p:cNvSpPr/>
          <p:nvPr/>
        </p:nvSpPr>
        <p:spPr>
          <a:xfrm>
            <a:off x="9080500" y="2794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Financial Restructuring</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Asset &amp; Portfolio Management</a:t>
            </a:r>
            <a:endParaRPr lang="en-US" sz="1200" b="0" i="0" u="none" strike="noStrike">
              <a:solidFill>
                <a:srgbClr val="FFFFFF">
                  <a:alpha val="80000"/>
                </a:srgbClr>
              </a:solidFill>
              <a:latin typeface="Poppins"/>
              <a:ea typeface="Poppins"/>
              <a:cs typeface="Poppins"/>
              <a:sym typeface="Poppins"/>
            </a:endParaRPr>
          </a:p>
        </p:txBody>
      </p:sp>
      <p:sp>
        <p:nvSpPr>
          <p:cNvPr id="18" name="AutoShape 18"/>
          <p:cNvSpPr/>
          <p:nvPr/>
        </p:nvSpPr>
        <p:spPr>
          <a:xfrm>
            <a:off x="1016000" y="4191000"/>
            <a:ext cx="5016500" cy="1841500"/>
          </a:xfrm>
          <a:prstGeom prst="roundRect">
            <a:avLst>
              <a:gd name="adj" fmla="val 0"/>
            </a:avLst>
          </a:prstGeom>
          <a:solidFill>
            <a:srgbClr val="E5E4E2">
              <a:alpha val="5000"/>
            </a:srgbClr>
          </a:solidFill>
          <a:ln w="12700" cap="flat" cmpd="sng">
            <a:solidFill>
              <a:srgbClr val="E5E4E2">
                <a:alpha val="2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4191000"/>
            <a:ext cx="50800" cy="1841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270000" y="431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TECHNOLOGY SOLUTIONS</a:t>
            </a:r>
            <a:endParaRPr lang="en-US" sz="1100"/>
          </a:p>
        </p:txBody>
      </p:sp>
      <p:cxnSp>
        <p:nvCxnSpPr>
          <p:cNvPr id="21" name="Connector 21"/>
          <p:cNvCxnSpPr/>
          <p:nvPr/>
        </p:nvCxnSpPr>
        <p:spPr>
          <a:xfrm rot="-9418">
            <a:off x="1270009" y="4819650"/>
            <a:ext cx="4635500" cy="12700"/>
          </a:xfrm>
          <a:prstGeom prst="straightConnector1">
            <a:avLst/>
          </a:prstGeom>
          <a:solidFill>
            <a:srgbClr val="DEE0E3">
              <a:alpha val="100000"/>
            </a:srgbClr>
          </a:solidFill>
          <a:ln w="12700" cap="flat" cmpd="sng">
            <a:solidFill>
              <a:srgbClr val="E5E4E2">
                <a:alpha val="20000"/>
              </a:srgbClr>
            </a:solidFill>
            <a:prstDash val="dash"/>
            <a:round/>
            <a:headEnd type="none" w="med" len="med"/>
            <a:tailEnd type="none" w="med" len="med"/>
          </a:ln>
        </p:spPr>
      </p:cxnSp>
      <p:sp>
        <p:nvSpPr>
          <p:cNvPr id="22" name="AutoShape 22"/>
          <p:cNvSpPr/>
          <p:nvPr/>
        </p:nvSpPr>
        <p:spPr>
          <a:xfrm>
            <a:off x="1270000" y="4953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FinTech Ecosystem Integration</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Data Analytics &amp; BI Platforms</a:t>
            </a:r>
            <a:endParaRPr lang="en-US" sz="1200" b="0" i="0" u="none" strike="noStrike">
              <a:solidFill>
                <a:srgbClr val="FFFFFF">
                  <a:alpha val="80000"/>
                </a:srgbClr>
              </a:solidFill>
              <a:latin typeface="Poppins"/>
              <a:ea typeface="Poppins"/>
              <a:cs typeface="Poppins"/>
              <a:sym typeface="Poppins"/>
            </a:endParaRPr>
          </a:p>
        </p:txBody>
      </p:sp>
      <p:cxnSp>
        <p:nvCxnSpPr>
          <p:cNvPr id="23" name="Connector 23"/>
          <p:cNvCxnSpPr/>
          <p:nvPr/>
        </p:nvCxnSpPr>
        <p:spPr>
          <a:xfrm rot="5347115">
            <a:off x="3206750" y="5422949"/>
            <a:ext cx="8255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24" name="AutoShape 24"/>
          <p:cNvSpPr/>
          <p:nvPr/>
        </p:nvSpPr>
        <p:spPr>
          <a:xfrm>
            <a:off x="3746500" y="4953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Cybersecurity Implementation</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Cloud Migration &amp; Optimization</a:t>
            </a:r>
            <a:endParaRPr lang="en-US" sz="1200" b="0" i="0" u="none" strike="noStrike">
              <a:solidFill>
                <a:srgbClr val="FFFFFF">
                  <a:alpha val="80000"/>
                </a:srgbClr>
              </a:solidFill>
              <a:latin typeface="Poppins"/>
              <a:ea typeface="Poppins"/>
              <a:cs typeface="Poppins"/>
              <a:sym typeface="Poppins"/>
            </a:endParaRPr>
          </a:p>
        </p:txBody>
      </p:sp>
      <p:sp>
        <p:nvSpPr>
          <p:cNvPr id="25" name="AutoShape 25"/>
          <p:cNvSpPr/>
          <p:nvPr/>
        </p:nvSpPr>
        <p:spPr>
          <a:xfrm>
            <a:off x="6350000" y="4191000"/>
            <a:ext cx="5016500" cy="1841500"/>
          </a:xfrm>
          <a:prstGeom prst="roundRect">
            <a:avLst>
              <a:gd name="adj" fmla="val 0"/>
            </a:avLst>
          </a:prstGeom>
          <a:solidFill>
            <a:srgbClr val="E5E4E2">
              <a:alpha val="5000"/>
            </a:srgbClr>
          </a:solidFill>
          <a:ln w="12700" cap="flat" cmpd="sng">
            <a:solidFill>
              <a:srgbClr val="E5E4E2">
                <a:alpha val="20000"/>
              </a:srgbClr>
            </a:solidFill>
            <a:prstDash val="solid"/>
            <a:round/>
          </a:ln>
        </p:spPr>
        <p:txBody>
          <a:bodyPr vert="horz" wrap="square" lIns="63500" tIns="63500" rIns="63500" bIns="63500" rtlCol="0" anchor="ctr"/>
          <a:lstStyle/>
          <a:p>
            <a:pPr algn="ctr">
              <a:defRPr/>
            </a:pPr>
          </a:p>
        </p:txBody>
      </p:sp>
      <p:sp>
        <p:nvSpPr>
          <p:cNvPr id="26" name="AutoShape 26"/>
          <p:cNvSpPr/>
          <p:nvPr/>
        </p:nvSpPr>
        <p:spPr>
          <a:xfrm>
            <a:off x="6350000" y="4191000"/>
            <a:ext cx="50800" cy="1841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604000" y="4318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COMPLIANCE &amp; REGULATORY AFFAIRS</a:t>
            </a:r>
            <a:endParaRPr lang="en-US" sz="1100"/>
          </a:p>
        </p:txBody>
      </p:sp>
      <p:cxnSp>
        <p:nvCxnSpPr>
          <p:cNvPr id="28" name="Connector 28"/>
          <p:cNvCxnSpPr/>
          <p:nvPr/>
        </p:nvCxnSpPr>
        <p:spPr>
          <a:xfrm rot="-9418">
            <a:off x="6604009" y="4819650"/>
            <a:ext cx="4635500" cy="12700"/>
          </a:xfrm>
          <a:prstGeom prst="straightConnector1">
            <a:avLst/>
          </a:prstGeom>
          <a:solidFill>
            <a:srgbClr val="DEE0E3">
              <a:alpha val="100000"/>
            </a:srgbClr>
          </a:solidFill>
          <a:ln w="12700" cap="flat" cmpd="sng">
            <a:solidFill>
              <a:srgbClr val="E5E4E2">
                <a:alpha val="20000"/>
              </a:srgbClr>
            </a:solidFill>
            <a:prstDash val="dash"/>
            <a:round/>
            <a:headEnd type="none" w="med" len="med"/>
            <a:tailEnd type="none" w="med" len="med"/>
          </a:ln>
        </p:spPr>
      </p:cxnSp>
      <p:sp>
        <p:nvSpPr>
          <p:cNvPr id="29" name="AutoShape 29"/>
          <p:cNvSpPr/>
          <p:nvPr/>
        </p:nvSpPr>
        <p:spPr>
          <a:xfrm>
            <a:off x="6604000" y="4953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Global Regulatory Reporting</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Anti-Money Laundering (AML) Programs</a:t>
            </a:r>
            <a:endParaRPr lang="en-US" sz="1200" b="0" i="0" u="none" strike="noStrike">
              <a:solidFill>
                <a:srgbClr val="FFFFFF">
                  <a:alpha val="80000"/>
                </a:srgbClr>
              </a:solidFill>
              <a:latin typeface="Poppins"/>
              <a:ea typeface="Poppins"/>
              <a:cs typeface="Poppins"/>
              <a:sym typeface="Poppins"/>
            </a:endParaRPr>
          </a:p>
        </p:txBody>
      </p:sp>
      <p:cxnSp>
        <p:nvCxnSpPr>
          <p:cNvPr id="30" name="Connector 30"/>
          <p:cNvCxnSpPr/>
          <p:nvPr/>
        </p:nvCxnSpPr>
        <p:spPr>
          <a:xfrm rot="5347115">
            <a:off x="8540750" y="5422949"/>
            <a:ext cx="8255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31" name="AutoShape 31"/>
          <p:cNvSpPr/>
          <p:nvPr/>
        </p:nvSpPr>
        <p:spPr>
          <a:xfrm>
            <a:off x="9080500" y="4953000"/>
            <a:ext cx="215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FFFFFF">
                    <a:alpha val="80000"/>
                  </a:srgbClr>
                </a:solidFill>
                <a:latin typeface="Poppins"/>
                <a:ea typeface="Poppins"/>
                <a:cs typeface="Poppins"/>
                <a:sym typeface="Poppins"/>
              </a:rPr>
              <a:t>Governance, Risk &amp; Compliance (GRC)</a:t>
            </a:r>
            <a:endParaRPr lang="en-US" sz="1100"/>
          </a:p>
          <a:p>
            <a:pPr marL="0" indent="0" algn="l">
              <a:lnSpc>
                <a:spcPct val="117000"/>
              </a:lnSpc>
            </a:pPr>
            <a:r>
              <a:rPr lang="en-US" sz="1200" b="0" i="0" u="none" strike="noStrike">
                <a:solidFill>
                  <a:srgbClr val="FFFFFF">
                    <a:alpha val="80000"/>
                  </a:srgbClr>
                </a:solidFill>
                <a:latin typeface="Poppins"/>
                <a:ea typeface="Poppins"/>
                <a:cs typeface="Poppins"/>
                <a:sym typeface="Poppins"/>
              </a:rPr>
              <a:t>Policy Development &amp; Enforcement</a:t>
            </a:r>
            <a:endParaRPr lang="en-US" sz="1200" b="0" i="0" u="none" strike="noStrike">
              <a:solidFill>
                <a:srgbClr val="FFFFFF">
                  <a:alpha val="80000"/>
                </a:srgbClr>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03. CASE STUDIES</a:t>
            </a:r>
            <a:endParaRPr lang="en-US" sz="1100"/>
          </a:p>
        </p:txBody>
      </p:sp>
      <p:sp>
        <p:nvSpPr>
          <p:cNvPr id="3" name="AutoShape 3"/>
          <p:cNvSpPr/>
          <p:nvPr/>
        </p:nvSpPr>
        <p:spPr>
          <a:xfrm>
            <a:off x="1016000" y="1587500"/>
            <a:ext cx="10160000" cy="12700"/>
          </a:xfrm>
          <a:prstGeom prst="roundRect">
            <a:avLst>
              <a:gd name="adj" fmla="val 0"/>
            </a:avLst>
          </a:prstGeom>
          <a:solidFill>
            <a:srgbClr val="E5E4E2">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159000"/>
            <a:ext cx="5016500" cy="3429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159000"/>
            <a:ext cx="50165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24130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4E2"/>
                </a:solidFill>
                <a:latin typeface="Poppins"/>
                <a:ea typeface="Poppins"/>
                <a:cs typeface="Poppins"/>
                <a:sym typeface="Poppins"/>
              </a:rPr>
              <a:t>Global Investment Bank</a:t>
            </a:r>
            <a:endParaRPr lang="en-US" sz="1100"/>
          </a:p>
        </p:txBody>
      </p:sp>
      <p:cxnSp>
        <p:nvCxnSpPr>
          <p:cNvPr id="7" name="Connector 7"/>
          <p:cNvCxnSpPr/>
          <p:nvPr/>
        </p:nvCxnSpPr>
        <p:spPr>
          <a:xfrm rot="-9683">
            <a:off x="1270009" y="3105150"/>
            <a:ext cx="4508500"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3302000"/>
            <a:ext cx="254000" cy="254000"/>
          </a:xfrm>
          <a:prstGeom prst="rect">
            <a:avLst/>
          </a:prstGeom>
        </p:spPr>
      </p:pic>
      <p:sp>
        <p:nvSpPr>
          <p:cNvPr id="9" name="AutoShape 9"/>
          <p:cNvSpPr/>
          <p:nvPr/>
        </p:nvSpPr>
        <p:spPr>
          <a:xfrm>
            <a:off x="1651000" y="32766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alpha val="70196"/>
                  </a:srgbClr>
                </a:solidFill>
                <a:latin typeface="Poppins"/>
                <a:ea typeface="Poppins"/>
                <a:cs typeface="Poppins"/>
                <a:sym typeface="Poppins"/>
              </a:rPr>
              <a:t>Challenge:</a:t>
            </a:r>
            <a:r>
              <a:rPr lang="en-US" sz="1300" b="0" i="0" u="none" strike="noStrike">
                <a:solidFill>
                  <a:srgbClr val="FFFFFF">
                    <a:alpha val="70196"/>
                  </a:srgbClr>
                </a:solidFill>
                <a:latin typeface="Poppins"/>
                <a:ea typeface="Poppins"/>
                <a:cs typeface="Poppins"/>
                <a:sym typeface="Poppins"/>
              </a:rPr>
              <a:t>Outdated legacy systems created bottlenecks, severely hindering high-speed trading efficiency and real-time risk management capabilities across global markets.</a:t>
            </a:r>
            <a:endParaRPr lang="en-US" sz="1100"/>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4318000"/>
            <a:ext cx="254000" cy="254000"/>
          </a:xfrm>
          <a:prstGeom prst="rect">
            <a:avLst/>
          </a:prstGeom>
        </p:spPr>
      </p:pic>
      <p:sp>
        <p:nvSpPr>
          <p:cNvPr id="11" name="AutoShape 11"/>
          <p:cNvSpPr/>
          <p:nvPr/>
        </p:nvSpPr>
        <p:spPr>
          <a:xfrm>
            <a:off x="1651000" y="42926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alpha val="70196"/>
                  </a:srgbClr>
                </a:solidFill>
                <a:latin typeface="Poppins"/>
                <a:ea typeface="Poppins"/>
                <a:cs typeface="Poppins"/>
                <a:sym typeface="Poppins"/>
              </a:rPr>
              <a:t>Solution:</a:t>
            </a:r>
            <a:r>
              <a:rPr lang="en-US" sz="1300" b="0" i="0" u="none" strike="noStrike">
                <a:solidFill>
                  <a:srgbClr val="FFFFFF">
                    <a:alpha val="70196"/>
                  </a:srgbClr>
                </a:solidFill>
                <a:latin typeface="Poppins"/>
                <a:ea typeface="Poppins"/>
                <a:cs typeface="Poppins"/>
                <a:sym typeface="Poppins"/>
              </a:rPr>
              <a:t>Implemented a fully cloud-native digital core paired with an AI-driven predictive risk analytics platform, unifying data silos for end-to-end workflow automation.</a:t>
            </a:r>
            <a:endParaRPr lang="en-US" sz="1100"/>
          </a:p>
        </p:txBody>
      </p:sp>
      <p:sp>
        <p:nvSpPr>
          <p:cNvPr id="12" name="AutoShape 12"/>
          <p:cNvSpPr/>
          <p:nvPr/>
        </p:nvSpPr>
        <p:spPr>
          <a:xfrm>
            <a:off x="6286500" y="2159000"/>
            <a:ext cx="5016500" cy="3429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86500" y="2159000"/>
            <a:ext cx="50165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24130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4E2"/>
                </a:solidFill>
                <a:latin typeface="Poppins"/>
                <a:ea typeface="Poppins"/>
                <a:cs typeface="Poppins"/>
                <a:sym typeface="Poppins"/>
              </a:rPr>
              <a:t>Leading Asset Manager</a:t>
            </a:r>
            <a:endParaRPr lang="en-US" sz="1100"/>
          </a:p>
        </p:txBody>
      </p:sp>
      <p:cxnSp>
        <p:nvCxnSpPr>
          <p:cNvPr id="15" name="Connector 15"/>
          <p:cNvCxnSpPr/>
          <p:nvPr/>
        </p:nvCxnSpPr>
        <p:spPr>
          <a:xfrm rot="-9683">
            <a:off x="6540509" y="3105150"/>
            <a:ext cx="4508500"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40500" y="3302000"/>
            <a:ext cx="254000" cy="254000"/>
          </a:xfrm>
          <a:prstGeom prst="rect">
            <a:avLst/>
          </a:prstGeom>
        </p:spPr>
      </p:pic>
      <p:sp>
        <p:nvSpPr>
          <p:cNvPr id="17" name="AutoShape 17"/>
          <p:cNvSpPr/>
          <p:nvPr/>
        </p:nvSpPr>
        <p:spPr>
          <a:xfrm>
            <a:off x="6921500" y="32766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alpha val="70196"/>
                  </a:srgbClr>
                </a:solidFill>
                <a:latin typeface="Poppins"/>
                <a:ea typeface="Poppins"/>
                <a:cs typeface="Poppins"/>
                <a:sym typeface="Poppins"/>
              </a:rPr>
              <a:t>Challenge:</a:t>
            </a:r>
            <a:r>
              <a:rPr lang="en-US" sz="1300" b="0" i="0" u="none" strike="noStrike">
                <a:solidFill>
                  <a:srgbClr val="FFFFFF">
                    <a:alpha val="70196"/>
                  </a:srgbClr>
                </a:solidFill>
                <a:latin typeface="Poppins"/>
                <a:ea typeface="Poppins"/>
                <a:cs typeface="Poppins"/>
                <a:sym typeface="Poppins"/>
              </a:rPr>
              <a:t>Struggled to scale hyper-personalized wealth advisory services across a diverse client base, leading to inconsistent engagement and limited cross-sell opportunities.</a:t>
            </a:r>
            <a:endParaRPr lang="en-US" sz="1100"/>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318000"/>
            <a:ext cx="254000" cy="254000"/>
          </a:xfrm>
          <a:prstGeom prst="rect">
            <a:avLst/>
          </a:prstGeom>
        </p:spPr>
      </p:pic>
      <p:sp>
        <p:nvSpPr>
          <p:cNvPr id="19" name="AutoShape 19"/>
          <p:cNvSpPr/>
          <p:nvPr/>
        </p:nvSpPr>
        <p:spPr>
          <a:xfrm>
            <a:off x="6921500" y="4292600"/>
            <a:ext cx="4127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FFFFFF">
                    <a:alpha val="70196"/>
                  </a:srgbClr>
                </a:solidFill>
                <a:latin typeface="Poppins"/>
                <a:ea typeface="Poppins"/>
                <a:cs typeface="Poppins"/>
                <a:sym typeface="Poppins"/>
              </a:rPr>
              <a:t>Solution:</a:t>
            </a:r>
            <a:r>
              <a:rPr lang="en-US" sz="1300" b="0" i="0" u="none" strike="noStrike">
                <a:solidFill>
                  <a:srgbClr val="FFFFFF">
                    <a:alpha val="70196"/>
                  </a:srgbClr>
                </a:solidFill>
                <a:latin typeface="Poppins"/>
                <a:ea typeface="Poppins"/>
                <a:cs typeface="Poppins"/>
                <a:sym typeface="Poppins"/>
              </a:rPr>
              <a:t>Deployed a unified client data platform (CDP) with machine learning algorithms to automate portfolio customization, aligning investments with individual goals and risk profiles.</a:t>
            </a:r>
            <a:endParaRPr lang="en-US" sz="1100"/>
          </a:p>
        </p:txBody>
      </p:sp>
      <p:sp>
        <p:nvSpPr>
          <p:cNvPr id="20" name="AutoShape 20"/>
          <p:cNvSpPr/>
          <p:nvPr/>
        </p:nvSpPr>
        <p:spPr>
          <a:xfrm>
            <a:off x="1016000" y="5842000"/>
            <a:ext cx="3302000" cy="762000"/>
          </a:xfrm>
          <a:prstGeom prst="roundRect">
            <a:avLst>
              <a:gd name="adj" fmla="val 0"/>
            </a:avLst>
          </a:prstGeom>
          <a:solidFill>
            <a:srgbClr val="E5E4E2">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143000" y="5905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E5E4E2"/>
                </a:solidFill>
                <a:latin typeface="Poppins"/>
                <a:ea typeface="Poppins"/>
                <a:cs typeface="Poppins"/>
                <a:sym typeface="Poppins"/>
              </a:rPr>
              <a:t>40%</a:t>
            </a:r>
            <a:r>
              <a:rPr lang="en-US" sz="1300" b="0" i="0" u="none" strike="noStrike">
                <a:solidFill>
                  <a:srgbClr val="FFFFFF">
                    <a:alpha val="80000"/>
                  </a:srgbClr>
                </a:solidFill>
                <a:latin typeface="Poppins"/>
                <a:ea typeface="Poppins"/>
                <a:cs typeface="Poppins"/>
                <a:sym typeface="Poppins"/>
              </a:rPr>
              <a:t>reduction in trade execution time</a:t>
            </a:r>
            <a:endParaRPr lang="en-US" sz="1100"/>
          </a:p>
        </p:txBody>
      </p:sp>
      <p:sp>
        <p:nvSpPr>
          <p:cNvPr id="22" name="AutoShape 22"/>
          <p:cNvSpPr/>
          <p:nvPr/>
        </p:nvSpPr>
        <p:spPr>
          <a:xfrm>
            <a:off x="4445000" y="5842000"/>
            <a:ext cx="3302000" cy="762000"/>
          </a:xfrm>
          <a:prstGeom prst="roundRect">
            <a:avLst>
              <a:gd name="adj" fmla="val 0"/>
            </a:avLst>
          </a:prstGeom>
          <a:solidFill>
            <a:srgbClr val="E5E4E2">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572000" y="5905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E5E4E2"/>
                </a:solidFill>
                <a:latin typeface="Poppins"/>
                <a:ea typeface="Poppins"/>
                <a:cs typeface="Poppins"/>
                <a:sym typeface="Poppins"/>
              </a:rPr>
              <a:t>25%</a:t>
            </a:r>
            <a:r>
              <a:rPr lang="en-US" sz="1300" b="0" i="0" u="none" strike="noStrike">
                <a:solidFill>
                  <a:srgbClr val="FFFFFF">
                    <a:alpha val="80000"/>
                  </a:srgbClr>
                </a:solidFill>
                <a:latin typeface="Poppins"/>
                <a:ea typeface="Poppins"/>
                <a:cs typeface="Poppins"/>
                <a:sym typeface="Poppins"/>
              </a:rPr>
              <a:t>improvement in risk prediction accuracy</a:t>
            </a:r>
            <a:endParaRPr lang="en-US" sz="1100"/>
          </a:p>
        </p:txBody>
      </p:sp>
      <p:sp>
        <p:nvSpPr>
          <p:cNvPr id="24" name="AutoShape 24"/>
          <p:cNvSpPr/>
          <p:nvPr/>
        </p:nvSpPr>
        <p:spPr>
          <a:xfrm>
            <a:off x="8001000" y="5842000"/>
            <a:ext cx="3302000" cy="762000"/>
          </a:xfrm>
          <a:prstGeom prst="roundRect">
            <a:avLst>
              <a:gd name="adj" fmla="val 0"/>
            </a:avLst>
          </a:prstGeom>
          <a:solidFill>
            <a:srgbClr val="E5E4E2">
              <a:alpha val="8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128000" y="5905500"/>
            <a:ext cx="304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E5E4E2"/>
                </a:solidFill>
                <a:latin typeface="Poppins"/>
                <a:ea typeface="Poppins"/>
                <a:cs typeface="Poppins"/>
                <a:sym typeface="Poppins"/>
              </a:rPr>
              <a:t>15%</a:t>
            </a:r>
            <a:r>
              <a:rPr lang="en-US" sz="1300" b="0" i="0" u="none" strike="noStrike">
                <a:solidFill>
                  <a:srgbClr val="FFFFFF">
                    <a:alpha val="80000"/>
                  </a:srgbClr>
                </a:solidFill>
                <a:latin typeface="Poppins"/>
                <a:ea typeface="Poppins"/>
                <a:cs typeface="Poppins"/>
                <a:sym typeface="Poppins"/>
              </a:rPr>
              <a:t>increase in client retention &amp; AUM growth</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04. OUR DIFFERENCE</a:t>
            </a:r>
            <a:endParaRPr lang="en-US" sz="1100"/>
          </a:p>
        </p:txBody>
      </p:sp>
      <p:cxnSp>
        <p:nvCxnSpPr>
          <p:cNvPr id="3" name="Connector 3"/>
          <p:cNvCxnSpPr/>
          <p:nvPr/>
        </p:nvCxnSpPr>
        <p:spPr>
          <a:xfrm rot="-4297">
            <a:off x="1016004" y="1771650"/>
            <a:ext cx="10160000" cy="12700"/>
          </a:xfrm>
          <a:prstGeom prst="straightConnector1">
            <a:avLst/>
          </a:prstGeom>
          <a:solidFill>
            <a:srgbClr val="DEE0E3">
              <a:alpha val="100000"/>
            </a:srgbClr>
          </a:solidFill>
          <a:ln w="12700" cap="flat" cmpd="sng">
            <a:solidFill>
              <a:srgbClr val="E5E4E2">
                <a:alpha val="30000"/>
              </a:srgbClr>
            </a:solidFill>
            <a:prstDash val="solid"/>
            <a:round/>
            <a:headEnd type="none" w="med" len="med"/>
            <a:tailEnd type="none" w="med" len="med"/>
          </a:ln>
        </p:spPr>
      </p:cxnSp>
      <p:sp>
        <p:nvSpPr>
          <p:cNvPr id="4" name="AutoShape 4"/>
          <p:cNvSpPr/>
          <p:nvPr/>
        </p:nvSpPr>
        <p:spPr>
          <a:xfrm>
            <a:off x="1016000" y="2540000"/>
            <a:ext cx="3302000" cy="508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3048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4E2"/>
                </a:solidFill>
                <a:latin typeface="Poppins"/>
                <a:ea typeface="Poppins"/>
                <a:cs typeface="Poppins"/>
                <a:sym typeface="Poppins"/>
              </a:rPr>
              <a:t>Unparalleled Expertise</a:t>
            </a:r>
            <a:endParaRPr lang="en-US" sz="1100"/>
          </a:p>
        </p:txBody>
      </p:sp>
      <p:cxnSp>
        <p:nvCxnSpPr>
          <p:cNvPr id="6" name="Connector 6"/>
          <p:cNvCxnSpPr/>
          <p:nvPr/>
        </p:nvCxnSpPr>
        <p:spPr>
          <a:xfrm rot="-13222">
            <a:off x="1016012" y="3930650"/>
            <a:ext cx="33020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7" name="AutoShape 7"/>
          <p:cNvSpPr/>
          <p:nvPr/>
        </p:nvSpPr>
        <p:spPr>
          <a:xfrm>
            <a:off x="1016000" y="4318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Poppins"/>
                <a:ea typeface="Poppins"/>
                <a:cs typeface="Poppins"/>
                <a:sym typeface="Poppins"/>
              </a:rPr>
              <a:t>Our team comprises former C-suite executives, leading technologists, and industry veterans with deep domain knowledge, bringing decades of frontline experience to every challenge we tackle.</a:t>
            </a:r>
            <a:endParaRPr lang="en-US" sz="1100"/>
          </a:p>
        </p:txBody>
      </p:sp>
      <p:cxnSp>
        <p:nvCxnSpPr>
          <p:cNvPr id="8" name="Connector 8"/>
          <p:cNvCxnSpPr/>
          <p:nvPr/>
        </p:nvCxnSpPr>
        <p:spPr>
          <a:xfrm rot="5386777">
            <a:off x="2984500" y="4438662"/>
            <a:ext cx="3302000" cy="12700"/>
          </a:xfrm>
          <a:prstGeom prst="straightConnector1">
            <a:avLst/>
          </a:prstGeom>
          <a:solidFill>
            <a:srgbClr val="DEE0E3">
              <a:alpha val="100000"/>
            </a:srgbClr>
          </a:solidFill>
          <a:ln w="12700" cap="flat" cmpd="sng">
            <a:solidFill>
              <a:srgbClr val="E5E4E2">
                <a:alpha val="10000"/>
              </a:srgbClr>
            </a:solidFill>
            <a:prstDash val="solid"/>
            <a:round/>
            <a:headEnd type="none" w="med" len="med"/>
            <a:tailEnd type="none" w="med" len="med"/>
          </a:ln>
        </p:spPr>
      </p:cxnSp>
      <p:sp>
        <p:nvSpPr>
          <p:cNvPr id="9" name="AutoShape 9"/>
          <p:cNvSpPr/>
          <p:nvPr/>
        </p:nvSpPr>
        <p:spPr>
          <a:xfrm>
            <a:off x="4826000" y="2540000"/>
            <a:ext cx="3302000" cy="508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826000" y="3048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4E2"/>
                </a:solidFill>
                <a:latin typeface="Poppins"/>
                <a:ea typeface="Poppins"/>
                <a:cs typeface="Poppins"/>
                <a:sym typeface="Poppins"/>
              </a:rPr>
              <a:t>Data-Driven Approach</a:t>
            </a:r>
            <a:endParaRPr lang="en-US" sz="1100"/>
          </a:p>
        </p:txBody>
      </p:sp>
      <p:cxnSp>
        <p:nvCxnSpPr>
          <p:cNvPr id="11" name="Connector 11"/>
          <p:cNvCxnSpPr/>
          <p:nvPr/>
        </p:nvCxnSpPr>
        <p:spPr>
          <a:xfrm rot="-13222">
            <a:off x="4826012" y="3930650"/>
            <a:ext cx="33020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12" name="AutoShape 12"/>
          <p:cNvSpPr/>
          <p:nvPr/>
        </p:nvSpPr>
        <p:spPr>
          <a:xfrm>
            <a:off x="4826000" y="4318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Poppins"/>
                <a:ea typeface="Poppins"/>
                <a:cs typeface="Poppins"/>
                <a:sym typeface="Poppins"/>
              </a:rPr>
              <a:t>We leverage advanced analytics and proprietary models to deliver actionable insights that drive strategic decisions and measurable outcomes, ensuring every recommendation is rooted in empirical evidence.</a:t>
            </a:r>
            <a:endParaRPr lang="en-US" sz="1100"/>
          </a:p>
        </p:txBody>
      </p:sp>
      <p:cxnSp>
        <p:nvCxnSpPr>
          <p:cNvPr id="13" name="Connector 13"/>
          <p:cNvCxnSpPr/>
          <p:nvPr/>
        </p:nvCxnSpPr>
        <p:spPr>
          <a:xfrm rot="5386777">
            <a:off x="6667500" y="4438662"/>
            <a:ext cx="3302000" cy="12700"/>
          </a:xfrm>
          <a:prstGeom prst="straightConnector1">
            <a:avLst/>
          </a:prstGeom>
          <a:solidFill>
            <a:srgbClr val="DEE0E3">
              <a:alpha val="100000"/>
            </a:srgbClr>
          </a:solidFill>
          <a:ln w="12700" cap="flat" cmpd="sng">
            <a:solidFill>
              <a:srgbClr val="E5E4E2">
                <a:alpha val="10000"/>
              </a:srgbClr>
            </a:solidFill>
            <a:prstDash val="solid"/>
            <a:round/>
            <a:headEnd type="none" w="med" len="med"/>
            <a:tailEnd type="none" w="med" len="med"/>
          </a:ln>
        </p:spPr>
      </p:cxnSp>
      <p:sp>
        <p:nvSpPr>
          <p:cNvPr id="14" name="AutoShape 14"/>
          <p:cNvSpPr/>
          <p:nvPr/>
        </p:nvSpPr>
        <p:spPr>
          <a:xfrm>
            <a:off x="8382000" y="2540000"/>
            <a:ext cx="3302000" cy="508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82000" y="3048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E5E4E2"/>
                </a:solidFill>
                <a:latin typeface="Poppins"/>
                <a:ea typeface="Poppins"/>
                <a:cs typeface="Poppins"/>
                <a:sym typeface="Poppins"/>
              </a:rPr>
              <a:t>Client-Centric Partnership</a:t>
            </a:r>
            <a:endParaRPr lang="en-US" sz="1100"/>
          </a:p>
        </p:txBody>
      </p:sp>
      <p:cxnSp>
        <p:nvCxnSpPr>
          <p:cNvPr id="16" name="Connector 16"/>
          <p:cNvCxnSpPr/>
          <p:nvPr/>
        </p:nvCxnSpPr>
        <p:spPr>
          <a:xfrm rot="-15626">
            <a:off x="8382014" y="3930650"/>
            <a:ext cx="2794000" cy="12700"/>
          </a:xfrm>
          <a:prstGeom prst="straightConnector1">
            <a:avLst/>
          </a:prstGeom>
          <a:solidFill>
            <a:srgbClr val="DEE0E3">
              <a:alpha val="100000"/>
            </a:srgbClr>
          </a:solidFill>
          <a:ln w="12700" cap="flat" cmpd="sng">
            <a:solidFill>
              <a:srgbClr val="E5E4E2">
                <a:alpha val="15000"/>
              </a:srgbClr>
            </a:solidFill>
            <a:prstDash val="solid"/>
            <a:round/>
            <a:headEnd type="none" w="med" len="med"/>
            <a:tailEnd type="none" w="med" len="med"/>
          </a:ln>
        </p:spPr>
      </p:cxnSp>
      <p:sp>
        <p:nvSpPr>
          <p:cNvPr id="17" name="AutoShape 17"/>
          <p:cNvSpPr/>
          <p:nvPr/>
        </p:nvSpPr>
        <p:spPr>
          <a:xfrm>
            <a:off x="8382000" y="4318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80000"/>
                  </a:srgbClr>
                </a:solidFill>
                <a:latin typeface="Poppins"/>
                <a:ea typeface="Poppins"/>
                <a:cs typeface="Poppins"/>
                <a:sym typeface="Poppins"/>
              </a:rPr>
              <a:t>We don't just consult—we partner. Our success is inextricably linked to yours, fostering long-term, trust-based relationships that prioritize your unique goals and sustainable growth.</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05. PARTNERSHIP &amp; OUTLOOK</a:t>
            </a:r>
            <a:endParaRPr lang="en-US" sz="1100"/>
          </a:p>
        </p:txBody>
      </p:sp>
      <p:sp>
        <p:nvSpPr>
          <p:cNvPr id="3" name="AutoShape 3"/>
          <p:cNvSpPr/>
          <p:nvPr/>
        </p:nvSpPr>
        <p:spPr>
          <a:xfrm>
            <a:off x="1016000" y="1778000"/>
            <a:ext cx="10160000" cy="12700"/>
          </a:xfrm>
          <a:prstGeom prst="roundRect">
            <a:avLst>
              <a:gd name="adj" fmla="val 0"/>
            </a:avLst>
          </a:prstGeom>
          <a:solidFill>
            <a:srgbClr val="E5E4E2">
              <a:alpha val="3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2540000"/>
            <a:ext cx="3213100" cy="2921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540000"/>
            <a:ext cx="32131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857500"/>
            <a:ext cx="406400" cy="406400"/>
          </a:xfrm>
          <a:prstGeom prst="rect">
            <a:avLst/>
          </a:prstGeom>
        </p:spPr>
      </p:pic>
      <p:sp>
        <p:nvSpPr>
          <p:cNvPr id="7" name="AutoShape 7"/>
          <p:cNvSpPr/>
          <p:nvPr/>
        </p:nvSpPr>
        <p:spPr>
          <a:xfrm>
            <a:off x="1270000" y="3556000"/>
            <a:ext cx="2705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Building a Resilient Future</a:t>
            </a:r>
            <a:endParaRPr lang="en-US" sz="1100"/>
          </a:p>
        </p:txBody>
      </p:sp>
      <p:cxnSp>
        <p:nvCxnSpPr>
          <p:cNvPr id="8" name="Connector 8"/>
          <p:cNvCxnSpPr/>
          <p:nvPr/>
        </p:nvCxnSpPr>
        <p:spPr>
          <a:xfrm rot="-16139">
            <a:off x="1270015" y="4311650"/>
            <a:ext cx="2705100"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sp>
        <p:nvSpPr>
          <p:cNvPr id="9" name="AutoShape 9"/>
          <p:cNvSpPr/>
          <p:nvPr/>
        </p:nvSpPr>
        <p:spPr>
          <a:xfrm>
            <a:off x="1270000" y="4572000"/>
            <a:ext cx="2705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Poppins"/>
                <a:ea typeface="Poppins"/>
                <a:cs typeface="Poppins"/>
                <a:sym typeface="Poppins"/>
              </a:rPr>
              <a:t>We believe in building partnerships that transcend transactions. Together, we can navigate uncertainty and capitalize on emerging opportunities in an ever-evolving landscape.</a:t>
            </a:r>
            <a:endParaRPr lang="en-US" sz="1100"/>
          </a:p>
        </p:txBody>
      </p:sp>
      <p:sp>
        <p:nvSpPr>
          <p:cNvPr id="10" name="AutoShape 10"/>
          <p:cNvSpPr/>
          <p:nvPr/>
        </p:nvSpPr>
        <p:spPr>
          <a:xfrm>
            <a:off x="4483100" y="2540000"/>
            <a:ext cx="3213100" cy="2921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83100" y="2540000"/>
            <a:ext cx="32131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37100" y="2857500"/>
            <a:ext cx="406400" cy="406400"/>
          </a:xfrm>
          <a:prstGeom prst="rect">
            <a:avLst/>
          </a:prstGeom>
        </p:spPr>
      </p:pic>
      <p:sp>
        <p:nvSpPr>
          <p:cNvPr id="13" name="AutoShape 13"/>
          <p:cNvSpPr/>
          <p:nvPr/>
        </p:nvSpPr>
        <p:spPr>
          <a:xfrm>
            <a:off x="4737100" y="3556000"/>
            <a:ext cx="2705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Your Journey to Excellence Starts Here</a:t>
            </a:r>
            <a:endParaRPr lang="en-US" sz="1100"/>
          </a:p>
        </p:txBody>
      </p:sp>
      <p:cxnSp>
        <p:nvCxnSpPr>
          <p:cNvPr id="14" name="Connector 14"/>
          <p:cNvCxnSpPr/>
          <p:nvPr/>
        </p:nvCxnSpPr>
        <p:spPr>
          <a:xfrm rot="-16139">
            <a:off x="4737115" y="4311650"/>
            <a:ext cx="2705100"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sp>
        <p:nvSpPr>
          <p:cNvPr id="15" name="AutoShape 15"/>
          <p:cNvSpPr/>
          <p:nvPr/>
        </p:nvSpPr>
        <p:spPr>
          <a:xfrm>
            <a:off x="4737100" y="4572000"/>
            <a:ext cx="2705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Poppins"/>
                <a:ea typeface="Poppins"/>
                <a:cs typeface="Poppins"/>
                <a:sym typeface="Poppins"/>
              </a:rPr>
              <a:t>Let's discuss how AETHER can tailor a bespoke solution to meet your unique business challenges, align with your core values, and propel you toward your most ambitious goals.</a:t>
            </a:r>
            <a:endParaRPr lang="en-US" sz="1100"/>
          </a:p>
        </p:txBody>
      </p:sp>
      <p:sp>
        <p:nvSpPr>
          <p:cNvPr id="16" name="AutoShape 16"/>
          <p:cNvSpPr/>
          <p:nvPr/>
        </p:nvSpPr>
        <p:spPr>
          <a:xfrm>
            <a:off x="7950200" y="2540000"/>
            <a:ext cx="3213100" cy="2921000"/>
          </a:xfrm>
          <a:prstGeom prst="roundRect">
            <a:avLst>
              <a:gd name="adj" fmla="val 0"/>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950200" y="2540000"/>
            <a:ext cx="32131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04200" y="2857500"/>
            <a:ext cx="406400" cy="406400"/>
          </a:xfrm>
          <a:prstGeom prst="rect">
            <a:avLst/>
          </a:prstGeom>
        </p:spPr>
      </p:pic>
      <p:sp>
        <p:nvSpPr>
          <p:cNvPr id="19" name="AutoShape 19"/>
          <p:cNvSpPr/>
          <p:nvPr/>
        </p:nvSpPr>
        <p:spPr>
          <a:xfrm>
            <a:off x="8204200" y="3556000"/>
            <a:ext cx="2705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Join Us in Shaping Tomorrow</a:t>
            </a:r>
            <a:endParaRPr lang="en-US" sz="1100"/>
          </a:p>
        </p:txBody>
      </p:sp>
      <p:cxnSp>
        <p:nvCxnSpPr>
          <p:cNvPr id="20" name="Connector 20"/>
          <p:cNvCxnSpPr/>
          <p:nvPr/>
        </p:nvCxnSpPr>
        <p:spPr>
          <a:xfrm rot="-16139">
            <a:off x="8204215" y="4311650"/>
            <a:ext cx="2705100"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sp>
        <p:nvSpPr>
          <p:cNvPr id="21" name="AutoShape 21"/>
          <p:cNvSpPr/>
          <p:nvPr/>
        </p:nvSpPr>
        <p:spPr>
          <a:xfrm>
            <a:off x="8204200" y="4572000"/>
            <a:ext cx="2705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70196"/>
                  </a:srgbClr>
                </a:solidFill>
                <a:latin typeface="Poppins"/>
                <a:ea typeface="Poppins"/>
                <a:cs typeface="Poppins"/>
                <a:sym typeface="Poppins"/>
              </a:rPr>
              <a:t>We don't just predict the future—we co-create it. Join our network of visionaries to redefine the boundaries of finance and consulting for a sustainable, impactful world.</a:t>
            </a:r>
            <a:endParaRPr lang="en-US" sz="1100"/>
          </a:p>
        </p:txBody>
      </p:sp>
      <p:sp>
        <p:nvSpPr>
          <p:cNvPr id="22" name="AutoShape 22"/>
          <p:cNvSpPr/>
          <p:nvPr/>
        </p:nvSpPr>
        <p:spPr>
          <a:xfrm>
            <a:off x="1016000" y="5842000"/>
            <a:ext cx="10160000" cy="571500"/>
          </a:xfrm>
          <a:prstGeom prst="roundRect">
            <a:avLst>
              <a:gd name="adj" fmla="val 0"/>
            </a:avLst>
          </a:prstGeom>
          <a:solidFill>
            <a:srgbClr val="E5E4E2">
              <a:alpha val="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270000" y="5943600"/>
            <a:ext cx="965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4E2"/>
                </a:solidFill>
                <a:latin typeface="Poppins"/>
                <a:ea typeface="Poppins"/>
                <a:cs typeface="Poppins"/>
                <a:sym typeface="Poppins"/>
              </a:rPr>
              <a:t>“ The future belongs to those who build it together — let’s turn your vision into a legacy that endures. ”</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905000" y="-1905000"/>
            <a:ext cx="6350000" cy="6350000"/>
          </a:xfrm>
          <a:prstGeom prst="ellipse">
            <a:avLst/>
          </a:prstGeom>
          <a:solidFill>
            <a:srgbClr val="E5E4E2">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747000" y="4318000"/>
            <a:ext cx="6350000" cy="5080000"/>
          </a:xfrm>
          <a:prstGeom prst="ellipse">
            <a:avLst/>
          </a:prstGeom>
          <a:solidFill>
            <a:srgbClr val="E5E4E2">
              <a:alpha val="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Playfair Display"/>
                <a:ea typeface="Playfair Display"/>
                <a:cs typeface="Playfair Display"/>
                <a:sym typeface="Playfair Display"/>
              </a:rPr>
              <a:t>Thank You</a:t>
            </a:r>
            <a:endParaRPr lang="en-US" sz="1100"/>
          </a:p>
        </p:txBody>
      </p:sp>
      <p:sp>
        <p:nvSpPr>
          <p:cNvPr id="5" name="AutoShape 5"/>
          <p:cNvSpPr/>
          <p:nvPr/>
        </p:nvSpPr>
        <p:spPr>
          <a:xfrm>
            <a:off x="5461000" y="4445000"/>
            <a:ext cx="1270000" cy="254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AAAAAA"/>
                </a:solidFill>
                <a:latin typeface="Lato"/>
                <a:ea typeface="Lato"/>
                <a:cs typeface="Lato"/>
                <a:sym typeface="Lato"/>
              </a:rPr>
              <a:t>[Your Website URL] | [Your Contact Email] | [Your Phone Number]</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4852</Words>
  <Application>WPS 演示</Application>
  <PresentationFormat/>
  <Paragraphs>138</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8</vt:i4>
      </vt:variant>
    </vt:vector>
  </HeadingPairs>
  <TitlesOfParts>
    <vt:vector size="23" baseType="lpstr">
      <vt:lpstr>Arial</vt:lpstr>
      <vt:lpstr>宋体</vt:lpstr>
      <vt:lpstr>Wingdings</vt:lpstr>
      <vt:lpstr>Arial</vt:lpstr>
      <vt:lpstr>Playfair Display</vt:lpstr>
      <vt:lpstr>Thonburi</vt:lpstr>
      <vt:lpstr>Lato</vt:lpstr>
      <vt:lpstr>Poppins</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2026-06-19T04:38:43Z</dcterms:created>
  <dcterms:modified xsi:type="dcterms:W3CDTF">2026-06-19T04:38:43Z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{"Label":"1","ContentProducer":"001191110102MACQD9K64010000","ProduceID":"7652960440049372088","ReservedCode1":"","ContentPropagator":"","PropagateID":"","ReservedCode2":""}</vt:lpwstr>
  </property>
  <property fmtid="{D5CDD505-2E9C-101B-9397-08002B2CF9AE}" pid="3" name="ICV">
    <vt:lpwstr>0B389B9E85688AAFD3C7346AC1B21C0E_42</vt:lpwstr>
  </property>
  <property fmtid="{D5CDD505-2E9C-101B-9397-08002B2CF9AE}" pid="4" name="KSOProductBuildVer">
    <vt:lpwstr>2052-5.3.0.7863</vt:lpwstr>
  </property>
</Properties>
</file>
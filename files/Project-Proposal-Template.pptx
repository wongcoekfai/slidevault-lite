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{{Person-weeks}}</c:v>
                </c:pt>
              </c:strCache>
            </c:strRef>
          </c:tx>
          <c:spPr>
            <a:solidFill>
              <a:srgbClr val="4ADE80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8FAF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{{Phase 1}}</c:v>
                  </c:pt>
                  <c:pt idx="1">
                    <c:v>{{Phase 2}}</c:v>
                  </c:pt>
                  <c:pt idx="2">
                    <c:v>{{Phase 3}}</c:v>
                  </c:pt>
                  <c:pt idx="3">
                    <c:v>{{Launch}}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14</c:v>
                </c:pt>
                <c:pt idx="2">
                  <c:v>10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8FAF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E9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GUIDE: Replace every {{placeholder}} with your own content. Change accent colors in the generator (C.accent / C.accent2) to match your brand. Delete slides you do not need. Charts keep sample numbers — edit them in PowerPoint.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Background: sell the problem before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Objectives: if you cannot measure it, it is not an objective.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out-of-scope is the most valuable line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Approach: phases with a key output each. Keep methodology talk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Deliverables: concrete artifacts, not activities.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Timeline: milestones with owners. Add dependencies in speaker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Team: delete cards if you have fewer members.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Budget: chart shows sample data — replace values and labels with yours in PowerPoint.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Risks: name them before your audience does. Every risk needs an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Stakeholders: cadence beats good intentions. Name the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Dependencies: the honest slide that protects the timeline.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Metrics: adoption, quality, speed, impact — one number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decision: one slide, one ask. Vague asks get vague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steps: actions, owners, and 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contact info and one clear call to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4ADE80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60A5F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FBBF24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 TEMPLATE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{{Project Name}}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for {{Quarter / Year}}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sentence: what this project delivers, for whom, and why it matters now.}}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v1.0   ·   Replace every {{placeholder}}   ·   Free to use &amp; modify (CC0)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this project, why now}}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166360" cy="1874520"/>
          </a:xfrm>
          <a:prstGeom prst="roundRect">
            <a:avLst>
              <a:gd name="adj" fmla="val 5854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03120"/>
            <a:ext cx="566928" cy="566928"/>
          </a:xfrm>
          <a:prstGeom prst="ellipse">
            <a:avLst/>
          </a:prstGeom>
          <a:solidFill>
            <a:srgbClr val="4ADE8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20574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{{Problem}}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691640" y="2560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pain this project removes, one line.}}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5166360" cy="1874520"/>
          </a:xfrm>
          <a:prstGeom prst="roundRect">
            <a:avLst>
              <a:gd name="adj" fmla="val 5854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0" y="2103120"/>
            <a:ext cx="566928" cy="566928"/>
          </a:xfrm>
          <a:prstGeom prst="ellipse">
            <a:avLst/>
          </a:prstGeom>
          <a:solidFill>
            <a:srgbClr val="60A5FA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406640" y="20574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{{Cost of doing nothing}}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406640" y="2560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it costs the business if unresolved.}}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069080"/>
            <a:ext cx="5166360" cy="1874520"/>
          </a:xfrm>
          <a:prstGeom prst="roundRect">
            <a:avLst>
              <a:gd name="adj" fmla="val 5854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4389120"/>
            <a:ext cx="566928" cy="566928"/>
          </a:xfrm>
          <a:prstGeom prst="ellipse">
            <a:avLst/>
          </a:prstGeom>
          <a:solidFill>
            <a:srgbClr val="4ADE8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43434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{{Trigger}}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691640" y="4846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event or data that makes this urgent.}}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4069080"/>
            <a:ext cx="5166360" cy="1874520"/>
          </a:xfrm>
          <a:prstGeom prst="roundRect">
            <a:avLst>
              <a:gd name="adj" fmla="val 5854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4389120"/>
            <a:ext cx="566928" cy="566928"/>
          </a:xfrm>
          <a:prstGeom prst="ellipse">
            <a:avLst/>
          </a:prstGeom>
          <a:solidFill>
            <a:srgbClr val="60A5FA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7512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06640" y="43434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{{Alignment}}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406640" y="4846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{{Which company goal this supports.}}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sentence a decision-maker would repeat to their boss.}}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success looks like}}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71116" y="2971800"/>
            <a:ext cx="566928" cy="566928"/>
          </a:xfrm>
          <a:prstGeom prst="ellipse">
            <a:avLst/>
          </a:prstGeom>
          <a:solidFill>
            <a:srgbClr val="4ADE8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71116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{{Objective 1}}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42519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{{Success criterion: measurable, dated.}}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26280" y="25603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57316" y="2971800"/>
            <a:ext cx="566928" cy="566928"/>
          </a:xfrm>
          <a:prstGeom prst="ellipse">
            <a:avLst/>
          </a:prstGeom>
          <a:solidFill>
            <a:srgbClr val="60A5FA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57316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26280" y="3703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{{Objective 2}}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846320" y="42519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{{Success criterion: measurable, dated.}}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0" y="25603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843516" y="2971800"/>
            <a:ext cx="566928" cy="566928"/>
          </a:xfrm>
          <a:prstGeom prst="ellipse">
            <a:avLst/>
          </a:prstGeom>
          <a:solidFill>
            <a:srgbClr val="4ADE8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43516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12480" y="3703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{{Objective 3}}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732520" y="42519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{{Success criterion: measurable, dated.}}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is in, what is out}}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14271C"/>
          </a:solidFill>
          <a:ln w="12700">
            <a:solidFill>
              <a:srgbClr val="24402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2860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 scope}}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this project will deliver.}}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1B3225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22860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{{Out of scope}}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26280" y="28346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92040" y="356616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it will not touch — say it early.}}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0" y="192024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14271C"/>
          </a:solidFill>
          <a:ln w="12700">
            <a:solidFill>
              <a:srgbClr val="24402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22860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{{Assumptions}}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0" y="28346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778240" y="356616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must be true for the plan to hold.}}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we will get there}}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651760"/>
            <a:ext cx="566928" cy="566928"/>
          </a:xfrm>
          <a:prstGeom prst="ellipse">
            <a:avLst/>
          </a:prstGeom>
          <a:solidFill>
            <a:srgbClr val="4ADE8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26700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{{Phase 1}}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5204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{{e.g. Discover &amp; design — key output.}}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86784" y="3401568"/>
            <a:ext cx="411480" cy="512064"/>
          </a:xfrm>
          <a:prstGeom prst="chevron">
            <a:avLst/>
          </a:prstGeom>
          <a:solidFill>
            <a:srgbClr val="4ADE80"/>
          </a:solidFill>
          <a:ln/>
        </p:spPr>
      </p:sp>
      <p:sp>
        <p:nvSpPr>
          <p:cNvPr id="11" name="Shape 9"/>
          <p:cNvSpPr/>
          <p:nvPr/>
        </p:nvSpPr>
        <p:spPr>
          <a:xfrm>
            <a:off x="4434840" y="2286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651760"/>
            <a:ext cx="566928" cy="566928"/>
          </a:xfrm>
          <a:prstGeom prst="ellipse">
            <a:avLst/>
          </a:prstGeom>
          <a:solidFill>
            <a:srgbClr val="60A5FA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0" y="26700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{{Phase 2}}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00600" y="35204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{{e.g. Build — key output.}}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81544" y="3401568"/>
            <a:ext cx="411480" cy="512064"/>
          </a:xfrm>
          <a:prstGeom prst="chevron">
            <a:avLst/>
          </a:prstGeom>
          <a:solidFill>
            <a:srgbClr val="4ADE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2286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49640" y="2651760"/>
            <a:ext cx="566928" cy="566928"/>
          </a:xfrm>
          <a:prstGeom prst="ellipse">
            <a:avLst/>
          </a:prstGeom>
          <a:solidFill>
            <a:srgbClr val="4ADE8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54964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281160" y="26700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{{Phase 3}}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95360" y="35204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{{e.g. Launch &amp; iterate — key output.}}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we hand over}}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48840"/>
            <a:ext cx="502920" cy="50292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2075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{{Deliverable 1}}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645920" y="26060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{{Format and acceptance criteria, one line.}}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0" y="2148840"/>
            <a:ext cx="502920" cy="50292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60920" y="2075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{{Deliverable 2}}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360920" y="26060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{{Format and acceptance criteria, one line.}}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4526280"/>
            <a:ext cx="502920" cy="50292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44531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{{Deliverable 3}}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645920" y="49834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{{Format and acceptance criteria, one line.}}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416052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4526280"/>
            <a:ext cx="502920" cy="50292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60920" y="44531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{{Deliverable 4}}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360920" y="49834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{{Format and acceptance criteria, one line.}}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{{Milestones &amp; timeline}}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97280" y="2057400"/>
            <a:ext cx="10058400" cy="0"/>
          </a:xfrm>
          <a:prstGeom prst="line">
            <a:avLst/>
          </a:prstGeom>
          <a:noFill/>
          <a:ln w="25400">
            <a:solidFill>
              <a:srgbClr val="2440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78508" y="1892808"/>
            <a:ext cx="329184" cy="329184"/>
          </a:xfrm>
          <a:prstGeom prst="ellipse">
            <a:avLst/>
          </a:prstGeom>
          <a:solidFill>
            <a:srgbClr val="4ADE80"/>
          </a:solidFill>
          <a:ln w="38100">
            <a:solidFill>
              <a:srgbClr val="0D1B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774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W{{1-4}}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{{Milestone}}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{{Owner, one line}}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77156" y="1892808"/>
            <a:ext cx="329184" cy="329184"/>
          </a:xfrm>
          <a:prstGeom prst="ellipse">
            <a:avLst/>
          </a:prstGeom>
          <a:solidFill>
            <a:srgbClr val="4ADE80"/>
          </a:solidFill>
          <a:ln w="38100">
            <a:solidFill>
              <a:srgbClr val="0D1B1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38728" y="23774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38728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W{{5-8}}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38728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{{Milestone}}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813048" y="3840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{{Owner, one line}}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75804" y="1892808"/>
            <a:ext cx="329184" cy="329184"/>
          </a:xfrm>
          <a:prstGeom prst="ellipse">
            <a:avLst/>
          </a:prstGeom>
          <a:solidFill>
            <a:srgbClr val="4ADE80"/>
          </a:solidFill>
          <a:ln w="38100">
            <a:solidFill>
              <a:srgbClr val="0D1B1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7376" y="23774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37376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W{{9-12}}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37376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{{Milestone}}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711696" y="3840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{{Owner, one line}}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474452" y="1892808"/>
            <a:ext cx="329184" cy="329184"/>
          </a:xfrm>
          <a:prstGeom prst="ellipse">
            <a:avLst/>
          </a:prstGeom>
          <a:solidFill>
            <a:srgbClr val="4ADE80"/>
          </a:solidFill>
          <a:ln w="38100">
            <a:solidFill>
              <a:srgbClr val="0D1B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36024" y="23774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336024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W{{13+}}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336024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{{Milestone}}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610344" y="3840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{{Owner, one line}}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does what}}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40180" y="2377440"/>
            <a:ext cx="1005840" cy="10058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7" name="Text 5"/>
          <p:cNvSpPr/>
          <p:nvPr/>
        </p:nvSpPr>
        <p:spPr>
          <a:xfrm>
            <a:off x="1440180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{{N}}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{{Role}}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{{Responsibility, one line.}}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38728" y="20116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38828" y="2377440"/>
            <a:ext cx="1005840" cy="100584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2" name="Text 10"/>
          <p:cNvSpPr/>
          <p:nvPr/>
        </p:nvSpPr>
        <p:spPr>
          <a:xfrm>
            <a:off x="4338828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{{N}}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38728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{{Role}}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67328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{{Responsibility, one line.}}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37376" y="20116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37476" y="2377440"/>
            <a:ext cx="1005840" cy="10058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7" name="Text 15"/>
          <p:cNvSpPr/>
          <p:nvPr/>
        </p:nvSpPr>
        <p:spPr>
          <a:xfrm>
            <a:off x="7237476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{{N}}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37376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{{Role}}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65976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{{Responsibility, one line.}}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36024" y="20116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136124" y="2377440"/>
            <a:ext cx="1005840" cy="100584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2" name="Text 20"/>
          <p:cNvSpPr/>
          <p:nvPr/>
        </p:nvSpPr>
        <p:spPr>
          <a:xfrm>
            <a:off x="10136124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{{N}}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336024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{{Role}}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564624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{{Responsibility, one line.}}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{{Budget &amp; effort}}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035040" cy="4206240"/>
          </a:xfrm>
          <a:prstGeom prst="roundRect">
            <a:avLst>
              <a:gd name="adj" fmla="val 2609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202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by phase (sample)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" y="2331720"/>
          <a:ext cx="56692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040880" y="178308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040880" y="198424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040880" y="27157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{{Total budget}}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223760" y="3081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{{Breakdown in appendix}}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040880" y="320040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040880" y="340156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7040880" y="41330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{{Total effort}}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223760" y="44988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{{Person-weeks by team}}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040880" y="461772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040880" y="481888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7040880" y="5550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{{Payback}}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223760" y="59161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{{When the investment returns}}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{{Risks &amp; mitigation}}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4206240" cy="548640"/>
          </a:xfrm>
          <a:prstGeom prst="roundRect">
            <a:avLst>
              <a:gd name="adj" fmla="val 16667"/>
            </a:avLst>
          </a:prstGeom>
          <a:solidFill>
            <a:srgbClr val="1B322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{{Risk}}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937760" y="192024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1B3225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{{Likelihood}}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0" y="1920240"/>
            <a:ext cx="4754880" cy="548640"/>
          </a:xfrm>
          <a:prstGeom prst="roundRect">
            <a:avLst>
              <a:gd name="adj" fmla="val 16667"/>
            </a:avLst>
          </a:prstGeom>
          <a:solidFill>
            <a:srgbClr val="1B322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1920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{{Mitigation}}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14271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6060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1}}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26060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14271C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26060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{{High / Med / Low}}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0" y="2606040"/>
            <a:ext cx="4754880" cy="914400"/>
          </a:xfrm>
          <a:prstGeom prst="roundRect">
            <a:avLst>
              <a:gd name="adj" fmla="val 10000"/>
            </a:avLst>
          </a:prstGeom>
          <a:solidFill>
            <a:srgbClr val="14271C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26060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{{Mitigation, one line}}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14271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6576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2}}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36576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14271C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36576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{{High / Med / Low}}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0" y="3657600"/>
            <a:ext cx="4754880" cy="914400"/>
          </a:xfrm>
          <a:prstGeom prst="roundRect">
            <a:avLst>
              <a:gd name="adj" fmla="val 10000"/>
            </a:avLst>
          </a:prstGeom>
          <a:solidFill>
            <a:srgbClr val="14271C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36576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{{Mitigation, one line}}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70916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14271C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7091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3}}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37760" y="470916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14271C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4709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{{High / Med / Low}}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0" y="4709160"/>
            <a:ext cx="4754880" cy="914400"/>
          </a:xfrm>
          <a:prstGeom prst="roundRect">
            <a:avLst>
              <a:gd name="adj" fmla="val 10000"/>
            </a:avLst>
          </a:prstGeom>
          <a:solidFill>
            <a:srgbClr val="14271C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0" y="47091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{{Mitigation, one line}}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we keep informed}}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71116" y="2971800"/>
            <a:ext cx="566928" cy="566928"/>
          </a:xfrm>
          <a:prstGeom prst="ellipse">
            <a:avLst/>
          </a:prstGeom>
          <a:solidFill>
            <a:srgbClr val="4ADE8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71116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{{Decision makers}}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42519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approves, and when we check in.}}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26280" y="25603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57316" y="2971800"/>
            <a:ext cx="566928" cy="566928"/>
          </a:xfrm>
          <a:prstGeom prst="ellipse">
            <a:avLst/>
          </a:prstGeom>
          <a:solidFill>
            <a:srgbClr val="60A5FA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57316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26280" y="3703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{{Contributors}}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42519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{{Teams we depend on, and how we sync.}}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0" y="25603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843516" y="2971800"/>
            <a:ext cx="566928" cy="566928"/>
          </a:xfrm>
          <a:prstGeom prst="ellipse">
            <a:avLst/>
          </a:prstGeom>
          <a:solidFill>
            <a:srgbClr val="4ADE8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43516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12480" y="3703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{{End users}}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732520" y="42519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we test with, and how we listen.}}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must be true}}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14271C"/>
          </a:solidFill>
          <a:ln w="12700">
            <a:solidFill>
              <a:srgbClr val="24402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2860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{{Internal}}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{{Teams or systems this relies on.}}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1B3225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22860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{{External}}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26280" y="28346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92040" y="356616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{{Vendors, approvals, third parties.}}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0" y="192024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14271C"/>
          </a:solidFill>
          <a:ln w="12700">
            <a:solidFill>
              <a:srgbClr val="24402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22860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{{Fallback}}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0" y="28346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778240" y="356616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{{Plan B if a dependency slips.}}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we measure success}}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21284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 1}}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9443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{{Adoption}}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3101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{{Target &amp; date}}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38728" y="20116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38728" y="221284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 2}}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38728" y="29443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{{Quality}}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33101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{{Target &amp; date}}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37376" y="20116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37376" y="221284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 3}}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37376" y="29443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{{Speed / cost}}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0256" y="33101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{{Target &amp; date}}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336024" y="20116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36024" y="221284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{{KPI 4}}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336024" y="29443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{{Business impact}}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518904" y="33101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{{Target &amp; date}}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{{Where these numbers will be reported, and how often.}}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we are asking for}}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{{State the ask plainly: approval, budget, headcount, or a start date — and what it unlocks.}}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6974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{{Approve}}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41148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{{Budget or scope being approved}}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26280" y="237744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26974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{{Date}}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26280" y="36118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{{Start}}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41148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{{Kickoff date and first checkpoint}}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0" y="237744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0" y="26974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{{X}}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412480" y="36118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{{Return}}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732520" y="41148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{{Expected payback period}}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{{If approved, what happens next}}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71116" y="2468880"/>
            <a:ext cx="566928" cy="566928"/>
          </a:xfrm>
          <a:prstGeom prst="ellipse">
            <a:avLst/>
          </a:prstGeom>
          <a:solidFill>
            <a:srgbClr val="4ADE8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71116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{{Step 1}}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37490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 and owner, one line.}}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26280" y="21031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57316" y="2468880"/>
            <a:ext cx="566928" cy="566928"/>
          </a:xfrm>
          <a:prstGeom prst="ellipse">
            <a:avLst/>
          </a:prstGeom>
          <a:solidFill>
            <a:srgbClr val="60A5FA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57316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26280" y="3200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{{Step 2}}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37490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 and owner, one line.}}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0" y="21031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4271C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843516" y="2468880"/>
            <a:ext cx="566928" cy="566928"/>
          </a:xfrm>
          <a:prstGeom prst="ellipse">
            <a:avLst/>
          </a:prstGeom>
          <a:solidFill>
            <a:srgbClr val="4ADE80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43516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12480" y="3200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{{Step 3}}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732520" y="37490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{{Action and owner, one line.}}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097280"/>
            <a:ext cx="3657600" cy="3657600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291840"/>
            <a:ext cx="2194560" cy="2194560"/>
          </a:xfrm>
          <a:prstGeom prst="ellipse">
            <a:avLst/>
          </a:prstGeom>
          <a:solidFill>
            <a:srgbClr val="60A5F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IT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{{Your closing line}}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846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{{email@yourcompany.com}}</a:t>
            </a:r>
            <a:pPr indent="0" marL="0">
              <a:buNone/>
            </a:pPr>
            <a:r>
              <a:rPr lang="en-US" sz="16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{{yourcompany.com}}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486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Proposal Template</dc:title>
  <dc:subject>PptxGenJS Presentation</dc:subject>
  <dc:creator>WorkBuddy</dc:creator>
  <cp:lastModifiedBy>WorkBuddy</cp:lastModifiedBy>
  <cp:revision>1</cp:revision>
  <dcterms:created xsi:type="dcterms:W3CDTF">2026-10-28T09:08:48Z</dcterms:created>
  <dcterms:modified xsi:type="dcterms:W3CDTF">2026-10-28T09:08:48Z</dcterms:modified>
</cp:coreProperties>
</file>
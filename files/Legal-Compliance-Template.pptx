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Audits / reviews</c:v>
                </c:pt>
              </c:strCache>
            </c:strRef>
          </c:tx>
          <c:spPr>
            <a:solidFill>
              <a:srgbClr val="1E40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1B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1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1B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GUIDE: Replace every {{placeholder}} with your own content. Change accent colors in the generator (C.accent / C.accent2) to match your brand. Delete slides you do not need. Not legal advice — have counsel review before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 BRIEFING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4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{{Topic: {{regulation / policy}}}}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{{Legal / Compliance}} · {{date}} · Internal — Confidential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{{Audience: who must act on this briefing}}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v1.0   ·   Replace every {{placeholder}}   ·   Free to use &amp; modify (CC0)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regulation applies, and to whom}}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regulations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6974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 {{Regulation 1 ({{jurisdiction}})}}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6576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 {{Regulation 2 ({{jurisdiction}})}}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46177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 {{Industry standard / cert: {{name}}}}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E9EDF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46520" y="26060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{{Business units, products, data categories, geographies covered.}}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40233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46520" y="45720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{{Explicitly excluded, and why.}}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ASSESSMENT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{{Where we stand today}}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67919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mapped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{{of {{Y}} total}}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02152" y="1920240"/>
            <a:ext cx="267919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02152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02152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85032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{{green}}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64224" y="1920240"/>
            <a:ext cx="267919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64224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64224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found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47104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{{must remediate}}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26296" y="1920240"/>
            <a:ext cx="267919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26296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226296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items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409176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{{deadline {{date}}}}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57200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E9EDF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0120" y="48006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method: {{how requirements were mapped — audit, self-assessment, external counsel review ({{date}})}}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RATING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{{Priority view of the gaps}}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377440" y="1965960"/>
            <a:ext cx="2834640" cy="1417320"/>
          </a:xfrm>
          <a:prstGeom prst="rect">
            <a:avLst/>
          </a:prstGeom>
          <a:solidFill>
            <a:srgbClr val="D7F2E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0" y="196596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{{Low}}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212080" y="1965960"/>
            <a:ext cx="2834640" cy="1417320"/>
          </a:xfrm>
          <a:prstGeom prst="rect">
            <a:avLst/>
          </a:prstGeom>
          <a:solidFill>
            <a:srgbClr val="FDE9C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0" y="196596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{{Monitor}}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77440" y="3383280"/>
            <a:ext cx="2834640" cy="1417320"/>
          </a:xfrm>
          <a:prstGeom prst="rect">
            <a:avLst/>
          </a:prstGeom>
          <a:solidFill>
            <a:srgbClr val="FDE9C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338328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{{Monitor}}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212080" y="3383280"/>
            <a:ext cx="2834640" cy="1417320"/>
          </a:xfrm>
          <a:prstGeom prst="rect">
            <a:avLst/>
          </a:prstGeom>
          <a:solidFill>
            <a:srgbClr val="F9C9C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338328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{{Remediate}}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377440" y="4800600"/>
            <a:ext cx="2834640" cy="1417320"/>
          </a:xfrm>
          <a:prstGeom prst="rect">
            <a:avLst/>
          </a:prstGeom>
          <a:solidFill>
            <a:srgbClr val="F9C9C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480060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{{Remediate}}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212080" y="4800600"/>
            <a:ext cx="2834640" cy="1417320"/>
          </a:xfrm>
          <a:prstGeom prst="rect">
            <a:avLst/>
          </a:prstGeom>
          <a:solidFill>
            <a:srgbClr val="E86A6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480060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{{Critical}}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77440" y="63550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 rot="16200000">
            <a:off x="1325880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503920" y="1965960"/>
            <a:ext cx="3017520" cy="4251960"/>
          </a:xfrm>
          <a:prstGeom prst="roundRect">
            <a:avLst>
              <a:gd name="adj" fmla="val 3636"/>
            </a:avLst>
          </a:prstGeom>
          <a:solidFill>
            <a:srgbClr val="E9EDF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778240" y="21945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778240" y="27432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{{Risk 1: {{gap}} — {{fine/exposure}}}}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778240" y="384048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{{Risk 2}}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78240" y="493776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{{Risk 3}}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exists and its state}}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659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{{Policy 1}}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0" y="1965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{{owner}}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06640" y="1965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{{Reviewed {{date}}}}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966960" y="2093976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/>
        </p:spPr>
      </p:sp>
      <p:sp>
        <p:nvSpPr>
          <p:cNvPr id="10" name="Text 8"/>
          <p:cNvSpPr/>
          <p:nvPr/>
        </p:nvSpPr>
        <p:spPr>
          <a:xfrm>
            <a:off x="9966960" y="209397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88036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29718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{{Policy 2}}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2971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{{owner}}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06640" y="2971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{{Due {{date}}}}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966960" y="3099816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9966960" y="30998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88620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39776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{{Policy 3}}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0" y="3977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{{owner}}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06640" y="3977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{{Missing}}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966960" y="4105656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2" name="Text 20"/>
          <p:cNvSpPr/>
          <p:nvPr/>
        </p:nvSpPr>
        <p:spPr>
          <a:xfrm>
            <a:off x="9966960" y="41056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89204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60120" y="49834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{{Policy 4}}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03520" y="4983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{{owner}}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06640" y="4983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{{Reviewed {{date}}}}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966960" y="5111496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/>
        </p:spPr>
      </p:sp>
      <p:sp>
        <p:nvSpPr>
          <p:cNvPr id="28" name="Text 26"/>
          <p:cNvSpPr/>
          <p:nvPr/>
        </p:nvSpPr>
        <p:spPr>
          <a:xfrm>
            <a:off x="9966960" y="511149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{{Closing the gaps}}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002536"/>
            <a:ext cx="566928" cy="566928"/>
          </a:xfrm>
          <a:prstGeom prst="ellipse">
            <a:avLst/>
          </a:prstGeom>
          <a:solidFill>
            <a:srgbClr val="1E40A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002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{{Gap 1}}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9659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{{action}}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0" y="1965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{{owner}} · {{due}}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88036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3008376"/>
            <a:ext cx="566928" cy="566928"/>
          </a:xfrm>
          <a:prstGeom prst="ellipse">
            <a:avLst/>
          </a:prstGeom>
          <a:solidFill>
            <a:srgbClr val="B4530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30083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91640" y="29718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{{Gap 2}}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29718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{{action}}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0" y="2971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{{owner}} · {{due}}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88620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4014216"/>
            <a:ext cx="566928" cy="566928"/>
          </a:xfrm>
          <a:prstGeom prst="ellipse">
            <a:avLst/>
          </a:prstGeom>
          <a:solidFill>
            <a:srgbClr val="1E40A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4014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91640" y="3977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{{Gap 3}}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39776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{{action}}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0" y="39776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{{owner}} · {{due}}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89204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400" y="5020056"/>
            <a:ext cx="566928" cy="566928"/>
          </a:xfrm>
          <a:prstGeom prst="ellipse">
            <a:avLst/>
          </a:prstGeom>
          <a:solidFill>
            <a:srgbClr val="B4530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" y="5020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691640" y="4983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{{Gap 4}}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54880" y="49834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{{action}}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0" y="49834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{{owner}} · {{due}}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{{Who owns what}}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E9EDF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94560"/>
            <a:ext cx="566928" cy="566928"/>
          </a:xfrm>
          <a:prstGeom prst="ellipse">
            <a:avLst/>
          </a:prstGeom>
          <a:solidFill>
            <a:srgbClr val="1E40A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91640" y="2121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{{Legal / Counsel}}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91640" y="26517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{{Interpretation, contracts, regulator contact}}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2194560"/>
            <a:ext cx="566928" cy="566928"/>
          </a:xfrm>
          <a:prstGeom prst="ellipse">
            <a:avLst/>
          </a:prstGeom>
          <a:solidFill>
            <a:srgbClr val="B4530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2940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60920" y="2121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{{Compliance officer}}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60920" y="26517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{{Program ownership, audits, training}}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0120" y="4297680"/>
            <a:ext cx="566928" cy="566928"/>
          </a:xfrm>
          <a:prstGeom prst="ellipse">
            <a:avLst/>
          </a:prstGeom>
          <a:solidFill>
            <a:srgbClr val="1E40A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91640" y="4224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{{Engineering / Data}}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47548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{{Technical controls, logs, access}}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E9EDF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29400" y="4297680"/>
            <a:ext cx="566928" cy="566928"/>
          </a:xfrm>
          <a:prstGeom prst="ellipse">
            <a:avLst/>
          </a:prstGeom>
          <a:solidFill>
            <a:srgbClr val="B4530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2940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60920" y="4224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{{Business owners}}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60920" y="47548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{{Day-to-day adherence, evidence}}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{{Making it stick}}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1945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{{Audience 1}}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{{Module: {{topic}} · {{duration}}}}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21945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{{Audience 2}}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17720" y="28346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{{Module: {{topic}} · {{duration}}}}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92024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E9EDF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21040" y="21945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{{All staff}}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21040" y="28346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{{Annual refresher · {{duration}}}}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663440"/>
            <a:ext cx="108813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0120" y="484632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target: {{x}}% by {{date}} · Platform: {{LMS link}} · Escalation for non-completion: {{process}}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CALENDAR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year ahead}}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874520"/>
          <a:ext cx="56692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897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counts — replace in PowerPoint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858000" y="1874520"/>
            <a:ext cx="4663440" cy="3931920"/>
          </a:xfrm>
          <a:prstGeom prst="roundRect">
            <a:avLst>
              <a:gd name="adj" fmla="val 2791"/>
            </a:avLst>
          </a:prstGeom>
          <a:solidFill>
            <a:srgbClr val="E9EDF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2103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178040" y="26517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{{date}} — {{external audit: {{scope}}}}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178040" y="34290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{{date}} — {{certification renewal}}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178040" y="42062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{{date}} — {{regulatory filing deadline}}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178040" y="49834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{{date}} — {{board compliance report}}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{{If something goes wrong}}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679192" cy="310896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286000"/>
            <a:ext cx="566928" cy="566928"/>
          </a:xfrm>
          <a:prstGeom prst="ellipse">
            <a:avLst/>
          </a:prstGeom>
          <a:solidFill>
            <a:srgbClr val="1E40A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21305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{{Who notices and how (hotline, monitoring, report)}}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02152" y="2011680"/>
            <a:ext cx="2679192" cy="310896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76472" y="2286000"/>
            <a:ext cx="566928" cy="566928"/>
          </a:xfrm>
          <a:prstGeom prst="ellipse">
            <a:avLst/>
          </a:prstGeom>
          <a:solidFill>
            <a:srgbClr val="1E40A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76472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76472" y="301752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76472" y="3566160"/>
            <a:ext cx="21305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{{To whom, within {{x}} hours}}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64224" y="2011680"/>
            <a:ext cx="2679192" cy="310896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38544" y="2286000"/>
            <a:ext cx="566928" cy="566928"/>
          </a:xfrm>
          <a:prstGeom prst="ellipse">
            <a:avLst/>
          </a:prstGeom>
          <a:solidFill>
            <a:srgbClr val="1E40A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38544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38544" y="301752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38544" y="3566160"/>
            <a:ext cx="21305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{{Severity call by {{role}} within {{x}} hours}}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226296" y="2011680"/>
            <a:ext cx="2679192" cy="3108960"/>
          </a:xfrm>
          <a:prstGeom prst="roundRect">
            <a:avLst>
              <a:gd name="adj" fmla="val 4096"/>
            </a:avLst>
          </a:prstGeom>
          <a:solidFill>
            <a:srgbClr val="E9EDF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500616" y="2286000"/>
            <a:ext cx="566928" cy="566928"/>
          </a:xfrm>
          <a:prstGeom prst="ellipse">
            <a:avLst/>
          </a:prstGeom>
          <a:solidFill>
            <a:srgbClr val="B4530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500616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500616" y="301752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&amp; notify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500616" y="3566160"/>
            <a:ext cx="21305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{{Contain, remediate, notify {{regulator / users}} if required}}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NEEDED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the business must approve}}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68580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94560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21031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{{Decision 1: {{what &amp; why}}}}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60120" y="3108960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30175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{{Decision 2}}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60120" y="4023360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39319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{{Decision 3}}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60120" y="4937760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48463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{{Decision 4}}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863840" y="1828800"/>
            <a:ext cx="3657600" cy="4114800"/>
          </a:xfrm>
          <a:prstGeom prst="roundRect">
            <a:avLst>
              <a:gd name="adj" fmla="val 3000"/>
            </a:avLst>
          </a:prstGeom>
          <a:solidFill>
            <a:srgbClr val="E9EDF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83880" y="2103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83880" y="26517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{{Name / role}} — {{date}}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4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{{Name / role}} — {{date}}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83880" y="5029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cycle: {{quarterly / annual}}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4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{{When in doubt, ask before you act.}}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5661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{{compliance email}} · Hotline: {{channel}} · Policies: {{link}}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Confidential. Free template — use, modify, and share. No attribution required. (CC0)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Legal Compliance Briefing Template</dc:title>
  <dc:subject>PptxGenJS Presentation</dc:subject>
  <dc:creator>WorkBuddy</dc:creator>
  <cp:lastModifiedBy>WorkBuddy</cp:lastModifiedBy>
  <cp:revision>1</cp:revision>
  <dcterms:created xsi:type="dcterms:W3CDTF">2026-10-29T08:41:17Z</dcterms:created>
  <dcterms:modified xsi:type="dcterms:W3CDTF">2026-10-29T08:41:17Z</dcterms:modified>
</cp:coreProperties>
</file>
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objectives observable: "can do X", not "knows about X". Duplicate this slide if you have more than 4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tip: do it once fast, once slow, then let learners drive. Keep a fallback screenshot in case the live demo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22D3E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38BDF8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DE047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COURSE TEMPLATE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{{Course Title}}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{{Level}} · {{Duration}} · {{Delivery format}}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sentence: what learners will be able to do after this course.}}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{{Name}}   ·   {{Date}}   ·   {{Team / Company}}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you will learn}}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40280"/>
            <a:ext cx="566928" cy="56692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{{Objective 1}}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{{By the end, learners can do X independently.}}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02152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76472" y="2240280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76472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76472" y="301752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{{Objective 2}}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76472" y="3794760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 concrete, observable skill or outcome.}}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64224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38544" y="2240280"/>
            <a:ext cx="566928" cy="56692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38544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38544" y="301752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{{Objective 3}}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38544" y="3794760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{{Another measurable capability.}}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26296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00616" y="2240280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00616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500616" y="301752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{{Objective 4}}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00616" y="3794760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stretch goal for advanced learners.}}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this course is for}}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577840" cy="4206240"/>
          </a:xfrm>
          <a:prstGeom prst="roundRect">
            <a:avLst>
              <a:gd name="adj" fmla="val 2609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audience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" y="2606040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4688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 / team this is designed for}}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3410712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2735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{{Prior experience expected}}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421538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0782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{{Typical use case on the job}}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0120" y="5020056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8828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should NOT take this course}}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178308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133641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checklist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903720" y="2606040"/>
            <a:ext cx="292608" cy="292608"/>
          </a:xfrm>
          <a:prstGeom prst="rect">
            <a:avLst>
              <a:gd name="adj" fmla="val 15625"/>
            </a:avLst>
          </a:prstGeom>
          <a:solidFill>
            <a:srgbClr val="071A21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2468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{{Tool / access needed before day 1}}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03720" y="3410712"/>
            <a:ext cx="292608" cy="292608"/>
          </a:xfrm>
          <a:prstGeom prst="rect">
            <a:avLst>
              <a:gd name="adj" fmla="val 15625"/>
            </a:avLst>
          </a:prstGeom>
          <a:solidFill>
            <a:srgbClr val="071A21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2735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{{Knowledge assumed (link to resources)}}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03720" y="4215384"/>
            <a:ext cx="292608" cy="292608"/>
          </a:xfrm>
          <a:prstGeom prst="rect">
            <a:avLst>
              <a:gd name="adj" fmla="val 15625"/>
            </a:avLst>
          </a:prstGeom>
          <a:solidFill>
            <a:srgbClr val="071A21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40782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{{Setup time required: {{X}} min}}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03720" y="5020056"/>
            <a:ext cx="292608" cy="292608"/>
          </a:xfrm>
          <a:prstGeom prst="rect">
            <a:avLst>
              <a:gd name="adj" fmla="val 15625"/>
            </a:avLst>
          </a:prstGeom>
          <a:solidFill>
            <a:srgbClr val="071A21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48828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{{Contact for setup help: {{email}}}}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{{Course roadmap}}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79192" cy="3017520"/>
          </a:xfrm>
          <a:prstGeom prst="roundRect">
            <a:avLst>
              <a:gd name="adj" fmla="val 4096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86000"/>
            <a:ext cx="2130552" cy="384048"/>
          </a:xfrm>
          <a:prstGeom prst="roundRect">
            <a:avLst>
              <a:gd name="adj" fmla="val 50000"/>
            </a:avLst>
          </a:prstGeom>
          <a:solidFill>
            <a:srgbClr val="13364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86000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{{45 min}}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{{Module 1}}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{{Foundations}}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19272" y="3474720"/>
            <a:ext cx="182880" cy="0"/>
          </a:xfrm>
          <a:prstGeom prst="line">
            <a:avLst/>
          </a:prstGeom>
          <a:noFill/>
          <a:ln w="25400">
            <a:solidFill>
              <a:srgbClr val="1D46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2011680"/>
            <a:ext cx="2679192" cy="3017520"/>
          </a:xfrm>
          <a:prstGeom prst="roundRect">
            <a:avLst>
              <a:gd name="adj" fmla="val 4096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76472" y="2286000"/>
            <a:ext cx="2130552" cy="384048"/>
          </a:xfrm>
          <a:prstGeom prst="roundRect">
            <a:avLst>
              <a:gd name="adj" fmla="val 50000"/>
            </a:avLst>
          </a:prstGeom>
          <a:solidFill>
            <a:srgbClr val="0E2A33"/>
          </a:solidFill>
          <a:ln/>
        </p:spPr>
      </p:sp>
      <p:sp>
        <p:nvSpPr>
          <p:cNvPr id="13" name="Text 11"/>
          <p:cNvSpPr/>
          <p:nvPr/>
        </p:nvSpPr>
        <p:spPr>
          <a:xfrm>
            <a:off x="3776472" y="2286000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{{60 min}}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76472" y="292608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{{Module 2}}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776472" y="3429000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{{Core concepts}}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1344" y="3474720"/>
            <a:ext cx="182880" cy="0"/>
          </a:xfrm>
          <a:prstGeom prst="line">
            <a:avLst/>
          </a:prstGeom>
          <a:noFill/>
          <a:ln w="25400">
            <a:solidFill>
              <a:srgbClr val="1D46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4224" y="2011680"/>
            <a:ext cx="2679192" cy="3017520"/>
          </a:xfrm>
          <a:prstGeom prst="roundRect">
            <a:avLst>
              <a:gd name="adj" fmla="val 4096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38544" y="2286000"/>
            <a:ext cx="2130552" cy="384048"/>
          </a:xfrm>
          <a:prstGeom prst="roundRect">
            <a:avLst>
              <a:gd name="adj" fmla="val 50000"/>
            </a:avLst>
          </a:prstGeom>
          <a:solidFill>
            <a:srgbClr val="133641"/>
          </a:solidFill>
          <a:ln/>
        </p:spPr>
      </p:sp>
      <p:sp>
        <p:nvSpPr>
          <p:cNvPr id="19" name="Text 17"/>
          <p:cNvSpPr/>
          <p:nvPr/>
        </p:nvSpPr>
        <p:spPr>
          <a:xfrm>
            <a:off x="6638544" y="2286000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{{60 min}}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38544" y="292608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{{Module 3}}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638544" y="3429000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{{Hands-on lab}}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43416" y="3474720"/>
            <a:ext cx="182880" cy="0"/>
          </a:xfrm>
          <a:prstGeom prst="line">
            <a:avLst/>
          </a:prstGeom>
          <a:noFill/>
          <a:ln w="25400">
            <a:solidFill>
              <a:srgbClr val="1D46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26296" y="2011680"/>
            <a:ext cx="2679192" cy="3017520"/>
          </a:xfrm>
          <a:prstGeom prst="roundRect">
            <a:avLst>
              <a:gd name="adj" fmla="val 4096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00616" y="2286000"/>
            <a:ext cx="2130552" cy="384048"/>
          </a:xfrm>
          <a:prstGeom prst="roundRect">
            <a:avLst>
              <a:gd name="adj" fmla="val 50000"/>
            </a:avLst>
          </a:prstGeom>
          <a:solidFill>
            <a:srgbClr val="0E2A33"/>
          </a:solidFill>
          <a:ln/>
        </p:spPr>
      </p:sp>
      <p:sp>
        <p:nvSpPr>
          <p:cNvPr id="25" name="Text 23"/>
          <p:cNvSpPr/>
          <p:nvPr/>
        </p:nvSpPr>
        <p:spPr>
          <a:xfrm>
            <a:off x="9500616" y="2286000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{{45 min}}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00616" y="292608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{{Module 4}}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500616" y="3429000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{{Advanced patterns}}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Break: {{time}}   ·   Wrap-up &amp; Q&amp;A: {{time}}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{{Topic name}}: {{the big idea}}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{{Explain the problem this concept solves and what happens without it. Keep it story-driven and concrete.}}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42976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 memorable analogy or one-line summary.}}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133641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2112264"/>
            <a:ext cx="566928" cy="56692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2112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0664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{{Concept part 1}}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06640" y="24414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{{One-sentence explanation.}}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324612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133641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0" y="3575304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3575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06640" y="3429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{{Concept part 2}}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06640" y="3904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{{One-sentence explanation.}}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70916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133641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5038344"/>
            <a:ext cx="566928" cy="56692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0" y="5038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06640" y="4892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{{Concept part 3}}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06640" y="5367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{{One-sentence explanation.}}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{{Three concepts to remember}}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8820" y="2240280"/>
            <a:ext cx="822960" cy="82296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98882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{{Concept A}}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886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{{Definition in one line.}}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8006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{{Example from real work.}}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8745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92140" y="2240280"/>
            <a:ext cx="822960" cy="822960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9214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1772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{{Concept B}}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3886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{{Definition in one line.}}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48006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{{Example from real work.}}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8745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95460" y="2240280"/>
            <a:ext cx="822960" cy="82296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9546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2104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{{Concept C}}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66760" y="3886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{{Definition in one line.}}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48006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{{Example from real work.}}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{{Live walkthrough: {{task}}}}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1}}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651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you show and why.}}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94560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2}}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60920" y="2651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decision point to call out.}}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3}}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7548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beginners usually get stuck.}}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297680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4}}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60920" y="47548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finished result and how to verify it.}}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{{Exercise title}}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858000" cy="4206240"/>
          </a:xfrm>
          <a:prstGeom prst="roundRect">
            <a:avLst>
              <a:gd name="adj" fmla="val 2609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{{Task step 1}}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{{Task step 2}}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1605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{{Task step 3}}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9377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{{Bonus challenge (optional)}}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63840" y="178308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63840" y="19842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863840" y="2715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Timebox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30815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324612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63840" y="34472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863840" y="4178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size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4544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or trios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470916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63840" y="49103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{{link}}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863840" y="5641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files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6007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 / folder link}}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{{Advanced topic}}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when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1155680" cy="1143000"/>
          </a:xfrm>
          <a:prstGeom prst="roundRect">
            <a:avLst>
              <a:gd name="adj" fmla="val 96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240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{{Pattern / technique}}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2240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{{When to use it}}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0" y="2240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{{When to avoid it}}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1155680" cy="1143000"/>
          </a:xfrm>
          <a:prstGeom prst="roundRect">
            <a:avLst>
              <a:gd name="adj" fmla="val 96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35661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{{Pattern / technique}}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35661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{{When to use it}}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3566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{{When to avoid it}}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11155680" cy="1143000"/>
          </a:xfrm>
          <a:prstGeom prst="roundRect">
            <a:avLst>
              <a:gd name="adj" fmla="val 96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8920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{{Pattern / technique}}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48920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{{When to use it}}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892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{{When to avoid it}}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{{Mistakes almost everyone makes}}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FDE04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084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{{Mistake 1}}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4592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it happens}}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{{How to avoid it}}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29400" y="2148840"/>
            <a:ext cx="502920" cy="502920"/>
          </a:xfrm>
          <a:prstGeom prst="ellipse">
            <a:avLst/>
          </a:prstGeom>
          <a:solidFill>
            <a:srgbClr val="FDE047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0" y="2084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{{Mistake 2}}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it happens}}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0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{{How to avoid it}}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4251960"/>
            <a:ext cx="502920" cy="502920"/>
          </a:xfrm>
          <a:prstGeom prst="ellipse">
            <a:avLst/>
          </a:prstGeom>
          <a:solidFill>
            <a:srgbClr val="FDE047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45920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{{Mistake 3}}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45920" y="4709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it happens}}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5212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{{How to avoid it}}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29400" y="4251960"/>
            <a:ext cx="502920" cy="502920"/>
          </a:xfrm>
          <a:prstGeom prst="ellipse">
            <a:avLst/>
          </a:prstGeom>
          <a:solidFill>
            <a:srgbClr val="FDE047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15200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{{Mistake 4}}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15200" y="4709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it happens}}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5212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{{How to avoid it}}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{{Do this, not that}}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133641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{{Best practice 1}}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{{Best practice 2}}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206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{{Best practice 3}}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983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{{Best practice 4}}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0" y="178308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12280" y="2011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12280" y="2651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{{Anti-pattern 1}}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34290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{{Anti-pattern 2}}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2280" y="4206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{{Anti-pattern 3}}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12280" y="4983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{{Anti-pattern 4}}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{{Company / team}}: {{what changed}}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starting point and the constraint.}}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9456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94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83464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was actually done, step by step.}}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219456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194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283464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measured outcome: {{metric before}} → {{metric after}}.}}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{{Discussion prompt: what would you have done differently?}}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{{Capstone exercise title}}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 realistic scenario that combines modules 1-3. Describe the situation, the goal, and the constraints.}}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5029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{{Deliverable: what "done" looks like.}}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133641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2075688"/>
            <a:ext cx="310896" cy="310896"/>
          </a:xfrm>
          <a:prstGeom prst="rect">
            <a:avLst>
              <a:gd name="adj" fmla="val 14706"/>
            </a:avLst>
          </a:prstGeom>
          <a:solidFill>
            <a:srgbClr val="071A21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1920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{{Rubric criterion 1}}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288036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133641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75120" y="3172968"/>
            <a:ext cx="310896" cy="310896"/>
          </a:xfrm>
          <a:prstGeom prst="rect">
            <a:avLst>
              <a:gd name="adj" fmla="val 14706"/>
            </a:avLst>
          </a:prstGeom>
          <a:solidFill>
            <a:srgbClr val="071A21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3017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{{Rubric criterion 2}}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397764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133641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75120" y="4270248"/>
            <a:ext cx="310896" cy="310896"/>
          </a:xfrm>
          <a:prstGeom prst="rect">
            <a:avLst>
              <a:gd name="adj" fmla="val 14706"/>
            </a:avLst>
          </a:prstGeom>
          <a:solidFill>
            <a:srgbClr val="071A21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{{Rubric criterion 3}}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507492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133641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5367528"/>
            <a:ext cx="310896" cy="310896"/>
          </a:xfrm>
          <a:prstGeom prst="rect">
            <a:avLst>
              <a:gd name="adj" fmla="val 14706"/>
            </a:avLst>
          </a:prstGeom>
          <a:solidFill>
            <a:srgbClr val="071A21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5212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{{Rubric criterion 4}}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{{Quick quiz}}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315200" cy="1188720"/>
          </a:xfrm>
          <a:prstGeom prst="roundRect">
            <a:avLst>
              <a:gd name="adj" fmla="val 9231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21408"/>
            <a:ext cx="603504" cy="6035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199339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{{Question one}}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48716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{{A}} / {{B}} / {{C}}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7315200" cy="1188720"/>
          </a:xfrm>
          <a:prstGeom prst="roundRect">
            <a:avLst>
              <a:gd name="adj" fmla="val 9231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493008"/>
            <a:ext cx="603504" cy="6035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4930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336499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{{Question two}}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385876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7315200" cy="1188720"/>
          </a:xfrm>
          <a:prstGeom prst="roundRect">
            <a:avLst>
              <a:gd name="adj" fmla="val 9231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864608"/>
            <a:ext cx="603504" cy="6035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64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473659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{{Question three}}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523036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{{A}} / {{B}} / {{C}} / {{D}}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21040" y="1828800"/>
            <a:ext cx="3200400" cy="4114800"/>
          </a:xfrm>
          <a:prstGeom prst="roundRect">
            <a:avLst>
              <a:gd name="adj" fmla="val 3429"/>
            </a:avLst>
          </a:prstGeom>
          <a:solidFill>
            <a:srgbClr val="133641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9536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95360" y="251460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{{A1}}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{{A2}}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{{A3}}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after discussion.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 takeaways}}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16836" y="2240280"/>
            <a:ext cx="566928" cy="56692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16836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{{Takeaway 1}}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6576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single most important idea.}}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20156" y="2240280"/>
            <a:ext cx="566928" cy="566928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20156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{{Takeaway 2}}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6576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skill to practice this week.}}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23476" y="2240280"/>
            <a:ext cx="566928" cy="56692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23476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2104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{{Takeaway 3}}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66760" y="36576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resource to keep handy.}}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11155680" cy="1005840"/>
          </a:xfrm>
          <a:prstGeom prst="roundRect">
            <a:avLst>
              <a:gd name="adj" fmla="val 10909"/>
            </a:avLst>
          </a:prstGeom>
          <a:solidFill>
            <a:srgbClr val="133641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{{assignment}} · Due: {{date}} · Submit to: {{channel / email}}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22D3E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38BDF8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DE047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&amp; RESOURCES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{{Questions?}}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3383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&amp; materials: {{link}}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338328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3383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sheet: {{link}}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389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/ channel: {{link}}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4389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form: {{link}}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486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{{Name}} · {{email}}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Course Template</dc:title>
  <dc:subject>PptxGenJS Presentation</dc:subject>
  <dc:creator>WorkBuddy</dc:creator>
  <cp:lastModifiedBy>WorkBuddy</cp:lastModifiedBy>
  <cp:revision>1</cp:revision>
  <dcterms:created xsi:type="dcterms:W3CDTF">2026-10-28T09:30:47Z</dcterms:created>
  <dcterms:modified xsi:type="dcterms:W3CDTF">2026-10-28T09:30:47Z</dcterms:modified>
</cp:coreProperties>
</file>
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and welcome. Today, I'm excited to share with you the vision and strategy behind [Company Name]. We are on a mission to [Your Compelling Slogan / Value Proposition], and I believe the opportunity we're addressing is truly transformative. Let's dive 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the agenda for today. We'll start by exploring the market opportunity, then dive into our solution, business model, and market traction. We'll also introduce the team behind this vision and conclude with our future outlook and financial projections.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First, let's talk about the problem. Our target market, mid-sized retailers, are facing a significant challenge: fragmented customer data. This leads to inefficiencies, high costs, and missed opportunities. The current solutions available to them are often too expensive or complex, leaving a clear gap in the market.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stakes are incredibly high. The market is massive, and the financial and operational impact of inaction is significant. Businesses are losing billions annually, and their teams are bogged down by inefficiencies. This isn't just a small problem; it's a major pain point that demands a solution.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is where our solution comes in. [Product/Service Name] is an AI-powered platform that unifies customer data, empowering retailers to deliver hyper-personalized experiences. It works seamlessly with existing systems, automates complex tasks, and provides actionable insights. What sets us apart is our focus on simplicity, scalability, and affordability.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take a closer look at our product. Key features include a Unified Customer Profile, which gives a 360-degree view of each customer. Our AI-Powered Recommendations engine drives personalization, and our Automated Campaign Management tool simplifies marketing efforts. Each feature is designed to deliver clear, measurable benefits to our users.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business model is designed for sustainable growth. We primarily generate revenue through SaaS subscriptions with tiered pricing to suit different business sizes. We also offer professional services. Our unit economics are strong, with a healthy LTV to CAC ratio of 5:1, demonstrating a profitable and scalable model.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go-to-market strategy is multi-faceted. We target specific industries and company sizes, focusing on key decision makers. We use a mix of digital marketing, strategic partnerships, and a dedicated sales team to reach our customers. Our customer journey is designed to guide prospects from awareness to retention, ensuring a smooth and valuable experience.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have already demonstrated significant traction in the market. Our user and customer numbers are growing rapidly, and we've achieved strong ARR. Key milestones, from launching our MVP to securing funding, show our momentum. Most importantly, our customers are seeing real value, as evidenced by their testimonials.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None of this would be possible without our exceptional team. Our founders bring decades of experience in SaaS and AI, and our key team members have proven track records in their respective fields. We have the right expertise to execute on our vision and drive the company forward.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Looking ahead, we have ambitious but achievable goals. In the short term, we'll focus on product development, market expansion, and team growth. Our long-term vision is to become the market leader, expand into adjacent markets, and redefine the industry standard through continuous innovation.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financial projections reflect our confidence in the market opportunity and our ability to execute. We project strong revenue growth over the next three years, based on key assumptions around customer acquisition, ARPU, and churn. Any funds raised will be strategically allocated to fuel product development, sales, and team expansion.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So, to recap, we are addressing a massive market with a proven solution that delivers real ROI. We are looking for partners who share our vision to transform the industry. We invite you to join us on this exciting journey.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I'm now happy to answer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again for your attention. I look forward to connecting with you further. Please feel free to reach out using the contact information provided. Have a great day.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svg"/><Relationship Id="rId7" Type="http://schemas.openxmlformats.org/officeDocument/2006/relationships/image" Target="../media/image6.png"/><Relationship Id="rId6" Type="http://schemas.openxmlformats.org/officeDocument/2006/relationships/image" Target="../media/image2.svg"/><Relationship Id="rId5" Type="http://schemas.openxmlformats.org/officeDocument/2006/relationships/image" Target="../media/image5.png"/><Relationship Id="rId4" Type="http://schemas.openxmlformats.org/officeDocument/2006/relationships/image" Target="../media/image1.svg"/><Relationship Id="rId3" Type="http://schemas.openxmlformats.org/officeDocument/2006/relationships/image" Target="../media/image4.png"/><Relationship Id="rId2" Type="http://schemas.openxmlformats.org/officeDocument/2006/relationships/image" Target="../media/image3.jpe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5.svg"/><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7.png"/><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12.png"/><Relationship Id="rId7" Type="http://schemas.openxmlformats.org/officeDocument/2006/relationships/image" Target="../media/image8.svg"/><Relationship Id="rId6" Type="http://schemas.openxmlformats.org/officeDocument/2006/relationships/image" Target="../media/image11.png"/><Relationship Id="rId5" Type="http://schemas.openxmlformats.org/officeDocument/2006/relationships/image" Target="../media/image7.svg"/><Relationship Id="rId4" Type="http://schemas.openxmlformats.org/officeDocument/2006/relationships/image" Target="../media/image10.png"/><Relationship Id="rId3" Type="http://schemas.openxmlformats.org/officeDocument/2006/relationships/image" Target="../media/image6.svg"/><Relationship Id="rId2" Type="http://schemas.openxmlformats.org/officeDocument/2006/relationships/image" Target="../media/image9.png"/><Relationship Id="rId15" Type="http://schemas.openxmlformats.org/officeDocument/2006/relationships/notesSlide" Target="../notesSlides/notesSlide5.xml"/><Relationship Id="rId14" Type="http://schemas.openxmlformats.org/officeDocument/2006/relationships/slideLayout" Target="../slideLayouts/slideLayout12.xml"/><Relationship Id="rId13" Type="http://schemas.openxmlformats.org/officeDocument/2006/relationships/image" Target="../media/image10.svg"/><Relationship Id="rId12" Type="http://schemas.openxmlformats.org/officeDocument/2006/relationships/image" Target="../media/image13.png"/><Relationship Id="rId11" Type="http://schemas.openxmlformats.org/officeDocument/2006/relationships/image" Target="../media/image3.svg"/><Relationship Id="rId10" Type="http://schemas.openxmlformats.org/officeDocument/2006/relationships/image" Target="../media/image6.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16.png"/><Relationship Id="rId6" Type="http://schemas.openxmlformats.org/officeDocument/2006/relationships/image" Target="../media/image8.svg"/><Relationship Id="rId5" Type="http://schemas.openxmlformats.org/officeDocument/2006/relationships/image" Target="../media/image11.png"/><Relationship Id="rId4" Type="http://schemas.openxmlformats.org/officeDocument/2006/relationships/image" Target="../media/image11.svg"/><Relationship Id="rId3" Type="http://schemas.openxmlformats.org/officeDocument/2006/relationships/image" Target="../media/image15.png"/><Relationship Id="rId2" Type="http://schemas.openxmlformats.org/officeDocument/2006/relationships/image" Target="../media/image14.jpeg"/><Relationship Id="rId10" Type="http://schemas.openxmlformats.org/officeDocument/2006/relationships/notesSlide" Target="../notesSlides/notesSlide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3.svg"/><Relationship Id="rId7" Type="http://schemas.openxmlformats.org/officeDocument/2006/relationships/image" Target="../media/image6.png"/><Relationship Id="rId6" Type="http://schemas.openxmlformats.org/officeDocument/2006/relationships/image" Target="../media/image13.svg"/><Relationship Id="rId5" Type="http://schemas.openxmlformats.org/officeDocument/2006/relationships/image" Target="../media/image18.png"/><Relationship Id="rId4" Type="http://schemas.openxmlformats.org/officeDocument/2006/relationships/image" Target="../media/image4.svg"/><Relationship Id="rId3" Type="http://schemas.openxmlformats.org/officeDocument/2006/relationships/image" Target="../media/image7.png"/><Relationship Id="rId2" Type="http://schemas.openxmlformats.org/officeDocument/2006/relationships/image" Target="../media/image17.jpe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14.sv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svg"/><Relationship Id="rId7" Type="http://schemas.openxmlformats.org/officeDocument/2006/relationships/image" Target="../media/image23.png"/><Relationship Id="rId6" Type="http://schemas.openxmlformats.org/officeDocument/2006/relationships/image" Target="../media/image16.svg"/><Relationship Id="rId5" Type="http://schemas.openxmlformats.org/officeDocument/2006/relationships/image" Target="../media/image22.png"/><Relationship Id="rId4" Type="http://schemas.openxmlformats.org/officeDocument/2006/relationships/image" Target="../media/image15.svg"/><Relationship Id="rId3" Type="http://schemas.openxmlformats.org/officeDocument/2006/relationships/image" Target="../media/image21.png"/><Relationship Id="rId2" Type="http://schemas.openxmlformats.org/officeDocument/2006/relationships/image" Target="../media/image20.jpeg"/><Relationship Id="rId10" Type="http://schemas.openxmlformats.org/officeDocument/2006/relationships/notesSlide" Target="../notesSlides/notesSlide8.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26.png"/><Relationship Id="rId7" Type="http://schemas.openxmlformats.org/officeDocument/2006/relationships/image" Target="../media/image19.svg"/><Relationship Id="rId6" Type="http://schemas.openxmlformats.org/officeDocument/2006/relationships/image" Target="../media/image25.png"/><Relationship Id="rId5" Type="http://schemas.openxmlformats.org/officeDocument/2006/relationships/image" Target="../media/image2.svg"/><Relationship Id="rId4" Type="http://schemas.openxmlformats.org/officeDocument/2006/relationships/image" Target="../media/image5.png"/><Relationship Id="rId3" Type="http://schemas.openxmlformats.org/officeDocument/2006/relationships/image" Target="../media/image18.svg"/><Relationship Id="rId2" Type="http://schemas.openxmlformats.org/officeDocument/2006/relationships/image" Target="../media/image24.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svg"/><Relationship Id="rId7" Type="http://schemas.openxmlformats.org/officeDocument/2006/relationships/image" Target="../media/image6.png"/><Relationship Id="rId6" Type="http://schemas.openxmlformats.org/officeDocument/2006/relationships/image" Target="../media/image7.svg"/><Relationship Id="rId5" Type="http://schemas.openxmlformats.org/officeDocument/2006/relationships/image" Target="../media/image10.png"/><Relationship Id="rId4" Type="http://schemas.openxmlformats.org/officeDocument/2006/relationships/image" Target="../media/image11.svg"/><Relationship Id="rId3" Type="http://schemas.openxmlformats.org/officeDocument/2006/relationships/image" Target="../media/image15.png"/><Relationship Id="rId2" Type="http://schemas.openxmlformats.org/officeDocument/2006/relationships/image" Target="../media/image27.jpeg"/><Relationship Id="rId10" Type="http://schemas.openxmlformats.org/officeDocument/2006/relationships/notesSlide" Target="../notesSlides/notesSlide10.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22.svg"/><Relationship Id="rId8" Type="http://schemas.openxmlformats.org/officeDocument/2006/relationships/image" Target="../media/image29.png"/><Relationship Id="rId7" Type="http://schemas.openxmlformats.org/officeDocument/2006/relationships/image" Target="../media/image18.svg"/><Relationship Id="rId6" Type="http://schemas.openxmlformats.org/officeDocument/2006/relationships/image" Target="../media/image24.png"/><Relationship Id="rId5" Type="http://schemas.openxmlformats.org/officeDocument/2006/relationships/image" Target="../media/image3.svg"/><Relationship Id="rId4" Type="http://schemas.openxmlformats.org/officeDocument/2006/relationships/image" Target="../media/image6.png"/><Relationship Id="rId3" Type="http://schemas.openxmlformats.org/officeDocument/2006/relationships/image" Target="../media/image21.svg"/><Relationship Id="rId2" Type="http://schemas.openxmlformats.org/officeDocument/2006/relationships/image" Target="../media/image28.png"/><Relationship Id="rId15" Type="http://schemas.openxmlformats.org/officeDocument/2006/relationships/notesSlide" Target="../notesSlides/notesSlide11.xml"/><Relationship Id="rId14" Type="http://schemas.openxmlformats.org/officeDocument/2006/relationships/slideLayout" Target="../slideLayouts/slideLayout12.xml"/><Relationship Id="rId13" Type="http://schemas.openxmlformats.org/officeDocument/2006/relationships/image" Target="../media/image24.svg"/><Relationship Id="rId12" Type="http://schemas.openxmlformats.org/officeDocument/2006/relationships/image" Target="../media/image31.png"/><Relationship Id="rId11" Type="http://schemas.openxmlformats.org/officeDocument/2006/relationships/image" Target="../media/image23.svg"/><Relationship Id="rId10" Type="http://schemas.openxmlformats.org/officeDocument/2006/relationships/image" Target="../media/image30.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image" Target="../media/image10.svg"/><Relationship Id="rId6" Type="http://schemas.openxmlformats.org/officeDocument/2006/relationships/image" Target="../media/image13.png"/><Relationship Id="rId5" Type="http://schemas.openxmlformats.org/officeDocument/2006/relationships/image" Target="../media/image25.svg"/><Relationship Id="rId4" Type="http://schemas.openxmlformats.org/officeDocument/2006/relationships/image" Target="../media/image32.png"/><Relationship Id="rId3"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7.svg"/><Relationship Id="rId7" Type="http://schemas.openxmlformats.org/officeDocument/2006/relationships/image" Target="../media/image35.png"/><Relationship Id="rId6" Type="http://schemas.openxmlformats.org/officeDocument/2006/relationships/image" Target="../media/image26.svg"/><Relationship Id="rId5" Type="http://schemas.openxmlformats.org/officeDocument/2006/relationships/image" Target="../media/image34.png"/><Relationship Id="rId4" Type="http://schemas.openxmlformats.org/officeDocument/2006/relationships/image" Target="../media/image3.svg"/><Relationship Id="rId3" Type="http://schemas.openxmlformats.org/officeDocument/2006/relationships/image" Target="../media/image6.png"/><Relationship Id="rId2" Type="http://schemas.openxmlformats.org/officeDocument/2006/relationships/image" Target="../media/image33.jpeg"/><Relationship Id="rId10" Type="http://schemas.openxmlformats.org/officeDocument/2006/relationships/notesSlide" Target="../notesSlides/notesSlide13.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30.svg"/><Relationship Id="rId6" Type="http://schemas.openxmlformats.org/officeDocument/2006/relationships/image" Target="../media/image39.png"/><Relationship Id="rId5" Type="http://schemas.openxmlformats.org/officeDocument/2006/relationships/image" Target="../media/image29.svg"/><Relationship Id="rId4" Type="http://schemas.openxmlformats.org/officeDocument/2006/relationships/image" Target="../media/image38.png"/><Relationship Id="rId3" Type="http://schemas.openxmlformats.org/officeDocument/2006/relationships/image" Target="../media/image28.svg"/><Relationship Id="rId2" Type="http://schemas.openxmlformats.org/officeDocument/2006/relationships/image" Target="../media/image37.png"/><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Poppins"/>
                <a:ea typeface="Poppins"/>
                <a:cs typeface="Poppins"/>
                <a:sym typeface="Poppins"/>
              </a:rPr>
              <a:t>[Company Name]</a:t>
            </a:r>
            <a:endParaRPr lang="en-US" sz="1100"/>
          </a:p>
        </p:txBody>
      </p:sp>
      <p:sp>
        <p:nvSpPr>
          <p:cNvPr id="4" name="AutoShape 4"/>
          <p:cNvSpPr/>
          <p:nvPr/>
        </p:nvSpPr>
        <p:spPr>
          <a:xfrm>
            <a:off x="1016000" y="3302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3810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a:solidFill>
                  <a:srgbClr val="FFFFFF">
                    <a:alpha val="90196"/>
                  </a:srgbClr>
                </a:solidFill>
                <a:latin typeface="Poppins"/>
                <a:ea typeface="Poppins"/>
                <a:cs typeface="Poppins"/>
                <a:sym typeface="Poppins"/>
              </a:rPr>
              <a:t>[Your Compelling Slogan / Value Proposition]</a:t>
            </a:r>
            <a:endParaRPr lang="en-US" sz="1100"/>
          </a:p>
        </p:txBody>
      </p:sp>
      <p:cxnSp>
        <p:nvCxnSpPr>
          <p:cNvPr id="6" name="Connector 6"/>
          <p:cNvCxnSpPr/>
          <p:nvPr/>
        </p:nvCxnSpPr>
        <p:spPr>
          <a:xfrm rot="-4297">
            <a:off x="1016004" y="5581650"/>
            <a:ext cx="10160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7" name="AutoShape 7"/>
          <p:cNvSpPr/>
          <p:nvPr/>
        </p:nvSpPr>
        <p:spPr>
          <a:xfrm>
            <a:off x="1016000" y="57785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0000"/>
                  </a:srgbClr>
                </a:solidFill>
                <a:latin typeface="Poppins"/>
                <a:ea typeface="Poppins"/>
                <a:cs typeface="Poppins"/>
                <a:sym typeface="Poppins"/>
              </a:rPr>
              <a:t>Date: June 19, 2026</a:t>
            </a:r>
            <a:endParaRPr lang="en-US" sz="1100"/>
          </a:p>
        </p:txBody>
      </p:sp>
      <p:sp>
        <p:nvSpPr>
          <p:cNvPr id="8" name="AutoShape 8"/>
          <p:cNvSpPr/>
          <p:nvPr/>
        </p:nvSpPr>
        <p:spPr>
          <a:xfrm>
            <a:off x="6604000" y="5778500"/>
            <a:ext cx="4572000" cy="508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600" b="1" i="0" u="none" strike="noStrike">
                <a:solidFill>
                  <a:srgbClr val="FFFFFF"/>
                </a:solidFill>
                <a:latin typeface="Poppins"/>
                <a:ea typeface="Poppins"/>
                <a:cs typeface="Poppins"/>
                <a:sym typeface="Poppins"/>
              </a:rPr>
              <a:t>[Company Logo]</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Agenda</a:t>
            </a:r>
            <a:endParaRPr lang="en-US" sz="1100"/>
          </a:p>
        </p:txBody>
      </p:sp>
      <p:sp>
        <p:nvSpPr>
          <p:cNvPr id="4" name="AutoShape 4"/>
          <p:cNvSpPr/>
          <p:nvPr/>
        </p:nvSpPr>
        <p:spPr>
          <a:xfrm>
            <a:off x="762000" y="1270000"/>
            <a:ext cx="10668000" cy="25400"/>
          </a:xfrm>
          <a:prstGeom prst="roundRect">
            <a:avLst>
              <a:gd name="adj" fmla="val 0"/>
            </a:avLst>
          </a:prstGeom>
          <a:solidFill>
            <a:srgbClr val="004D40">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778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1879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01. The Opportunity</a:t>
            </a:r>
            <a:endParaRPr lang="en-US" sz="1100"/>
          </a:p>
        </p:txBody>
      </p:sp>
      <p:cxnSp>
        <p:nvCxnSpPr>
          <p:cNvPr id="8" name="Connector 8"/>
          <p:cNvCxnSpPr/>
          <p:nvPr/>
        </p:nvCxnSpPr>
        <p:spPr>
          <a:xfrm rot="-9291">
            <a:off x="1016009" y="23431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9" name="AutoShape 9"/>
          <p:cNvSpPr/>
          <p:nvPr/>
        </p:nvSpPr>
        <p:spPr>
          <a:xfrm>
            <a:off x="1016000" y="2438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Understanding the market landscape and unmet needs to identify the critical gaps our venture aims to fill.</a:t>
            </a:r>
            <a:endParaRPr lang="en-US" sz="1100"/>
          </a:p>
        </p:txBody>
      </p:sp>
      <p:sp>
        <p:nvSpPr>
          <p:cNvPr id="10" name="AutoShape 10"/>
          <p:cNvSpPr/>
          <p:nvPr/>
        </p:nvSpPr>
        <p:spPr>
          <a:xfrm>
            <a:off x="762000" y="33655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62000" y="33655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4671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02. Our Solution</a:t>
            </a:r>
            <a:endParaRPr lang="en-US" sz="1100"/>
          </a:p>
        </p:txBody>
      </p:sp>
      <p:cxnSp>
        <p:nvCxnSpPr>
          <p:cNvPr id="13" name="Connector 13"/>
          <p:cNvCxnSpPr/>
          <p:nvPr/>
        </p:nvCxnSpPr>
        <p:spPr>
          <a:xfrm rot="-9291">
            <a:off x="1016009" y="39306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14" name="AutoShape 14"/>
          <p:cNvSpPr/>
          <p:nvPr/>
        </p:nvSpPr>
        <p:spPr>
          <a:xfrm>
            <a:off x="1016000" y="40259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An in-depth look at how we address the core challenges with innovative products and services tailored for the modern market.</a:t>
            </a:r>
            <a:endParaRPr lang="en-US" sz="1100"/>
          </a:p>
        </p:txBody>
      </p:sp>
      <p:sp>
        <p:nvSpPr>
          <p:cNvPr id="15" name="AutoShape 15"/>
          <p:cNvSpPr/>
          <p:nvPr/>
        </p:nvSpPr>
        <p:spPr>
          <a:xfrm>
            <a:off x="762000" y="4953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953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054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03. Business Model</a:t>
            </a:r>
            <a:endParaRPr lang="en-US" sz="1100"/>
          </a:p>
        </p:txBody>
      </p:sp>
      <p:cxnSp>
        <p:nvCxnSpPr>
          <p:cNvPr id="18" name="Connector 18"/>
          <p:cNvCxnSpPr/>
          <p:nvPr/>
        </p:nvCxnSpPr>
        <p:spPr>
          <a:xfrm rot="-9291">
            <a:off x="1016009" y="55181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19" name="AutoShape 19"/>
          <p:cNvSpPr/>
          <p:nvPr/>
        </p:nvSpPr>
        <p:spPr>
          <a:xfrm>
            <a:off x="1016000" y="5613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Our robust strategy for sustainable growth, revenue generation, and long-term profitability in a competitive landscape.</a:t>
            </a:r>
            <a:endParaRPr lang="en-US" sz="1100"/>
          </a:p>
        </p:txBody>
      </p:sp>
      <p:sp>
        <p:nvSpPr>
          <p:cNvPr id="20" name="AutoShape 20"/>
          <p:cNvSpPr/>
          <p:nvPr/>
        </p:nvSpPr>
        <p:spPr>
          <a:xfrm>
            <a:off x="6350000" y="1778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1778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604000" y="1879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04. Market Traction</a:t>
            </a:r>
            <a:endParaRPr lang="en-US" sz="1100"/>
          </a:p>
        </p:txBody>
      </p:sp>
      <p:cxnSp>
        <p:nvCxnSpPr>
          <p:cNvPr id="23" name="Connector 23"/>
          <p:cNvCxnSpPr/>
          <p:nvPr/>
        </p:nvCxnSpPr>
        <p:spPr>
          <a:xfrm rot="-9291">
            <a:off x="6604009" y="23431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24" name="AutoShape 24"/>
          <p:cNvSpPr/>
          <p:nvPr/>
        </p:nvSpPr>
        <p:spPr>
          <a:xfrm>
            <a:off x="6604000" y="2438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Showcasing demonstrated success, key milestones achieved, customer feedback, and initial market penetration results.</a:t>
            </a:r>
            <a:endParaRPr lang="en-US" sz="1100"/>
          </a:p>
        </p:txBody>
      </p:sp>
      <p:sp>
        <p:nvSpPr>
          <p:cNvPr id="25" name="AutoShape 25"/>
          <p:cNvSpPr/>
          <p:nvPr/>
        </p:nvSpPr>
        <p:spPr>
          <a:xfrm>
            <a:off x="6350000" y="33655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0" y="33655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604000" y="34671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05. The Team</a:t>
            </a:r>
            <a:endParaRPr lang="en-US" sz="1100"/>
          </a:p>
        </p:txBody>
      </p:sp>
      <p:cxnSp>
        <p:nvCxnSpPr>
          <p:cNvPr id="28" name="Connector 28"/>
          <p:cNvCxnSpPr/>
          <p:nvPr/>
        </p:nvCxnSpPr>
        <p:spPr>
          <a:xfrm rot="-9291">
            <a:off x="6604009" y="39306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29" name="AutoShape 29"/>
          <p:cNvSpPr/>
          <p:nvPr/>
        </p:nvSpPr>
        <p:spPr>
          <a:xfrm>
            <a:off x="6604000" y="40259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Introducing the visionary leaders and industry experts with the diverse skill set and experience driving our mission forward.</a:t>
            </a:r>
            <a:endParaRPr lang="en-US" sz="1100"/>
          </a:p>
        </p:txBody>
      </p:sp>
      <p:sp>
        <p:nvSpPr>
          <p:cNvPr id="30" name="AutoShape 30"/>
          <p:cNvSpPr/>
          <p:nvPr/>
        </p:nvSpPr>
        <p:spPr>
          <a:xfrm>
            <a:off x="6350000" y="4953000"/>
            <a:ext cx="5207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350000" y="4953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6604000" y="5054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06. Future Outlook</a:t>
            </a:r>
            <a:endParaRPr lang="en-US" sz="1100"/>
          </a:p>
        </p:txBody>
      </p:sp>
      <p:cxnSp>
        <p:nvCxnSpPr>
          <p:cNvPr id="33" name="Connector 33"/>
          <p:cNvCxnSpPr/>
          <p:nvPr/>
        </p:nvCxnSpPr>
        <p:spPr>
          <a:xfrm rot="-9291">
            <a:off x="6604009" y="5518150"/>
            <a:ext cx="4699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34" name="AutoShape 34"/>
          <p:cNvSpPr/>
          <p:nvPr/>
        </p:nvSpPr>
        <p:spPr>
          <a:xfrm>
            <a:off x="6604000" y="56134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A strategic roadmap outlining our expansion plans, upcoming milestones, and financial projections for the next three years.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The Problem: Mid-sized Retailers are Facing Fragmented Customer Data</a:t>
            </a:r>
            <a:endParaRPr lang="en-US" sz="1100"/>
          </a:p>
        </p:txBody>
      </p:sp>
      <p:pic>
        <p:nvPicPr>
          <p:cNvPr id="4" name="Picture 4"/>
          <p:cNvPicPr>
            <a:picLocks noChangeAspect="1"/>
          </p:cNvPicPr>
          <p:nvPr/>
        </p:nvPicPr>
        <p:blipFill>
          <a:blip r:embed="rId2"/>
          <a:srcRect b="8655"/>
          <a:stretch>
            <a:fillRect/>
          </a:stretch>
        </p:blipFill>
        <p:spPr>
          <a:xfrm>
            <a:off x="762000" y="1778000"/>
            <a:ext cx="4572000" cy="2794000"/>
          </a:xfrm>
          <a:prstGeom prst="rect">
            <a:avLst/>
          </a:prstGeom>
          <a:noFill/>
          <a:ln w="25400" cap="flat" cmpd="sng">
            <a:noFill/>
            <a:prstDash val="solid"/>
            <a:round/>
          </a:ln>
        </p:spPr>
      </p:pic>
      <p:sp>
        <p:nvSpPr>
          <p:cNvPr id="5" name="AutoShape 5"/>
          <p:cNvSpPr/>
          <p:nvPr/>
        </p:nvSpPr>
        <p:spPr>
          <a:xfrm>
            <a:off x="762000" y="5080000"/>
            <a:ext cx="4572000" cy="1397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5207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4D40"/>
                </a:solidFill>
                <a:latin typeface="Poppins"/>
                <a:ea typeface="Poppins"/>
                <a:cs typeface="Poppins"/>
                <a:sym typeface="Poppins"/>
              </a:rPr>
              <a:t>“Current solutions are either too expensive, too complex, or simply ineffective.”</a:t>
            </a:r>
            <a:br>
              <a:rPr lang="en-US" sz="1600" b="0" i="0" u="none" strike="noStrike">
                <a:solidFill>
                  <a:srgbClr val="1F2329"/>
                </a:solidFill>
                <a:latin typeface="Poppins"/>
                <a:ea typeface="Poppins"/>
                <a:cs typeface="Poppins"/>
                <a:sym typeface="Poppins"/>
              </a:rPr>
            </a:br>
            <a:r>
              <a:rPr lang="en-US" sz="1300" b="0" i="0" u="none" strike="noStrike">
                <a:solidFill>
                  <a:srgbClr val="4B5563"/>
                </a:solidFill>
                <a:latin typeface="Poppins"/>
                <a:ea typeface="Poppins"/>
                <a:cs typeface="Poppins"/>
                <a:sym typeface="Poppins"/>
              </a:rPr>
              <a:t>— The Status Quo for Mid-Sized Retailers</a:t>
            </a:r>
            <a:endParaRPr lang="en-US" sz="1100"/>
          </a:p>
        </p:txBody>
      </p:sp>
      <p:cxnSp>
        <p:nvCxnSpPr>
          <p:cNvPr id="7" name="Connector 7"/>
          <p:cNvCxnSpPr/>
          <p:nvPr/>
        </p:nvCxnSpPr>
        <p:spPr>
          <a:xfrm rot="5390450">
            <a:off x="3556000" y="4057659"/>
            <a:ext cx="4572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8" name="AutoShape 8"/>
          <p:cNvSpPr/>
          <p:nvPr/>
        </p:nvSpPr>
        <p:spPr>
          <a:xfrm>
            <a:off x="6096000" y="1778000"/>
            <a:ext cx="5461000" cy="11430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905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Core Issue: Data Silos Cripple Growth</a:t>
            </a:r>
            <a:endParaRPr lang="en-US" sz="1100"/>
          </a:p>
          <a:p>
            <a:pPr marL="0" indent="0" algn="l">
              <a:lnSpc>
                <a:spcPct val="108000"/>
              </a:lnSpc>
            </a:pPr>
            <a:r>
              <a:rPr lang="en-US" sz="1300" b="0" i="0" u="none" strike="noStrike">
                <a:solidFill>
                  <a:srgbClr val="374151"/>
                </a:solidFill>
                <a:latin typeface="Poppins"/>
                <a:ea typeface="Poppins"/>
                <a:cs typeface="Poppins"/>
                <a:sym typeface="Poppins"/>
              </a:rPr>
              <a:t>Mid-sized retailers are drowning in disconnected customer information, leading to impersonal experiences, inconsistent service, and ultimately, significant revenue leakage from disengaged shoppers.</a:t>
            </a:r>
            <a:endParaRPr lang="en-US" sz="1300" b="0" i="0" u="none" strike="noStrike">
              <a:solidFill>
                <a:srgbClr val="374151"/>
              </a:solidFill>
              <a:latin typeface="Poppins"/>
              <a:ea typeface="Poppins"/>
              <a:cs typeface="Poppins"/>
              <a:sym typeface="Poppins"/>
            </a:endParaRPr>
          </a:p>
        </p:txBody>
      </p:sp>
      <p:sp>
        <p:nvSpPr>
          <p:cNvPr id="10" name="AutoShape 10"/>
          <p:cNvSpPr/>
          <p:nvPr/>
        </p:nvSpPr>
        <p:spPr>
          <a:xfrm>
            <a:off x="6096000" y="3302000"/>
            <a:ext cx="5461000" cy="82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3530600"/>
            <a:ext cx="355600" cy="355600"/>
          </a:xfrm>
          <a:prstGeom prst="rect">
            <a:avLst/>
          </a:prstGeom>
        </p:spPr>
      </p:pic>
      <p:sp>
        <p:nvSpPr>
          <p:cNvPr id="12" name="AutoShape 12"/>
          <p:cNvSpPr/>
          <p:nvPr/>
        </p:nvSpPr>
        <p:spPr>
          <a:xfrm>
            <a:off x="6731000" y="3365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Poppins"/>
                <a:ea typeface="Poppins"/>
                <a:cs typeface="Poppins"/>
                <a:sym typeface="Poppins"/>
              </a:rPr>
              <a:t>Operational Inefficiency</a:t>
            </a:r>
            <a:endParaRPr lang="en-US" sz="1100"/>
          </a:p>
          <a:p>
            <a:pPr marL="0" indent="0" algn="l">
              <a:lnSpc>
                <a:spcPct val="125000"/>
              </a:lnSpc>
            </a:pPr>
            <a:r>
              <a:rPr lang="en-US" sz="1200" b="0" i="0" u="none" strike="noStrike">
                <a:solidFill>
                  <a:srgbClr val="4B5563"/>
                </a:solidFill>
                <a:latin typeface="Poppins"/>
                <a:ea typeface="Poppins"/>
                <a:cs typeface="Poppins"/>
                <a:sym typeface="Poppins"/>
              </a:rPr>
              <a:t>Manual, disjointed processes for onboarding and inventory management waste valuable employee time and create bottlenecks.</a:t>
            </a:r>
            <a:endParaRPr lang="en-US" sz="1200" b="0" i="0" u="none" strike="noStrike">
              <a:solidFill>
                <a:srgbClr val="4B5563"/>
              </a:solidFill>
              <a:latin typeface="Poppins"/>
              <a:ea typeface="Poppins"/>
              <a:cs typeface="Poppins"/>
              <a:sym typeface="Poppins"/>
            </a:endParaRPr>
          </a:p>
        </p:txBody>
      </p:sp>
      <p:sp>
        <p:nvSpPr>
          <p:cNvPr id="13" name="AutoShape 13"/>
          <p:cNvSpPr/>
          <p:nvPr/>
        </p:nvSpPr>
        <p:spPr>
          <a:xfrm>
            <a:off x="6096000" y="4318000"/>
            <a:ext cx="5461000" cy="82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4546600"/>
            <a:ext cx="355600" cy="355600"/>
          </a:xfrm>
          <a:prstGeom prst="rect">
            <a:avLst/>
          </a:prstGeom>
        </p:spPr>
      </p:pic>
      <p:sp>
        <p:nvSpPr>
          <p:cNvPr id="15" name="AutoShape 15"/>
          <p:cNvSpPr/>
          <p:nvPr/>
        </p:nvSpPr>
        <p:spPr>
          <a:xfrm>
            <a:off x="6731000" y="4381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Poppins"/>
                <a:ea typeface="Poppins"/>
                <a:cs typeface="Poppins"/>
                <a:sym typeface="Poppins"/>
              </a:rPr>
              <a:t>Prohibitive Costs &amp; Legacy Tech</a:t>
            </a:r>
            <a:endParaRPr lang="en-US" sz="1100"/>
          </a:p>
          <a:p>
            <a:pPr marL="0" indent="0" algn="l">
              <a:lnSpc>
                <a:spcPct val="125000"/>
              </a:lnSpc>
            </a:pPr>
            <a:r>
              <a:rPr lang="en-US" sz="1200" b="0" i="0" u="none" strike="noStrike">
                <a:solidFill>
                  <a:srgbClr val="4B5563"/>
                </a:solidFill>
                <a:latin typeface="Poppins"/>
                <a:ea typeface="Poppins"/>
                <a:cs typeface="Poppins"/>
                <a:sym typeface="Poppins"/>
              </a:rPr>
              <a:t>Reliance on outdated software and manual labor drives up overheads, with no clear ROI for small to medium budgets.</a:t>
            </a:r>
            <a:endParaRPr lang="en-US" sz="1200" b="0" i="0" u="none" strike="noStrike">
              <a:solidFill>
                <a:srgbClr val="4B5563"/>
              </a:solidFill>
              <a:latin typeface="Poppins"/>
              <a:ea typeface="Poppins"/>
              <a:cs typeface="Poppins"/>
              <a:sym typeface="Poppins"/>
            </a:endParaRPr>
          </a:p>
        </p:txBody>
      </p:sp>
      <p:sp>
        <p:nvSpPr>
          <p:cNvPr id="16" name="AutoShape 16"/>
          <p:cNvSpPr/>
          <p:nvPr/>
        </p:nvSpPr>
        <p:spPr>
          <a:xfrm>
            <a:off x="6096000" y="5334000"/>
            <a:ext cx="5461000" cy="825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5562600"/>
            <a:ext cx="355600" cy="355600"/>
          </a:xfrm>
          <a:prstGeom prst="rect">
            <a:avLst/>
          </a:prstGeom>
        </p:spPr>
      </p:pic>
      <p:sp>
        <p:nvSpPr>
          <p:cNvPr id="18" name="AutoShape 18"/>
          <p:cNvSpPr/>
          <p:nvPr/>
        </p:nvSpPr>
        <p:spPr>
          <a:xfrm>
            <a:off x="6731000" y="5397500"/>
            <a:ext cx="469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Poppins"/>
                <a:ea typeface="Poppins"/>
                <a:cs typeface="Poppins"/>
                <a:sym typeface="Poppins"/>
              </a:rPr>
              <a:t>Missed Opportunities for Growth</a:t>
            </a:r>
            <a:endParaRPr lang="en-US" sz="1100"/>
          </a:p>
          <a:p>
            <a:pPr marL="0" indent="0" algn="l">
              <a:lnSpc>
                <a:spcPct val="125000"/>
              </a:lnSpc>
            </a:pPr>
            <a:r>
              <a:rPr lang="en-US" sz="1200" b="0" i="0" u="none" strike="noStrike">
                <a:solidFill>
                  <a:srgbClr val="4B5563"/>
                </a:solidFill>
                <a:latin typeface="Poppins"/>
                <a:ea typeface="Poppins"/>
                <a:cs typeface="Poppins"/>
                <a:sym typeface="Poppins"/>
              </a:rPr>
              <a:t>Without real-time analytics and scalable infrastructure, retailers fail to capitalize on trends and customer insights.</a:t>
            </a:r>
            <a:endParaRPr lang="en-US" sz="1200" b="0" i="0" u="none" strike="noStrike">
              <a:solidFill>
                <a:srgbClr val="4B5563"/>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The Stakes Are High: The Cost of Inaction</a:t>
            </a:r>
            <a:endParaRPr lang="en-US" sz="1100"/>
          </a:p>
        </p:txBody>
      </p:sp>
      <p:sp>
        <p:nvSpPr>
          <p:cNvPr id="4" name="AutoShape 4"/>
          <p:cNvSpPr/>
          <p:nvPr/>
        </p:nvSpPr>
        <p:spPr>
          <a:xfrm>
            <a:off x="762000" y="1905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33782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09800"/>
            <a:ext cx="406400" cy="406400"/>
          </a:xfrm>
          <a:prstGeom prst="rect">
            <a:avLst/>
          </a:prstGeom>
        </p:spPr>
      </p:pic>
      <p:sp>
        <p:nvSpPr>
          <p:cNvPr id="7" name="AutoShape 7"/>
          <p:cNvSpPr/>
          <p:nvPr/>
        </p:nvSpPr>
        <p:spPr>
          <a:xfrm>
            <a:off x="15240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Market Size</a:t>
            </a:r>
            <a:endParaRPr lang="en-US" sz="1100"/>
          </a:p>
        </p:txBody>
      </p:sp>
      <p:cxnSp>
        <p:nvCxnSpPr>
          <p:cNvPr id="8" name="Connector 8"/>
          <p:cNvCxnSpPr/>
          <p:nvPr/>
        </p:nvCxnSpPr>
        <p:spPr>
          <a:xfrm rot="-15211">
            <a:off x="1016014" y="2914650"/>
            <a:ext cx="28702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9" name="AutoShape 9"/>
          <p:cNvSpPr/>
          <p:nvPr/>
        </p:nvSpPr>
        <p:spPr>
          <a:xfrm>
            <a:off x="1016000" y="3175000"/>
            <a:ext cx="2870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The global retail technology market is valued at</a:t>
            </a:r>
            <a:r>
              <a:rPr lang="en-US" sz="1400" b="1" i="0" u="none" strike="noStrike">
                <a:solidFill>
                  <a:srgbClr val="004D40"/>
                </a:solidFill>
                <a:latin typeface="Poppins"/>
                <a:ea typeface="Poppins"/>
                <a:cs typeface="Poppins"/>
                <a:sym typeface="Poppins"/>
              </a:rPr>
              <a:t>$XX billion</a:t>
            </a:r>
            <a:r>
              <a:rPr lang="en-US" sz="1400" b="0" i="0" u="none" strike="noStrike">
                <a:solidFill>
                  <a:srgbClr val="374151"/>
                </a:solidFill>
                <a:latin typeface="Poppins"/>
                <a:ea typeface="Poppins"/>
                <a:cs typeface="Poppins"/>
                <a:sym typeface="Poppins"/>
              </a:rPr>
              <a:t>and is experiencing robust growth at a CAGR of</a:t>
            </a:r>
            <a:r>
              <a:rPr lang="en-US" sz="1400" b="1" i="0" u="none" strike="noStrike">
                <a:solidFill>
                  <a:srgbClr val="004D40"/>
                </a:solidFill>
                <a:latin typeface="Poppins"/>
                <a:ea typeface="Poppins"/>
                <a:cs typeface="Poppins"/>
                <a:sym typeface="Poppins"/>
              </a:rPr>
              <a:t>YY%</a:t>
            </a:r>
            <a:r>
              <a:rPr lang="en-US" sz="1400" b="0" i="0" u="none" strike="noStrike">
                <a:solidFill>
                  <a:srgbClr val="374151"/>
                </a:solidFill>
                <a:latin typeface="Poppins"/>
                <a:ea typeface="Poppins"/>
                <a:cs typeface="Poppins"/>
                <a:sym typeface="Poppins"/>
              </a:rPr>
              <a:t>. This rapid expansion underscores the urgency for businesses to adapt or risk falling behind in a hyper-competitive landscape.</a:t>
            </a:r>
            <a:endParaRPr lang="en-US" sz="1100"/>
          </a:p>
        </p:txBody>
      </p:sp>
      <p:sp>
        <p:nvSpPr>
          <p:cNvPr id="10" name="AutoShape 10"/>
          <p:cNvSpPr/>
          <p:nvPr/>
        </p:nvSpPr>
        <p:spPr>
          <a:xfrm>
            <a:off x="4406900" y="1905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06900" y="1905000"/>
            <a:ext cx="33782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209800"/>
            <a:ext cx="406400" cy="406400"/>
          </a:xfrm>
          <a:prstGeom prst="rect">
            <a:avLst/>
          </a:prstGeom>
        </p:spPr>
      </p:pic>
      <p:sp>
        <p:nvSpPr>
          <p:cNvPr id="13" name="AutoShape 13"/>
          <p:cNvSpPr/>
          <p:nvPr/>
        </p:nvSpPr>
        <p:spPr>
          <a:xfrm>
            <a:off x="51689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Financial Impact</a:t>
            </a:r>
            <a:endParaRPr lang="en-US" sz="1100"/>
          </a:p>
        </p:txBody>
      </p:sp>
      <p:cxnSp>
        <p:nvCxnSpPr>
          <p:cNvPr id="14" name="Connector 14"/>
          <p:cNvCxnSpPr/>
          <p:nvPr/>
        </p:nvCxnSpPr>
        <p:spPr>
          <a:xfrm rot="-15211">
            <a:off x="4660914" y="2914650"/>
            <a:ext cx="28702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15" name="AutoShape 15"/>
          <p:cNvSpPr/>
          <p:nvPr/>
        </p:nvSpPr>
        <p:spPr>
          <a:xfrm>
            <a:off x="4660900" y="3175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Businesses lose an estimated</a:t>
            </a:r>
            <a:r>
              <a:rPr lang="en-US" sz="1400" b="1" i="0" u="none" strike="noStrike">
                <a:solidFill>
                  <a:srgbClr val="004D40"/>
                </a:solidFill>
                <a:latin typeface="Poppins"/>
                <a:ea typeface="Poppins"/>
                <a:cs typeface="Poppins"/>
                <a:sym typeface="Poppins"/>
              </a:rPr>
              <a:t>$ZZ billion annually</a:t>
            </a:r>
            <a:r>
              <a:rPr lang="en-US" sz="1400" b="0" i="0" u="none" strike="noStrike">
                <a:solidFill>
                  <a:srgbClr val="374151"/>
                </a:solidFill>
                <a:latin typeface="Poppins"/>
                <a:ea typeface="Poppins"/>
                <a:cs typeface="Poppins"/>
                <a:sym typeface="Poppins"/>
              </a:rPr>
              <a:t>due to fragmented and poor customer data management, leading to missed opportunities and revenue leakage.</a:t>
            </a:r>
            <a:endParaRPr lang="en-US" sz="1100"/>
          </a:p>
        </p:txBody>
      </p:sp>
      <p:cxnSp>
        <p:nvCxnSpPr>
          <p:cNvPr id="16" name="Connector 16"/>
          <p:cNvCxnSpPr/>
          <p:nvPr/>
        </p:nvCxnSpPr>
        <p:spPr>
          <a:xfrm rot="-15211">
            <a:off x="4660914" y="4311650"/>
            <a:ext cx="2870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7" name="AutoShape 17"/>
          <p:cNvSpPr/>
          <p:nvPr/>
        </p:nvSpPr>
        <p:spPr>
          <a:xfrm>
            <a:off x="4660900" y="45085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The average retailer spends</a:t>
            </a:r>
            <a:r>
              <a:rPr lang="en-US" sz="1400" b="1" i="0" u="none" strike="noStrike">
                <a:solidFill>
                  <a:srgbClr val="004D40"/>
                </a:solidFill>
                <a:latin typeface="Poppins"/>
                <a:ea typeface="Poppins"/>
                <a:cs typeface="Poppins"/>
                <a:sym typeface="Poppins"/>
              </a:rPr>
              <a:t>$AA per year</a:t>
            </a:r>
            <a:r>
              <a:rPr lang="en-US" sz="1400" b="0" i="0" u="none" strike="noStrike">
                <a:solidFill>
                  <a:srgbClr val="374151"/>
                </a:solidFill>
                <a:latin typeface="Poppins"/>
                <a:ea typeface="Poppins"/>
                <a:cs typeface="Poppins"/>
                <a:sym typeface="Poppins"/>
              </a:rPr>
              <a:t>on inefficient manual processes, draining resources that could be invested in innovation and growth.</a:t>
            </a:r>
            <a:endParaRPr lang="en-US" sz="1100"/>
          </a:p>
        </p:txBody>
      </p:sp>
      <p:sp>
        <p:nvSpPr>
          <p:cNvPr id="18" name="AutoShape 18"/>
          <p:cNvSpPr/>
          <p:nvPr/>
        </p:nvSpPr>
        <p:spPr>
          <a:xfrm>
            <a:off x="8051800" y="1905000"/>
            <a:ext cx="3378200" cy="355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51800" y="1905000"/>
            <a:ext cx="33782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209800"/>
            <a:ext cx="406400" cy="406400"/>
          </a:xfrm>
          <a:prstGeom prst="rect">
            <a:avLst/>
          </a:prstGeom>
        </p:spPr>
      </p:pic>
      <p:sp>
        <p:nvSpPr>
          <p:cNvPr id="21" name="AutoShape 21"/>
          <p:cNvSpPr/>
          <p:nvPr/>
        </p:nvSpPr>
        <p:spPr>
          <a:xfrm>
            <a:off x="8813800" y="2184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Operational Impact</a:t>
            </a:r>
            <a:endParaRPr lang="en-US" sz="1100"/>
          </a:p>
        </p:txBody>
      </p:sp>
      <p:cxnSp>
        <p:nvCxnSpPr>
          <p:cNvPr id="22" name="Connector 22"/>
          <p:cNvCxnSpPr/>
          <p:nvPr/>
        </p:nvCxnSpPr>
        <p:spPr>
          <a:xfrm rot="-15211">
            <a:off x="8305814" y="2914650"/>
            <a:ext cx="28702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23" name="AutoShape 23"/>
          <p:cNvSpPr/>
          <p:nvPr/>
        </p:nvSpPr>
        <p:spPr>
          <a:xfrm>
            <a:off x="8305800" y="31750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Teams waste</a:t>
            </a:r>
            <a:r>
              <a:rPr lang="en-US" sz="1400" b="1" i="0" u="none" strike="noStrike">
                <a:solidFill>
                  <a:srgbClr val="004D40"/>
                </a:solidFill>
                <a:latin typeface="Poppins"/>
                <a:ea typeface="Poppins"/>
                <a:cs typeface="Poppins"/>
                <a:sym typeface="Poppins"/>
              </a:rPr>
              <a:t>BB% of their time</a:t>
            </a:r>
            <a:r>
              <a:rPr lang="en-US" sz="1400" b="0" i="0" u="none" strike="noStrike">
                <a:solidFill>
                  <a:srgbClr val="374151"/>
                </a:solidFill>
                <a:latin typeface="Poppins"/>
                <a:ea typeface="Poppins"/>
                <a:cs typeface="Poppins"/>
                <a:sym typeface="Poppins"/>
              </a:rPr>
              <a:t>on repetitive, manual tasks instead of high-value strategic activities, crippling productivity and employee morale.</a:t>
            </a:r>
            <a:endParaRPr lang="en-US" sz="1100"/>
          </a:p>
        </p:txBody>
      </p:sp>
      <p:cxnSp>
        <p:nvCxnSpPr>
          <p:cNvPr id="24" name="Connector 24"/>
          <p:cNvCxnSpPr/>
          <p:nvPr/>
        </p:nvCxnSpPr>
        <p:spPr>
          <a:xfrm rot="-15211">
            <a:off x="8305814" y="4311650"/>
            <a:ext cx="28702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5" name="AutoShape 25"/>
          <p:cNvSpPr/>
          <p:nvPr/>
        </p:nvSpPr>
        <p:spPr>
          <a:xfrm>
            <a:off x="8305800" y="45085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Poppins"/>
                <a:ea typeface="Poppins"/>
                <a:cs typeface="Poppins"/>
                <a:sym typeface="Poppins"/>
              </a:rPr>
              <a:t>A staggering</a:t>
            </a:r>
            <a:r>
              <a:rPr lang="en-US" sz="1400" b="1" i="0" u="none" strike="noStrike">
                <a:solidFill>
                  <a:srgbClr val="004D40"/>
                </a:solidFill>
                <a:latin typeface="Poppins"/>
                <a:ea typeface="Poppins"/>
                <a:cs typeface="Poppins"/>
                <a:sym typeface="Poppins"/>
              </a:rPr>
              <a:t>CC% of customers</a:t>
            </a:r>
            <a:r>
              <a:rPr lang="en-US" sz="1400" b="0" i="0" u="none" strike="noStrike">
                <a:solidFill>
                  <a:srgbClr val="374151"/>
                </a:solidFill>
                <a:latin typeface="Poppins"/>
                <a:ea typeface="Poppins"/>
                <a:cs typeface="Poppins"/>
                <a:sym typeface="Poppins"/>
              </a:rPr>
              <a:t>report dissatisfaction with impersonal experiences, directly impacting customer retention and brand loyalty.</a:t>
            </a:r>
            <a:endParaRPr lang="en-US" sz="1100"/>
          </a:p>
        </p:txBody>
      </p:sp>
      <p:sp>
        <p:nvSpPr>
          <p:cNvPr id="26" name="AutoShape 26"/>
          <p:cNvSpPr/>
          <p:nvPr/>
        </p:nvSpPr>
        <p:spPr>
          <a:xfrm>
            <a:off x="762000" y="5842000"/>
            <a:ext cx="10668000" cy="635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52500" y="5943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4D40"/>
                </a:solidFill>
                <a:latin typeface="Poppins"/>
                <a:ea typeface="Poppins"/>
                <a:cs typeface="Poppins"/>
                <a:sym typeface="Poppins"/>
              </a:rPr>
              <a:t>Inaction is not an option: The cumulative toll of inefficiency, lost revenue, and disengagement threatens long-term business viability in a rapidly evolving market.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Our Solution: AI-Powered Retail Data Platform</a:t>
            </a:r>
            <a:endParaRPr lang="en-US" sz="1100"/>
          </a:p>
        </p:txBody>
      </p:sp>
      <p:sp>
        <p:nvSpPr>
          <p:cNvPr id="4" name="AutoShape 4"/>
          <p:cNvSpPr/>
          <p:nvPr/>
        </p:nvSpPr>
        <p:spPr>
          <a:xfrm>
            <a:off x="762000" y="1651000"/>
            <a:ext cx="10668000" cy="1397000"/>
          </a:xfrm>
          <a:prstGeom prst="roundRect">
            <a:avLst>
              <a:gd name="adj" fmla="val 0"/>
            </a:avLst>
          </a:prstGeom>
          <a:solidFill>
            <a:srgbClr val="004D40">
              <a:alpha val="8000"/>
            </a:srgbClr>
          </a:solidFill>
          <a:ln w="12700" cap="flat" cmpd="sng">
            <a:solidFill>
              <a:srgbClr val="004D40">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004D40"/>
                </a:solidFill>
                <a:latin typeface="Poppins"/>
                <a:ea typeface="Poppins"/>
                <a:cs typeface="Poppins"/>
                <a:sym typeface="Poppins"/>
              </a:rPr>
              <a:t>Core Value Proposition:</a:t>
            </a:r>
            <a:r>
              <a:rPr lang="en-US" sz="1500" b="0" i="0" u="none" strike="noStrike">
                <a:solidFill>
                  <a:srgbClr val="374151"/>
                </a:solidFill>
                <a:latin typeface="Poppins"/>
                <a:ea typeface="Poppins"/>
                <a:cs typeface="Poppins"/>
                <a:sym typeface="Poppins"/>
              </a:rPr>
              <a:t>We provide an AI-powered platform that unifies customer data, enabling retailers to deliver hyper-personalized experiences and increase customer lifetime value by</a:t>
            </a:r>
            <a:r>
              <a:rPr lang="en-US" sz="1600" b="1" i="0" u="none" strike="noStrike">
                <a:solidFill>
                  <a:srgbClr val="004D40"/>
                </a:solidFill>
                <a:latin typeface="Poppins"/>
                <a:ea typeface="Poppins"/>
                <a:cs typeface="Poppins"/>
                <a:sym typeface="Poppins"/>
              </a:rPr>
              <a:t>30%.</a:t>
            </a:r>
            <a:endParaRPr lang="en-US" sz="1100"/>
          </a:p>
        </p:txBody>
      </p:sp>
      <p:sp>
        <p:nvSpPr>
          <p:cNvPr id="7" name="AutoShape 7"/>
          <p:cNvSpPr/>
          <p:nvPr/>
        </p:nvSpPr>
        <p:spPr>
          <a:xfrm>
            <a:off x="762000" y="3429000"/>
            <a:ext cx="5207000" cy="241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556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How It Works (High-Level)</a:t>
            </a:r>
            <a:endParaRPr lang="en-US" sz="1100"/>
          </a:p>
        </p:txBody>
      </p:sp>
      <p:cxnSp>
        <p:nvCxnSpPr>
          <p:cNvPr id="9" name="Connector 9"/>
          <p:cNvCxnSpPr/>
          <p:nvPr/>
        </p:nvCxnSpPr>
        <p:spPr>
          <a:xfrm rot="-9046">
            <a:off x="952508" y="4057650"/>
            <a:ext cx="4826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318000"/>
            <a:ext cx="304800" cy="304800"/>
          </a:xfrm>
          <a:prstGeom prst="rect">
            <a:avLst/>
          </a:prstGeom>
        </p:spPr>
      </p:pic>
      <p:sp>
        <p:nvSpPr>
          <p:cNvPr id="11" name="AutoShape 11"/>
          <p:cNvSpPr/>
          <p:nvPr/>
        </p:nvSpPr>
        <p:spPr>
          <a:xfrm>
            <a:off x="1397000" y="4292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Poppins"/>
                <a:ea typeface="Poppins"/>
                <a:cs typeface="Poppins"/>
                <a:sym typeface="Poppins"/>
              </a:rPr>
              <a:t>Seamless Integration:</a:t>
            </a:r>
            <a:r>
              <a:rPr lang="en-US" sz="1300" b="0" i="0" u="none" strike="noStrike">
                <a:solidFill>
                  <a:srgbClr val="4B5563"/>
                </a:solidFill>
                <a:latin typeface="Poppins"/>
                <a:ea typeface="Poppins"/>
                <a:cs typeface="Poppins"/>
                <a:sym typeface="Poppins"/>
              </a:rPr>
              <a:t>Works effortlessly with your existing POS, CRM, and e-commerce systems.</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207000"/>
            <a:ext cx="304800" cy="304800"/>
          </a:xfrm>
          <a:prstGeom prst="rect">
            <a:avLst/>
          </a:prstGeom>
        </p:spPr>
      </p:pic>
      <p:sp>
        <p:nvSpPr>
          <p:cNvPr id="13" name="AutoShape 13"/>
          <p:cNvSpPr/>
          <p:nvPr/>
        </p:nvSpPr>
        <p:spPr>
          <a:xfrm>
            <a:off x="1397000" y="51816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Poppins"/>
                <a:ea typeface="Poppins"/>
                <a:cs typeface="Poppins"/>
                <a:sym typeface="Poppins"/>
              </a:rPr>
              <a:t>Automated Analysis</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Cleanses and processes data in real time with zero manual effort.</a:t>
            </a:r>
            <a:endParaRPr lang="en-US" sz="1100"/>
          </a:p>
        </p:txBody>
      </p:sp>
      <p:cxnSp>
        <p:nvCxnSpPr>
          <p:cNvPr id="14" name="Connector 14"/>
          <p:cNvCxnSpPr/>
          <p:nvPr/>
        </p:nvCxnSpPr>
        <p:spPr>
          <a:xfrm rot="5331254">
            <a:off x="3429000" y="5581713"/>
            <a:ext cx="635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73500" y="5207000"/>
            <a:ext cx="304800" cy="304800"/>
          </a:xfrm>
          <a:prstGeom prst="rect">
            <a:avLst/>
          </a:prstGeom>
        </p:spPr>
      </p:pic>
      <p:sp>
        <p:nvSpPr>
          <p:cNvPr id="16" name="AutoShape 16"/>
          <p:cNvSpPr/>
          <p:nvPr/>
        </p:nvSpPr>
        <p:spPr>
          <a:xfrm>
            <a:off x="4191000" y="5181600"/>
            <a:ext cx="165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Poppins"/>
                <a:ea typeface="Poppins"/>
                <a:cs typeface="Poppins"/>
                <a:sym typeface="Poppins"/>
              </a:rPr>
              <a:t>Actionable Insights</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Delivers tailored recommendations to drive engagement.</a:t>
            </a:r>
            <a:endParaRPr lang="en-US" sz="1100"/>
          </a:p>
        </p:txBody>
      </p:sp>
      <p:sp>
        <p:nvSpPr>
          <p:cNvPr id="17" name="AutoShape 17"/>
          <p:cNvSpPr/>
          <p:nvPr/>
        </p:nvSpPr>
        <p:spPr>
          <a:xfrm>
            <a:off x="6223000" y="3429000"/>
            <a:ext cx="5207000" cy="241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3556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Why It's Different</a:t>
            </a:r>
            <a:endParaRPr lang="en-US" sz="1100"/>
          </a:p>
        </p:txBody>
      </p:sp>
      <p:cxnSp>
        <p:nvCxnSpPr>
          <p:cNvPr id="19" name="Connector 19"/>
          <p:cNvCxnSpPr/>
          <p:nvPr/>
        </p:nvCxnSpPr>
        <p:spPr>
          <a:xfrm rot="-9046">
            <a:off x="6413508" y="4057650"/>
            <a:ext cx="4826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318000"/>
            <a:ext cx="304800" cy="304800"/>
          </a:xfrm>
          <a:prstGeom prst="rect">
            <a:avLst/>
          </a:prstGeom>
        </p:spPr>
      </p:pic>
      <p:sp>
        <p:nvSpPr>
          <p:cNvPr id="21" name="AutoShape 21"/>
          <p:cNvSpPr/>
          <p:nvPr/>
        </p:nvSpPr>
        <p:spPr>
          <a:xfrm>
            <a:off x="6858000" y="42926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Poppins"/>
                <a:ea typeface="Poppins"/>
                <a:cs typeface="Poppins"/>
                <a:sym typeface="Poppins"/>
              </a:rPr>
              <a:t>Unmatched Simplicity:</a:t>
            </a:r>
            <a:r>
              <a:rPr lang="en-US" sz="1300" b="0" i="0" u="none" strike="noStrike">
                <a:solidFill>
                  <a:srgbClr val="4B5563"/>
                </a:solidFill>
                <a:latin typeface="Poppins"/>
                <a:ea typeface="Poppins"/>
                <a:cs typeface="Poppins"/>
                <a:sym typeface="Poppins"/>
              </a:rPr>
              <a:t>Intuitive UI/UX design means your team needs minimal training to start using it effectively.</a:t>
            </a:r>
            <a:endParaRPr lang="en-US" sz="1100"/>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5207000"/>
            <a:ext cx="304800" cy="304800"/>
          </a:xfrm>
          <a:prstGeom prst="rect">
            <a:avLst/>
          </a:prstGeom>
        </p:spPr>
      </p:pic>
      <p:sp>
        <p:nvSpPr>
          <p:cNvPr id="23" name="AutoShape 23"/>
          <p:cNvSpPr/>
          <p:nvPr/>
        </p:nvSpPr>
        <p:spPr>
          <a:xfrm>
            <a:off x="6858000" y="51816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Poppins"/>
                <a:ea typeface="Poppins"/>
                <a:cs typeface="Poppins"/>
                <a:sym typeface="Poppins"/>
              </a:rPr>
              <a:t>True Scalability</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Grows seamlessly with your business, from 10 to 10,000+ users.</a:t>
            </a:r>
            <a:endParaRPr lang="en-US" sz="1100"/>
          </a:p>
        </p:txBody>
      </p:sp>
      <p:cxnSp>
        <p:nvCxnSpPr>
          <p:cNvPr id="24" name="Connector 24"/>
          <p:cNvCxnSpPr/>
          <p:nvPr/>
        </p:nvCxnSpPr>
        <p:spPr>
          <a:xfrm rot="5331254">
            <a:off x="8890000" y="5581713"/>
            <a:ext cx="635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34500" y="5207000"/>
            <a:ext cx="304800" cy="304800"/>
          </a:xfrm>
          <a:prstGeom prst="rect">
            <a:avLst/>
          </a:prstGeom>
        </p:spPr>
      </p:pic>
      <p:sp>
        <p:nvSpPr>
          <p:cNvPr id="26" name="AutoShape 26"/>
          <p:cNvSpPr/>
          <p:nvPr/>
        </p:nvSpPr>
        <p:spPr>
          <a:xfrm>
            <a:off x="9652000" y="5181600"/>
            <a:ext cx="165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Poppins"/>
                <a:ea typeface="Poppins"/>
                <a:cs typeface="Poppins"/>
                <a:sym typeface="Poppins"/>
              </a:rPr>
              <a:t>Accessible Pricing</a:t>
            </a:r>
            <a:br>
              <a:rPr lang="en-US" sz="1600" b="0" i="0" u="none" strike="noStrike">
                <a:solidFill>
                  <a:srgbClr val="1F2329"/>
                </a:solidFill>
                <a:latin typeface="Poppins"/>
                <a:ea typeface="Poppins"/>
                <a:cs typeface="Poppins"/>
                <a:sym typeface="Poppins"/>
              </a:rPr>
            </a:br>
            <a:r>
              <a:rPr lang="en-US" sz="1200" b="0" i="0" u="none" strike="noStrike">
                <a:solidFill>
                  <a:srgbClr val="4B5563"/>
                </a:solidFill>
                <a:latin typeface="Poppins"/>
                <a:ea typeface="Poppins"/>
                <a:cs typeface="Poppins"/>
                <a:sym typeface="Poppins"/>
              </a:rPr>
              <a:t>Enterprise-grade power at a mid-market cost.</a:t>
            </a:r>
            <a:endParaRPr lang="en-US" sz="1100"/>
          </a:p>
        </p:txBody>
      </p:sp>
      <p:sp>
        <p:nvSpPr>
          <p:cNvPr id="27" name="AutoShape 27"/>
          <p:cNvSpPr/>
          <p:nvPr/>
        </p:nvSpPr>
        <p:spPr>
          <a:xfrm>
            <a:off x="762000" y="6096000"/>
            <a:ext cx="10668000" cy="508000"/>
          </a:xfrm>
          <a:prstGeom prst="roundRect">
            <a:avLst>
              <a:gd name="adj" fmla="val 0"/>
            </a:avLst>
          </a:prstGeom>
          <a:solidFill>
            <a:srgbClr val="004D40">
              <a:alpha val="1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89000" y="6197600"/>
            <a:ext cx="1041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04D40"/>
                </a:solidFill>
                <a:latin typeface="Poppins"/>
                <a:ea typeface="Poppins"/>
                <a:cs typeface="Poppins"/>
                <a:sym typeface="Poppins"/>
              </a:rPr>
              <a:t>Empowering retailers to turn data into meaningful, profitable customer relationships—without the complexity.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[Product Name]: Key Features &amp; Functionality</a:t>
            </a:r>
            <a:endParaRPr lang="en-US" sz="1100"/>
          </a:p>
        </p:txBody>
      </p:sp>
      <p:pic>
        <p:nvPicPr>
          <p:cNvPr id="4" name="Picture 4"/>
          <p:cNvPicPr>
            <a:picLocks noChangeAspect="1"/>
          </p:cNvPicPr>
          <p:nvPr/>
        </p:nvPicPr>
        <p:blipFill>
          <a:blip r:embed="rId2"/>
          <a:srcRect l="7239" r="7239"/>
          <a:stretch>
            <a:fillRect/>
          </a:stretch>
        </p:blipFill>
        <p:spPr>
          <a:xfrm>
            <a:off x="762000" y="1778000"/>
            <a:ext cx="4826000" cy="3175000"/>
          </a:xfrm>
          <a:prstGeom prst="rect">
            <a:avLst/>
          </a:prstGeom>
          <a:noFill/>
          <a:ln w="12700" cap="flat" cmpd="sng">
            <a:solidFill>
              <a:srgbClr val="004D40">
                <a:alpha val="20000"/>
              </a:srgbClr>
            </a:solidFill>
            <a:prstDash val="solid"/>
            <a:round/>
          </a:ln>
        </p:spPr>
      </p:pic>
      <p:sp>
        <p:nvSpPr>
          <p:cNvPr id="5" name="AutoShape 5"/>
          <p:cNvSpPr/>
          <p:nvPr/>
        </p:nvSpPr>
        <p:spPr>
          <a:xfrm>
            <a:off x="762000" y="5207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Our intuitive SaaS dashboard integrates all core modules into a unified interface, offering real-time data visualization and streamlined workflows for maximum operational efficiency.</a:t>
            </a:r>
            <a:endParaRPr lang="en-US" sz="1100"/>
          </a:p>
        </p:txBody>
      </p:sp>
      <p:cxnSp>
        <p:nvCxnSpPr>
          <p:cNvPr id="6" name="Connector 6"/>
          <p:cNvCxnSpPr/>
          <p:nvPr/>
        </p:nvCxnSpPr>
        <p:spPr>
          <a:xfrm rot="5390450">
            <a:off x="3810000" y="4057659"/>
            <a:ext cx="4572000" cy="12700"/>
          </a:xfrm>
          <a:prstGeom prst="straightConnector1">
            <a:avLst/>
          </a:prstGeom>
          <a:solidFill>
            <a:srgbClr val="DEE0E3">
              <a:alpha val="100000"/>
            </a:srgbClr>
          </a:solidFill>
          <a:ln w="12700" cap="flat" cmpd="sng">
            <a:solidFill>
              <a:srgbClr val="004D40">
                <a:alpha val="20000"/>
              </a:srgbClr>
            </a:solidFill>
            <a:prstDash val="dash"/>
            <a:round/>
            <a:headEnd type="none" w="med" len="med"/>
            <a:tailEnd type="none" w="med" len="med"/>
          </a:ln>
        </p:spPr>
      </p:cxnSp>
      <p:sp>
        <p:nvSpPr>
          <p:cNvPr id="7" name="AutoShape 7"/>
          <p:cNvSpPr/>
          <p:nvPr/>
        </p:nvSpPr>
        <p:spPr>
          <a:xfrm>
            <a:off x="6350000" y="1778000"/>
            <a:ext cx="53340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350000" y="1778000"/>
            <a:ext cx="76200" cy="1460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905000"/>
            <a:ext cx="406400" cy="406400"/>
          </a:xfrm>
          <a:prstGeom prst="rect">
            <a:avLst/>
          </a:prstGeom>
        </p:spPr>
      </p:pic>
      <p:sp>
        <p:nvSpPr>
          <p:cNvPr id="10" name="AutoShape 10"/>
          <p:cNvSpPr/>
          <p:nvPr/>
        </p:nvSpPr>
        <p:spPr>
          <a:xfrm>
            <a:off x="7175500" y="190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Unified Customer Profile</a:t>
            </a:r>
            <a:endParaRPr lang="en-US" sz="1100"/>
          </a:p>
        </p:txBody>
      </p:sp>
      <p:sp>
        <p:nvSpPr>
          <p:cNvPr id="11" name="AutoShape 11"/>
          <p:cNvSpPr/>
          <p:nvPr/>
        </p:nvSpPr>
        <p:spPr>
          <a:xfrm>
            <a:off x="6604000" y="2413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Aggregate multi-source data for a 360° customer view. This holistic understanding eliminates manual data compilation, saving teams hours of work and enabling deep behavior analysis.</a:t>
            </a:r>
            <a:endParaRPr lang="en-US" sz="1100"/>
          </a:p>
        </p:txBody>
      </p:sp>
      <p:sp>
        <p:nvSpPr>
          <p:cNvPr id="12" name="AutoShape 12"/>
          <p:cNvSpPr/>
          <p:nvPr/>
        </p:nvSpPr>
        <p:spPr>
          <a:xfrm>
            <a:off x="6350000" y="3429000"/>
            <a:ext cx="53340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350000" y="3429000"/>
            <a:ext cx="76200" cy="1460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3556000"/>
            <a:ext cx="406400" cy="406400"/>
          </a:xfrm>
          <a:prstGeom prst="rect">
            <a:avLst/>
          </a:prstGeom>
        </p:spPr>
      </p:pic>
      <p:sp>
        <p:nvSpPr>
          <p:cNvPr id="15" name="AutoShape 15"/>
          <p:cNvSpPr/>
          <p:nvPr/>
        </p:nvSpPr>
        <p:spPr>
          <a:xfrm>
            <a:off x="7175500" y="3556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AI-Powered Recommendations</a:t>
            </a:r>
            <a:endParaRPr lang="en-US" sz="1100"/>
          </a:p>
        </p:txBody>
      </p:sp>
      <p:sp>
        <p:nvSpPr>
          <p:cNvPr id="16" name="AutoShape 16"/>
          <p:cNvSpPr/>
          <p:nvPr/>
        </p:nvSpPr>
        <p:spPr>
          <a:xfrm>
            <a:off x="6604000" y="4000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Leverage real-time analytics to generate hyper-personalized product suggestions. Data-driven decisions are made in minutes, not days, significantly boosting customer conversion rates.</a:t>
            </a:r>
            <a:endParaRPr lang="en-US" sz="1100"/>
          </a:p>
        </p:txBody>
      </p:sp>
      <p:sp>
        <p:nvSpPr>
          <p:cNvPr id="17" name="AutoShape 17"/>
          <p:cNvSpPr/>
          <p:nvPr/>
        </p:nvSpPr>
        <p:spPr>
          <a:xfrm>
            <a:off x="6350000" y="5080000"/>
            <a:ext cx="5334000" cy="1460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350000" y="5080000"/>
            <a:ext cx="76200" cy="1460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5207000"/>
            <a:ext cx="406400" cy="406400"/>
          </a:xfrm>
          <a:prstGeom prst="rect">
            <a:avLst/>
          </a:prstGeom>
        </p:spPr>
      </p:pic>
      <p:sp>
        <p:nvSpPr>
          <p:cNvPr id="20" name="AutoShape 20"/>
          <p:cNvSpPr/>
          <p:nvPr/>
        </p:nvSpPr>
        <p:spPr>
          <a:xfrm>
            <a:off x="7175500" y="5207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Automated Campaign Management</a:t>
            </a:r>
            <a:endParaRPr lang="en-US" sz="1100"/>
          </a:p>
        </p:txBody>
      </p:sp>
      <p:sp>
        <p:nvSpPr>
          <p:cNvPr id="21" name="AutoShape 21"/>
          <p:cNvSpPr/>
          <p:nvPr/>
        </p:nvSpPr>
        <p:spPr>
          <a:xfrm>
            <a:off x="6604000" y="5651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Poppins"/>
                <a:ea typeface="Poppins"/>
                <a:cs typeface="Poppins"/>
                <a:sym typeface="Poppins"/>
              </a:rPr>
              <a:t>Streamline targeted campaign creation and execution across teams. Automating manual setup tasks reduces overhead, enhances cross-departmental collaboration, and speeds up project delivery.</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Our Path to Profitability</a:t>
            </a:r>
            <a:endParaRPr lang="en-US" sz="1100"/>
          </a:p>
        </p:txBody>
      </p:sp>
      <p:pic>
        <p:nvPicPr>
          <p:cNvPr id="4" name="Picture 4"/>
          <p:cNvPicPr>
            <a:picLocks noChangeAspect="1"/>
          </p:cNvPicPr>
          <p:nvPr/>
        </p:nvPicPr>
        <p:blipFill>
          <a:blip r:embed="rId2"/>
          <a:srcRect l="10156" r="10156"/>
          <a:stretch>
            <a:fillRect/>
          </a:stretch>
        </p:blipFill>
        <p:spPr>
          <a:xfrm>
            <a:off x="762000" y="1651000"/>
            <a:ext cx="4318000" cy="3048000"/>
          </a:xfrm>
          <a:prstGeom prst="rect">
            <a:avLst/>
          </a:prstGeom>
          <a:noFill/>
          <a:ln w="25400" cap="flat" cmpd="sng">
            <a:noFill/>
            <a:prstDash val="solid"/>
            <a:round/>
          </a:ln>
        </p:spPr>
      </p:pic>
      <p:sp>
        <p:nvSpPr>
          <p:cNvPr id="5" name="AutoShape 5"/>
          <p:cNvSpPr/>
          <p:nvPr/>
        </p:nvSpPr>
        <p:spPr>
          <a:xfrm>
            <a:off x="762000" y="5080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Our strategic focus on partnerships and scalable solutions drives sustainable revenue. The strong alignment of our offerings with market needs ensures long-term value creation for both clients and stakeholders.</a:t>
            </a:r>
            <a:endParaRPr lang="en-US" sz="1100"/>
          </a:p>
        </p:txBody>
      </p:sp>
      <p:cxnSp>
        <p:nvCxnSpPr>
          <p:cNvPr id="6" name="Connector 6"/>
          <p:cNvCxnSpPr/>
          <p:nvPr/>
        </p:nvCxnSpPr>
        <p:spPr>
          <a:xfrm rot="5390450">
            <a:off x="3302000" y="3930659"/>
            <a:ext cx="4572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7" name="AutoShape 7"/>
          <p:cNvSpPr/>
          <p:nvPr/>
        </p:nvSpPr>
        <p:spPr>
          <a:xfrm>
            <a:off x="5842000" y="1651000"/>
            <a:ext cx="2984500" cy="20955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842000" y="1651000"/>
            <a:ext cx="29845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94400" y="1841500"/>
            <a:ext cx="279400" cy="279400"/>
          </a:xfrm>
          <a:prstGeom prst="rect">
            <a:avLst/>
          </a:prstGeom>
        </p:spPr>
      </p:pic>
      <p:sp>
        <p:nvSpPr>
          <p:cNvPr id="10" name="AutoShape 10"/>
          <p:cNvSpPr/>
          <p:nvPr/>
        </p:nvSpPr>
        <p:spPr>
          <a:xfrm>
            <a:off x="6350000" y="1803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Diversified Revenue Streams</a:t>
            </a:r>
            <a:endParaRPr lang="en-US" sz="1100"/>
          </a:p>
        </p:txBody>
      </p:sp>
      <p:cxnSp>
        <p:nvCxnSpPr>
          <p:cNvPr id="11" name="Connector 11"/>
          <p:cNvCxnSpPr/>
          <p:nvPr/>
        </p:nvCxnSpPr>
        <p:spPr>
          <a:xfrm rot="-16292">
            <a:off x="5994415" y="2279650"/>
            <a:ext cx="26797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2" name="AutoShape 12"/>
          <p:cNvSpPr/>
          <p:nvPr/>
        </p:nvSpPr>
        <p:spPr>
          <a:xfrm>
            <a:off x="5994400" y="2413000"/>
            <a:ext cx="26797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74151"/>
                </a:solidFill>
                <a:latin typeface="Noto Sans SC"/>
                <a:ea typeface="Noto Sans SC"/>
                <a:cs typeface="Noto Sans SC"/>
                <a:sym typeface="Noto Sans SC"/>
              </a:rPr>
              <a:t>Primary:</a:t>
            </a:r>
            <a:r>
              <a:rPr lang="en-US" sz="1200" b="0" i="0" u="none" strike="noStrike">
                <a:solidFill>
                  <a:srgbClr val="4B5563"/>
                </a:solidFill>
                <a:latin typeface="Noto Sans SC"/>
                <a:ea typeface="Noto Sans SC"/>
                <a:cs typeface="Noto Sans SC"/>
                <a:sym typeface="Noto Sans SC"/>
              </a:rPr>
              <a:t>SaaS subscriptions with tiered pricing based on users, features, and data volume.</a:t>
            </a:r>
            <a:endParaRPr lang="en-US" sz="1100"/>
          </a:p>
          <a:p>
            <a:pPr marL="0" indent="0" algn="l">
              <a:lnSpc>
                <a:spcPct val="108000"/>
              </a:lnSpc>
            </a:pPr>
            <a:r>
              <a:rPr lang="en-US" sz="1600" b="1" i="0" u="none" strike="noStrike">
                <a:solidFill>
                  <a:srgbClr val="374151"/>
                </a:solidFill>
                <a:latin typeface="Noto Sans SC"/>
                <a:ea typeface="Noto Sans SC"/>
                <a:cs typeface="Noto Sans SC"/>
                <a:sym typeface="Noto Sans SC"/>
              </a:rPr>
              <a:t>Secondary:</a:t>
            </a:r>
            <a:r>
              <a:rPr lang="en-US" sz="1200" b="0" i="0" u="none" strike="noStrike">
                <a:solidFill>
                  <a:srgbClr val="4B5563"/>
                </a:solidFill>
                <a:latin typeface="Noto Sans SC"/>
                <a:ea typeface="Noto Sans SC"/>
                <a:cs typeface="Noto Sans SC"/>
                <a:sym typeface="Noto Sans SC"/>
              </a:rPr>
              <a:t>Implementation, training, and customization professional services.</a:t>
            </a:r>
            <a:endParaRPr lang="en-US" sz="1200" b="0" i="0" u="none" strike="noStrike">
              <a:solidFill>
                <a:srgbClr val="4B5563"/>
              </a:solidFill>
              <a:latin typeface="Noto Sans SC"/>
              <a:ea typeface="Noto Sans SC"/>
              <a:cs typeface="Noto Sans SC"/>
              <a:sym typeface="Noto Sans SC"/>
            </a:endParaRPr>
          </a:p>
        </p:txBody>
      </p:sp>
      <p:sp>
        <p:nvSpPr>
          <p:cNvPr id="13" name="AutoShape 13"/>
          <p:cNvSpPr/>
          <p:nvPr/>
        </p:nvSpPr>
        <p:spPr>
          <a:xfrm>
            <a:off x="9017000" y="1651000"/>
            <a:ext cx="2984500" cy="20955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017000" y="1651000"/>
            <a:ext cx="29845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69400" y="1841500"/>
            <a:ext cx="279400" cy="279400"/>
          </a:xfrm>
          <a:prstGeom prst="rect">
            <a:avLst/>
          </a:prstGeom>
        </p:spPr>
      </p:pic>
      <p:sp>
        <p:nvSpPr>
          <p:cNvPr id="16" name="AutoShape 16"/>
          <p:cNvSpPr/>
          <p:nvPr/>
        </p:nvSpPr>
        <p:spPr>
          <a:xfrm>
            <a:off x="9525000" y="1803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Scalable Pricing Tiers</a:t>
            </a:r>
            <a:endParaRPr lang="en-US" sz="1100"/>
          </a:p>
        </p:txBody>
      </p:sp>
      <p:cxnSp>
        <p:nvCxnSpPr>
          <p:cNvPr id="17" name="Connector 17"/>
          <p:cNvCxnSpPr/>
          <p:nvPr/>
        </p:nvCxnSpPr>
        <p:spPr>
          <a:xfrm rot="-16292">
            <a:off x="9169415" y="2279650"/>
            <a:ext cx="26797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18" name="AutoShape 18"/>
          <p:cNvSpPr/>
          <p:nvPr/>
        </p:nvSpPr>
        <p:spPr>
          <a:xfrm>
            <a:off x="9169400" y="2413000"/>
            <a:ext cx="26797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74151"/>
                </a:solidFill>
                <a:latin typeface="Noto Sans SC"/>
                <a:ea typeface="Noto Sans SC"/>
                <a:cs typeface="Noto Sans SC"/>
                <a:sym typeface="Noto Sans SC"/>
              </a:rPr>
              <a:t>Basic &amp; Pro:</a:t>
            </a:r>
            <a:r>
              <a:rPr lang="en-US" sz="1200" b="0" i="0" u="none" strike="noStrike">
                <a:solidFill>
                  <a:srgbClr val="4B5563"/>
                </a:solidFill>
                <a:latin typeface="Noto Sans SC"/>
                <a:ea typeface="Noto Sans SC"/>
                <a:cs typeface="Noto Sans SC"/>
                <a:sym typeface="Noto Sans SC"/>
              </a:rPr>
              <a:t>Core features for small teams; advanced analytics &amp; integrations for growing businesses.</a:t>
            </a:r>
            <a:endParaRPr lang="en-US" sz="1100"/>
          </a:p>
          <a:p>
            <a:pPr marL="0" indent="0" algn="l">
              <a:lnSpc>
                <a:spcPct val="108000"/>
              </a:lnSpc>
            </a:pPr>
            <a:r>
              <a:rPr lang="en-US" sz="1600" b="1" i="0" u="none" strike="noStrike">
                <a:solidFill>
                  <a:srgbClr val="374151"/>
                </a:solidFill>
                <a:latin typeface="Noto Sans SC"/>
                <a:ea typeface="Noto Sans SC"/>
                <a:cs typeface="Noto Sans SC"/>
                <a:sym typeface="Noto Sans SC"/>
              </a:rPr>
              <a:t>Enterprise:</a:t>
            </a:r>
            <a:r>
              <a:rPr lang="en-US" sz="1200" b="0" i="0" u="none" strike="noStrike">
                <a:solidFill>
                  <a:srgbClr val="4B5563"/>
                </a:solidFill>
                <a:latin typeface="Noto Sans SC"/>
                <a:ea typeface="Noto Sans SC"/>
                <a:cs typeface="Noto Sans SC"/>
                <a:sym typeface="Noto Sans SC"/>
              </a:rPr>
              <a:t>Custom solutions with dedicated support for large organizations.</a:t>
            </a:r>
            <a:endParaRPr lang="en-US" sz="1200" b="0" i="0" u="none" strike="noStrike">
              <a:solidFill>
                <a:srgbClr val="4B5563"/>
              </a:solidFill>
              <a:latin typeface="Noto Sans SC"/>
              <a:ea typeface="Noto Sans SC"/>
              <a:cs typeface="Noto Sans SC"/>
              <a:sym typeface="Noto Sans SC"/>
            </a:endParaRPr>
          </a:p>
        </p:txBody>
      </p:sp>
      <p:sp>
        <p:nvSpPr>
          <p:cNvPr id="19" name="AutoShape 19"/>
          <p:cNvSpPr/>
          <p:nvPr/>
        </p:nvSpPr>
        <p:spPr>
          <a:xfrm>
            <a:off x="5842000" y="4064000"/>
            <a:ext cx="2984500" cy="20955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842000" y="4064000"/>
            <a:ext cx="29845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4400" y="4254500"/>
            <a:ext cx="279400" cy="279400"/>
          </a:xfrm>
          <a:prstGeom prst="rect">
            <a:avLst/>
          </a:prstGeom>
        </p:spPr>
      </p:pic>
      <p:sp>
        <p:nvSpPr>
          <p:cNvPr id="22" name="AutoShape 22"/>
          <p:cNvSpPr/>
          <p:nvPr/>
        </p:nvSpPr>
        <p:spPr>
          <a:xfrm>
            <a:off x="6350000" y="4216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Robust Unit Economics</a:t>
            </a:r>
            <a:endParaRPr lang="en-US" sz="1100"/>
          </a:p>
        </p:txBody>
      </p:sp>
      <p:cxnSp>
        <p:nvCxnSpPr>
          <p:cNvPr id="23" name="Connector 23"/>
          <p:cNvCxnSpPr/>
          <p:nvPr/>
        </p:nvCxnSpPr>
        <p:spPr>
          <a:xfrm rot="-16292">
            <a:off x="5994415" y="4692650"/>
            <a:ext cx="26797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24" name="AutoShape 24"/>
          <p:cNvSpPr/>
          <p:nvPr/>
        </p:nvSpPr>
        <p:spPr>
          <a:xfrm>
            <a:off x="5994400" y="4826000"/>
            <a:ext cx="26797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74151"/>
                </a:solidFill>
                <a:latin typeface="Noto Sans SC"/>
                <a:ea typeface="Noto Sans SC"/>
                <a:cs typeface="Noto Sans SC"/>
                <a:sym typeface="Noto Sans SC"/>
              </a:rPr>
              <a:t>Key Metrics:</a:t>
            </a:r>
            <a:r>
              <a:rPr lang="en-US" sz="1200" b="0" i="0" u="none" strike="noStrike">
                <a:solidFill>
                  <a:srgbClr val="4B5563"/>
                </a:solidFill>
                <a:latin typeface="Noto Sans SC"/>
                <a:ea typeface="Noto Sans SC"/>
                <a:cs typeface="Noto Sans SC"/>
                <a:sym typeface="Noto Sans SC"/>
              </a:rPr>
              <a:t>Low Customer Acquisition Cost (CAC) and high Lifetime Value (LTV) ensure efficient growth.</a:t>
            </a:r>
            <a:endParaRPr lang="en-US" sz="1100"/>
          </a:p>
          <a:p>
            <a:pPr marL="0" indent="0" algn="l">
              <a:lnSpc>
                <a:spcPct val="108000"/>
              </a:lnSpc>
            </a:pPr>
            <a:r>
              <a:rPr lang="en-US" sz="1600" b="1" i="0" u="none" strike="noStrike">
                <a:solidFill>
                  <a:srgbClr val="374151"/>
                </a:solidFill>
                <a:latin typeface="Noto Sans SC"/>
                <a:ea typeface="Noto Sans SC"/>
                <a:cs typeface="Noto Sans SC"/>
                <a:sym typeface="Noto Sans SC"/>
              </a:rPr>
              <a:t>Ratio:</a:t>
            </a:r>
            <a:r>
              <a:rPr lang="en-US" sz="1200" b="0" i="0" u="none" strike="noStrike">
                <a:solidFill>
                  <a:srgbClr val="4B5563"/>
                </a:solidFill>
                <a:latin typeface="Noto Sans SC"/>
                <a:ea typeface="Noto Sans SC"/>
                <a:cs typeface="Noto Sans SC"/>
                <a:sym typeface="Noto Sans SC"/>
              </a:rPr>
              <a:t>A strong LTV/CAC ratio of 5:1 demonstrates a highly scalable and profitable business model.</a:t>
            </a:r>
            <a:endParaRPr lang="en-US" sz="1200" b="0" i="0" u="none" strike="noStrike">
              <a:solidFill>
                <a:srgbClr val="4B5563"/>
              </a:solidFill>
              <a:latin typeface="Noto Sans SC"/>
              <a:ea typeface="Noto Sans SC"/>
              <a:cs typeface="Noto Sans SC"/>
              <a:sym typeface="Noto Sans SC"/>
            </a:endParaRPr>
          </a:p>
        </p:txBody>
      </p:sp>
      <p:sp>
        <p:nvSpPr>
          <p:cNvPr id="25" name="AutoShape 25"/>
          <p:cNvSpPr/>
          <p:nvPr/>
        </p:nvSpPr>
        <p:spPr>
          <a:xfrm>
            <a:off x="9017000" y="4064000"/>
            <a:ext cx="2984500" cy="20955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017000" y="4064000"/>
            <a:ext cx="29845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69400" y="4254500"/>
            <a:ext cx="279400" cy="279400"/>
          </a:xfrm>
          <a:prstGeom prst="rect">
            <a:avLst/>
          </a:prstGeom>
        </p:spPr>
      </p:pic>
      <p:sp>
        <p:nvSpPr>
          <p:cNvPr id="28" name="AutoShape 28"/>
          <p:cNvSpPr/>
          <p:nvPr/>
        </p:nvSpPr>
        <p:spPr>
          <a:xfrm>
            <a:off x="9525000" y="4216400"/>
            <a:ext cx="234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Future Growth Potential</a:t>
            </a:r>
            <a:endParaRPr lang="en-US" sz="1100"/>
          </a:p>
        </p:txBody>
      </p:sp>
      <p:cxnSp>
        <p:nvCxnSpPr>
          <p:cNvPr id="29" name="Connector 29"/>
          <p:cNvCxnSpPr/>
          <p:nvPr/>
        </p:nvCxnSpPr>
        <p:spPr>
          <a:xfrm rot="-16292">
            <a:off x="9169415" y="4692650"/>
            <a:ext cx="26797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sp>
        <p:nvSpPr>
          <p:cNvPr id="30" name="AutoShape 30"/>
          <p:cNvSpPr/>
          <p:nvPr/>
        </p:nvSpPr>
        <p:spPr>
          <a:xfrm>
            <a:off x="9169400" y="4826000"/>
            <a:ext cx="26797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74151"/>
                </a:solidFill>
                <a:latin typeface="Noto Sans SC"/>
                <a:ea typeface="Noto Sans SC"/>
                <a:cs typeface="Noto Sans SC"/>
                <a:sym typeface="Noto Sans SC"/>
              </a:rPr>
              <a:t>Marketplace:</a:t>
            </a:r>
            <a:r>
              <a:rPr lang="en-US" sz="1200" b="0" i="0" u="none" strike="noStrike">
                <a:solidFill>
                  <a:srgbClr val="4B5563"/>
                </a:solidFill>
                <a:latin typeface="Noto Sans SC"/>
                <a:ea typeface="Noto Sans SC"/>
                <a:cs typeface="Noto Sans SC"/>
                <a:sym typeface="Noto Sans SC"/>
              </a:rPr>
              <a:t>Expanding into a curated marketplace to drive additional transaction fee revenue in future phases.</a:t>
            </a:r>
            <a:endParaRPr lang="en-US" sz="1100"/>
          </a:p>
          <a:p>
            <a:pPr marL="0" indent="0" algn="l">
              <a:lnSpc>
                <a:spcPct val="108000"/>
              </a:lnSpc>
            </a:pPr>
            <a:r>
              <a:rPr lang="en-US" sz="1600" b="1" i="0" u="none" strike="noStrike">
                <a:solidFill>
                  <a:srgbClr val="374151"/>
                </a:solidFill>
                <a:latin typeface="Noto Sans SC"/>
                <a:ea typeface="Noto Sans SC"/>
                <a:cs typeface="Noto Sans SC"/>
                <a:sym typeface="Noto Sans SC"/>
              </a:rPr>
              <a:t>Innovation:</a:t>
            </a:r>
            <a:r>
              <a:rPr lang="en-US" sz="1200" b="0" i="0" u="none" strike="noStrike">
                <a:solidFill>
                  <a:srgbClr val="4B5563"/>
                </a:solidFill>
                <a:latin typeface="Noto Sans SC"/>
                <a:ea typeface="Noto Sans SC"/>
                <a:cs typeface="Noto Sans SC"/>
                <a:sym typeface="Noto Sans SC"/>
              </a:rPr>
              <a:t>Continuous feature expansion to capture new market segments and increase ARPU.</a:t>
            </a:r>
            <a:endParaRPr lang="en-US" sz="12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How We Reach Our Customers</a:t>
            </a:r>
            <a:endParaRPr lang="en-US" sz="1100"/>
          </a:p>
        </p:txBody>
      </p:sp>
      <p:pic>
        <p:nvPicPr>
          <p:cNvPr id="4" name="Picture 4"/>
          <p:cNvPicPr>
            <a:picLocks noChangeAspect="1"/>
          </p:cNvPicPr>
          <p:nvPr/>
        </p:nvPicPr>
        <p:blipFill>
          <a:blip r:embed="rId2"/>
          <a:srcRect t="5904" b="5904"/>
          <a:stretch>
            <a:fillRect/>
          </a:stretch>
        </p:blipFill>
        <p:spPr>
          <a:xfrm>
            <a:off x="762000" y="1524000"/>
            <a:ext cx="4318000" cy="2540000"/>
          </a:xfrm>
          <a:prstGeom prst="rect">
            <a:avLst/>
          </a:prstGeom>
          <a:noFill/>
          <a:ln w="25400" cap="flat" cmpd="sng">
            <a:noFill/>
            <a:prstDash val="solid"/>
            <a:round/>
          </a:ln>
        </p:spPr>
      </p:pic>
      <p:sp>
        <p:nvSpPr>
          <p:cNvPr id="5" name="AutoShape 5"/>
          <p:cNvSpPr/>
          <p:nvPr/>
        </p:nvSpPr>
        <p:spPr>
          <a:xfrm>
            <a:off x="762000" y="4445000"/>
            <a:ext cx="4318000" cy="1778000"/>
          </a:xfrm>
          <a:prstGeom prst="roundRect">
            <a:avLst>
              <a:gd name="adj" fmla="val 0"/>
            </a:avLst>
          </a:prstGeom>
          <a:solidFill>
            <a:srgbClr val="004D40">
              <a:alpha val="5000"/>
            </a:srgbClr>
          </a:solidFill>
          <a:ln w="12700" cap="flat" cmpd="sng">
            <a:solidFill>
              <a:srgbClr val="004D40">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4445000"/>
            <a:ext cx="4318000" cy="457200"/>
          </a:xfrm>
          <a:prstGeom prst="roundRect">
            <a:avLst>
              <a:gd name="adj" fmla="val 0"/>
            </a:avLst>
          </a:prstGeom>
          <a:solidFill>
            <a:srgbClr val="004D40">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89000" y="4521200"/>
            <a:ext cx="406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TARGET CUSTOMER PROFILE</a:t>
            </a:r>
            <a:endParaRPr lang="en-US" sz="1100"/>
          </a:p>
        </p:txBody>
      </p:sp>
      <p:sp>
        <p:nvSpPr>
          <p:cNvPr id="8" name="AutoShape 8"/>
          <p:cNvSpPr/>
          <p:nvPr/>
        </p:nvSpPr>
        <p:spPr>
          <a:xfrm>
            <a:off x="889000" y="5080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Poppins"/>
                <a:ea typeface="Poppins"/>
                <a:cs typeface="Poppins"/>
                <a:sym typeface="Poppins"/>
              </a:rPr>
              <a:t>Focused on Retail, Healthcare, and FinTech sectors with 50-500 employees. We engage key decision makers including CMOs and Operations Directors to align solutions with business goals.</a:t>
            </a:r>
            <a:endParaRPr lang="en-US" sz="1100"/>
          </a:p>
        </p:txBody>
      </p:sp>
      <p:sp>
        <p:nvSpPr>
          <p:cNvPr id="9" name="AutoShape 9"/>
          <p:cNvSpPr/>
          <p:nvPr/>
        </p:nvSpPr>
        <p:spPr>
          <a:xfrm>
            <a:off x="5588000" y="1524000"/>
            <a:ext cx="2984500" cy="46990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5588000" y="1524000"/>
            <a:ext cx="2984500" cy="508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715000" y="16002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PRIMARY CHANNELS</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2413000"/>
            <a:ext cx="304800" cy="304800"/>
          </a:xfrm>
          <a:prstGeom prst="rect">
            <a:avLst/>
          </a:prstGeom>
        </p:spPr>
      </p:pic>
      <p:sp>
        <p:nvSpPr>
          <p:cNvPr id="13" name="AutoShape 13"/>
          <p:cNvSpPr/>
          <p:nvPr/>
        </p:nvSpPr>
        <p:spPr>
          <a:xfrm>
            <a:off x="6096000" y="23876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Digital Marketing</a:t>
            </a:r>
            <a:endParaRPr lang="en-US" sz="1100"/>
          </a:p>
          <a:p>
            <a:pPr marL="0" indent="0" algn="l">
              <a:lnSpc>
                <a:spcPct val="108000"/>
              </a:lnSpc>
            </a:pPr>
            <a:r>
              <a:rPr lang="en-US" sz="1200" b="0" i="0" u="none" strike="noStrike">
                <a:solidFill>
                  <a:srgbClr val="4B5563"/>
                </a:solidFill>
                <a:latin typeface="Poppins"/>
                <a:ea typeface="Poppins"/>
                <a:cs typeface="Poppins"/>
                <a:sym typeface="Poppins"/>
              </a:rPr>
              <a:t>Strategic content, SEO, and paid advertising on LinkedIn/Google drive brand visibility and lead generation.</a:t>
            </a:r>
            <a:endParaRPr lang="en-US" sz="1200" b="0" i="0" u="none" strike="noStrike">
              <a:solidFill>
                <a:srgbClr val="4B5563"/>
              </a:solidFill>
              <a:latin typeface="Poppins"/>
              <a:ea typeface="Poppins"/>
              <a:cs typeface="Poppins"/>
              <a:sym typeface="Poppins"/>
            </a:endParaRPr>
          </a:p>
        </p:txBody>
      </p:sp>
      <p:cxnSp>
        <p:nvCxnSpPr>
          <p:cNvPr id="14" name="Connector 14"/>
          <p:cNvCxnSpPr/>
          <p:nvPr/>
        </p:nvCxnSpPr>
        <p:spPr>
          <a:xfrm rot="-15989">
            <a:off x="5715015" y="3549650"/>
            <a:ext cx="27305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15000" y="3810000"/>
            <a:ext cx="304800" cy="304800"/>
          </a:xfrm>
          <a:prstGeom prst="rect">
            <a:avLst/>
          </a:prstGeom>
        </p:spPr>
      </p:pic>
      <p:sp>
        <p:nvSpPr>
          <p:cNvPr id="16" name="AutoShape 16"/>
          <p:cNvSpPr/>
          <p:nvPr/>
        </p:nvSpPr>
        <p:spPr>
          <a:xfrm>
            <a:off x="6096000" y="3784600"/>
            <a:ext cx="234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Strategic Partnerships</a:t>
            </a:r>
            <a:endParaRPr lang="en-US" sz="1100"/>
          </a:p>
          <a:p>
            <a:pPr marL="0" indent="0" algn="l">
              <a:lnSpc>
                <a:spcPct val="108000"/>
              </a:lnSpc>
            </a:pPr>
            <a:r>
              <a:rPr lang="en-US" sz="1200" b="0" i="0" u="none" strike="noStrike">
                <a:solidFill>
                  <a:srgbClr val="4B5563"/>
                </a:solidFill>
                <a:latin typeface="Poppins"/>
                <a:ea typeface="Poppins"/>
                <a:cs typeface="Poppins"/>
                <a:sym typeface="Poppins"/>
              </a:rPr>
              <a:t>Alliances with cloud providers and industry consultants extend our reach and credibility in target markets.</a:t>
            </a:r>
            <a:endParaRPr lang="en-US" sz="1200" b="0" i="0" u="none" strike="noStrike">
              <a:solidFill>
                <a:srgbClr val="4B5563"/>
              </a:solidFill>
              <a:latin typeface="Poppins"/>
              <a:ea typeface="Poppins"/>
              <a:cs typeface="Poppins"/>
              <a:sym typeface="Poppins"/>
            </a:endParaRPr>
          </a:p>
        </p:txBody>
      </p:sp>
      <p:cxnSp>
        <p:nvCxnSpPr>
          <p:cNvPr id="17" name="Connector 17"/>
          <p:cNvCxnSpPr/>
          <p:nvPr/>
        </p:nvCxnSpPr>
        <p:spPr>
          <a:xfrm rot="-15989">
            <a:off x="5715015" y="5073650"/>
            <a:ext cx="2730500" cy="12700"/>
          </a:xfrm>
          <a:prstGeom prst="straightConnector1">
            <a:avLst/>
          </a:prstGeom>
          <a:solidFill>
            <a:srgbClr val="DEE0E3">
              <a:alpha val="100000"/>
            </a:srgbClr>
          </a:solidFill>
          <a:ln w="12700" cap="flat" cmpd="sng">
            <a:solidFill>
              <a:srgbClr val="004D40">
                <a:alpha val="15000"/>
              </a:srgbClr>
            </a:solidFill>
            <a:prstDash val="dash"/>
            <a:round/>
            <a:headEnd type="none" w="med" len="med"/>
            <a:tailEnd type="none" w="med" len="med"/>
          </a:ln>
        </p:spPr>
      </p:cxn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15000" y="5270500"/>
            <a:ext cx="304800" cy="304800"/>
          </a:xfrm>
          <a:prstGeom prst="rect">
            <a:avLst/>
          </a:prstGeom>
        </p:spPr>
      </p:pic>
      <p:sp>
        <p:nvSpPr>
          <p:cNvPr id="19" name="AutoShape 19"/>
          <p:cNvSpPr/>
          <p:nvPr/>
        </p:nvSpPr>
        <p:spPr>
          <a:xfrm>
            <a:off x="6096000" y="52451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Dedicated Sales Team</a:t>
            </a:r>
            <a:endParaRPr lang="en-US" sz="1100"/>
          </a:p>
          <a:p>
            <a:pPr marL="0" indent="0" algn="l">
              <a:lnSpc>
                <a:spcPct val="108000"/>
              </a:lnSpc>
            </a:pPr>
            <a:r>
              <a:rPr lang="en-US" sz="1200" b="0" i="0" u="none" strike="noStrike">
                <a:solidFill>
                  <a:srgbClr val="4B5563"/>
                </a:solidFill>
                <a:latin typeface="Poppins"/>
                <a:ea typeface="Poppins"/>
                <a:cs typeface="Poppins"/>
                <a:sym typeface="Poppins"/>
              </a:rPr>
              <a:t>Inside sales focus on outbound prospecting and nurturing qualified leads to drive conversions.</a:t>
            </a:r>
            <a:endParaRPr lang="en-US" sz="1200" b="0" i="0" u="none" strike="noStrike">
              <a:solidFill>
                <a:srgbClr val="4B5563"/>
              </a:solidFill>
              <a:latin typeface="Poppins"/>
              <a:ea typeface="Poppins"/>
              <a:cs typeface="Poppins"/>
              <a:sym typeface="Poppins"/>
            </a:endParaRPr>
          </a:p>
        </p:txBody>
      </p:sp>
      <p:sp>
        <p:nvSpPr>
          <p:cNvPr id="20" name="AutoShape 20"/>
          <p:cNvSpPr/>
          <p:nvPr/>
        </p:nvSpPr>
        <p:spPr>
          <a:xfrm>
            <a:off x="8826500" y="1524000"/>
            <a:ext cx="2984500" cy="4699000"/>
          </a:xfrm>
          <a:prstGeom prst="roundRect">
            <a:avLst>
              <a:gd name="adj" fmla="val 0"/>
            </a:avLst>
          </a:prstGeom>
          <a:solidFill>
            <a:srgbClr val="FFFFFF">
              <a:alpha val="75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826500" y="1524000"/>
            <a:ext cx="2984500" cy="508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953500" y="16002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CUSTOMER JOURNEY</a:t>
            </a:r>
            <a:endParaRPr lang="en-US" sz="1100"/>
          </a:p>
        </p:txBody>
      </p:sp>
      <p:sp>
        <p:nvSpPr>
          <p:cNvPr id="23" name="AutoShape 23"/>
          <p:cNvSpPr/>
          <p:nvPr/>
        </p:nvSpPr>
        <p:spPr>
          <a:xfrm>
            <a:off x="8953500" y="2413000"/>
            <a:ext cx="2730500" cy="825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017000" y="2476500"/>
            <a:ext cx="2603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04D40"/>
                </a:solidFill>
                <a:latin typeface="Poppins"/>
                <a:ea typeface="Poppins"/>
                <a:cs typeface="Poppins"/>
                <a:sym typeface="Poppins"/>
              </a:rPr>
              <a:t>01. Awareness</a:t>
            </a:r>
            <a:endParaRPr lang="en-US" sz="1100"/>
          </a:p>
          <a:p>
            <a:pPr marL="0" indent="0" algn="l">
              <a:lnSpc>
                <a:spcPct val="125000"/>
              </a:lnSpc>
            </a:pPr>
            <a:r>
              <a:rPr lang="en-US" sz="1100" b="0" i="0" u="none" strike="noStrike">
                <a:solidFill>
                  <a:srgbClr val="4B5563"/>
                </a:solidFill>
                <a:latin typeface="Poppins"/>
                <a:ea typeface="Poppins"/>
                <a:cs typeface="Poppins"/>
                <a:sym typeface="Poppins"/>
              </a:rPr>
              <a:t>Webinars and thought leadership content position us as industry experts.</a:t>
            </a:r>
            <a:endParaRPr lang="en-US" sz="1100" b="0" i="0" u="none" strike="noStrike">
              <a:solidFill>
                <a:srgbClr val="4B5563"/>
              </a:solidFill>
              <a:latin typeface="Poppins"/>
              <a:ea typeface="Poppins"/>
              <a:cs typeface="Poppins"/>
              <a:sym typeface="Poppins"/>
            </a:endParaRPr>
          </a:p>
        </p:txBody>
      </p:sp>
      <p:sp>
        <p:nvSpPr>
          <p:cNvPr id="25" name="AutoShape 25"/>
          <p:cNvSpPr/>
          <p:nvPr/>
        </p:nvSpPr>
        <p:spPr>
          <a:xfrm>
            <a:off x="8953500" y="3365500"/>
            <a:ext cx="2730500" cy="825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017000" y="3429000"/>
            <a:ext cx="2603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04D40"/>
                </a:solidFill>
                <a:latin typeface="Poppins"/>
                <a:ea typeface="Poppins"/>
                <a:cs typeface="Poppins"/>
                <a:sym typeface="Poppins"/>
              </a:rPr>
              <a:t>02. Consideration</a:t>
            </a:r>
            <a:endParaRPr lang="en-US" sz="1100"/>
          </a:p>
          <a:p>
            <a:pPr marL="0" indent="0" algn="l">
              <a:lnSpc>
                <a:spcPct val="125000"/>
              </a:lnSpc>
            </a:pPr>
            <a:r>
              <a:rPr lang="en-US" sz="1100" b="0" i="0" u="none" strike="noStrike">
                <a:solidFill>
                  <a:srgbClr val="4B5563"/>
                </a:solidFill>
                <a:latin typeface="Poppins"/>
                <a:ea typeface="Poppins"/>
                <a:cs typeface="Poppins"/>
                <a:sym typeface="Poppins"/>
              </a:rPr>
              <a:t>Free trials and personalized product demos let prospects experience value.</a:t>
            </a:r>
            <a:endParaRPr lang="en-US" sz="1100" b="0" i="0" u="none" strike="noStrike">
              <a:solidFill>
                <a:srgbClr val="4B5563"/>
              </a:solidFill>
              <a:latin typeface="Poppins"/>
              <a:ea typeface="Poppins"/>
              <a:cs typeface="Poppins"/>
              <a:sym typeface="Poppins"/>
            </a:endParaRPr>
          </a:p>
        </p:txBody>
      </p:sp>
      <p:sp>
        <p:nvSpPr>
          <p:cNvPr id="27" name="AutoShape 27"/>
          <p:cNvSpPr/>
          <p:nvPr/>
        </p:nvSpPr>
        <p:spPr>
          <a:xfrm>
            <a:off x="8953500" y="4318000"/>
            <a:ext cx="2730500" cy="8890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017000" y="4381500"/>
            <a:ext cx="2603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04D40"/>
                </a:solidFill>
                <a:latin typeface="Poppins"/>
                <a:ea typeface="Poppins"/>
                <a:cs typeface="Poppins"/>
                <a:sym typeface="Poppins"/>
              </a:rPr>
              <a:t>03. Conversion &amp; Retention</a:t>
            </a:r>
            <a:endParaRPr lang="en-US" sz="1100"/>
          </a:p>
          <a:p>
            <a:pPr marL="0" indent="0" algn="l">
              <a:lnSpc>
                <a:spcPct val="125000"/>
              </a:lnSpc>
            </a:pPr>
            <a:r>
              <a:rPr lang="en-US" sz="1100" b="0" i="0" u="none" strike="noStrike">
                <a:solidFill>
                  <a:srgbClr val="4B5563"/>
                </a:solidFill>
                <a:latin typeface="Poppins"/>
                <a:ea typeface="Poppins"/>
                <a:cs typeface="Poppins"/>
                <a:sym typeface="Poppins"/>
              </a:rPr>
              <a:t>Tailored sales process drives conversion, while onboarding and updates ensure long-term loyalty.</a:t>
            </a:r>
            <a:endParaRPr lang="en-US" sz="1100" b="0" i="0" u="none" strike="noStrike">
              <a:solidFill>
                <a:srgbClr val="4B5563"/>
              </a:solidFill>
              <a:latin typeface="Poppins"/>
              <a:ea typeface="Poppins"/>
              <a:cs typeface="Poppins"/>
              <a:sym typeface="Poppins"/>
            </a:endParaRPr>
          </a:p>
        </p:txBody>
      </p:sp>
      <p:sp>
        <p:nvSpPr>
          <p:cNvPr id="29" name="AutoShape 29"/>
          <p:cNvSpPr/>
          <p:nvPr/>
        </p:nvSpPr>
        <p:spPr>
          <a:xfrm>
            <a:off x="8953500" y="5461000"/>
            <a:ext cx="2730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6B7280"/>
                </a:solidFill>
                <a:latin typeface="Poppins"/>
                <a:ea typeface="Poppins"/>
                <a:cs typeface="Poppins"/>
                <a:sym typeface="Poppins"/>
              </a:rPr>
              <a:t>Our holistic journey ensures every touchpoint delivers value, fostering trust and sustainable growth.</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Proven Success &amp; Momentum</a:t>
            </a:r>
            <a:endParaRPr lang="en-US" sz="1100"/>
          </a:p>
        </p:txBody>
      </p:sp>
      <p:sp>
        <p:nvSpPr>
          <p:cNvPr id="4" name="AutoShape 4"/>
          <p:cNvSpPr/>
          <p:nvPr/>
        </p:nvSpPr>
        <p:spPr>
          <a:xfrm>
            <a:off x="762000" y="1778000"/>
            <a:ext cx="3429000" cy="1778000"/>
          </a:xfrm>
          <a:prstGeom prst="roundRect">
            <a:avLst>
              <a:gd name="adj" fmla="val 0"/>
            </a:avLst>
          </a:prstGeom>
          <a:solidFill>
            <a:srgbClr val="FFFFFF">
              <a:alpha val="70000"/>
            </a:srgbClr>
          </a:solidFill>
          <a:ln w="12700" cap="flat" cmpd="sng">
            <a:solidFill>
              <a:srgbClr val="004D40">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3429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32000"/>
            <a:ext cx="355600" cy="355600"/>
          </a:xfrm>
          <a:prstGeom prst="rect">
            <a:avLst/>
          </a:prstGeom>
        </p:spPr>
      </p:pic>
      <p:sp>
        <p:nvSpPr>
          <p:cNvPr id="7" name="AutoShape 7"/>
          <p:cNvSpPr/>
          <p:nvPr/>
        </p:nvSpPr>
        <p:spPr>
          <a:xfrm>
            <a:off x="1397000" y="2006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Poppins"/>
                <a:ea typeface="Poppins"/>
                <a:cs typeface="Poppins"/>
                <a:sym typeface="Poppins"/>
              </a:rPr>
              <a:t>Users &amp; Customers</a:t>
            </a:r>
            <a:endParaRPr lang="en-US" sz="1100"/>
          </a:p>
        </p:txBody>
      </p:sp>
      <p:sp>
        <p:nvSpPr>
          <p:cNvPr id="8" name="AutoShape 8"/>
          <p:cNvSpPr/>
          <p:nvPr/>
        </p:nvSpPr>
        <p:spPr>
          <a:xfrm>
            <a:off x="952500" y="2667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Poppins"/>
                <a:ea typeface="Poppins"/>
                <a:cs typeface="Poppins"/>
                <a:sym typeface="Poppins"/>
              </a:rPr>
              <a:t>2,000+ active users and 150+ paying enterprise customers, demonstrating strong product-market fit.</a:t>
            </a:r>
            <a:endParaRPr lang="en-US" sz="1100"/>
          </a:p>
        </p:txBody>
      </p:sp>
      <p:sp>
        <p:nvSpPr>
          <p:cNvPr id="9" name="AutoShape 9"/>
          <p:cNvSpPr/>
          <p:nvPr/>
        </p:nvSpPr>
        <p:spPr>
          <a:xfrm>
            <a:off x="4381500" y="1778000"/>
            <a:ext cx="3429000" cy="1778000"/>
          </a:xfrm>
          <a:prstGeom prst="roundRect">
            <a:avLst>
              <a:gd name="adj" fmla="val 0"/>
            </a:avLst>
          </a:prstGeom>
          <a:solidFill>
            <a:srgbClr val="FFFFFF">
              <a:alpha val="70000"/>
            </a:srgbClr>
          </a:solidFill>
          <a:ln w="12700" cap="flat" cmpd="sng">
            <a:solidFill>
              <a:srgbClr val="004D40">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778000"/>
            <a:ext cx="3429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032000"/>
            <a:ext cx="355600" cy="355600"/>
          </a:xfrm>
          <a:prstGeom prst="rect">
            <a:avLst/>
          </a:prstGeom>
        </p:spPr>
      </p:pic>
      <p:sp>
        <p:nvSpPr>
          <p:cNvPr id="12" name="AutoShape 12"/>
          <p:cNvSpPr/>
          <p:nvPr/>
        </p:nvSpPr>
        <p:spPr>
          <a:xfrm>
            <a:off x="5016500" y="2006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Poppins"/>
                <a:ea typeface="Poppins"/>
                <a:cs typeface="Poppins"/>
                <a:sym typeface="Poppins"/>
              </a:rPr>
              <a:t>Annual Recurring Revenue</a:t>
            </a:r>
            <a:endParaRPr lang="en-US" sz="1100"/>
          </a:p>
        </p:txBody>
      </p:sp>
      <p:sp>
        <p:nvSpPr>
          <p:cNvPr id="13" name="AutoShape 13"/>
          <p:cNvSpPr/>
          <p:nvPr/>
        </p:nvSpPr>
        <p:spPr>
          <a:xfrm>
            <a:off x="4572000" y="2667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Poppins"/>
                <a:ea typeface="Poppins"/>
                <a:cs typeface="Poppins"/>
                <a:sym typeface="Poppins"/>
              </a:rPr>
              <a:t>Achieved $1.2M ARR with a 92% customer retention rate, building a stable and predictable revenue stream.</a:t>
            </a:r>
            <a:endParaRPr lang="en-US" sz="1100"/>
          </a:p>
        </p:txBody>
      </p:sp>
      <p:sp>
        <p:nvSpPr>
          <p:cNvPr id="14" name="AutoShape 14"/>
          <p:cNvSpPr/>
          <p:nvPr/>
        </p:nvSpPr>
        <p:spPr>
          <a:xfrm>
            <a:off x="8001000" y="1778000"/>
            <a:ext cx="3429000" cy="1778000"/>
          </a:xfrm>
          <a:prstGeom prst="roundRect">
            <a:avLst>
              <a:gd name="adj" fmla="val 0"/>
            </a:avLst>
          </a:prstGeom>
          <a:solidFill>
            <a:srgbClr val="FFFFFF">
              <a:alpha val="70000"/>
            </a:srgbClr>
          </a:solidFill>
          <a:ln w="12700" cap="flat" cmpd="sng">
            <a:solidFill>
              <a:srgbClr val="004D40">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778000"/>
            <a:ext cx="3429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032000"/>
            <a:ext cx="355600" cy="355600"/>
          </a:xfrm>
          <a:prstGeom prst="rect">
            <a:avLst/>
          </a:prstGeom>
        </p:spPr>
      </p:pic>
      <p:sp>
        <p:nvSpPr>
          <p:cNvPr id="17" name="AutoShape 17"/>
          <p:cNvSpPr/>
          <p:nvPr/>
        </p:nvSpPr>
        <p:spPr>
          <a:xfrm>
            <a:off x="8636000" y="2006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Poppins"/>
                <a:ea typeface="Poppins"/>
                <a:cs typeface="Poppins"/>
                <a:sym typeface="Poppins"/>
              </a:rPr>
              <a:t>Sustained Growth</a:t>
            </a:r>
            <a:endParaRPr lang="en-US" sz="1100"/>
          </a:p>
        </p:txBody>
      </p:sp>
      <p:sp>
        <p:nvSpPr>
          <p:cNvPr id="18" name="AutoShape 18"/>
          <p:cNvSpPr/>
          <p:nvPr/>
        </p:nvSpPr>
        <p:spPr>
          <a:xfrm>
            <a:off x="8191500" y="2667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Poppins"/>
                <a:ea typeface="Poppins"/>
                <a:cs typeface="Poppins"/>
                <a:sym typeface="Poppins"/>
              </a:rPr>
              <a:t>Experiencing 22% month-over-month (MoM) growth in new sign-ups, driven by organic referrals and marketing.</a:t>
            </a:r>
            <a:endParaRPr lang="en-US" sz="1100"/>
          </a:p>
        </p:txBody>
      </p:sp>
      <p:sp>
        <p:nvSpPr>
          <p:cNvPr id="19" name="AutoShape 19"/>
          <p:cNvSpPr/>
          <p:nvPr/>
        </p:nvSpPr>
        <p:spPr>
          <a:xfrm>
            <a:off x="762000" y="4064000"/>
            <a:ext cx="2603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064000"/>
            <a:ext cx="50800" cy="13970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191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Q1 2025: MVP Launch</a:t>
            </a:r>
            <a:endParaRPr lang="en-US" sz="1100"/>
          </a:p>
        </p:txBody>
      </p:sp>
      <p:cxnSp>
        <p:nvCxnSpPr>
          <p:cNvPr id="22" name="Connector 22"/>
          <p:cNvCxnSpPr/>
          <p:nvPr/>
        </p:nvCxnSpPr>
        <p:spPr>
          <a:xfrm rot="-19644">
            <a:off x="952518" y="4565650"/>
            <a:ext cx="22225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23" name="AutoShape 23"/>
          <p:cNvSpPr/>
          <p:nvPr/>
        </p:nvSpPr>
        <p:spPr>
          <a:xfrm>
            <a:off x="952500" y="4699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Poppins"/>
                <a:ea typeface="Poppins"/>
                <a:cs typeface="Poppins"/>
                <a:sym typeface="Poppins"/>
              </a:rPr>
              <a:t>Successfully released MVP and onboarded the first 10 beta customers, validating core value proposition.</a:t>
            </a:r>
            <a:endParaRPr lang="en-US" sz="1100"/>
          </a:p>
        </p:txBody>
      </p:sp>
      <p:sp>
        <p:nvSpPr>
          <p:cNvPr id="24" name="AutoShape 24"/>
          <p:cNvSpPr/>
          <p:nvPr/>
        </p:nvSpPr>
        <p:spPr>
          <a:xfrm>
            <a:off x="3530600" y="4064000"/>
            <a:ext cx="2603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3530600" y="4064000"/>
            <a:ext cx="50800" cy="13970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721100" y="4191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Q3 2025: Seed Funding</a:t>
            </a:r>
            <a:endParaRPr lang="en-US" sz="1100"/>
          </a:p>
        </p:txBody>
      </p:sp>
      <p:cxnSp>
        <p:nvCxnSpPr>
          <p:cNvPr id="27" name="Connector 27"/>
          <p:cNvCxnSpPr/>
          <p:nvPr/>
        </p:nvCxnSpPr>
        <p:spPr>
          <a:xfrm rot="-19644">
            <a:off x="3721118" y="4565650"/>
            <a:ext cx="22225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28" name="AutoShape 28"/>
          <p:cNvSpPr/>
          <p:nvPr/>
        </p:nvSpPr>
        <p:spPr>
          <a:xfrm>
            <a:off x="3721100" y="4699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Poppins"/>
                <a:ea typeface="Poppins"/>
                <a:cs typeface="Poppins"/>
                <a:sym typeface="Poppins"/>
              </a:rPr>
              <a:t>Secured $2.5 million in seed funding from leading investors to scale operations and product development.</a:t>
            </a:r>
            <a:endParaRPr lang="en-US" sz="1100"/>
          </a:p>
        </p:txBody>
      </p:sp>
      <p:sp>
        <p:nvSpPr>
          <p:cNvPr id="29" name="AutoShape 29"/>
          <p:cNvSpPr/>
          <p:nvPr/>
        </p:nvSpPr>
        <p:spPr>
          <a:xfrm>
            <a:off x="6299200" y="4064000"/>
            <a:ext cx="2603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299200" y="4064000"/>
            <a:ext cx="50800" cy="13970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489700" y="4191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Q1 2026: Expansion</a:t>
            </a:r>
            <a:endParaRPr lang="en-US" sz="1100"/>
          </a:p>
        </p:txBody>
      </p:sp>
      <p:cxnSp>
        <p:nvCxnSpPr>
          <p:cNvPr id="32" name="Connector 32"/>
          <p:cNvCxnSpPr/>
          <p:nvPr/>
        </p:nvCxnSpPr>
        <p:spPr>
          <a:xfrm rot="-19644">
            <a:off x="6489718" y="4565650"/>
            <a:ext cx="22225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33" name="AutoShape 33"/>
          <p:cNvSpPr/>
          <p:nvPr/>
        </p:nvSpPr>
        <p:spPr>
          <a:xfrm>
            <a:off x="6489700" y="4699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Poppins"/>
                <a:ea typeface="Poppins"/>
                <a:cs typeface="Poppins"/>
                <a:sym typeface="Poppins"/>
              </a:rPr>
              <a:t>Launched AI-powered analytics feature and successfully expanded services into the European market.</a:t>
            </a:r>
            <a:endParaRPr lang="en-US" sz="1100"/>
          </a:p>
        </p:txBody>
      </p:sp>
      <p:sp>
        <p:nvSpPr>
          <p:cNvPr id="34" name="AutoShape 34"/>
          <p:cNvSpPr/>
          <p:nvPr/>
        </p:nvSpPr>
        <p:spPr>
          <a:xfrm>
            <a:off x="9067800" y="4064000"/>
            <a:ext cx="2603500" cy="1397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9067800" y="4064000"/>
            <a:ext cx="50800" cy="13970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258300" y="4191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Current: Industry Leader</a:t>
            </a:r>
            <a:endParaRPr lang="en-US" sz="1100"/>
          </a:p>
        </p:txBody>
      </p:sp>
      <p:cxnSp>
        <p:nvCxnSpPr>
          <p:cNvPr id="37" name="Connector 37"/>
          <p:cNvCxnSpPr/>
          <p:nvPr/>
        </p:nvCxnSpPr>
        <p:spPr>
          <a:xfrm rot="-19644">
            <a:off x="9258318" y="4565650"/>
            <a:ext cx="22225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38" name="AutoShape 38"/>
          <p:cNvSpPr/>
          <p:nvPr/>
        </p:nvSpPr>
        <p:spPr>
          <a:xfrm>
            <a:off x="9258300" y="46990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Poppins"/>
                <a:ea typeface="Poppins"/>
                <a:cs typeface="Poppins"/>
                <a:sym typeface="Poppins"/>
              </a:rPr>
              <a:t>Achieved operational profitability and announced a strategic partnership with a Fortune 500 industry player.</a:t>
            </a:r>
            <a:endParaRPr lang="en-US" sz="1100"/>
          </a:p>
        </p:txBody>
      </p:sp>
      <p:sp>
        <p:nvSpPr>
          <p:cNvPr id="39" name="AutoShape 39"/>
          <p:cNvSpPr/>
          <p:nvPr/>
        </p:nvSpPr>
        <p:spPr>
          <a:xfrm>
            <a:off x="762000" y="5778500"/>
            <a:ext cx="10668000" cy="825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905500"/>
            <a:ext cx="304800" cy="304800"/>
          </a:xfrm>
          <a:prstGeom prst="rect">
            <a:avLst/>
          </a:prstGeom>
        </p:spPr>
      </p:pic>
      <p:sp>
        <p:nvSpPr>
          <p:cNvPr id="41" name="AutoShape 41"/>
          <p:cNvSpPr/>
          <p:nvPr/>
        </p:nvSpPr>
        <p:spPr>
          <a:xfrm>
            <a:off x="1397000" y="5867400"/>
            <a:ext cx="984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1" u="none" strike="noStrike">
                <a:solidFill>
                  <a:srgbClr val="374151"/>
                </a:solidFill>
                <a:latin typeface="Poppins"/>
                <a:ea typeface="Poppins"/>
                <a:cs typeface="Poppins"/>
                <a:sym typeface="Poppins"/>
              </a:rPr>
              <a:t>"This product has completely transformed our workflow, automating tedious processes and saving our team countless hours each week. It's been a game-changer for our efficiency."</a:t>
            </a:r>
            <a:r>
              <a:rPr lang="en-US" sz="1300" b="1" i="0" u="none" strike="noStrike">
                <a:solidFill>
                  <a:srgbClr val="004D40"/>
                </a:solidFill>
                <a:latin typeface="Poppins"/>
                <a:ea typeface="Poppins"/>
                <a:cs typeface="Poppins"/>
                <a:sym typeface="Poppins"/>
              </a:rPr>
              <a:t>— Maria Gonzalez, Operations Director, Global Retail Inc.</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The Expertise Behind Our Vision</a:t>
            </a:r>
            <a:endParaRPr lang="en-US" sz="1100"/>
          </a:p>
        </p:txBody>
      </p:sp>
      <p:pic>
        <p:nvPicPr>
          <p:cNvPr id="4" name="Picture 4"/>
          <p:cNvPicPr>
            <a:picLocks noChangeAspect="1"/>
          </p:cNvPicPr>
          <p:nvPr/>
        </p:nvPicPr>
        <p:blipFill>
          <a:blip r:embed="rId2"/>
          <a:srcRect/>
          <a:stretch>
            <a:fillRect/>
          </a:stretch>
        </p:blipFill>
        <p:spPr>
          <a:xfrm>
            <a:off x="762000" y="1778000"/>
            <a:ext cx="3302000" cy="3302000"/>
          </a:xfrm>
          <a:prstGeom prst="rect">
            <a:avLst/>
          </a:prstGeom>
          <a:noFill/>
          <a:ln w="25400" cap="flat" cmpd="sng">
            <a:solidFill>
              <a:srgbClr val="004D40">
                <a:alpha val="20000"/>
              </a:srgbClr>
            </a:solidFill>
            <a:prstDash val="solid"/>
            <a:round/>
          </a:ln>
        </p:spPr>
      </p:pic>
      <p:sp>
        <p:nvSpPr>
          <p:cNvPr id="5" name="AutoShape 5"/>
          <p:cNvSpPr/>
          <p:nvPr/>
        </p:nvSpPr>
        <p:spPr>
          <a:xfrm>
            <a:off x="762000" y="53340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a:ea typeface="Noto Sans SC"/>
                <a:cs typeface="Noto Sans SC"/>
                <a:sym typeface="Noto Sans SC"/>
              </a:rPr>
              <a:t>“Our collective experience in SaaS, AI, and sales leadership is the cornerstone of our ability to deliver transformative solutions and drive sustainable growth.”</a:t>
            </a:r>
            <a:endParaRPr lang="en-US" sz="1100"/>
          </a:p>
        </p:txBody>
      </p:sp>
      <p:cxnSp>
        <p:nvCxnSpPr>
          <p:cNvPr id="6" name="Connector 6"/>
          <p:cNvCxnSpPr/>
          <p:nvPr/>
        </p:nvCxnSpPr>
        <p:spPr>
          <a:xfrm rot="5389889">
            <a:off x="2413000" y="4057659"/>
            <a:ext cx="4318000" cy="12700"/>
          </a:xfrm>
          <a:prstGeom prst="straightConnector1">
            <a:avLst/>
          </a:prstGeom>
          <a:solidFill>
            <a:srgbClr val="DEE0E3">
              <a:alpha val="100000"/>
            </a:srgbClr>
          </a:solidFill>
          <a:ln w="12700" cap="flat" cmpd="sng">
            <a:solidFill>
              <a:srgbClr val="004D40">
                <a:alpha val="20000"/>
              </a:srgbClr>
            </a:solidFill>
            <a:prstDash val="dash"/>
            <a:round/>
            <a:headEnd type="none" w="med" len="med"/>
            <a:tailEnd type="none" w="med" len="med"/>
          </a:ln>
        </p:spPr>
      </p:cxnSp>
      <p:sp>
        <p:nvSpPr>
          <p:cNvPr id="7" name="AutoShape 7"/>
          <p:cNvSpPr/>
          <p:nvPr/>
        </p:nvSpPr>
        <p:spPr>
          <a:xfrm>
            <a:off x="4826000" y="1778000"/>
            <a:ext cx="2222500" cy="368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826000" y="1778000"/>
            <a:ext cx="22225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16500" y="2095500"/>
            <a:ext cx="406400" cy="406400"/>
          </a:xfrm>
          <a:prstGeom prst="rect">
            <a:avLst/>
          </a:prstGeom>
        </p:spPr>
      </p:pic>
      <p:sp>
        <p:nvSpPr>
          <p:cNvPr id="10" name="AutoShape 10"/>
          <p:cNvSpPr/>
          <p:nvPr/>
        </p:nvSpPr>
        <p:spPr>
          <a:xfrm>
            <a:off x="5016500" y="2667000"/>
            <a:ext cx="190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David Chen</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CEO &amp; Co-founder</a:t>
            </a:r>
            <a:endParaRPr lang="en-US" sz="1300" b="0" i="0" u="none" strike="noStrike">
              <a:solidFill>
                <a:srgbClr val="6B7280"/>
              </a:solidFill>
              <a:latin typeface="Noto Sans SC"/>
              <a:ea typeface="Noto Sans SC"/>
              <a:cs typeface="Noto Sans SC"/>
              <a:sym typeface="Noto Sans SC"/>
            </a:endParaRPr>
          </a:p>
        </p:txBody>
      </p:sp>
      <p:cxnSp>
        <p:nvCxnSpPr>
          <p:cNvPr id="11" name="Connector 11"/>
          <p:cNvCxnSpPr/>
          <p:nvPr/>
        </p:nvCxnSpPr>
        <p:spPr>
          <a:xfrm rot="-23708">
            <a:off x="5016522" y="3676650"/>
            <a:ext cx="1841500" cy="12700"/>
          </a:xfrm>
          <a:prstGeom prst="straightConnector1">
            <a:avLst/>
          </a:prstGeom>
          <a:solidFill>
            <a:srgbClr val="DEE0E3">
              <a:alpha val="100000"/>
            </a:srgbClr>
          </a:solidFill>
          <a:ln w="12700" cap="flat" cmpd="sng">
            <a:solidFill>
              <a:srgbClr val="004D40">
                <a:alpha val="15000"/>
              </a:srgbClr>
            </a:solidFill>
            <a:prstDash val="solid"/>
            <a:round/>
            <a:headEnd type="none" w="med" len="med"/>
            <a:tailEnd type="none" w="med" len="med"/>
          </a:ln>
        </p:spPr>
      </p:cxnSp>
      <p:sp>
        <p:nvSpPr>
          <p:cNvPr id="12" name="AutoShape 12"/>
          <p:cNvSpPr/>
          <p:nvPr/>
        </p:nvSpPr>
        <p:spPr>
          <a:xfrm>
            <a:off x="5016500" y="3937000"/>
            <a:ext cx="190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15 years of SaaS expertise, previously led product innovation at a unicorn fintech startup. Holds an MBA from Wharton, driving strategic vision and market expansion.</a:t>
            </a:r>
            <a:endParaRPr lang="en-US" sz="1100"/>
          </a:p>
        </p:txBody>
      </p:sp>
      <p:sp>
        <p:nvSpPr>
          <p:cNvPr id="13" name="AutoShape 13"/>
          <p:cNvSpPr/>
          <p:nvPr/>
        </p:nvSpPr>
        <p:spPr>
          <a:xfrm>
            <a:off x="7239000" y="1778000"/>
            <a:ext cx="2222500" cy="368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239000" y="1778000"/>
            <a:ext cx="22225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29500" y="2095500"/>
            <a:ext cx="406400" cy="406400"/>
          </a:xfrm>
          <a:prstGeom prst="rect">
            <a:avLst/>
          </a:prstGeom>
        </p:spPr>
      </p:pic>
      <p:sp>
        <p:nvSpPr>
          <p:cNvPr id="16" name="AutoShape 16"/>
          <p:cNvSpPr/>
          <p:nvPr/>
        </p:nvSpPr>
        <p:spPr>
          <a:xfrm>
            <a:off x="7429500" y="2667000"/>
            <a:ext cx="190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Sarah Lin</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CTO &amp; Co-founder</a:t>
            </a:r>
            <a:endParaRPr lang="en-US" sz="1300" b="0" i="0" u="none" strike="noStrike">
              <a:solidFill>
                <a:srgbClr val="6B7280"/>
              </a:solidFill>
              <a:latin typeface="Noto Sans SC"/>
              <a:ea typeface="Noto Sans SC"/>
              <a:cs typeface="Noto Sans SC"/>
              <a:sym typeface="Noto Sans SC"/>
            </a:endParaRPr>
          </a:p>
        </p:txBody>
      </p:sp>
      <p:cxnSp>
        <p:nvCxnSpPr>
          <p:cNvPr id="17" name="Connector 17"/>
          <p:cNvCxnSpPr/>
          <p:nvPr/>
        </p:nvCxnSpPr>
        <p:spPr>
          <a:xfrm rot="-23708">
            <a:off x="7429522" y="3676650"/>
            <a:ext cx="1841500" cy="12700"/>
          </a:xfrm>
          <a:prstGeom prst="straightConnector1">
            <a:avLst/>
          </a:prstGeom>
          <a:solidFill>
            <a:srgbClr val="DEE0E3">
              <a:alpha val="100000"/>
            </a:srgbClr>
          </a:solidFill>
          <a:ln w="12700" cap="flat" cmpd="sng">
            <a:solidFill>
              <a:srgbClr val="004D40">
                <a:alpha val="15000"/>
              </a:srgbClr>
            </a:solidFill>
            <a:prstDash val="solid"/>
            <a:round/>
            <a:headEnd type="none" w="med" len="med"/>
            <a:tailEnd type="none" w="med" len="med"/>
          </a:ln>
        </p:spPr>
      </p:cxnSp>
      <p:sp>
        <p:nvSpPr>
          <p:cNvPr id="18" name="AutoShape 18"/>
          <p:cNvSpPr/>
          <p:nvPr/>
        </p:nvSpPr>
        <p:spPr>
          <a:xfrm>
            <a:off x="7429500" y="3937000"/>
            <a:ext cx="190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AI and scalable systems expert with 8+ patents in distributed computing. Formerly built core infrastructure at Google, ensuring our tech stack is robust and future-proof.</a:t>
            </a:r>
            <a:endParaRPr lang="en-US" sz="1100"/>
          </a:p>
        </p:txBody>
      </p:sp>
      <p:sp>
        <p:nvSpPr>
          <p:cNvPr id="19" name="AutoShape 19"/>
          <p:cNvSpPr/>
          <p:nvPr/>
        </p:nvSpPr>
        <p:spPr>
          <a:xfrm>
            <a:off x="9525000" y="1778000"/>
            <a:ext cx="2222500" cy="368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0" y="1778000"/>
            <a:ext cx="22225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5500" y="2095500"/>
            <a:ext cx="406400" cy="406400"/>
          </a:xfrm>
          <a:prstGeom prst="rect">
            <a:avLst/>
          </a:prstGeom>
        </p:spPr>
      </p:pic>
      <p:sp>
        <p:nvSpPr>
          <p:cNvPr id="22" name="AutoShape 22"/>
          <p:cNvSpPr/>
          <p:nvPr/>
        </p:nvSpPr>
        <p:spPr>
          <a:xfrm>
            <a:off x="9715500" y="2667000"/>
            <a:ext cx="190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Michael Tao</a:t>
            </a:r>
            <a:endParaRPr lang="en-US" sz="1100"/>
          </a:p>
          <a:p>
            <a:pPr marL="0" indent="0" algn="l">
              <a:lnSpc>
                <a:spcPct val="125000"/>
              </a:lnSpc>
            </a:pPr>
            <a:r>
              <a:rPr lang="en-US" sz="1300" b="0" i="0" u="none" strike="noStrike">
                <a:solidFill>
                  <a:srgbClr val="6B7280"/>
                </a:solidFill>
                <a:latin typeface="Noto Sans SC"/>
                <a:ea typeface="Noto Sans SC"/>
                <a:cs typeface="Noto Sans SC"/>
                <a:sym typeface="Noto Sans SC"/>
              </a:rPr>
              <a:t>VP of Sales</a:t>
            </a:r>
            <a:endParaRPr lang="en-US" sz="1300" b="0" i="0" u="none" strike="noStrike">
              <a:solidFill>
                <a:srgbClr val="6B7280"/>
              </a:solidFill>
              <a:latin typeface="Noto Sans SC"/>
              <a:ea typeface="Noto Sans SC"/>
              <a:cs typeface="Noto Sans SC"/>
              <a:sym typeface="Noto Sans SC"/>
            </a:endParaRPr>
          </a:p>
        </p:txBody>
      </p:sp>
      <p:cxnSp>
        <p:nvCxnSpPr>
          <p:cNvPr id="23" name="Connector 23"/>
          <p:cNvCxnSpPr/>
          <p:nvPr/>
        </p:nvCxnSpPr>
        <p:spPr>
          <a:xfrm rot="-23708">
            <a:off x="9715522" y="3676650"/>
            <a:ext cx="1841500" cy="12700"/>
          </a:xfrm>
          <a:prstGeom prst="straightConnector1">
            <a:avLst/>
          </a:prstGeom>
          <a:solidFill>
            <a:srgbClr val="DEE0E3">
              <a:alpha val="100000"/>
            </a:srgbClr>
          </a:solidFill>
          <a:ln w="12700" cap="flat" cmpd="sng">
            <a:solidFill>
              <a:srgbClr val="004D40">
                <a:alpha val="15000"/>
              </a:srgbClr>
            </a:solidFill>
            <a:prstDash val="solid"/>
            <a:round/>
            <a:headEnd type="none" w="med" len="med"/>
            <a:tailEnd type="none" w="med" len="med"/>
          </a:ln>
        </p:spPr>
      </p:cxnSp>
      <p:sp>
        <p:nvSpPr>
          <p:cNvPr id="24" name="AutoShape 24"/>
          <p:cNvSpPr/>
          <p:nvPr/>
        </p:nvSpPr>
        <p:spPr>
          <a:xfrm>
            <a:off x="9715500" y="3937000"/>
            <a:ext cx="190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Proven leader in building high-performing sales teams across the enterprise SaaS sector. Delivered 3x revenue growth in his last role by aligning strategy with customer needs.</a:t>
            </a:r>
            <a:endParaRPr lang="en-US" sz="1100"/>
          </a:p>
        </p:txBody>
      </p:sp>
      <p:sp>
        <p:nvSpPr>
          <p:cNvPr id="25" name="AutoShape 25"/>
          <p:cNvSpPr/>
          <p:nvPr/>
        </p:nvSpPr>
        <p:spPr>
          <a:xfrm>
            <a:off x="4826000" y="5715000"/>
            <a:ext cx="6921500" cy="762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5016500" y="5816600"/>
            <a:ext cx="6540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04D40"/>
                </a:solidFill>
                <a:latin typeface="Noto Sans SC"/>
                <a:ea typeface="Noto Sans SC"/>
                <a:cs typeface="Noto Sans SC"/>
                <a:sym typeface="Noto Sans SC"/>
              </a:rPr>
              <a:t>Combining visionary leadership, cutting-edge technical innovation, and data-driven sales strategy, our team is uniquely positioned to execute on our long-term mission.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Our Vision for the Future</a:t>
            </a:r>
            <a:endParaRPr lang="en-US" sz="1100"/>
          </a:p>
        </p:txBody>
      </p:sp>
      <p:cxnSp>
        <p:nvCxnSpPr>
          <p:cNvPr id="4" name="Connector 4"/>
          <p:cNvCxnSpPr/>
          <p:nvPr/>
        </p:nvCxnSpPr>
        <p:spPr>
          <a:xfrm rot="5389257">
            <a:off x="4064000" y="3930660"/>
            <a:ext cx="4064000" cy="12700"/>
          </a:xfrm>
          <a:prstGeom prst="straightConnector1">
            <a:avLst/>
          </a:prstGeom>
          <a:solidFill>
            <a:srgbClr val="DEE0E3">
              <a:alpha val="100000"/>
            </a:srgbClr>
          </a:solidFill>
          <a:ln w="12700" cap="flat" cmpd="sng">
            <a:solidFill>
              <a:srgbClr val="004D40">
                <a:alpha val="20000"/>
              </a:srgbClr>
            </a:solidFill>
            <a:prstDash val="solid"/>
            <a:round/>
            <a:headEnd type="none" w="med" len="med"/>
            <a:tailEnd type="none" w="med" len="med"/>
          </a:ln>
        </p:spPr>
      </p:cxnSp>
      <p:sp>
        <p:nvSpPr>
          <p:cNvPr id="5" name="AutoShape 5"/>
          <p:cNvSpPr/>
          <p:nvPr/>
        </p:nvSpPr>
        <p:spPr>
          <a:xfrm>
            <a:off x="762000" y="1905000"/>
            <a:ext cx="50800" cy="381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39800" y="18796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Short-Term Goals (Next 12 Months)</a:t>
            </a:r>
            <a:endParaRPr lang="en-US" sz="1100"/>
          </a:p>
        </p:txBody>
      </p:sp>
      <p:sp>
        <p:nvSpPr>
          <p:cNvPr id="7" name="AutoShape 7"/>
          <p:cNvSpPr/>
          <p:nvPr/>
        </p:nvSpPr>
        <p:spPr>
          <a:xfrm>
            <a:off x="762000" y="27940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984500"/>
            <a:ext cx="355600" cy="355600"/>
          </a:xfrm>
          <a:prstGeom prst="rect">
            <a:avLst/>
          </a:prstGeom>
        </p:spPr>
      </p:pic>
      <p:sp>
        <p:nvSpPr>
          <p:cNvPr id="9" name="AutoShape 9"/>
          <p:cNvSpPr/>
          <p:nvPr/>
        </p:nvSpPr>
        <p:spPr>
          <a:xfrm>
            <a:off x="1460500" y="2895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Product Innovation</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Launch a major new core feature set and expand platform integrations to enhance user workflow efficiency and connectivity.</a:t>
            </a:r>
            <a:endParaRPr lang="en-US" sz="1300" b="0" i="0" u="none" strike="noStrike">
              <a:solidFill>
                <a:srgbClr val="4B5563"/>
              </a:solidFill>
              <a:latin typeface="Poppins"/>
              <a:ea typeface="Poppins"/>
              <a:cs typeface="Poppins"/>
              <a:sym typeface="Poppins"/>
            </a:endParaRPr>
          </a:p>
        </p:txBody>
      </p:sp>
      <p:sp>
        <p:nvSpPr>
          <p:cNvPr id="10" name="AutoShape 10"/>
          <p:cNvSpPr/>
          <p:nvPr/>
        </p:nvSpPr>
        <p:spPr>
          <a:xfrm>
            <a:off x="762000" y="40640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254500"/>
            <a:ext cx="355600" cy="355600"/>
          </a:xfrm>
          <a:prstGeom prst="rect">
            <a:avLst/>
          </a:prstGeom>
        </p:spPr>
      </p:pic>
      <p:sp>
        <p:nvSpPr>
          <p:cNvPr id="12" name="AutoShape 12"/>
          <p:cNvSpPr/>
          <p:nvPr/>
        </p:nvSpPr>
        <p:spPr>
          <a:xfrm>
            <a:off x="1460500" y="4165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Market Growth</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Penetrate new geographic markets and secure strategic partnerships to achieve a targeted $X million in Annual Recurring Revenue (ARR).</a:t>
            </a:r>
            <a:endParaRPr lang="en-US" sz="1300" b="0" i="0" u="none" strike="noStrike">
              <a:solidFill>
                <a:srgbClr val="4B5563"/>
              </a:solidFill>
              <a:latin typeface="Poppins"/>
              <a:ea typeface="Poppins"/>
              <a:cs typeface="Poppins"/>
              <a:sym typeface="Poppins"/>
            </a:endParaRPr>
          </a:p>
        </p:txBody>
      </p:sp>
      <p:sp>
        <p:nvSpPr>
          <p:cNvPr id="13" name="AutoShape 13"/>
          <p:cNvSpPr/>
          <p:nvPr/>
        </p:nvSpPr>
        <p:spPr>
          <a:xfrm>
            <a:off x="762000" y="52705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461000"/>
            <a:ext cx="355600" cy="355600"/>
          </a:xfrm>
          <a:prstGeom prst="rect">
            <a:avLst/>
          </a:prstGeom>
        </p:spPr>
      </p:pic>
      <p:sp>
        <p:nvSpPr>
          <p:cNvPr id="15" name="AutoShape 15"/>
          <p:cNvSpPr/>
          <p:nvPr/>
        </p:nvSpPr>
        <p:spPr>
          <a:xfrm>
            <a:off x="1460500" y="53721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Team Expansion</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Scale engineering and customer success teams to support rapid growth, ensuring exceptional product quality and user satisfaction.</a:t>
            </a:r>
            <a:endParaRPr lang="en-US" sz="1300" b="0" i="0" u="none" strike="noStrike">
              <a:solidFill>
                <a:srgbClr val="4B5563"/>
              </a:solidFill>
              <a:latin typeface="Poppins"/>
              <a:ea typeface="Poppins"/>
              <a:cs typeface="Poppins"/>
              <a:sym typeface="Poppins"/>
            </a:endParaRPr>
          </a:p>
        </p:txBody>
      </p:sp>
      <p:sp>
        <p:nvSpPr>
          <p:cNvPr id="16" name="AutoShape 16"/>
          <p:cNvSpPr/>
          <p:nvPr/>
        </p:nvSpPr>
        <p:spPr>
          <a:xfrm>
            <a:off x="6350000" y="1905000"/>
            <a:ext cx="50800" cy="381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27800" y="18796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Long-Term Vision (3-5 Years)</a:t>
            </a:r>
            <a:endParaRPr lang="en-US" sz="1100"/>
          </a:p>
        </p:txBody>
      </p:sp>
      <p:sp>
        <p:nvSpPr>
          <p:cNvPr id="18" name="AutoShape 18"/>
          <p:cNvSpPr/>
          <p:nvPr/>
        </p:nvSpPr>
        <p:spPr>
          <a:xfrm>
            <a:off x="6350000" y="27940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2984500"/>
            <a:ext cx="355600" cy="355600"/>
          </a:xfrm>
          <a:prstGeom prst="rect">
            <a:avLst/>
          </a:prstGeom>
        </p:spPr>
      </p:pic>
      <p:sp>
        <p:nvSpPr>
          <p:cNvPr id="20" name="AutoShape 20"/>
          <p:cNvSpPr/>
          <p:nvPr/>
        </p:nvSpPr>
        <p:spPr>
          <a:xfrm>
            <a:off x="7048500" y="2895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Market Leadership</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Establish unrivaled authority in our niche by delivering superior value, becoming the undisputed first choice for customers and partners alike.</a:t>
            </a:r>
            <a:endParaRPr lang="en-US" sz="1300" b="0" i="0" u="none" strike="noStrike">
              <a:solidFill>
                <a:srgbClr val="4B5563"/>
              </a:solidFill>
              <a:latin typeface="Poppins"/>
              <a:ea typeface="Poppins"/>
              <a:cs typeface="Poppins"/>
              <a:sym typeface="Poppins"/>
            </a:endParaRPr>
          </a:p>
        </p:txBody>
      </p:sp>
      <p:sp>
        <p:nvSpPr>
          <p:cNvPr id="21" name="AutoShape 21"/>
          <p:cNvSpPr/>
          <p:nvPr/>
        </p:nvSpPr>
        <p:spPr>
          <a:xfrm>
            <a:off x="6350000" y="40640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254500"/>
            <a:ext cx="355600" cy="355600"/>
          </a:xfrm>
          <a:prstGeom prst="rect">
            <a:avLst/>
          </a:prstGeom>
        </p:spPr>
      </p:pic>
      <p:sp>
        <p:nvSpPr>
          <p:cNvPr id="23" name="AutoShape 23"/>
          <p:cNvSpPr/>
          <p:nvPr/>
        </p:nvSpPr>
        <p:spPr>
          <a:xfrm>
            <a:off x="7048500" y="41656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Strategic Diversification</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Expand into high-potential adjacent markets, leveraging organic growth and strategic acquisitions to broaden our product ecosystem and reach.</a:t>
            </a:r>
            <a:endParaRPr lang="en-US" sz="1300" b="0" i="0" u="none" strike="noStrike">
              <a:solidFill>
                <a:srgbClr val="4B5563"/>
              </a:solidFill>
              <a:latin typeface="Poppins"/>
              <a:ea typeface="Poppins"/>
              <a:cs typeface="Poppins"/>
              <a:sym typeface="Poppins"/>
            </a:endParaRPr>
          </a:p>
        </p:txBody>
      </p:sp>
      <p:sp>
        <p:nvSpPr>
          <p:cNvPr id="24" name="AutoShape 24"/>
          <p:cNvSpPr/>
          <p:nvPr/>
        </p:nvSpPr>
        <p:spPr>
          <a:xfrm>
            <a:off x="6350000" y="5270500"/>
            <a:ext cx="5080000" cy="1079500"/>
          </a:xfrm>
          <a:prstGeom prst="roundRect">
            <a:avLst>
              <a:gd name="adj" fmla="val 0"/>
            </a:avLst>
          </a:prstGeom>
          <a:solidFill>
            <a:srgbClr val="FFFFFF">
              <a:alpha val="7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5461000"/>
            <a:ext cx="355600" cy="355600"/>
          </a:xfrm>
          <a:prstGeom prst="rect">
            <a:avLst/>
          </a:prstGeom>
        </p:spPr>
      </p:pic>
      <p:sp>
        <p:nvSpPr>
          <p:cNvPr id="26" name="AutoShape 26"/>
          <p:cNvSpPr/>
          <p:nvPr/>
        </p:nvSpPr>
        <p:spPr>
          <a:xfrm>
            <a:off x="7048500" y="5372100"/>
            <a:ext cx="425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74151"/>
                </a:solidFill>
                <a:latin typeface="Poppins"/>
                <a:ea typeface="Poppins"/>
                <a:cs typeface="Poppins"/>
                <a:sym typeface="Poppins"/>
              </a:rPr>
              <a:t>Industry Impact &amp; Innovation</a:t>
            </a:r>
            <a:endParaRPr lang="en-US" sz="1100"/>
          </a:p>
          <a:p>
            <a:pPr marL="0" indent="0" algn="l">
              <a:lnSpc>
                <a:spcPct val="108000"/>
              </a:lnSpc>
            </a:pPr>
            <a:r>
              <a:rPr lang="en-US" sz="1300" b="0" i="0" u="none" strike="noStrike">
                <a:solidFill>
                  <a:srgbClr val="4B5563"/>
                </a:solidFill>
                <a:latin typeface="Poppins"/>
                <a:ea typeface="Poppins"/>
                <a:cs typeface="Poppins"/>
                <a:sym typeface="Poppins"/>
              </a:rPr>
              <a:t>Redefine the operational standards of our industry through relentless innovation, setting new benchmarks for sustainability and efficiency.</a:t>
            </a:r>
            <a:endParaRPr lang="en-US" sz="1300" b="0" i="0" u="none" strike="noStrike">
              <a:solidFill>
                <a:srgbClr val="4B5563"/>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Projected Growth &amp; Financial Health</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004D40">
                <a:alpha val="30000"/>
              </a:srgbClr>
            </a:solidFill>
            <a:prstDash val="solid"/>
            <a:round/>
            <a:headEnd type="none" w="med" len="med"/>
            <a:tailEnd type="none" w="med" len="med"/>
          </a:ln>
        </p:spPr>
      </p:cxnSp>
      <p:sp>
        <p:nvSpPr>
          <p:cNvPr id="5" name="AutoShape 5"/>
          <p:cNvSpPr/>
          <p:nvPr/>
        </p:nvSpPr>
        <p:spPr>
          <a:xfrm>
            <a:off x="762000" y="1905000"/>
            <a:ext cx="3467100" cy="3683000"/>
          </a:xfrm>
          <a:prstGeom prst="roundRect">
            <a:avLst>
              <a:gd name="adj" fmla="val 0"/>
            </a:avLst>
          </a:prstGeom>
          <a:solidFill>
            <a:srgbClr val="FFFFFF">
              <a:alpha val="8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34671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222500"/>
            <a:ext cx="355600" cy="355600"/>
          </a:xfrm>
          <a:prstGeom prst="rect">
            <a:avLst/>
          </a:prstGeom>
        </p:spPr>
      </p:pic>
      <p:sp>
        <p:nvSpPr>
          <p:cNvPr id="8" name="AutoShape 8"/>
          <p:cNvSpPr/>
          <p:nvPr/>
        </p:nvSpPr>
        <p:spPr>
          <a:xfrm>
            <a:off x="1397000" y="2184400"/>
            <a:ext cx="266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Revenue Projections (3-Yr)</a:t>
            </a:r>
            <a:endParaRPr lang="en-US" sz="1100"/>
          </a:p>
        </p:txBody>
      </p:sp>
      <p:cxnSp>
        <p:nvCxnSpPr>
          <p:cNvPr id="9" name="Connector 9"/>
          <p:cNvCxnSpPr/>
          <p:nvPr/>
        </p:nvCxnSpPr>
        <p:spPr>
          <a:xfrm rot="-14147">
            <a:off x="952513" y="2787650"/>
            <a:ext cx="30861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0" name="AutoShape 10"/>
          <p:cNvSpPr/>
          <p:nvPr/>
        </p:nvSpPr>
        <p:spPr>
          <a:xfrm>
            <a:off x="952500" y="3048000"/>
            <a:ext cx="3086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Year 1 (2026):</a:t>
            </a:r>
            <a:r>
              <a:rPr lang="en-US" sz="2000" b="1" i="0" u="none" strike="noStrike">
                <a:solidFill>
                  <a:srgbClr val="004D40"/>
                </a:solidFill>
                <a:latin typeface="Poppins"/>
                <a:ea typeface="Poppins"/>
                <a:cs typeface="Poppins"/>
                <a:sym typeface="Poppins"/>
              </a:rPr>
              <a:t>$12.5 Million</a:t>
            </a:r>
            <a:endParaRPr lang="en-US" sz="1100"/>
          </a:p>
          <a:p>
            <a:pPr marL="0" indent="0" algn="l">
              <a:lnSpc>
                <a:spcPct val="125000"/>
              </a:lnSpc>
            </a:pPr>
            <a:r>
              <a:rPr lang="en-US" sz="1200" b="0" i="0" u="none" strike="noStrike">
                <a:solidFill>
                  <a:srgbClr val="374151">
                    <a:alpha val="70196"/>
                  </a:srgbClr>
                </a:solidFill>
                <a:latin typeface="Poppins"/>
                <a:ea typeface="Poppins"/>
                <a:cs typeface="Poppins"/>
                <a:sym typeface="Poppins"/>
              </a:rPr>
              <a:t>Initial market penetration and product launch phase.</a:t>
            </a:r>
            <a:endParaRPr lang="en-US" sz="1200" b="0" i="0" u="none" strike="noStrike">
              <a:solidFill>
                <a:srgbClr val="374151">
                  <a:alpha val="70196"/>
                </a:srgbClr>
              </a:solidFill>
              <a:latin typeface="Poppins"/>
              <a:ea typeface="Poppins"/>
              <a:cs typeface="Poppins"/>
              <a:sym typeface="Poppins"/>
            </a:endParaRPr>
          </a:p>
        </p:txBody>
      </p:sp>
      <p:sp>
        <p:nvSpPr>
          <p:cNvPr id="11" name="AutoShape 11"/>
          <p:cNvSpPr/>
          <p:nvPr/>
        </p:nvSpPr>
        <p:spPr>
          <a:xfrm>
            <a:off x="952500" y="4191000"/>
            <a:ext cx="3086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Year 2 (2027):</a:t>
            </a:r>
            <a:r>
              <a:rPr lang="en-US" sz="2000" b="1" i="0" u="none" strike="noStrike">
                <a:solidFill>
                  <a:srgbClr val="004D40"/>
                </a:solidFill>
                <a:latin typeface="Poppins"/>
                <a:ea typeface="Poppins"/>
                <a:cs typeface="Poppins"/>
                <a:sym typeface="Poppins"/>
              </a:rPr>
              <a:t>$28.0 Million</a:t>
            </a:r>
            <a:endParaRPr lang="en-US" sz="1100"/>
          </a:p>
          <a:p>
            <a:pPr marL="0" indent="0" algn="l">
              <a:lnSpc>
                <a:spcPct val="125000"/>
              </a:lnSpc>
            </a:pPr>
            <a:r>
              <a:rPr lang="en-US" sz="1200" b="0" i="0" u="none" strike="noStrike">
                <a:solidFill>
                  <a:srgbClr val="374151">
                    <a:alpha val="70196"/>
                  </a:srgbClr>
                </a:solidFill>
                <a:latin typeface="Poppins"/>
                <a:ea typeface="Poppins"/>
                <a:cs typeface="Poppins"/>
                <a:sym typeface="Poppins"/>
              </a:rPr>
              <a:t>Expansion of customer base and entry into new regions.</a:t>
            </a:r>
            <a:endParaRPr lang="en-US" sz="1200" b="0" i="0" u="none" strike="noStrike">
              <a:solidFill>
                <a:srgbClr val="374151">
                  <a:alpha val="70196"/>
                </a:srgbClr>
              </a:solidFill>
              <a:latin typeface="Poppins"/>
              <a:ea typeface="Poppins"/>
              <a:cs typeface="Poppins"/>
              <a:sym typeface="Poppins"/>
            </a:endParaRPr>
          </a:p>
        </p:txBody>
      </p:sp>
      <p:sp>
        <p:nvSpPr>
          <p:cNvPr id="12" name="AutoShape 12"/>
          <p:cNvSpPr/>
          <p:nvPr/>
        </p:nvSpPr>
        <p:spPr>
          <a:xfrm>
            <a:off x="952500" y="5270500"/>
            <a:ext cx="3086100" cy="825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79500" y="5334000"/>
            <a:ext cx="2832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Year 3 (2028):</a:t>
            </a:r>
            <a:r>
              <a:rPr lang="en-US" sz="2000" b="1" i="0" u="none" strike="noStrike">
                <a:solidFill>
                  <a:srgbClr val="004D40"/>
                </a:solidFill>
                <a:latin typeface="Poppins"/>
                <a:ea typeface="Poppins"/>
                <a:cs typeface="Poppins"/>
                <a:sym typeface="Poppins"/>
              </a:rPr>
              <a:t>$52.0 Million</a:t>
            </a:r>
            <a:endParaRPr lang="en-US" sz="1100"/>
          </a:p>
          <a:p>
            <a:pPr marL="0" indent="0" algn="l">
              <a:lnSpc>
                <a:spcPct val="125000"/>
              </a:lnSpc>
            </a:pPr>
            <a:r>
              <a:rPr lang="en-US" sz="1200" b="0" i="0" u="none" strike="noStrike">
                <a:solidFill>
                  <a:srgbClr val="374151">
                    <a:alpha val="70196"/>
                  </a:srgbClr>
                </a:solidFill>
                <a:latin typeface="Poppins"/>
                <a:ea typeface="Poppins"/>
                <a:cs typeface="Poppins"/>
                <a:sym typeface="Poppins"/>
              </a:rPr>
              <a:t>Mature market leadership and full product ecosystem.</a:t>
            </a:r>
            <a:endParaRPr lang="en-US" sz="1200" b="0" i="0" u="none" strike="noStrike">
              <a:solidFill>
                <a:srgbClr val="374151">
                  <a:alpha val="70196"/>
                </a:srgbClr>
              </a:solidFill>
              <a:latin typeface="Poppins"/>
              <a:ea typeface="Poppins"/>
              <a:cs typeface="Poppins"/>
              <a:sym typeface="Poppins"/>
            </a:endParaRPr>
          </a:p>
        </p:txBody>
      </p:sp>
      <p:sp>
        <p:nvSpPr>
          <p:cNvPr id="14" name="AutoShape 14"/>
          <p:cNvSpPr/>
          <p:nvPr/>
        </p:nvSpPr>
        <p:spPr>
          <a:xfrm>
            <a:off x="4483100" y="1905000"/>
            <a:ext cx="3467100" cy="3683000"/>
          </a:xfrm>
          <a:prstGeom prst="roundRect">
            <a:avLst>
              <a:gd name="adj" fmla="val 0"/>
            </a:avLst>
          </a:prstGeom>
          <a:solidFill>
            <a:srgbClr val="FFFFFF">
              <a:alpha val="8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483100" y="1905000"/>
            <a:ext cx="34671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73600" y="2222500"/>
            <a:ext cx="355600" cy="355600"/>
          </a:xfrm>
          <a:prstGeom prst="rect">
            <a:avLst/>
          </a:prstGeom>
        </p:spPr>
      </p:pic>
      <p:sp>
        <p:nvSpPr>
          <p:cNvPr id="17" name="AutoShape 17"/>
          <p:cNvSpPr/>
          <p:nvPr/>
        </p:nvSpPr>
        <p:spPr>
          <a:xfrm>
            <a:off x="5118100" y="2184400"/>
            <a:ext cx="266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Core Financial Assumptions</a:t>
            </a:r>
            <a:endParaRPr lang="en-US" sz="1100"/>
          </a:p>
        </p:txBody>
      </p:sp>
      <p:cxnSp>
        <p:nvCxnSpPr>
          <p:cNvPr id="18" name="Connector 18"/>
          <p:cNvCxnSpPr/>
          <p:nvPr/>
        </p:nvCxnSpPr>
        <p:spPr>
          <a:xfrm rot="-14147">
            <a:off x="4673613" y="2787650"/>
            <a:ext cx="30861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19" name="AutoShape 19"/>
          <p:cNvSpPr/>
          <p:nvPr/>
        </p:nvSpPr>
        <p:spPr>
          <a:xfrm>
            <a:off x="4673600" y="3048000"/>
            <a:ext cx="3086100" cy="952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800600" y="3111500"/>
            <a:ext cx="2832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4D40"/>
                </a:solidFill>
                <a:latin typeface="Poppins"/>
                <a:ea typeface="Poppins"/>
                <a:cs typeface="Poppins"/>
                <a:sym typeface="Poppins"/>
              </a:rPr>
              <a:t>Customer Acquisition Rate</a:t>
            </a:r>
            <a:endParaRPr lang="en-US" sz="1100"/>
          </a:p>
          <a:p>
            <a:pPr marL="0" indent="0" algn="l">
              <a:lnSpc>
                <a:spcPct val="117000"/>
              </a:lnSpc>
            </a:pPr>
            <a:r>
              <a:rPr lang="en-US" sz="1300" b="0" i="0" u="none" strike="noStrike">
                <a:solidFill>
                  <a:srgbClr val="374151"/>
                </a:solidFill>
                <a:latin typeface="Poppins"/>
                <a:ea typeface="Poppins"/>
                <a:cs typeface="Poppins"/>
                <a:sym typeface="Poppins"/>
              </a:rPr>
              <a:t>Steady growth at 18% per quarter, driven by targeted marketing and referral programs.</a:t>
            </a:r>
            <a:endParaRPr lang="en-US" sz="1300" b="0" i="0" u="none" strike="noStrike">
              <a:solidFill>
                <a:srgbClr val="374151"/>
              </a:solidFill>
              <a:latin typeface="Poppins"/>
              <a:ea typeface="Poppins"/>
              <a:cs typeface="Poppins"/>
              <a:sym typeface="Poppins"/>
            </a:endParaRPr>
          </a:p>
        </p:txBody>
      </p:sp>
      <p:sp>
        <p:nvSpPr>
          <p:cNvPr id="21" name="AutoShape 21"/>
          <p:cNvSpPr/>
          <p:nvPr/>
        </p:nvSpPr>
        <p:spPr>
          <a:xfrm>
            <a:off x="4673600" y="4191000"/>
            <a:ext cx="3086100" cy="952500"/>
          </a:xfrm>
          <a:prstGeom prst="roundRect">
            <a:avLst>
              <a:gd name="adj" fmla="val 0"/>
            </a:avLst>
          </a:prstGeom>
          <a:solidFill>
            <a:srgbClr val="004D40">
              <a:alpha val="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800600" y="4254500"/>
            <a:ext cx="28321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4D40"/>
                </a:solidFill>
                <a:latin typeface="Poppins"/>
                <a:ea typeface="Poppins"/>
                <a:cs typeface="Poppins"/>
                <a:sym typeface="Poppins"/>
              </a:rPr>
              <a:t>ARPU &amp; Retention</a:t>
            </a:r>
            <a:endParaRPr lang="en-US" sz="1100"/>
          </a:p>
          <a:p>
            <a:pPr marL="0" indent="0" algn="l">
              <a:lnSpc>
                <a:spcPct val="117000"/>
              </a:lnSpc>
            </a:pPr>
            <a:r>
              <a:rPr lang="en-US" sz="1300" b="0" i="0" u="none" strike="noStrike">
                <a:solidFill>
                  <a:srgbClr val="374151"/>
                </a:solidFill>
                <a:latin typeface="Poppins"/>
                <a:ea typeface="Poppins"/>
                <a:cs typeface="Poppins"/>
                <a:sym typeface="Poppins"/>
              </a:rPr>
              <a:t>Average revenue per user at $4,800 with an annual churn rate maintained below 5%.</a:t>
            </a:r>
            <a:endParaRPr lang="en-US" sz="1300" b="0" i="0" u="none" strike="noStrike">
              <a:solidFill>
                <a:srgbClr val="374151"/>
              </a:solidFill>
              <a:latin typeface="Poppins"/>
              <a:ea typeface="Poppins"/>
              <a:cs typeface="Poppins"/>
              <a:sym typeface="Poppins"/>
            </a:endParaRPr>
          </a:p>
        </p:txBody>
      </p:sp>
      <p:sp>
        <p:nvSpPr>
          <p:cNvPr id="23" name="AutoShape 23"/>
          <p:cNvSpPr/>
          <p:nvPr/>
        </p:nvSpPr>
        <p:spPr>
          <a:xfrm>
            <a:off x="4673600" y="5397500"/>
            <a:ext cx="30861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alpha val="80000"/>
                  </a:srgbClr>
                </a:solidFill>
                <a:latin typeface="Poppins"/>
                <a:ea typeface="Poppins"/>
                <a:cs typeface="Poppins"/>
                <a:sym typeface="Poppins"/>
              </a:rPr>
              <a:t>All forecasts are stress-tested against market volatility and adjusted for seasonality.</a:t>
            </a:r>
            <a:endParaRPr lang="en-US" sz="1100"/>
          </a:p>
        </p:txBody>
      </p:sp>
      <p:sp>
        <p:nvSpPr>
          <p:cNvPr id="24" name="AutoShape 24"/>
          <p:cNvSpPr/>
          <p:nvPr/>
        </p:nvSpPr>
        <p:spPr>
          <a:xfrm>
            <a:off x="8204200" y="1905000"/>
            <a:ext cx="3467100" cy="3683000"/>
          </a:xfrm>
          <a:prstGeom prst="roundRect">
            <a:avLst>
              <a:gd name="adj" fmla="val 0"/>
            </a:avLst>
          </a:prstGeom>
          <a:solidFill>
            <a:srgbClr val="FFFFFF">
              <a:alpha val="80000"/>
            </a:srgbClr>
          </a:solidFill>
          <a:ln w="12700" cap="flat" cmpd="sng">
            <a:solidFill>
              <a:srgbClr val="004D40">
                <a:alpha val="1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8204200" y="1905000"/>
            <a:ext cx="34671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94700" y="2222500"/>
            <a:ext cx="355600" cy="355600"/>
          </a:xfrm>
          <a:prstGeom prst="rect">
            <a:avLst/>
          </a:prstGeom>
        </p:spPr>
      </p:pic>
      <p:sp>
        <p:nvSpPr>
          <p:cNvPr id="27" name="AutoShape 27"/>
          <p:cNvSpPr/>
          <p:nvPr/>
        </p:nvSpPr>
        <p:spPr>
          <a:xfrm>
            <a:off x="8839200" y="2184400"/>
            <a:ext cx="266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Strategic Use of Funds</a:t>
            </a:r>
            <a:endParaRPr lang="en-US" sz="1100"/>
          </a:p>
        </p:txBody>
      </p:sp>
      <p:cxnSp>
        <p:nvCxnSpPr>
          <p:cNvPr id="28" name="Connector 28"/>
          <p:cNvCxnSpPr/>
          <p:nvPr/>
        </p:nvCxnSpPr>
        <p:spPr>
          <a:xfrm rot="-14147">
            <a:off x="8394713" y="2787650"/>
            <a:ext cx="30861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9" name="AutoShape 29"/>
          <p:cNvSpPr/>
          <p:nvPr/>
        </p:nvSpPr>
        <p:spPr>
          <a:xfrm>
            <a:off x="8394700" y="3048000"/>
            <a:ext cx="3086100" cy="762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394700" y="3048000"/>
            <a:ext cx="76200" cy="762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585200" y="3111500"/>
            <a:ext cx="2768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solidFill>
                <a:latin typeface="Poppins"/>
                <a:ea typeface="Poppins"/>
                <a:cs typeface="Poppins"/>
                <a:sym typeface="Poppins"/>
              </a:rPr>
              <a:t>40% Product &amp; Innovation</a:t>
            </a:r>
            <a:endParaRPr lang="en-US" sz="1100"/>
          </a:p>
          <a:p>
            <a:pPr marL="0" indent="0" algn="l">
              <a:lnSpc>
                <a:spcPct val="125000"/>
              </a:lnSpc>
            </a:pPr>
            <a:r>
              <a:rPr lang="en-US" sz="1200" b="0" i="0" u="none" strike="noStrike">
                <a:solidFill>
                  <a:srgbClr val="374151">
                    <a:alpha val="70196"/>
                  </a:srgbClr>
                </a:solidFill>
                <a:latin typeface="Poppins"/>
                <a:ea typeface="Poppins"/>
                <a:cs typeface="Poppins"/>
                <a:sym typeface="Poppins"/>
              </a:rPr>
              <a:t>R&amp;D for next-gen features and patent filings.</a:t>
            </a:r>
            <a:endParaRPr lang="en-US" sz="1200" b="0" i="0" u="none" strike="noStrike">
              <a:solidFill>
                <a:srgbClr val="374151">
                  <a:alpha val="70196"/>
                </a:srgbClr>
              </a:solidFill>
              <a:latin typeface="Poppins"/>
              <a:ea typeface="Poppins"/>
              <a:cs typeface="Poppins"/>
              <a:sym typeface="Poppins"/>
            </a:endParaRPr>
          </a:p>
        </p:txBody>
      </p:sp>
      <p:sp>
        <p:nvSpPr>
          <p:cNvPr id="32" name="AutoShape 32"/>
          <p:cNvSpPr/>
          <p:nvPr/>
        </p:nvSpPr>
        <p:spPr>
          <a:xfrm>
            <a:off x="8394700" y="4000500"/>
            <a:ext cx="3086100" cy="762000"/>
          </a:xfrm>
          <a:prstGeom prst="roundRect">
            <a:avLst>
              <a:gd name="adj" fmla="val 0"/>
            </a:avLst>
          </a:prstGeom>
          <a:solidFill>
            <a:srgbClr val="004D40">
              <a:alpha val="8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394700" y="4000500"/>
            <a:ext cx="76200" cy="762000"/>
          </a:xfrm>
          <a:prstGeom prst="roundRect">
            <a:avLst>
              <a:gd name="adj" fmla="val 0"/>
            </a:avLst>
          </a:prstGeom>
          <a:solidFill>
            <a:srgbClr val="004D40">
              <a:alpha val="7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8585200" y="4064000"/>
            <a:ext cx="27686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4D40">
                    <a:alpha val="80000"/>
                  </a:srgbClr>
                </a:solidFill>
                <a:latin typeface="Poppins"/>
                <a:ea typeface="Poppins"/>
                <a:cs typeface="Poppins"/>
                <a:sym typeface="Poppins"/>
              </a:rPr>
              <a:t>30% Sales &amp; Marketing</a:t>
            </a:r>
            <a:endParaRPr lang="en-US" sz="1100"/>
          </a:p>
          <a:p>
            <a:pPr marL="0" indent="0" algn="l">
              <a:lnSpc>
                <a:spcPct val="125000"/>
              </a:lnSpc>
            </a:pPr>
            <a:r>
              <a:rPr lang="en-US" sz="1200" b="0" i="0" u="none" strike="noStrike">
                <a:solidFill>
                  <a:srgbClr val="374151">
                    <a:alpha val="70196"/>
                  </a:srgbClr>
                </a:solidFill>
                <a:latin typeface="Poppins"/>
                <a:ea typeface="Poppins"/>
                <a:cs typeface="Poppins"/>
                <a:sym typeface="Poppins"/>
              </a:rPr>
              <a:t>Scaling go-to-market channels and brand awareness.</a:t>
            </a:r>
            <a:endParaRPr lang="en-US" sz="1200" b="0" i="0" u="none" strike="noStrike">
              <a:solidFill>
                <a:srgbClr val="374151">
                  <a:alpha val="70196"/>
                </a:srgbClr>
              </a:solidFill>
              <a:latin typeface="Poppins"/>
              <a:ea typeface="Poppins"/>
              <a:cs typeface="Poppins"/>
              <a:sym typeface="Poppins"/>
            </a:endParaRPr>
          </a:p>
        </p:txBody>
      </p:sp>
      <p:sp>
        <p:nvSpPr>
          <p:cNvPr id="35" name="AutoShape 35"/>
          <p:cNvSpPr/>
          <p:nvPr/>
        </p:nvSpPr>
        <p:spPr>
          <a:xfrm>
            <a:off x="8394700" y="5080000"/>
            <a:ext cx="1473200" cy="8890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8483600" y="5143500"/>
            <a:ext cx="12827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20% Team</a:t>
            </a:r>
            <a:endParaRPr lang="en-US" sz="1100"/>
          </a:p>
          <a:p>
            <a:pPr marL="0" indent="0" algn="l">
              <a:lnSpc>
                <a:spcPct val="125000"/>
              </a:lnSpc>
            </a:pPr>
            <a:r>
              <a:rPr lang="en-US" sz="1100" b="0" i="0" u="none" strike="noStrike">
                <a:solidFill>
                  <a:srgbClr val="374151">
                    <a:alpha val="70196"/>
                  </a:srgbClr>
                </a:solidFill>
                <a:latin typeface="Poppins"/>
                <a:ea typeface="Poppins"/>
                <a:cs typeface="Poppins"/>
                <a:sym typeface="Poppins"/>
              </a:rPr>
              <a:t>Hiring key talent across engineering and sales.</a:t>
            </a:r>
            <a:endParaRPr lang="en-US" sz="1100" b="0" i="0" u="none" strike="noStrike">
              <a:solidFill>
                <a:srgbClr val="374151">
                  <a:alpha val="70196"/>
                </a:srgbClr>
              </a:solidFill>
              <a:latin typeface="Poppins"/>
              <a:ea typeface="Poppins"/>
              <a:cs typeface="Poppins"/>
              <a:sym typeface="Poppins"/>
            </a:endParaRPr>
          </a:p>
        </p:txBody>
      </p:sp>
      <p:sp>
        <p:nvSpPr>
          <p:cNvPr id="37" name="AutoShape 37"/>
          <p:cNvSpPr/>
          <p:nvPr/>
        </p:nvSpPr>
        <p:spPr>
          <a:xfrm>
            <a:off x="10007600" y="5080000"/>
            <a:ext cx="1473200" cy="889000"/>
          </a:xfrm>
          <a:prstGeom prst="roundRect">
            <a:avLst>
              <a:gd name="adj" fmla="val 0"/>
            </a:avLst>
          </a:prstGeom>
          <a:solidFill>
            <a:srgbClr val="004D40">
              <a:alpha val="6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10096500" y="5143500"/>
            <a:ext cx="12827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4D40"/>
                </a:solidFill>
                <a:latin typeface="Poppins"/>
                <a:ea typeface="Poppins"/>
                <a:cs typeface="Poppins"/>
                <a:sym typeface="Poppins"/>
              </a:rPr>
              <a:t>10% G&amp;A</a:t>
            </a:r>
            <a:endParaRPr lang="en-US" sz="1100"/>
          </a:p>
          <a:p>
            <a:pPr marL="0" indent="0" algn="l">
              <a:lnSpc>
                <a:spcPct val="125000"/>
              </a:lnSpc>
            </a:pPr>
            <a:r>
              <a:rPr lang="en-US" sz="1100" b="0" i="0" u="none" strike="noStrike">
                <a:solidFill>
                  <a:srgbClr val="374151">
                    <a:alpha val="70196"/>
                  </a:srgbClr>
                </a:solidFill>
                <a:latin typeface="Poppins"/>
                <a:ea typeface="Poppins"/>
                <a:cs typeface="Poppins"/>
                <a:sym typeface="Poppins"/>
              </a:rPr>
              <a:t>Operational excellence and administrative overhead.</a:t>
            </a:r>
            <a:endParaRPr lang="en-US" sz="1100" b="0" i="0" u="none" strike="noStrike">
              <a:solidFill>
                <a:srgbClr val="374151">
                  <a:alpha val="70196"/>
                </a:srgbClr>
              </a:solidFill>
              <a:latin typeface="Poppins"/>
              <a:ea typeface="Poppins"/>
              <a:cs typeface="Poppins"/>
              <a:sym typeface="Poppins"/>
            </a:endParaRPr>
          </a:p>
        </p:txBody>
      </p:sp>
      <p:sp>
        <p:nvSpPr>
          <p:cNvPr id="39" name="AutoShape 39"/>
          <p:cNvSpPr/>
          <p:nvPr/>
        </p:nvSpPr>
        <p:spPr>
          <a:xfrm>
            <a:off x="762000" y="5969000"/>
            <a:ext cx="10909300" cy="635000"/>
          </a:xfrm>
          <a:prstGeom prst="roundRect">
            <a:avLst>
              <a:gd name="adj" fmla="val 0"/>
            </a:avLst>
          </a:prstGeom>
          <a:solidFill>
            <a:srgbClr val="004D40">
              <a:alpha val="1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952500" y="6070600"/>
            <a:ext cx="105283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004D40"/>
                </a:solidFill>
                <a:latin typeface="Poppins"/>
                <a:ea typeface="Poppins"/>
                <a:cs typeface="Poppins"/>
                <a:sym typeface="Poppins"/>
              </a:rPr>
              <a:t>This financial roadmap underscores our commitment to sustainable growth, with a clear focus on innovation and market expansion to maximize ROI for stakeholders.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Poppins"/>
                <a:ea typeface="Poppins"/>
                <a:cs typeface="Poppins"/>
                <a:sym typeface="Poppins"/>
              </a:rPr>
              <a:t>Join Us in Transforming [Industry]</a:t>
            </a:r>
            <a:endParaRPr lang="en-US" sz="1100"/>
          </a:p>
        </p:txBody>
      </p:sp>
      <p:pic>
        <p:nvPicPr>
          <p:cNvPr id="4" name="Picture 4"/>
          <p:cNvPicPr>
            <a:picLocks noChangeAspect="1"/>
          </p:cNvPicPr>
          <p:nvPr/>
        </p:nvPicPr>
        <p:blipFill>
          <a:blip r:embed="rId2"/>
          <a:srcRect t="7352" b="7352"/>
          <a:stretch>
            <a:fillRect/>
          </a:stretch>
        </p:blipFill>
        <p:spPr>
          <a:xfrm>
            <a:off x="762000" y="1778000"/>
            <a:ext cx="4318000" cy="3683000"/>
          </a:xfrm>
          <a:prstGeom prst="rect">
            <a:avLst/>
          </a:prstGeom>
          <a:noFill/>
          <a:ln w="25400" cap="flat" cmpd="sng">
            <a:solidFill>
              <a:srgbClr val="004D40">
                <a:alpha val="15000"/>
              </a:srgbClr>
            </a:solidFill>
            <a:prstDash val="solid"/>
            <a:round/>
          </a:ln>
        </p:spPr>
      </p:pic>
      <p:sp>
        <p:nvSpPr>
          <p:cNvPr id="5" name="AutoShape 5"/>
          <p:cNvSpPr/>
          <p:nvPr/>
        </p:nvSpPr>
        <p:spPr>
          <a:xfrm>
            <a:off x="762000" y="5715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Poppins"/>
                <a:ea typeface="Poppins"/>
                <a:cs typeface="Poppins"/>
                <a:sym typeface="Poppins"/>
              </a:rPr>
              <a:t>A collaborative approach to innovation, bringing together visionary partners to drive impactful change and sustainable growth in the market.</a:t>
            </a:r>
            <a:endParaRPr lang="en-US" sz="1100"/>
          </a:p>
        </p:txBody>
      </p:sp>
      <p:cxnSp>
        <p:nvCxnSpPr>
          <p:cNvPr id="6" name="Connector 6"/>
          <p:cNvCxnSpPr/>
          <p:nvPr/>
        </p:nvCxnSpPr>
        <p:spPr>
          <a:xfrm rot="5390450">
            <a:off x="3429000" y="4057659"/>
            <a:ext cx="4572000" cy="12700"/>
          </a:xfrm>
          <a:prstGeom prst="straightConnector1">
            <a:avLst/>
          </a:prstGeom>
          <a:solidFill>
            <a:srgbClr val="DEE0E3">
              <a:alpha val="100000"/>
            </a:srgbClr>
          </a:solidFill>
          <a:ln w="12700" cap="flat" cmpd="sng">
            <a:solidFill>
              <a:srgbClr val="004D40">
                <a:alpha val="20000"/>
              </a:srgbClr>
            </a:solidFill>
            <a:prstDash val="dash"/>
            <a:round/>
            <a:headEnd type="none" w="med" len="med"/>
            <a:tailEnd type="none" w="med" len="med"/>
          </a:ln>
        </p:spPr>
      </p:cxnSp>
      <p:sp>
        <p:nvSpPr>
          <p:cNvPr id="7" name="AutoShape 7"/>
          <p:cNvSpPr/>
          <p:nvPr/>
        </p:nvSpPr>
        <p:spPr>
          <a:xfrm>
            <a:off x="5969000" y="17780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969000" y="1778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23000" y="1930400"/>
            <a:ext cx="355600" cy="355600"/>
          </a:xfrm>
          <a:prstGeom prst="rect">
            <a:avLst/>
          </a:prstGeom>
        </p:spPr>
      </p:pic>
      <p:sp>
        <p:nvSpPr>
          <p:cNvPr id="10" name="AutoShape 10"/>
          <p:cNvSpPr/>
          <p:nvPr/>
        </p:nvSpPr>
        <p:spPr>
          <a:xfrm>
            <a:off x="6731000" y="1930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Recap the Value</a:t>
            </a:r>
            <a:endParaRPr lang="en-US" sz="1100"/>
          </a:p>
        </p:txBody>
      </p:sp>
      <p:sp>
        <p:nvSpPr>
          <p:cNvPr id="11" name="AutoShape 11"/>
          <p:cNvSpPr/>
          <p:nvPr/>
        </p:nvSpPr>
        <p:spPr>
          <a:xfrm>
            <a:off x="6223000" y="2413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We are solving a $XX billion problem with a proven solution that drives measurable ROI, ensuring tangible success and competitive advantage for our customers.</a:t>
            </a:r>
            <a:endParaRPr lang="en-US" sz="1100"/>
          </a:p>
        </p:txBody>
      </p:sp>
      <p:sp>
        <p:nvSpPr>
          <p:cNvPr id="12" name="AutoShape 12"/>
          <p:cNvSpPr/>
          <p:nvPr/>
        </p:nvSpPr>
        <p:spPr>
          <a:xfrm>
            <a:off x="5969000" y="34290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969000" y="3429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3581400"/>
            <a:ext cx="355600" cy="355600"/>
          </a:xfrm>
          <a:prstGeom prst="rect">
            <a:avLst/>
          </a:prstGeom>
        </p:spPr>
      </p:pic>
      <p:sp>
        <p:nvSpPr>
          <p:cNvPr id="15" name="AutoShape 15"/>
          <p:cNvSpPr/>
          <p:nvPr/>
        </p:nvSpPr>
        <p:spPr>
          <a:xfrm>
            <a:off x="6731000" y="3581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The Ask: Series A Funding</a:t>
            </a:r>
            <a:endParaRPr lang="en-US" sz="1100"/>
          </a:p>
        </p:txBody>
      </p:sp>
      <p:sp>
        <p:nvSpPr>
          <p:cNvPr id="16" name="AutoShape 16"/>
          <p:cNvSpPr/>
          <p:nvPr/>
        </p:nvSpPr>
        <p:spPr>
          <a:xfrm>
            <a:off x="6223000" y="40640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Seeking $X million to accelerate product development, scale our go-to-market strategy, and capture a significant share of the emerging industry landscape.</a:t>
            </a:r>
            <a:endParaRPr lang="en-US" sz="1100"/>
          </a:p>
        </p:txBody>
      </p:sp>
      <p:sp>
        <p:nvSpPr>
          <p:cNvPr id="17" name="AutoShape 17"/>
          <p:cNvSpPr/>
          <p:nvPr/>
        </p:nvSpPr>
        <p:spPr>
          <a:xfrm>
            <a:off x="5969000" y="5080000"/>
            <a:ext cx="5588000" cy="1333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969000" y="5080000"/>
            <a:ext cx="76200" cy="13335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5232400"/>
            <a:ext cx="355600" cy="355600"/>
          </a:xfrm>
          <a:prstGeom prst="rect">
            <a:avLst/>
          </a:prstGeom>
        </p:spPr>
      </p:pic>
      <p:sp>
        <p:nvSpPr>
          <p:cNvPr id="20" name="AutoShape 20"/>
          <p:cNvSpPr/>
          <p:nvPr/>
        </p:nvSpPr>
        <p:spPr>
          <a:xfrm>
            <a:off x="6731000" y="5232400"/>
            <a:ext cx="457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4D40"/>
                </a:solidFill>
                <a:latin typeface="Poppins"/>
                <a:ea typeface="Poppins"/>
                <a:cs typeface="Poppins"/>
                <a:sym typeface="Poppins"/>
              </a:rPr>
              <a:t>Call to Action</a:t>
            </a:r>
            <a:endParaRPr lang="en-US" sz="1100"/>
          </a:p>
        </p:txBody>
      </p:sp>
      <p:sp>
        <p:nvSpPr>
          <p:cNvPr id="21" name="AutoShape 21"/>
          <p:cNvSpPr/>
          <p:nvPr/>
        </p:nvSpPr>
        <p:spPr>
          <a:xfrm>
            <a:off x="6223000" y="5651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Poppins"/>
                <a:ea typeface="Poppins"/>
                <a:cs typeface="Poppins"/>
                <a:sym typeface="Poppins"/>
              </a:rPr>
              <a:t>Partner with us to redefine the future of [industry], or invest in the leading solution for solving the critical challenges facing our market today.</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74151"/>
                </a:solidFill>
                <a:latin typeface="Poppins"/>
                <a:ea typeface="Poppins"/>
                <a:cs typeface="Poppins"/>
                <a:sym typeface="Poppins"/>
              </a:rPr>
              <a:t>Questions &amp; Answers</a:t>
            </a:r>
            <a:endParaRPr lang="en-US" sz="1100"/>
          </a:p>
        </p:txBody>
      </p:sp>
      <p:sp>
        <p:nvSpPr>
          <p:cNvPr id="4" name="AutoShape 4"/>
          <p:cNvSpPr/>
          <p:nvPr/>
        </p:nvSpPr>
        <p:spPr>
          <a:xfrm>
            <a:off x="5588000" y="4318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5080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B5563"/>
                </a:solidFill>
                <a:latin typeface="Poppins"/>
                <a:ea typeface="Poppins"/>
                <a:cs typeface="Poppins"/>
                <a:sym typeface="Poppins"/>
              </a:rPr>
              <a:t>Whether you’re curious about project details, implementation strategies, or future roadmaps, we’re here to address all your inquiries.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374151"/>
                </a:solidFill>
                <a:latin typeface="Poppins"/>
                <a:ea typeface="Poppins"/>
                <a:cs typeface="Poppins"/>
                <a:sym typeface="Poppins"/>
              </a:rPr>
              <a:t>Thank You</a:t>
            </a:r>
            <a:endParaRPr lang="en-US" sz="1100"/>
          </a:p>
        </p:txBody>
      </p:sp>
      <p:sp>
        <p:nvSpPr>
          <p:cNvPr id="4" name="AutoShape 4"/>
          <p:cNvSpPr/>
          <p:nvPr/>
        </p:nvSpPr>
        <p:spPr>
          <a:xfrm>
            <a:off x="1016000" y="3810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4318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4D40"/>
                </a:solidFill>
                <a:latin typeface="Poppins"/>
                <a:ea typeface="Poppins"/>
                <a:cs typeface="Poppins"/>
                <a:sym typeface="Poppins"/>
              </a:rPr>
              <a:t>[Your Name]</a:t>
            </a:r>
            <a:r>
              <a:rPr lang="en-US" sz="2000" b="0" i="0" u="none" strike="noStrike">
                <a:solidFill>
                  <a:srgbClr val="4B5563"/>
                </a:solidFill>
                <a:latin typeface="Poppins"/>
                <a:ea typeface="Poppins"/>
                <a:cs typeface="Poppins"/>
                <a:sym typeface="Poppins"/>
              </a:rPr>
              <a:t>| [Your Title]</a:t>
            </a:r>
            <a:endParaRPr lang="en-US" sz="1100"/>
          </a:p>
        </p:txBody>
      </p:sp>
      <p:cxnSp>
        <p:nvCxnSpPr>
          <p:cNvPr id="6" name="Connector 6"/>
          <p:cNvCxnSpPr/>
          <p:nvPr/>
        </p:nvCxnSpPr>
        <p:spPr>
          <a:xfrm rot="5371352">
            <a:off x="5842000" y="5010176"/>
            <a:ext cx="1524000" cy="12700"/>
          </a:xfrm>
          <a:prstGeom prst="straightConnector1">
            <a:avLst/>
          </a:prstGeom>
          <a:solidFill>
            <a:srgbClr val="DEE0E3">
              <a:alpha val="100000"/>
            </a:srgbClr>
          </a:solidFill>
          <a:ln w="12700" cap="flat" cmpd="sng">
            <a:solidFill>
              <a:srgbClr val="004D40">
                <a:alpha val="30000"/>
              </a:srgbClr>
            </a:solidFill>
            <a:prstDash val="solid"/>
            <a:round/>
            <a:headEnd type="none" w="med" len="med"/>
            <a:tailEnd type="none" w="med" len="med"/>
          </a:ln>
        </p:spPr>
      </p:cxn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2000" y="4318000"/>
            <a:ext cx="304800" cy="304800"/>
          </a:xfrm>
          <a:prstGeom prst="rect">
            <a:avLst/>
          </a:prstGeom>
        </p:spPr>
      </p:pic>
      <p:sp>
        <p:nvSpPr>
          <p:cNvPr id="8" name="AutoShape 8"/>
          <p:cNvSpPr/>
          <p:nvPr/>
        </p:nvSpPr>
        <p:spPr>
          <a:xfrm>
            <a:off x="7620000" y="4292600"/>
            <a:ext cx="355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Poppins"/>
                <a:ea typeface="Poppins"/>
                <a:cs typeface="Poppins"/>
                <a:sym typeface="Poppins"/>
              </a:rPr>
              <a:t>Email: your.email@company.com</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12000" y="5080000"/>
            <a:ext cx="304800" cy="304800"/>
          </a:xfrm>
          <a:prstGeom prst="rect">
            <a:avLst/>
          </a:prstGeom>
        </p:spPr>
      </p:pic>
      <p:sp>
        <p:nvSpPr>
          <p:cNvPr id="10" name="AutoShape 10"/>
          <p:cNvSpPr/>
          <p:nvPr/>
        </p:nvSpPr>
        <p:spPr>
          <a:xfrm>
            <a:off x="7620000" y="5054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Poppins"/>
                <a:ea typeface="Poppins"/>
                <a:cs typeface="Poppins"/>
                <a:sym typeface="Poppins"/>
              </a:rPr>
              <a:t>[Your Phone Number]</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61500" y="5080000"/>
            <a:ext cx="304800" cy="304800"/>
          </a:xfrm>
          <a:prstGeom prst="rect">
            <a:avLst/>
          </a:prstGeom>
        </p:spPr>
      </p:pic>
      <p:sp>
        <p:nvSpPr>
          <p:cNvPr id="12" name="AutoShape 12"/>
          <p:cNvSpPr/>
          <p:nvPr/>
        </p:nvSpPr>
        <p:spPr>
          <a:xfrm>
            <a:off x="9842500" y="50546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Poppins"/>
                <a:ea typeface="Poppins"/>
                <a:cs typeface="Poppins"/>
                <a:sym typeface="Poppins"/>
              </a:rPr>
              <a:t>www.yourcompany.com</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11740</Words>
  <Application>WPS 演示</Application>
  <PresentationFormat/>
  <Paragraphs>308</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2026-06-19T03:31:34Z</dcterms:created>
  <dcterms:modified xsi:type="dcterms:W3CDTF">2026-06-19T03:31:34Z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{"Label":"1","ContentProducer":"001191110102MACQD9K64010000","ProduceID":"7652943751749536715","ReservedCode1":"","ContentPropagator":"","PropagateID":"","ReservedCode2":""}</vt:lpwstr>
  </property>
  <property fmtid="{D5CDD505-2E9C-101B-9397-08002B2CF9AE}" pid="3" name="ICV">
    <vt:lpwstr>33BC02141144B8AB16B8346A0FBB9E38_42</vt:lpwstr>
  </property>
  <property fmtid="{D5CDD505-2E9C-101B-9397-08002B2CF9AE}" pid="4" name="KSOProductBuildVer">
    <vt:lpwstr>2052-5.3.0.7863</vt:lpwstr>
  </property>
</Properties>
</file>
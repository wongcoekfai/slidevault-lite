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Today, we're excited to present a tailored campaign proposal designed to elevate [Client Brand] to new heights. This presentation will outline our understanding of the market, the challenges we see, and the strategic path forward to achieve remarkable results. Let's begin.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First, let's look at the landscape. The market is evolving rapidly, driven by digital trends and changing consumer behavior. Your brand is in a strong position, but we see a clear opportunity to grow by connecting with a new audience segment and outpacing your competitors.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seize this opportunity, we must first address the core challenge. We've identified a gap between where you are and where you want to be. This gap is caused by a few key factors, primarily around digital strategy and brand messaging. Let's break them down.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solution is a clear, data-driven strategy we call "Project Illuminate." It's built on three core pillars: telling stories that resonate with your audience, using media in the most effective way possible, and creating a seamless experience across every customer touchpoint. This approach ensures our work is not just creative, but strategically sound.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for the exciting part: the creative. Our big idea is "Unleash Your Explorer Spirit," designed to inspire and connect. We'll bring this to life through a hero film, social media content, and by partnering with influencers to build authentic buzz. This is what your audience will see and feel.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We'll meet your audience where they are, creating a seamless journey from the moment they first hear about you to the point of conversion. Our channel strategy is designed to build awareness, foster consideration, and drive action, with a budget allocation optimized for maximum efficiency.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Everything we do is focused on delivering measurable results. We've set clear KPIs across brand, engagement, and conversion metrics. Based on our analysis, we project a strong return on investment, making this a sound business decision, not just a creative one.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You'll be working with a dedicated team of experts who are committed to your success. Here's the core team you'll collaborate with, and a clear timeline outlining our process from start to finish. We believe in transparency and keeping you informed every step of the way.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proposal is transparent and flexible. Here's a clear breakdown of the investment, covering our services, media spend, and production costs. More importantly, we want to build a true partnership with you, aligning our success with yours through open communication and shared goals.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We're ready to start transforming [Client Brand] together. Our strategy will deliver a stronger brand connection and a more efficient marketing operation. Let's take the next step. We propose scheduling a workshop to dive deeper, and we're ready to finalize the partnership to hit the ground running. Thank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3.svg"/><Relationship Id="rId7" Type="http://schemas.openxmlformats.org/officeDocument/2006/relationships/image" Target="../media/image6.png"/><Relationship Id="rId6" Type="http://schemas.openxmlformats.org/officeDocument/2006/relationships/image" Target="../media/image2.svg"/><Relationship Id="rId5" Type="http://schemas.openxmlformats.org/officeDocument/2006/relationships/image" Target="../media/image5.png"/><Relationship Id="rId4" Type="http://schemas.openxmlformats.org/officeDocument/2006/relationships/image" Target="../media/image1.svg"/><Relationship Id="rId3" Type="http://schemas.openxmlformats.org/officeDocument/2006/relationships/image" Target="../media/image4.png"/><Relationship Id="rId2" Type="http://schemas.openxmlformats.org/officeDocument/2006/relationships/image" Target="../media/image3.jpe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svg"/><Relationship Id="rId7" Type="http://schemas.openxmlformats.org/officeDocument/2006/relationships/image" Target="../media/image5.png"/><Relationship Id="rId6" Type="http://schemas.openxmlformats.org/officeDocument/2006/relationships/image" Target="../media/image5.svg"/><Relationship Id="rId5" Type="http://schemas.openxmlformats.org/officeDocument/2006/relationships/image" Target="../media/image10.png"/><Relationship Id="rId4" Type="http://schemas.openxmlformats.org/officeDocument/2006/relationships/image" Target="../media/image4.svg"/><Relationship Id="rId3" Type="http://schemas.openxmlformats.org/officeDocument/2006/relationships/image" Target="../media/image9.png"/><Relationship Id="rId2" Type="http://schemas.openxmlformats.org/officeDocument/2006/relationships/image" Target="../media/image8.jpe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7.svg"/><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11.png"/><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svg"/><Relationship Id="rId7" Type="http://schemas.openxmlformats.org/officeDocument/2006/relationships/image" Target="../media/image16.png"/><Relationship Id="rId6" Type="http://schemas.openxmlformats.org/officeDocument/2006/relationships/image" Target="../media/image9.svg"/><Relationship Id="rId5" Type="http://schemas.openxmlformats.org/officeDocument/2006/relationships/image" Target="../media/image15.png"/><Relationship Id="rId4" Type="http://schemas.openxmlformats.org/officeDocument/2006/relationships/image" Target="../media/image8.svg"/><Relationship Id="rId3" Type="http://schemas.openxmlformats.org/officeDocument/2006/relationships/image" Target="../media/image14.png"/><Relationship Id="rId2" Type="http://schemas.openxmlformats.org/officeDocument/2006/relationships/image" Target="../media/image13.jpeg"/><Relationship Id="rId10" Type="http://schemas.openxmlformats.org/officeDocument/2006/relationships/notesSlide" Target="../notesSlides/notesSlide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0.png"/><Relationship Id="rId7" Type="http://schemas.openxmlformats.org/officeDocument/2006/relationships/image" Target="../media/image13.svg"/><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8.png"/><Relationship Id="rId3" Type="http://schemas.openxmlformats.org/officeDocument/2006/relationships/image" Target="../media/image11.svg"/><Relationship Id="rId2" Type="http://schemas.openxmlformats.org/officeDocument/2006/relationships/image" Target="../media/image17.png"/><Relationship Id="rId10" Type="http://schemas.openxmlformats.org/officeDocument/2006/relationships/notesSlide" Target="../notesSlides/notesSlide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svg"/><Relationship Id="rId7" Type="http://schemas.openxmlformats.org/officeDocument/2006/relationships/image" Target="../media/image19.png"/><Relationship Id="rId6" Type="http://schemas.openxmlformats.org/officeDocument/2006/relationships/image" Target="../media/image10.svg"/><Relationship Id="rId5" Type="http://schemas.openxmlformats.org/officeDocument/2006/relationships/image" Target="../media/image16.png"/><Relationship Id="rId4" Type="http://schemas.openxmlformats.org/officeDocument/2006/relationships/image" Target="../media/image14.svg"/><Relationship Id="rId3" Type="http://schemas.openxmlformats.org/officeDocument/2006/relationships/image" Target="../media/image22.png"/><Relationship Id="rId2" Type="http://schemas.openxmlformats.org/officeDocument/2006/relationships/image" Target="../media/image21.jpeg"/><Relationship Id="rId10" Type="http://schemas.openxmlformats.org/officeDocument/2006/relationships/notesSlide" Target="../notesSlides/notesSlide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17.svg"/><Relationship Id="rId7" Type="http://schemas.openxmlformats.org/officeDocument/2006/relationships/image" Target="../media/image26.png"/><Relationship Id="rId6" Type="http://schemas.openxmlformats.org/officeDocument/2006/relationships/image" Target="../media/image16.svg"/><Relationship Id="rId5" Type="http://schemas.openxmlformats.org/officeDocument/2006/relationships/image" Target="../media/image25.png"/><Relationship Id="rId4" Type="http://schemas.openxmlformats.org/officeDocument/2006/relationships/image" Target="../media/image15.svg"/><Relationship Id="rId3" Type="http://schemas.openxmlformats.org/officeDocument/2006/relationships/image" Target="../media/image24.png"/><Relationship Id="rId2" Type="http://schemas.openxmlformats.org/officeDocument/2006/relationships/image" Target="../media/image23.jpe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3.svg"/><Relationship Id="rId11" Type="http://schemas.openxmlformats.org/officeDocument/2006/relationships/image" Target="../media/image6.png"/><Relationship Id="rId10" Type="http://schemas.openxmlformats.org/officeDocument/2006/relationships/image" Target="../media/image18.sv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22.svg"/><Relationship Id="rId8" Type="http://schemas.openxmlformats.org/officeDocument/2006/relationships/image" Target="../media/image31.png"/><Relationship Id="rId7" Type="http://schemas.openxmlformats.org/officeDocument/2006/relationships/image" Target="../media/image21.svg"/><Relationship Id="rId6" Type="http://schemas.openxmlformats.org/officeDocument/2006/relationships/image" Target="../media/image30.png"/><Relationship Id="rId5" Type="http://schemas.openxmlformats.org/officeDocument/2006/relationships/image" Target="../media/image20.svg"/><Relationship Id="rId4" Type="http://schemas.openxmlformats.org/officeDocument/2006/relationships/image" Target="../media/image29.png"/><Relationship Id="rId3" Type="http://schemas.openxmlformats.org/officeDocument/2006/relationships/image" Target="../media/image19.svg"/><Relationship Id="rId2" Type="http://schemas.openxmlformats.org/officeDocument/2006/relationships/image" Target="../media/image28.png"/><Relationship Id="rId15" Type="http://schemas.openxmlformats.org/officeDocument/2006/relationships/notesSlide" Target="../notesSlides/notesSlide9.xml"/><Relationship Id="rId14" Type="http://schemas.openxmlformats.org/officeDocument/2006/relationships/slideLayout" Target="../slideLayouts/slideLayout12.xml"/><Relationship Id="rId13" Type="http://schemas.openxmlformats.org/officeDocument/2006/relationships/image" Target="../media/image24.svg"/><Relationship Id="rId12" Type="http://schemas.openxmlformats.org/officeDocument/2006/relationships/image" Target="../media/image33.png"/><Relationship Id="rId11" Type="http://schemas.openxmlformats.org/officeDocument/2006/relationships/image" Target="../media/image23.svg"/><Relationship Id="rId10" Type="http://schemas.openxmlformats.org/officeDocument/2006/relationships/image" Target="../media/image32.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27.svg"/><Relationship Id="rId6" Type="http://schemas.openxmlformats.org/officeDocument/2006/relationships/image" Target="../media/image37.png"/><Relationship Id="rId5" Type="http://schemas.openxmlformats.org/officeDocument/2006/relationships/image" Target="../media/image26.svg"/><Relationship Id="rId4" Type="http://schemas.openxmlformats.org/officeDocument/2006/relationships/image" Target="../media/image36.png"/><Relationship Id="rId3" Type="http://schemas.openxmlformats.org/officeDocument/2006/relationships/image" Target="../media/image25.svg"/><Relationship Id="rId2" Type="http://schemas.openxmlformats.org/officeDocument/2006/relationships/image" Target="../media/image35.png"/><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2286000"/>
            <a:ext cx="1066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Poppins"/>
                <a:ea typeface="Poppins"/>
                <a:cs typeface="Poppins"/>
                <a:sym typeface="Poppins"/>
              </a:rPr>
              <a:t>[Client Brand]</a:t>
            </a:r>
            <a:endParaRPr lang="en-US" sz="1100"/>
          </a:p>
        </p:txBody>
      </p:sp>
      <p:sp>
        <p:nvSpPr>
          <p:cNvPr id="4" name="AutoShape 4"/>
          <p:cNvSpPr/>
          <p:nvPr/>
        </p:nvSpPr>
        <p:spPr>
          <a:xfrm>
            <a:off x="762000" y="393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FFFFFF">
                    <a:alpha val="85098"/>
                  </a:srgbClr>
                </a:solidFill>
                <a:latin typeface="Poppins"/>
                <a:ea typeface="Poppins"/>
                <a:cs typeface="Poppins"/>
                <a:sym typeface="Poppins"/>
              </a:rPr>
              <a:t>Campaign Proposal</a:t>
            </a:r>
            <a:endParaRPr lang="en-US" sz="1100"/>
          </a:p>
        </p:txBody>
      </p:sp>
      <p:cxnSp>
        <p:nvCxnSpPr>
          <p:cNvPr id="5" name="Connector 5"/>
          <p:cNvCxnSpPr/>
          <p:nvPr/>
        </p:nvCxnSpPr>
        <p:spPr>
          <a:xfrm rot="-4092">
            <a:off x="762004" y="5137150"/>
            <a:ext cx="10668000" cy="12700"/>
          </a:xfrm>
          <a:prstGeom prst="straightConnector1">
            <a:avLst/>
          </a:prstGeom>
          <a:solidFill>
            <a:srgbClr val="DEE0E3">
              <a:alpha val="100000"/>
            </a:srgbClr>
          </a:solidFill>
          <a:ln w="12700" cap="flat" cmpd="sng">
            <a:solidFill>
              <a:srgbClr val="FFFFFF">
                <a:alpha val="25000"/>
              </a:srgbClr>
            </a:solidFill>
            <a:prstDash val="solid"/>
            <a:round/>
            <a:headEnd type="none" w="med" len="med"/>
            <a:tailEnd type="none" w="med" len="med"/>
          </a:ln>
        </p:spPr>
      </p:cxnSp>
      <p:sp>
        <p:nvSpPr>
          <p:cNvPr id="6" name="AutoShape 6"/>
          <p:cNvSpPr/>
          <p:nvPr/>
        </p:nvSpPr>
        <p:spPr>
          <a:xfrm>
            <a:off x="762000" y="55245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alpha val="70196"/>
                  </a:srgbClr>
                </a:solidFill>
                <a:latin typeface="Poppins"/>
                <a:ea typeface="Poppins"/>
                <a:cs typeface="Poppins"/>
                <a:sym typeface="Poppins"/>
              </a:rPr>
              <a:t>[Agency Name]</a:t>
            </a:r>
            <a:endParaRPr lang="en-US" sz="1100"/>
          </a:p>
        </p:txBody>
      </p:sp>
      <p:sp>
        <p:nvSpPr>
          <p:cNvPr id="7" name="AutoShape 7"/>
          <p:cNvSpPr/>
          <p:nvPr/>
        </p:nvSpPr>
        <p:spPr>
          <a:xfrm>
            <a:off x="6350000" y="5524500"/>
            <a:ext cx="5080000" cy="635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0" i="0" u="none" strike="noStrike">
                <a:solidFill>
                  <a:srgbClr val="FFFFFF">
                    <a:alpha val="70196"/>
                  </a:srgbClr>
                </a:solidFill>
                <a:latin typeface="Poppins"/>
                <a:ea typeface="Poppins"/>
                <a:cs typeface="Poppins"/>
                <a:sym typeface="Poppins"/>
              </a:rPr>
              <a:t>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Opportunity: Understanding Your World</a:t>
            </a:r>
            <a:endParaRPr lang="en-US" sz="1100"/>
          </a:p>
        </p:txBody>
      </p:sp>
      <p:pic>
        <p:nvPicPr>
          <p:cNvPr id="4" name="Picture 4"/>
          <p:cNvPicPr>
            <a:picLocks noChangeAspect="1"/>
          </p:cNvPicPr>
          <p:nvPr/>
        </p:nvPicPr>
        <p:blipFill>
          <a:blip r:embed="rId2"/>
          <a:srcRect t="10" b="10"/>
          <a:stretch>
            <a:fillRect/>
          </a:stretch>
        </p:blipFill>
        <p:spPr>
          <a:xfrm>
            <a:off x="762000" y="1524000"/>
            <a:ext cx="4064000" cy="2717800"/>
          </a:xfrm>
          <a:prstGeom prst="roundRect">
            <a:avLst>
              <a:gd name="adj" fmla="val 5607"/>
            </a:avLst>
          </a:prstGeom>
          <a:noFill/>
          <a:ln w="25400" cap="flat" cmpd="sng">
            <a:noFill/>
            <a:prstDash val="solid"/>
            <a:round/>
          </a:ln>
          <a:effectLst>
            <a:outerShdw blurRad="190500" dist="76200" dir="2700000" algn="tl" rotWithShape="0">
              <a:srgbClr val="2D3748">
                <a:alpha val="10000"/>
              </a:srgbClr>
            </a:outerShdw>
          </a:effectLst>
        </p:spPr>
      </p:pic>
      <p:sp>
        <p:nvSpPr>
          <p:cNvPr id="5" name="AutoShape 5"/>
          <p:cNvSpPr/>
          <p:nvPr/>
        </p:nvSpPr>
        <p:spPr>
          <a:xfrm>
            <a:off x="762000" y="4445000"/>
            <a:ext cx="4064000" cy="1841500"/>
          </a:xfrm>
          <a:prstGeom prst="roundRect">
            <a:avLst>
              <a:gd name="adj" fmla="val 0"/>
            </a:avLst>
          </a:prstGeom>
          <a:solidFill>
            <a:srgbClr val="2D3748">
              <a:alpha val="6000"/>
            </a:srgbClr>
          </a:solidFill>
          <a:ln w="12700" cap="flat" cmpd="sng">
            <a:solidFill>
              <a:srgbClr val="2D3748">
                <a:alpha val="12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4597400"/>
            <a:ext cx="368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Core Strategic Insight</a:t>
            </a:r>
            <a:endParaRPr lang="en-US" sz="1100"/>
          </a:p>
        </p:txBody>
      </p:sp>
      <p:sp>
        <p:nvSpPr>
          <p:cNvPr id="7" name="AutoShape 7"/>
          <p:cNvSpPr/>
          <p:nvPr/>
        </p:nvSpPr>
        <p:spPr>
          <a:xfrm>
            <a:off x="952500" y="4978400"/>
            <a:ext cx="368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Poppins"/>
                <a:ea typeface="Poppins"/>
                <a:cs typeface="Poppins"/>
                <a:sym typeface="Poppins"/>
              </a:rPr>
              <a:t>Your brand’s established legacy and loyal customer base are powerful assets. The critical untapped potential lies in deepening Gen Z engagement and expanding your footprint in high-growth regions, where demand currently outpaces your reach.</a:t>
            </a:r>
            <a:endParaRPr lang="en-US" sz="1100"/>
          </a:p>
        </p:txBody>
      </p:sp>
      <p:sp>
        <p:nvSpPr>
          <p:cNvPr id="8" name="AutoShape 8"/>
          <p:cNvSpPr/>
          <p:nvPr/>
        </p:nvSpPr>
        <p:spPr>
          <a:xfrm>
            <a:off x="5334000" y="15240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Market Context &amp; Key Trends</a:t>
            </a:r>
            <a:endParaRPr lang="en-US" sz="1100"/>
          </a:p>
        </p:txBody>
      </p:sp>
      <p:sp>
        <p:nvSpPr>
          <p:cNvPr id="9" name="AutoShape 9"/>
          <p:cNvSpPr/>
          <p:nvPr/>
        </p:nvSpPr>
        <p:spPr>
          <a:xfrm>
            <a:off x="5334000" y="2159000"/>
            <a:ext cx="6096000" cy="889000"/>
          </a:xfrm>
          <a:prstGeom prst="roundRect">
            <a:avLst>
              <a:gd name="adj" fmla="val 0"/>
            </a:avLst>
          </a:prstGeom>
          <a:solidFill>
            <a:srgbClr val="EDF2F7">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4500" y="2438400"/>
            <a:ext cx="330200" cy="330200"/>
          </a:xfrm>
          <a:prstGeom prst="rect">
            <a:avLst/>
          </a:prstGeom>
        </p:spPr>
      </p:pic>
      <p:sp>
        <p:nvSpPr>
          <p:cNvPr id="11" name="AutoShape 11"/>
          <p:cNvSpPr/>
          <p:nvPr/>
        </p:nvSpPr>
        <p:spPr>
          <a:xfrm>
            <a:off x="6032500" y="22352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Digital Transformation Acceleration</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Industry growth projected at [X]% CAGR through 2028 (Gartner), driven by AI integration and cloud-based solutions reshaping operational efficiency.</a:t>
            </a:r>
            <a:endParaRPr lang="en-US" sz="1200" b="0" i="0" u="none" strike="noStrike">
              <a:solidFill>
                <a:srgbClr val="4A5568"/>
              </a:solidFill>
              <a:latin typeface="Poppins"/>
              <a:ea typeface="Poppins"/>
              <a:cs typeface="Poppins"/>
              <a:sym typeface="Poppins"/>
            </a:endParaRPr>
          </a:p>
        </p:txBody>
      </p:sp>
      <p:sp>
        <p:nvSpPr>
          <p:cNvPr id="12" name="AutoShape 12"/>
          <p:cNvSpPr/>
          <p:nvPr/>
        </p:nvSpPr>
        <p:spPr>
          <a:xfrm>
            <a:off x="5334000" y="3200400"/>
            <a:ext cx="6096000" cy="889000"/>
          </a:xfrm>
          <a:prstGeom prst="roundRect">
            <a:avLst>
              <a:gd name="adj" fmla="val 0"/>
            </a:avLst>
          </a:prstGeom>
          <a:solidFill>
            <a:srgbClr val="EDF2F7">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3479800"/>
            <a:ext cx="330200" cy="330200"/>
          </a:xfrm>
          <a:prstGeom prst="rect">
            <a:avLst/>
          </a:prstGeom>
        </p:spPr>
      </p:pic>
      <p:sp>
        <p:nvSpPr>
          <p:cNvPr id="14" name="AutoShape 14"/>
          <p:cNvSpPr/>
          <p:nvPr/>
        </p:nvSpPr>
        <p:spPr>
          <a:xfrm>
            <a:off x="6032500" y="32766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Evolving Consumer Expectations</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Modern audiences demand authenticity, hyper-personalized interactions, and a strong commitment to sustainability—moving beyond transactional relationships.</a:t>
            </a:r>
            <a:endParaRPr lang="en-US" sz="1200" b="0" i="0" u="none" strike="noStrike">
              <a:solidFill>
                <a:srgbClr val="4A5568"/>
              </a:solidFill>
              <a:latin typeface="Poppins"/>
              <a:ea typeface="Poppins"/>
              <a:cs typeface="Poppins"/>
              <a:sym typeface="Poppins"/>
            </a:endParaRPr>
          </a:p>
        </p:txBody>
      </p:sp>
      <p:sp>
        <p:nvSpPr>
          <p:cNvPr id="15" name="AutoShape 15"/>
          <p:cNvSpPr/>
          <p:nvPr/>
        </p:nvSpPr>
        <p:spPr>
          <a:xfrm>
            <a:off x="5334000" y="4241800"/>
            <a:ext cx="6096000" cy="889000"/>
          </a:xfrm>
          <a:prstGeom prst="roundRect">
            <a:avLst>
              <a:gd name="adj" fmla="val 0"/>
            </a:avLst>
          </a:prstGeom>
          <a:solidFill>
            <a:srgbClr val="EDF2F7">
              <a:alpha val="6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24500" y="4521200"/>
            <a:ext cx="330200" cy="330200"/>
          </a:xfrm>
          <a:prstGeom prst="rect">
            <a:avLst/>
          </a:prstGeom>
        </p:spPr>
      </p:pic>
      <p:sp>
        <p:nvSpPr>
          <p:cNvPr id="17" name="AutoShape 17"/>
          <p:cNvSpPr/>
          <p:nvPr/>
        </p:nvSpPr>
        <p:spPr>
          <a:xfrm>
            <a:off x="6032500" y="4318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Aggressive Market Competition</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Rivals like Competitor A and B are doubling down on digital-first storytelling and immersive experiences to capture market mindshare.</a:t>
            </a:r>
            <a:endParaRPr lang="en-US" sz="1200" b="0" i="0" u="none" strike="noStrike">
              <a:solidFill>
                <a:srgbClr val="4A5568"/>
              </a:solidFill>
              <a:latin typeface="Poppins"/>
              <a:ea typeface="Poppins"/>
              <a:cs typeface="Poppins"/>
              <a:sym typeface="Poppins"/>
            </a:endParaRPr>
          </a:p>
        </p:txBody>
      </p:sp>
      <p:pic>
        <p:nvPicPr>
          <p:cNvPr id="18" name="Picture 18"/>
          <p:cNvPicPr>
            <a:picLocks noChangeAspect="1"/>
          </p:cNvPicPr>
          <p:nvPr/>
        </p:nvPicPr>
        <p:blipFill>
          <a:blip r:embed="rId9"/>
          <a:stretch>
            <a:fillRect/>
          </a:stretch>
        </p:blipFill>
        <p:spPr>
          <a:xfrm>
            <a:off x="5334000" y="5270500"/>
            <a:ext cx="6096000" cy="1460500"/>
          </a:xfrm>
          <a:prstGeom prst="rect">
            <a:avLst/>
          </a:prstGeom>
          <a:ln w="12700">
            <a:noFill/>
            <a:prstDash val="soli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Challenge: Bridging the Gap to [Desired Outcome]</a:t>
            </a:r>
            <a:endParaRPr lang="en-US" sz="1100"/>
          </a:p>
        </p:txBody>
      </p:sp>
      <p:pic>
        <p:nvPicPr>
          <p:cNvPr id="4" name="Picture 4"/>
          <p:cNvPicPr>
            <a:picLocks noChangeAspect="1"/>
          </p:cNvPicPr>
          <p:nvPr/>
        </p:nvPicPr>
        <p:blipFill>
          <a:blip r:embed="rId2"/>
          <a:srcRect/>
          <a:stretch>
            <a:fillRect/>
          </a:stretch>
        </p:blipFill>
        <p:spPr>
          <a:xfrm>
            <a:off x="762000" y="1778000"/>
            <a:ext cx="4064000" cy="3048000"/>
          </a:xfrm>
          <a:prstGeom prst="roundRect">
            <a:avLst>
              <a:gd name="adj" fmla="val 5000"/>
            </a:avLst>
          </a:prstGeom>
          <a:noFill/>
          <a:ln w="25400" cap="flat" cmpd="sng">
            <a:noFill/>
            <a:prstDash val="solid"/>
            <a:round/>
          </a:ln>
          <a:effectLst>
            <a:outerShdw blurRad="152400" dist="50800" dir="2700000" algn="tl" rotWithShape="0">
              <a:srgbClr val="2D3748">
                <a:alpha val="10000"/>
              </a:srgbClr>
            </a:outerShdw>
          </a:effectLst>
        </p:spPr>
      </p:pic>
      <p:sp>
        <p:nvSpPr>
          <p:cNvPr id="5" name="AutoShape 5"/>
          <p:cNvSpPr/>
          <p:nvPr/>
        </p:nvSpPr>
        <p:spPr>
          <a:xfrm>
            <a:off x="762000" y="5080000"/>
            <a:ext cx="4064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4A5568"/>
                </a:solidFill>
                <a:latin typeface="Poppins"/>
                <a:ea typeface="Poppins"/>
                <a:cs typeface="Poppins"/>
                <a:sym typeface="Poppins"/>
              </a:rPr>
              <a:t>The bridge symbolizes the critical transition from current limitations to future growth. To cross it, we must first identify the structural gaps in our approach.</a:t>
            </a:r>
            <a:endParaRPr lang="en-US" sz="1100"/>
          </a:p>
        </p:txBody>
      </p:sp>
      <p:sp>
        <p:nvSpPr>
          <p:cNvPr id="6" name="AutoShape 6"/>
          <p:cNvSpPr/>
          <p:nvPr/>
        </p:nvSpPr>
        <p:spPr>
          <a:xfrm>
            <a:off x="5207000" y="1778000"/>
            <a:ext cx="6350000" cy="16510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397500" y="1930400"/>
            <a:ext cx="5969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2D3748"/>
                </a:solidFill>
                <a:latin typeface="Poppins"/>
                <a:ea typeface="Poppins"/>
                <a:cs typeface="Poppins"/>
                <a:sym typeface="Poppins"/>
              </a:rPr>
              <a:t>The Core Challenge</a:t>
            </a:r>
            <a:endParaRPr lang="en-US" sz="1100"/>
          </a:p>
          <a:p>
            <a:pPr marL="0" indent="0" algn="l">
              <a:lnSpc>
                <a:spcPct val="117000"/>
              </a:lnSpc>
            </a:pPr>
            <a:r>
              <a:rPr lang="en-US" sz="1400" b="0" i="0" u="none" strike="noStrike">
                <a:solidFill>
                  <a:srgbClr val="374151"/>
                </a:solidFill>
                <a:latin typeface="Poppins"/>
                <a:ea typeface="Poppins"/>
                <a:cs typeface="Poppins"/>
                <a:sym typeface="Poppins"/>
              </a:rPr>
              <a:t>Despite strong brand fundamentals, [Client Brand] is experiencing a critical disconnect: declining engagement with younger demographics and inconsistent messaging across channels. This fragmentation is directly impacting growth, resulting in missed revenue opportunities estimated at $XX million annually.</a:t>
            </a:r>
            <a:endParaRPr lang="en-US" sz="1400" b="0" i="0" u="none" strike="noStrike">
              <a:solidFill>
                <a:srgbClr val="374151"/>
              </a:solidFill>
              <a:latin typeface="Poppins"/>
              <a:ea typeface="Poppins"/>
              <a:cs typeface="Poppins"/>
              <a:sym typeface="Poppins"/>
            </a:endParaRPr>
          </a:p>
        </p:txBody>
      </p:sp>
      <p:sp>
        <p:nvSpPr>
          <p:cNvPr id="8" name="AutoShape 8"/>
          <p:cNvSpPr/>
          <p:nvPr/>
        </p:nvSpPr>
        <p:spPr>
          <a:xfrm>
            <a:off x="5207000" y="36830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Key Root Causes</a:t>
            </a:r>
            <a:endParaRPr lang="en-US" sz="1100"/>
          </a:p>
        </p:txBody>
      </p:sp>
      <p:sp>
        <p:nvSpPr>
          <p:cNvPr id="9" name="AutoShape 9"/>
          <p:cNvSpPr/>
          <p:nvPr/>
        </p:nvSpPr>
        <p:spPr>
          <a:xfrm>
            <a:off x="5207000" y="4191000"/>
            <a:ext cx="2032000" cy="1968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59400" y="4381500"/>
            <a:ext cx="304800" cy="304800"/>
          </a:xfrm>
          <a:prstGeom prst="rect">
            <a:avLst/>
          </a:prstGeom>
        </p:spPr>
      </p:pic>
      <p:sp>
        <p:nvSpPr>
          <p:cNvPr id="11" name="AutoShape 11"/>
          <p:cNvSpPr/>
          <p:nvPr/>
        </p:nvSpPr>
        <p:spPr>
          <a:xfrm>
            <a:off x="5715000" y="43815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No Unified Strategy</a:t>
            </a:r>
            <a:endParaRPr lang="en-US" sz="1100"/>
          </a:p>
        </p:txBody>
      </p:sp>
      <p:sp>
        <p:nvSpPr>
          <p:cNvPr id="12" name="AutoShape 12"/>
          <p:cNvSpPr/>
          <p:nvPr/>
        </p:nvSpPr>
        <p:spPr>
          <a:xfrm>
            <a:off x="5359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A siloed approach leads to fragmented customer experiences, confusing audiences and diluting brand impact.</a:t>
            </a:r>
            <a:endParaRPr lang="en-US" sz="1100"/>
          </a:p>
        </p:txBody>
      </p:sp>
      <p:sp>
        <p:nvSpPr>
          <p:cNvPr id="13" name="AutoShape 13"/>
          <p:cNvSpPr/>
          <p:nvPr/>
        </p:nvSpPr>
        <p:spPr>
          <a:xfrm>
            <a:off x="7366000" y="4191000"/>
            <a:ext cx="2032000" cy="1968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18400" y="4381500"/>
            <a:ext cx="304800" cy="304800"/>
          </a:xfrm>
          <a:prstGeom prst="rect">
            <a:avLst/>
          </a:prstGeom>
        </p:spPr>
      </p:pic>
      <p:sp>
        <p:nvSpPr>
          <p:cNvPr id="15" name="AutoShape 15"/>
          <p:cNvSpPr/>
          <p:nvPr/>
        </p:nvSpPr>
        <p:spPr>
          <a:xfrm>
            <a:off x="7874000" y="43815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Legacy Channel Bias</a:t>
            </a:r>
            <a:endParaRPr lang="en-US" sz="1100"/>
          </a:p>
        </p:txBody>
      </p:sp>
      <p:sp>
        <p:nvSpPr>
          <p:cNvPr id="16" name="AutoShape 16"/>
          <p:cNvSpPr/>
          <p:nvPr/>
        </p:nvSpPr>
        <p:spPr>
          <a:xfrm>
            <a:off x="7518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Over-reliance on traditional media fails to reach the growing digitally-native audience where attention resides.</a:t>
            </a:r>
            <a:endParaRPr lang="en-US" sz="1100"/>
          </a:p>
        </p:txBody>
      </p:sp>
      <p:sp>
        <p:nvSpPr>
          <p:cNvPr id="17" name="AutoShape 17"/>
          <p:cNvSpPr/>
          <p:nvPr/>
        </p:nvSpPr>
        <p:spPr>
          <a:xfrm>
            <a:off x="9525000" y="4191000"/>
            <a:ext cx="2032000" cy="1968500"/>
          </a:xfrm>
          <a:prstGeom prst="roundRect">
            <a:avLst>
              <a:gd name="adj" fmla="val 0"/>
            </a:avLst>
          </a:prstGeom>
          <a:solidFill>
            <a:srgbClr val="FFFFFF">
              <a:alpha val="7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77400" y="4381500"/>
            <a:ext cx="304800" cy="304800"/>
          </a:xfrm>
          <a:prstGeom prst="rect">
            <a:avLst/>
          </a:prstGeom>
        </p:spPr>
      </p:pic>
      <p:sp>
        <p:nvSpPr>
          <p:cNvPr id="19" name="AutoShape 19"/>
          <p:cNvSpPr/>
          <p:nvPr/>
        </p:nvSpPr>
        <p:spPr>
          <a:xfrm>
            <a:off x="10033000" y="43815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Message Misalignment</a:t>
            </a:r>
            <a:endParaRPr lang="en-US" sz="1100"/>
          </a:p>
        </p:txBody>
      </p:sp>
      <p:sp>
        <p:nvSpPr>
          <p:cNvPr id="20" name="AutoShape 20"/>
          <p:cNvSpPr/>
          <p:nvPr/>
        </p:nvSpPr>
        <p:spPr>
          <a:xfrm>
            <a:off x="9677400" y="4826000"/>
            <a:ext cx="1727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Brand communications lack emotional resonance, failing to differentiate in a crowded and competitive marketplace.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Our Strategic Approach: "Project Illuminate"</a:t>
            </a:r>
            <a:endParaRPr lang="en-US" sz="1100"/>
          </a:p>
        </p:txBody>
      </p:sp>
      <p:sp>
        <p:nvSpPr>
          <p:cNvPr id="4" name="AutoShape 4"/>
          <p:cNvSpPr/>
          <p:nvPr/>
        </p:nvSpPr>
        <p:spPr>
          <a:xfrm>
            <a:off x="762000" y="2032000"/>
            <a:ext cx="3378200" cy="2921000"/>
          </a:xfrm>
          <a:prstGeom prst="roundRect">
            <a:avLst>
              <a:gd name="adj" fmla="val 0"/>
            </a:avLst>
          </a:prstGeom>
          <a:solidFill>
            <a:srgbClr val="FFFFFF">
              <a:alpha val="5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06400" cy="406400"/>
          </a:xfrm>
          <a:prstGeom prst="rect">
            <a:avLst/>
          </a:prstGeom>
        </p:spPr>
      </p:pic>
      <p:sp>
        <p:nvSpPr>
          <p:cNvPr id="6" name="AutoShape 6"/>
          <p:cNvSpPr/>
          <p:nvPr/>
        </p:nvSpPr>
        <p:spPr>
          <a:xfrm>
            <a:off x="1524000" y="2311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01. Audience-Centric Storytelling</a:t>
            </a:r>
            <a:endParaRPr lang="en-US" sz="1100"/>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8" name="AutoShape 8"/>
          <p:cNvSpPr/>
          <p:nvPr/>
        </p:nvSpPr>
        <p:spPr>
          <a:xfrm>
            <a:off x="1016000" y="30480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Poppins"/>
                <a:ea typeface="Poppins"/>
                <a:cs typeface="Poppins"/>
                <a:sym typeface="Poppins"/>
              </a:rPr>
              <a:t>Reframe the narrative to resonate with your core audience by centering their values, aspirations, and unmet needs. We craft authentic, emotionally resonant stories that transform passive viewers into active brand participants.</a:t>
            </a:r>
            <a:endParaRPr lang="en-US" sz="1100"/>
          </a:p>
        </p:txBody>
      </p:sp>
      <p:sp>
        <p:nvSpPr>
          <p:cNvPr id="9" name="AutoShape 9"/>
          <p:cNvSpPr/>
          <p:nvPr/>
        </p:nvSpPr>
        <p:spPr>
          <a:xfrm>
            <a:off x="4394200" y="2032000"/>
            <a:ext cx="3378200" cy="2921000"/>
          </a:xfrm>
          <a:prstGeom prst="roundRect">
            <a:avLst>
              <a:gd name="adj" fmla="val 0"/>
            </a:avLst>
          </a:prstGeom>
          <a:solidFill>
            <a:srgbClr val="FFFFFF">
              <a:alpha val="5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286000"/>
            <a:ext cx="406400" cy="406400"/>
          </a:xfrm>
          <a:prstGeom prst="rect">
            <a:avLst/>
          </a:prstGeom>
        </p:spPr>
      </p:pic>
      <p:sp>
        <p:nvSpPr>
          <p:cNvPr id="11" name="AutoShape 11"/>
          <p:cNvSpPr/>
          <p:nvPr/>
        </p:nvSpPr>
        <p:spPr>
          <a:xfrm>
            <a:off x="5156200" y="2311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02. Performance-Driven Media</a:t>
            </a:r>
            <a:endParaRPr lang="en-US" sz="1100"/>
          </a:p>
        </p:txBody>
      </p:sp>
      <p:cxnSp>
        <p:nvCxnSpPr>
          <p:cNvPr id="12" name="Connector 12"/>
          <p:cNvCxnSpPr/>
          <p:nvPr/>
        </p:nvCxnSpPr>
        <p:spPr>
          <a:xfrm rot="-15211">
            <a:off x="4648214" y="2851150"/>
            <a:ext cx="28702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3" name="AutoShape 13"/>
          <p:cNvSpPr/>
          <p:nvPr/>
        </p:nvSpPr>
        <p:spPr>
          <a:xfrm>
            <a:off x="4648200" y="30480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Poppins"/>
                <a:ea typeface="Poppins"/>
                <a:cs typeface="Poppins"/>
                <a:sym typeface="Poppins"/>
              </a:rPr>
              <a:t>Maximize ROI through AI-driven targeting and cross-channel optimization. We deploy data-backed allocation, real-time performance tuning, and analytics to ensure every media dollar drives measurable business outcomes.</a:t>
            </a:r>
            <a:endParaRPr lang="en-US" sz="1100"/>
          </a:p>
        </p:txBody>
      </p:sp>
      <p:sp>
        <p:nvSpPr>
          <p:cNvPr id="14" name="AutoShape 14"/>
          <p:cNvSpPr/>
          <p:nvPr/>
        </p:nvSpPr>
        <p:spPr>
          <a:xfrm>
            <a:off x="8026400" y="2032000"/>
            <a:ext cx="3378200" cy="2921000"/>
          </a:xfrm>
          <a:prstGeom prst="roundRect">
            <a:avLst>
              <a:gd name="adj" fmla="val 0"/>
            </a:avLst>
          </a:prstGeom>
          <a:solidFill>
            <a:srgbClr val="FFFFFF">
              <a:alpha val="5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286000"/>
            <a:ext cx="406400" cy="406400"/>
          </a:xfrm>
          <a:prstGeom prst="rect">
            <a:avLst/>
          </a:prstGeom>
        </p:spPr>
      </p:pic>
      <p:sp>
        <p:nvSpPr>
          <p:cNvPr id="16" name="AutoShape 16"/>
          <p:cNvSpPr/>
          <p:nvPr/>
        </p:nvSpPr>
        <p:spPr>
          <a:xfrm>
            <a:off x="8788400" y="2311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03. Seamless Customer Experience</a:t>
            </a:r>
            <a:endParaRPr lang="en-US" sz="1100"/>
          </a:p>
        </p:txBody>
      </p:sp>
      <p:cxnSp>
        <p:nvCxnSpPr>
          <p:cNvPr id="17" name="Connector 17"/>
          <p:cNvCxnSpPr/>
          <p:nvPr/>
        </p:nvCxnSpPr>
        <p:spPr>
          <a:xfrm rot="-15211">
            <a:off x="8280414" y="2851150"/>
            <a:ext cx="28702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8" name="AutoShape 18"/>
          <p:cNvSpPr/>
          <p:nvPr/>
        </p:nvSpPr>
        <p:spPr>
          <a:xfrm>
            <a:off x="8280400" y="3048000"/>
            <a:ext cx="28702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Poppins"/>
                <a:ea typeface="Poppins"/>
                <a:cs typeface="Poppins"/>
                <a:sym typeface="Poppins"/>
              </a:rPr>
              <a:t>Create a unified, frictionless journey across all touchpoints—from discovery to advocacy. Consistent, intuitive interactions build trust, enhance loyalty, and convert satisfied customers into vocal brand champions.</a:t>
            </a:r>
            <a:endParaRPr lang="en-US" sz="1100"/>
          </a:p>
        </p:txBody>
      </p:sp>
      <p:sp>
        <p:nvSpPr>
          <p:cNvPr id="19" name="AutoShape 19"/>
          <p:cNvSpPr/>
          <p:nvPr/>
        </p:nvSpPr>
        <p:spPr>
          <a:xfrm>
            <a:off x="762000" y="5334000"/>
            <a:ext cx="10668000" cy="1016000"/>
          </a:xfrm>
          <a:prstGeom prst="roundRect">
            <a:avLst>
              <a:gd name="adj" fmla="val 0"/>
            </a:avLst>
          </a:prstGeom>
          <a:solidFill>
            <a:srgbClr val="2D3748">
              <a:alpha val="6000"/>
            </a:srgbClr>
          </a:solidFill>
          <a:ln cap="flat" cmpd="sng">
            <a:solidFill>
              <a:srgbClr val="18212F">
                <a:alpha val="6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524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Poppins"/>
                <a:ea typeface="Poppins"/>
                <a:cs typeface="Poppins"/>
                <a:sym typeface="Poppins"/>
              </a:rPr>
              <a:t>The Insight-to-Impact Model:</a:t>
            </a:r>
            <a:r>
              <a:rPr lang="en-US" sz="1400" b="0" i="0" u="none" strike="noStrike">
                <a:solidFill>
                  <a:srgbClr val="4A5568"/>
                </a:solidFill>
                <a:latin typeface="Poppins"/>
                <a:ea typeface="Poppins"/>
                <a:cs typeface="Poppins"/>
                <a:sym typeface="Poppins"/>
              </a:rPr>
              <a:t>Every campaign is rooted in deep consumer insights and designed for tangible, measurable growth—ensuring your strategy isn’t just creative, but a proven driver of business success.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Campaign Blueprint: "Your Journey, Redefined."</a:t>
            </a:r>
            <a:endParaRPr lang="en-US" sz="1100"/>
          </a:p>
        </p:txBody>
      </p:sp>
      <p:pic>
        <p:nvPicPr>
          <p:cNvPr id="4" name="Picture 4"/>
          <p:cNvPicPr>
            <a:picLocks noChangeAspect="1"/>
          </p:cNvPicPr>
          <p:nvPr/>
        </p:nvPicPr>
        <p:blipFill>
          <a:blip r:embed="rId2"/>
          <a:srcRect/>
          <a:stretch>
            <a:fillRect/>
          </a:stretch>
        </p:blipFill>
        <p:spPr>
          <a:xfrm>
            <a:off x="762000" y="2032000"/>
            <a:ext cx="4064000" cy="3048000"/>
          </a:xfrm>
          <a:prstGeom prst="rect">
            <a:avLst/>
          </a:prstGeom>
          <a:noFill/>
          <a:ln w="25400" cap="flat" cmpd="sng">
            <a:noFill/>
            <a:prstDash val="solid"/>
            <a:round/>
          </a:ln>
          <a:effectLst>
            <a:outerShdw blurRad="203200" dist="101600" dir="2700000" algn="tl" rotWithShape="0">
              <a:srgbClr val="2D3748">
                <a:alpha val="15000"/>
              </a:srgbClr>
            </a:outerShdw>
          </a:effectLst>
        </p:spPr>
      </p:pic>
      <p:sp>
        <p:nvSpPr>
          <p:cNvPr id="5" name="AutoShape 5"/>
          <p:cNvSpPr/>
          <p:nvPr/>
        </p:nvSpPr>
        <p:spPr>
          <a:xfrm>
            <a:off x="762000" y="5334000"/>
            <a:ext cx="406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718096"/>
                </a:solidFill>
                <a:latin typeface="Poppins"/>
                <a:ea typeface="Poppins"/>
                <a:cs typeface="Poppins"/>
                <a:sym typeface="Poppins"/>
              </a:rPr>
              <a:t>Mood Board: Visualizing the aesthetic direction—where modern minimalism meets vibrant, authentic storytelling.</a:t>
            </a:r>
            <a:endParaRPr lang="en-US" sz="1100"/>
          </a:p>
        </p:txBody>
      </p:sp>
      <p:sp>
        <p:nvSpPr>
          <p:cNvPr id="6" name="AutoShape 6"/>
          <p:cNvSpPr/>
          <p:nvPr/>
        </p:nvSpPr>
        <p:spPr>
          <a:xfrm>
            <a:off x="5334000" y="2032000"/>
            <a:ext cx="609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2D3748"/>
                </a:solidFill>
                <a:latin typeface="Poppins"/>
                <a:ea typeface="Poppins"/>
                <a:cs typeface="Poppins"/>
                <a:sym typeface="Poppins"/>
              </a:rPr>
              <a:t>Creative Concept: Unleash Your Explorer Spirit</a:t>
            </a:r>
            <a:endParaRPr lang="en-US" sz="1100"/>
          </a:p>
          <a:p>
            <a:pPr marL="0" indent="0" algn="l">
              <a:lnSpc>
                <a:spcPct val="117000"/>
              </a:lnSpc>
            </a:pPr>
            <a:r>
              <a:rPr lang="en-US" sz="1400" b="0" i="0" u="none" strike="noStrike">
                <a:solidFill>
                  <a:srgbClr val="4A5568"/>
                </a:solidFill>
                <a:latin typeface="Poppins"/>
                <a:ea typeface="Poppins"/>
                <a:cs typeface="Poppins"/>
                <a:sym typeface="Poppins"/>
              </a:rPr>
              <a:t>This core idea transcends traditional advertising by blending cinematic narratives with relatable user experiences. It’s about inspiring curiosity and positioning your brand as the catalyst for discovery.</a:t>
            </a:r>
            <a:endParaRPr lang="en-US" sz="1400" b="0" i="0" u="none" strike="noStrike">
              <a:solidFill>
                <a:srgbClr val="4A5568"/>
              </a:solidFill>
              <a:latin typeface="Poppins"/>
              <a:ea typeface="Poppins"/>
              <a:cs typeface="Poppins"/>
              <a:sym typeface="Poppins"/>
            </a:endParaRPr>
          </a:p>
        </p:txBody>
      </p:sp>
      <p:sp>
        <p:nvSpPr>
          <p:cNvPr id="7" name="AutoShape 7"/>
          <p:cNvSpPr/>
          <p:nvPr/>
        </p:nvSpPr>
        <p:spPr>
          <a:xfrm>
            <a:off x="5334000" y="3429000"/>
            <a:ext cx="6096000" cy="8636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24500" y="3683000"/>
            <a:ext cx="355600" cy="355600"/>
          </a:xfrm>
          <a:prstGeom prst="rect">
            <a:avLst/>
          </a:prstGeom>
        </p:spPr>
      </p:pic>
      <p:sp>
        <p:nvSpPr>
          <p:cNvPr id="9" name="AutoShape 9"/>
          <p:cNvSpPr/>
          <p:nvPr/>
        </p:nvSpPr>
        <p:spPr>
          <a:xfrm>
            <a:off x="6032500" y="3530600"/>
            <a:ext cx="527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Hero Film &amp; Social Cutdowns</a:t>
            </a:r>
            <a:endParaRPr lang="en-US" sz="1100"/>
          </a:p>
          <a:p>
            <a:pPr marL="0" indent="0" algn="l">
              <a:lnSpc>
                <a:spcPct val="100000"/>
              </a:lnSpc>
            </a:pPr>
            <a:r>
              <a:rPr lang="en-US" sz="1200" b="0" i="0" u="none" strike="noStrike">
                <a:solidFill>
                  <a:srgbClr val="718096"/>
                </a:solidFill>
                <a:latin typeface="Poppins"/>
                <a:ea typeface="Poppins"/>
                <a:cs typeface="Poppins"/>
                <a:sym typeface="Poppins"/>
              </a:rPr>
              <a:t>A 60-second cinematic hero film paired with bite-sized 15-second social edits, designed to evoke emotion and drive viral sharing across Instagram, TikTok, and YouTube.</a:t>
            </a:r>
            <a:endParaRPr lang="en-US" sz="1200" b="0" i="0" u="none" strike="noStrike">
              <a:solidFill>
                <a:srgbClr val="718096"/>
              </a:solidFill>
              <a:latin typeface="Poppins"/>
              <a:ea typeface="Poppins"/>
              <a:cs typeface="Poppins"/>
              <a:sym typeface="Poppins"/>
            </a:endParaRPr>
          </a:p>
        </p:txBody>
      </p:sp>
      <p:sp>
        <p:nvSpPr>
          <p:cNvPr id="10" name="AutoShape 10"/>
          <p:cNvSpPr/>
          <p:nvPr/>
        </p:nvSpPr>
        <p:spPr>
          <a:xfrm>
            <a:off x="5334000" y="4368800"/>
            <a:ext cx="6096000" cy="8636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4622800"/>
            <a:ext cx="355600" cy="355600"/>
          </a:xfrm>
          <a:prstGeom prst="rect">
            <a:avLst/>
          </a:prstGeom>
        </p:spPr>
      </p:pic>
      <p:sp>
        <p:nvSpPr>
          <p:cNvPr id="12" name="AutoShape 12"/>
          <p:cNvSpPr/>
          <p:nvPr/>
        </p:nvSpPr>
        <p:spPr>
          <a:xfrm>
            <a:off x="6032500" y="4470400"/>
            <a:ext cx="527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High-Impact Visual Assets</a:t>
            </a:r>
            <a:endParaRPr lang="en-US" sz="1100"/>
          </a:p>
          <a:p>
            <a:pPr marL="0" indent="0" algn="l">
              <a:lnSpc>
                <a:spcPct val="100000"/>
              </a:lnSpc>
            </a:pPr>
            <a:r>
              <a:rPr lang="en-US" sz="1200" b="0" i="0" u="none" strike="noStrike">
                <a:solidFill>
                  <a:srgbClr val="718096"/>
                </a:solidFill>
                <a:latin typeface="Poppins"/>
                <a:ea typeface="Poppins"/>
                <a:cs typeface="Poppins"/>
                <a:sym typeface="Poppins"/>
              </a:rPr>
              <a:t>Editorial-style photography and motion graphics featuring a diverse cast in aspirational settings, optimized for display ads, social feeds, and website banners.</a:t>
            </a:r>
            <a:endParaRPr lang="en-US" sz="1200" b="0" i="0" u="none" strike="noStrike">
              <a:solidFill>
                <a:srgbClr val="718096"/>
              </a:solidFill>
              <a:latin typeface="Poppins"/>
              <a:ea typeface="Poppins"/>
              <a:cs typeface="Poppins"/>
              <a:sym typeface="Poppins"/>
            </a:endParaRPr>
          </a:p>
        </p:txBody>
      </p:sp>
      <p:sp>
        <p:nvSpPr>
          <p:cNvPr id="13" name="AutoShape 13"/>
          <p:cNvSpPr/>
          <p:nvPr/>
        </p:nvSpPr>
        <p:spPr>
          <a:xfrm>
            <a:off x="5334000" y="5308600"/>
            <a:ext cx="6096000" cy="8636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24500" y="5562600"/>
            <a:ext cx="355600" cy="355600"/>
          </a:xfrm>
          <a:prstGeom prst="rect">
            <a:avLst/>
          </a:prstGeom>
        </p:spPr>
      </p:pic>
      <p:sp>
        <p:nvSpPr>
          <p:cNvPr id="15" name="AutoShape 15"/>
          <p:cNvSpPr/>
          <p:nvPr/>
        </p:nvSpPr>
        <p:spPr>
          <a:xfrm>
            <a:off x="6032500" y="5410200"/>
            <a:ext cx="527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Influencer &amp; UGC Strategy</a:t>
            </a:r>
            <a:endParaRPr lang="en-US" sz="1100"/>
          </a:p>
          <a:p>
            <a:pPr marL="0" indent="0" algn="l">
              <a:lnSpc>
                <a:spcPct val="100000"/>
              </a:lnSpc>
            </a:pPr>
            <a:r>
              <a:rPr lang="en-US" sz="1200" b="0" i="0" u="none" strike="noStrike">
                <a:solidFill>
                  <a:srgbClr val="718096"/>
                </a:solidFill>
                <a:latin typeface="Poppins"/>
                <a:ea typeface="Poppins"/>
                <a:cs typeface="Poppins"/>
                <a:sym typeface="Poppins"/>
              </a:rPr>
              <a:t>Partnering with 50+ micro-influencers in the lifestyle and adventure niche to create authentic, unscripted content that amplifies reach and builds trust with your audience.</a:t>
            </a:r>
            <a:endParaRPr lang="en-US" sz="1200" b="0" i="0" u="none" strike="noStrike">
              <a:solidFill>
                <a:srgbClr val="718096"/>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Omni-Channel Journey: A Seamless Path to Conversion</a:t>
            </a:r>
            <a:endParaRPr lang="en-US" sz="1100"/>
          </a:p>
        </p:txBody>
      </p:sp>
      <p:sp>
        <p:nvSpPr>
          <p:cNvPr id="4" name="AutoShape 4"/>
          <p:cNvSpPr/>
          <p:nvPr/>
        </p:nvSpPr>
        <p:spPr>
          <a:xfrm>
            <a:off x="762000" y="1778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Channel Strategy Overview</a:t>
            </a:r>
            <a:endParaRPr lang="en-US" sz="1100"/>
          </a:p>
        </p:txBody>
      </p:sp>
      <p:sp>
        <p:nvSpPr>
          <p:cNvPr id="5" name="AutoShape 5"/>
          <p:cNvSpPr/>
          <p:nvPr/>
        </p:nvSpPr>
        <p:spPr>
          <a:xfrm>
            <a:off x="762000" y="2413000"/>
            <a:ext cx="5207000" cy="1143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603500"/>
            <a:ext cx="406400" cy="406400"/>
          </a:xfrm>
          <a:prstGeom prst="rect">
            <a:avLst/>
          </a:prstGeom>
        </p:spPr>
      </p:pic>
      <p:sp>
        <p:nvSpPr>
          <p:cNvPr id="7" name="AutoShape 7"/>
          <p:cNvSpPr/>
          <p:nvPr/>
        </p:nvSpPr>
        <p:spPr>
          <a:xfrm>
            <a:off x="1498600" y="26035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01. Awareness Phase</a:t>
            </a:r>
            <a:endParaRPr lang="en-US" sz="1100"/>
          </a:p>
        </p:txBody>
      </p:sp>
      <p:sp>
        <p:nvSpPr>
          <p:cNvPr id="8" name="AutoShape 8"/>
          <p:cNvSpPr/>
          <p:nvPr/>
        </p:nvSpPr>
        <p:spPr>
          <a:xfrm>
            <a:off x="1498600" y="2984500"/>
            <a:ext cx="4381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3748">
                    <a:alpha val="74902"/>
                  </a:srgbClr>
                </a:solidFill>
                <a:latin typeface="Poppins"/>
                <a:ea typeface="Poppins"/>
                <a:cs typeface="Poppins"/>
                <a:sym typeface="Poppins"/>
              </a:rPr>
              <a:t>Drive broad reach through YouTube pre-roll, programmatic display, and podcast sponsorships to capture initial audience attention.</a:t>
            </a:r>
            <a:endParaRPr lang="en-US" sz="1100"/>
          </a:p>
        </p:txBody>
      </p:sp>
      <p:sp>
        <p:nvSpPr>
          <p:cNvPr id="9" name="AutoShape 9"/>
          <p:cNvSpPr/>
          <p:nvPr/>
        </p:nvSpPr>
        <p:spPr>
          <a:xfrm>
            <a:off x="762000" y="3683000"/>
            <a:ext cx="5207000" cy="1143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873500"/>
            <a:ext cx="406400" cy="406400"/>
          </a:xfrm>
          <a:prstGeom prst="rect">
            <a:avLst/>
          </a:prstGeom>
        </p:spPr>
      </p:pic>
      <p:sp>
        <p:nvSpPr>
          <p:cNvPr id="11" name="AutoShape 11"/>
          <p:cNvSpPr/>
          <p:nvPr/>
        </p:nvSpPr>
        <p:spPr>
          <a:xfrm>
            <a:off x="1498600" y="38735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02. Consideration Phase</a:t>
            </a:r>
            <a:endParaRPr lang="en-US" sz="1100"/>
          </a:p>
        </p:txBody>
      </p:sp>
      <p:sp>
        <p:nvSpPr>
          <p:cNvPr id="12" name="AutoShape 12"/>
          <p:cNvSpPr/>
          <p:nvPr/>
        </p:nvSpPr>
        <p:spPr>
          <a:xfrm>
            <a:off x="1498600" y="4254500"/>
            <a:ext cx="4381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3748">
                    <a:alpha val="74902"/>
                  </a:srgbClr>
                </a:solidFill>
                <a:latin typeface="Poppins"/>
                <a:ea typeface="Poppins"/>
                <a:cs typeface="Poppins"/>
                <a:sym typeface="Poppins"/>
              </a:rPr>
              <a:t>Engage via LinkedIn thought leadership, Instagram Reels storytelling, and personalized email nurture sequences to build trust.</a:t>
            </a:r>
            <a:endParaRPr lang="en-US" sz="1100"/>
          </a:p>
        </p:txBody>
      </p:sp>
      <p:sp>
        <p:nvSpPr>
          <p:cNvPr id="13" name="AutoShape 13"/>
          <p:cNvSpPr/>
          <p:nvPr/>
        </p:nvSpPr>
        <p:spPr>
          <a:xfrm>
            <a:off x="762000" y="4953000"/>
            <a:ext cx="5207000" cy="1143000"/>
          </a:xfrm>
          <a:prstGeom prst="roundRect">
            <a:avLst>
              <a:gd name="adj" fmla="val 0"/>
            </a:avLst>
          </a:prstGeom>
          <a:solidFill>
            <a:srgbClr val="FFFFFF">
              <a:alpha val="60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143500"/>
            <a:ext cx="406400" cy="406400"/>
          </a:xfrm>
          <a:prstGeom prst="rect">
            <a:avLst/>
          </a:prstGeom>
        </p:spPr>
      </p:pic>
      <p:sp>
        <p:nvSpPr>
          <p:cNvPr id="15" name="AutoShape 15"/>
          <p:cNvSpPr/>
          <p:nvPr/>
        </p:nvSpPr>
        <p:spPr>
          <a:xfrm>
            <a:off x="1498600" y="5143500"/>
            <a:ext cx="438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03. Conversion Phase</a:t>
            </a:r>
            <a:endParaRPr lang="en-US" sz="1100"/>
          </a:p>
        </p:txBody>
      </p:sp>
      <p:sp>
        <p:nvSpPr>
          <p:cNvPr id="16" name="AutoShape 16"/>
          <p:cNvSpPr/>
          <p:nvPr/>
        </p:nvSpPr>
        <p:spPr>
          <a:xfrm>
            <a:off x="1498600" y="5524500"/>
            <a:ext cx="43815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2D3748">
                    <a:alpha val="74902"/>
                  </a:srgbClr>
                </a:solidFill>
                <a:latin typeface="Poppins"/>
                <a:ea typeface="Poppins"/>
                <a:cs typeface="Poppins"/>
                <a:sym typeface="Poppins"/>
              </a:rPr>
              <a:t>Optimize for action with Google Search ads, social conversion campaigns, and strategic retargeting to drive final conversions.</a:t>
            </a:r>
            <a:endParaRPr lang="en-US" sz="1100"/>
          </a:p>
        </p:txBody>
      </p:sp>
      <p:sp>
        <p:nvSpPr>
          <p:cNvPr id="17" name="AutoShape 17"/>
          <p:cNvSpPr/>
          <p:nvPr/>
        </p:nvSpPr>
        <p:spPr>
          <a:xfrm>
            <a:off x="6223000" y="1778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Channel Mix &amp; Budget Allocation</a:t>
            </a:r>
            <a:endParaRPr lang="en-US" sz="1100"/>
          </a:p>
        </p:txBody>
      </p:sp>
      <p:pic>
        <p:nvPicPr>
          <p:cNvPr id="18" name="Picture 18"/>
          <p:cNvPicPr>
            <a:picLocks noChangeAspect="1"/>
          </p:cNvPicPr>
          <p:nvPr/>
        </p:nvPicPr>
        <p:blipFill>
          <a:blip r:embed="rId8"/>
          <a:stretch>
            <a:fillRect/>
          </a:stretch>
        </p:blipFill>
        <p:spPr>
          <a:xfrm>
            <a:off x="6223000" y="2413000"/>
            <a:ext cx="5207000" cy="2540000"/>
          </a:xfrm>
          <a:prstGeom prst="rect">
            <a:avLst/>
          </a:prstGeom>
          <a:ln w="12700">
            <a:noFill/>
            <a:prstDash val="solid"/>
          </a:ln>
        </p:spPr>
      </p:pic>
      <p:sp>
        <p:nvSpPr>
          <p:cNvPr id="19" name="AutoShape 19"/>
          <p:cNvSpPr/>
          <p:nvPr/>
        </p:nvSpPr>
        <p:spPr>
          <a:xfrm>
            <a:off x="6223000" y="5080000"/>
            <a:ext cx="5207000" cy="1079500"/>
          </a:xfrm>
          <a:prstGeom prst="roundRect">
            <a:avLst>
              <a:gd name="adj" fmla="val 0"/>
            </a:avLst>
          </a:prstGeom>
          <a:solidFill>
            <a:srgbClr val="2D3748">
              <a:alpha val="8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350000" y="520700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2D3748"/>
                </a:solidFill>
                <a:latin typeface="Poppins"/>
                <a:ea typeface="Poppins"/>
                <a:cs typeface="Poppins"/>
                <a:sym typeface="Poppins"/>
              </a:rPr>
              <a:t>Strategic Rationale:</a:t>
            </a:r>
            <a:r>
              <a:rPr lang="en-US" sz="1300" b="0" i="0" u="none" strike="noStrike">
                <a:solidFill>
                  <a:srgbClr val="2D3748"/>
                </a:solidFill>
                <a:latin typeface="Poppins"/>
                <a:ea typeface="Poppins"/>
                <a:cs typeface="Poppins"/>
                <a:sym typeface="Poppins"/>
              </a:rPr>
              <a:t>This allocation prioritizes high-reach awareness channels (65% to Video &amp; Social) to maximize top-of-funnel volume, balanced with intent-driven Search (20%) and Display (10%) for mid-to-lower funnel efficiency, ensuring a cost-effective path to conversion.</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Expected Impact: KPIs &amp; Projected ROI</a:t>
            </a:r>
            <a:endParaRPr lang="en-US" sz="1100"/>
          </a:p>
        </p:txBody>
      </p:sp>
      <p:pic>
        <p:nvPicPr>
          <p:cNvPr id="4" name="Picture 4"/>
          <p:cNvPicPr>
            <a:picLocks noChangeAspect="1"/>
          </p:cNvPicPr>
          <p:nvPr/>
        </p:nvPicPr>
        <p:blipFill>
          <a:blip r:embed="rId2"/>
          <a:srcRect/>
          <a:stretch>
            <a:fillRect/>
          </a:stretch>
        </p:blipFill>
        <p:spPr>
          <a:xfrm>
            <a:off x="762000" y="1651000"/>
            <a:ext cx="4318000" cy="3238500"/>
          </a:xfrm>
          <a:prstGeom prst="roundRect">
            <a:avLst>
              <a:gd name="adj" fmla="val 4705"/>
            </a:avLst>
          </a:prstGeom>
          <a:noFill/>
          <a:ln w="25400" cap="flat" cmpd="sng">
            <a:noFill/>
            <a:prstDash val="solid"/>
            <a:round/>
          </a:ln>
          <a:effectLst>
            <a:outerShdw blurRad="203200" dist="76200" dir="2700000" algn="tl" rotWithShape="0">
              <a:srgbClr val="000000">
                <a:alpha val="10000"/>
              </a:srgbClr>
            </a:outerShdw>
          </a:effectLst>
        </p:spPr>
      </p:pic>
      <p:sp>
        <p:nvSpPr>
          <p:cNvPr id="5" name="AutoShape 5"/>
          <p:cNvSpPr/>
          <p:nvPr/>
        </p:nvSpPr>
        <p:spPr>
          <a:xfrm>
            <a:off x="762000" y="5143500"/>
            <a:ext cx="4318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4A5568"/>
                </a:solidFill>
                <a:latin typeface="Poppins"/>
                <a:ea typeface="Poppins"/>
                <a:cs typeface="Poppins"/>
                <a:sym typeface="Poppins"/>
              </a:rPr>
              <a:t>A dedicated analytics dashboard will provide real-time visibility into campaign performance, ensuring data-driven optimizations and transparent reporting throughout the project lifecycle.</a:t>
            </a:r>
            <a:endParaRPr lang="en-US" sz="1100"/>
          </a:p>
        </p:txBody>
      </p:sp>
      <p:sp>
        <p:nvSpPr>
          <p:cNvPr id="6" name="AutoShape 6"/>
          <p:cNvSpPr/>
          <p:nvPr/>
        </p:nvSpPr>
        <p:spPr>
          <a:xfrm>
            <a:off x="5461000" y="16510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Key Performance Indicators (KPIs)</a:t>
            </a:r>
            <a:endParaRPr lang="en-US" sz="1100"/>
          </a:p>
        </p:txBody>
      </p:sp>
      <p:sp>
        <p:nvSpPr>
          <p:cNvPr id="7" name="AutoShape 7"/>
          <p:cNvSpPr/>
          <p:nvPr/>
        </p:nvSpPr>
        <p:spPr>
          <a:xfrm>
            <a:off x="5461000" y="2222500"/>
            <a:ext cx="1968500" cy="1460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3400" y="2387600"/>
            <a:ext cx="279400" cy="279400"/>
          </a:xfrm>
          <a:prstGeom prst="rect">
            <a:avLst/>
          </a:prstGeom>
        </p:spPr>
      </p:pic>
      <p:sp>
        <p:nvSpPr>
          <p:cNvPr id="9" name="AutoShape 9"/>
          <p:cNvSpPr/>
          <p:nvPr/>
        </p:nvSpPr>
        <p:spPr>
          <a:xfrm>
            <a:off x="5969000" y="2387600"/>
            <a:ext cx="146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Brand Growth</a:t>
            </a:r>
            <a:endParaRPr lang="en-US" sz="1100"/>
          </a:p>
        </p:txBody>
      </p:sp>
      <p:sp>
        <p:nvSpPr>
          <p:cNvPr id="10" name="AutoShape 10"/>
          <p:cNvSpPr/>
          <p:nvPr/>
        </p:nvSpPr>
        <p:spPr>
          <a:xfrm>
            <a:off x="5613400" y="28194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+25% Awareness</a:t>
            </a:r>
            <a:br>
              <a:rPr lang="en-US" sz="1300" b="0" i="0" u="none" strike="noStrike">
                <a:solidFill>
                  <a:srgbClr val="4A5568"/>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+15% Sentiment Score</a:t>
            </a:r>
            <a:endParaRPr lang="en-US" sz="1100"/>
          </a:p>
        </p:txBody>
      </p:sp>
      <p:sp>
        <p:nvSpPr>
          <p:cNvPr id="11" name="AutoShape 11"/>
          <p:cNvSpPr/>
          <p:nvPr/>
        </p:nvSpPr>
        <p:spPr>
          <a:xfrm>
            <a:off x="7518400" y="2222500"/>
            <a:ext cx="1968500" cy="1460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70800" y="2387600"/>
            <a:ext cx="279400" cy="279400"/>
          </a:xfrm>
          <a:prstGeom prst="rect">
            <a:avLst/>
          </a:prstGeom>
        </p:spPr>
      </p:pic>
      <p:sp>
        <p:nvSpPr>
          <p:cNvPr id="13" name="AutoShape 13"/>
          <p:cNvSpPr/>
          <p:nvPr/>
        </p:nvSpPr>
        <p:spPr>
          <a:xfrm>
            <a:off x="8026400" y="2387600"/>
            <a:ext cx="146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Audience Reach</a:t>
            </a:r>
            <a:endParaRPr lang="en-US" sz="1100"/>
          </a:p>
        </p:txBody>
      </p:sp>
      <p:sp>
        <p:nvSpPr>
          <p:cNvPr id="14" name="AutoShape 14"/>
          <p:cNvSpPr/>
          <p:nvPr/>
        </p:nvSpPr>
        <p:spPr>
          <a:xfrm>
            <a:off x="7670800" y="28194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12M+ Total Impressions</a:t>
            </a:r>
            <a:br>
              <a:rPr lang="en-US" sz="1300" b="0" i="0" u="none" strike="noStrike">
                <a:solidFill>
                  <a:srgbClr val="4A5568"/>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8.5% Avg. Engagement</a:t>
            </a:r>
            <a:endParaRPr lang="en-US" sz="1100"/>
          </a:p>
        </p:txBody>
      </p:sp>
      <p:sp>
        <p:nvSpPr>
          <p:cNvPr id="15" name="AutoShape 15"/>
          <p:cNvSpPr/>
          <p:nvPr/>
        </p:nvSpPr>
        <p:spPr>
          <a:xfrm>
            <a:off x="9588500" y="2222500"/>
            <a:ext cx="1968500" cy="1460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40900" y="2387600"/>
            <a:ext cx="279400" cy="279400"/>
          </a:xfrm>
          <a:prstGeom prst="rect">
            <a:avLst/>
          </a:prstGeom>
        </p:spPr>
      </p:pic>
      <p:sp>
        <p:nvSpPr>
          <p:cNvPr id="17" name="AutoShape 17"/>
          <p:cNvSpPr/>
          <p:nvPr/>
        </p:nvSpPr>
        <p:spPr>
          <a:xfrm>
            <a:off x="10096500" y="2387600"/>
            <a:ext cx="146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Lead Gen</a:t>
            </a:r>
            <a:endParaRPr lang="en-US" sz="1100"/>
          </a:p>
        </p:txBody>
      </p:sp>
      <p:sp>
        <p:nvSpPr>
          <p:cNvPr id="18" name="AutoShape 18"/>
          <p:cNvSpPr/>
          <p:nvPr/>
        </p:nvSpPr>
        <p:spPr>
          <a:xfrm>
            <a:off x="9740900" y="2819400"/>
            <a:ext cx="1714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1,800+ New Leads</a:t>
            </a:r>
            <a:br>
              <a:rPr lang="en-US" sz="1300" b="0" i="0" u="none" strike="noStrike">
                <a:solidFill>
                  <a:srgbClr val="4A5568"/>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$35 CPA Target</a:t>
            </a:r>
            <a:endParaRPr lang="en-US" sz="1100"/>
          </a:p>
        </p:txBody>
      </p:sp>
      <p:cxnSp>
        <p:nvCxnSpPr>
          <p:cNvPr id="19" name="Connector 19"/>
          <p:cNvCxnSpPr/>
          <p:nvPr/>
        </p:nvCxnSpPr>
        <p:spPr>
          <a:xfrm rot="-7161">
            <a:off x="5461007" y="3930650"/>
            <a:ext cx="6096000" cy="12700"/>
          </a:xfrm>
          <a:prstGeom prst="straightConnector1">
            <a:avLst/>
          </a:prstGeom>
          <a:solidFill>
            <a:srgbClr val="DEE0E3">
              <a:alpha val="100000"/>
            </a:srgbClr>
          </a:solidFill>
          <a:ln w="12700" cap="flat" cmpd="sng">
            <a:solidFill>
              <a:srgbClr val="CBD5E0">
                <a:alpha val="100000"/>
              </a:srgbClr>
            </a:solidFill>
            <a:prstDash val="dash"/>
            <a:round/>
            <a:headEnd type="none" w="med" len="med"/>
            <a:tailEnd type="none" w="med" len="med"/>
          </a:ln>
        </p:spPr>
      </p:cxnSp>
      <p:sp>
        <p:nvSpPr>
          <p:cNvPr id="20" name="AutoShape 20"/>
          <p:cNvSpPr/>
          <p:nvPr/>
        </p:nvSpPr>
        <p:spPr>
          <a:xfrm>
            <a:off x="5461000" y="41275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Projected ROI Analysis</a:t>
            </a:r>
            <a:endParaRPr lang="en-US" sz="1100"/>
          </a:p>
        </p:txBody>
      </p:sp>
      <p:sp>
        <p:nvSpPr>
          <p:cNvPr id="21" name="AutoShape 21"/>
          <p:cNvSpPr/>
          <p:nvPr/>
        </p:nvSpPr>
        <p:spPr>
          <a:xfrm>
            <a:off x="5461000" y="4635500"/>
            <a:ext cx="1968500" cy="12065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5461000" y="4762500"/>
            <a:ext cx="1968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718096"/>
                </a:solidFill>
                <a:latin typeface="Poppins"/>
                <a:ea typeface="Poppins"/>
                <a:cs typeface="Poppins"/>
                <a:sym typeface="Poppins"/>
              </a:rPr>
              <a:t>Total Investment</a:t>
            </a:r>
            <a:endParaRPr lang="en-US" sz="1100"/>
          </a:p>
        </p:txBody>
      </p:sp>
      <p:sp>
        <p:nvSpPr>
          <p:cNvPr id="23" name="AutoShape 23"/>
          <p:cNvSpPr/>
          <p:nvPr/>
        </p:nvSpPr>
        <p:spPr>
          <a:xfrm>
            <a:off x="5461000" y="5105400"/>
            <a:ext cx="19685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D3748"/>
                </a:solidFill>
                <a:latin typeface="Poppins"/>
                <a:ea typeface="Poppins"/>
                <a:cs typeface="Poppins"/>
                <a:sym typeface="Poppins"/>
              </a:rPr>
              <a:t>$150,000</a:t>
            </a:r>
            <a:endParaRPr lang="en-US" sz="1100"/>
          </a:p>
        </p:txBody>
      </p:sp>
      <p:sp>
        <p:nvSpPr>
          <p:cNvPr id="24" name="AutoShape 24"/>
          <p:cNvSpPr/>
          <p:nvPr/>
        </p:nvSpPr>
        <p:spPr>
          <a:xfrm>
            <a:off x="7518400" y="4635500"/>
            <a:ext cx="1968500" cy="12065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518400" y="4762500"/>
            <a:ext cx="1968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718096"/>
                </a:solidFill>
                <a:latin typeface="Poppins"/>
                <a:ea typeface="Poppins"/>
                <a:cs typeface="Poppins"/>
                <a:sym typeface="Poppins"/>
              </a:rPr>
              <a:t>Projected Revenue</a:t>
            </a:r>
            <a:endParaRPr lang="en-US" sz="1100"/>
          </a:p>
        </p:txBody>
      </p:sp>
      <p:sp>
        <p:nvSpPr>
          <p:cNvPr id="26" name="AutoShape 26"/>
          <p:cNvSpPr/>
          <p:nvPr/>
        </p:nvSpPr>
        <p:spPr>
          <a:xfrm>
            <a:off x="7518400" y="5105400"/>
            <a:ext cx="19685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D3748"/>
                </a:solidFill>
                <a:latin typeface="Poppins"/>
                <a:ea typeface="Poppins"/>
                <a:cs typeface="Poppins"/>
                <a:sym typeface="Poppins"/>
              </a:rPr>
              <a:t>$480,000</a:t>
            </a:r>
            <a:endParaRPr lang="en-US" sz="1100"/>
          </a:p>
        </p:txBody>
      </p:sp>
      <p:sp>
        <p:nvSpPr>
          <p:cNvPr id="27" name="AutoShape 27"/>
          <p:cNvSpPr/>
          <p:nvPr/>
        </p:nvSpPr>
        <p:spPr>
          <a:xfrm>
            <a:off x="9588500" y="4635500"/>
            <a:ext cx="1968500" cy="1206500"/>
          </a:xfrm>
          <a:prstGeom prst="roundRect">
            <a:avLst>
              <a:gd name="adj" fmla="val 0"/>
            </a:avLst>
          </a:prstGeom>
          <a:solidFill>
            <a:srgbClr val="38A169">
              <a:alpha val="10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9588500" y="4762500"/>
            <a:ext cx="1968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8A169"/>
                </a:solidFill>
                <a:latin typeface="Poppins"/>
                <a:ea typeface="Poppins"/>
                <a:cs typeface="Poppins"/>
                <a:sym typeface="Poppins"/>
              </a:rPr>
              <a:t>Calculated ROI</a:t>
            </a:r>
            <a:endParaRPr lang="en-US" sz="1100"/>
          </a:p>
        </p:txBody>
      </p:sp>
      <p:sp>
        <p:nvSpPr>
          <p:cNvPr id="29" name="AutoShape 29"/>
          <p:cNvSpPr/>
          <p:nvPr/>
        </p:nvSpPr>
        <p:spPr>
          <a:xfrm>
            <a:off x="9588500" y="5105400"/>
            <a:ext cx="19685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38A169"/>
                </a:solidFill>
                <a:latin typeface="Poppins"/>
                <a:ea typeface="Poppins"/>
                <a:cs typeface="Poppins"/>
                <a:sym typeface="Poppins"/>
              </a:rPr>
              <a:t>220%</a:t>
            </a:r>
            <a:endParaRPr lang="en-US" sz="1100"/>
          </a:p>
        </p:txBody>
      </p:sp>
      <p:sp>
        <p:nvSpPr>
          <p:cNvPr id="30" name="AutoShape 30"/>
          <p:cNvSpPr/>
          <p:nvPr/>
        </p:nvSpPr>
        <p:spPr>
          <a:xfrm>
            <a:off x="5461000" y="5994400"/>
            <a:ext cx="609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1" u="none" strike="noStrike">
                <a:solidFill>
                  <a:srgbClr val="A0AEC0"/>
                </a:solidFill>
                <a:latin typeface="Poppins"/>
                <a:ea typeface="Poppins"/>
                <a:cs typeface="Poppins"/>
                <a:sym typeface="Poppins"/>
              </a:rPr>
              <a:t>Projection based on historical performance data from similar campaigns (Q3 2024 benchmarks) with a Medium confidence level.</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The Team &amp; Timeline: Your Partners in Success</a:t>
            </a:r>
            <a:endParaRPr lang="en-US" sz="1100"/>
          </a:p>
        </p:txBody>
      </p:sp>
      <p:pic>
        <p:nvPicPr>
          <p:cNvPr id="4" name="Picture 4"/>
          <p:cNvPicPr>
            <a:picLocks noChangeAspect="1"/>
          </p:cNvPicPr>
          <p:nvPr/>
        </p:nvPicPr>
        <p:blipFill>
          <a:blip r:embed="rId2"/>
          <a:srcRect t="238" b="238"/>
          <a:stretch>
            <a:fillRect/>
          </a:stretch>
        </p:blipFill>
        <p:spPr>
          <a:xfrm>
            <a:off x="762000" y="1524000"/>
            <a:ext cx="4318000" cy="2794000"/>
          </a:xfrm>
          <a:prstGeom prst="roundRect">
            <a:avLst>
              <a:gd name="adj" fmla="val 5454"/>
            </a:avLst>
          </a:prstGeom>
          <a:noFill/>
          <a:ln w="25400" cap="flat" cmpd="sng">
            <a:noFill/>
            <a:prstDash val="solid"/>
            <a:round/>
          </a:ln>
          <a:effectLst>
            <a:outerShdw blurRad="203200" dist="76200" dir="2700000" algn="tl" rotWithShape="0">
              <a:srgbClr val="2D3748">
                <a:alpha val="12000"/>
              </a:srgbClr>
            </a:outerShdw>
          </a:effectLst>
        </p:spPr>
      </p:pic>
      <p:sp>
        <p:nvSpPr>
          <p:cNvPr id="5" name="AutoShape 5"/>
          <p:cNvSpPr/>
          <p:nvPr/>
        </p:nvSpPr>
        <p:spPr>
          <a:xfrm>
            <a:off x="762000" y="4572000"/>
            <a:ext cx="2095500" cy="952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825500" y="46736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Poppins"/>
                <a:ea typeface="Poppins"/>
                <a:cs typeface="Poppins"/>
                <a:sym typeface="Poppins"/>
              </a:rPr>
              <a:t>Account Director</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Your dedicated point of contact for seamless communication and alignment.</a:t>
            </a:r>
            <a:endParaRPr lang="en-US" sz="1200" b="0" i="0" u="none" strike="noStrike">
              <a:solidFill>
                <a:srgbClr val="4A5568"/>
              </a:solidFill>
              <a:latin typeface="Poppins"/>
              <a:ea typeface="Poppins"/>
              <a:cs typeface="Poppins"/>
              <a:sym typeface="Poppins"/>
            </a:endParaRPr>
          </a:p>
        </p:txBody>
      </p:sp>
      <p:sp>
        <p:nvSpPr>
          <p:cNvPr id="7" name="AutoShape 7"/>
          <p:cNvSpPr/>
          <p:nvPr/>
        </p:nvSpPr>
        <p:spPr>
          <a:xfrm>
            <a:off x="2984500" y="4572000"/>
            <a:ext cx="2095500" cy="952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3048000" y="46736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Poppins"/>
                <a:ea typeface="Poppins"/>
                <a:cs typeface="Poppins"/>
                <a:sym typeface="Poppins"/>
              </a:rPr>
              <a:t>Strategy Director</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Crafts data-backed strategic vision and oversees the campaign roadmap.</a:t>
            </a:r>
            <a:endParaRPr lang="en-US" sz="1200" b="0" i="0" u="none" strike="noStrike">
              <a:solidFill>
                <a:srgbClr val="4A5568"/>
              </a:solidFill>
              <a:latin typeface="Poppins"/>
              <a:ea typeface="Poppins"/>
              <a:cs typeface="Poppins"/>
              <a:sym typeface="Poppins"/>
            </a:endParaRPr>
          </a:p>
        </p:txBody>
      </p:sp>
      <p:sp>
        <p:nvSpPr>
          <p:cNvPr id="9" name="AutoShape 9"/>
          <p:cNvSpPr/>
          <p:nvPr/>
        </p:nvSpPr>
        <p:spPr>
          <a:xfrm>
            <a:off x="762000" y="5588000"/>
            <a:ext cx="2095500" cy="952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825500" y="56896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Poppins"/>
                <a:ea typeface="Poppins"/>
                <a:cs typeface="Poppins"/>
                <a:sym typeface="Poppins"/>
              </a:rPr>
              <a:t>Creative Director</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Leads innovative concept development for impactful and memorable campaigns.</a:t>
            </a:r>
            <a:endParaRPr lang="en-US" sz="1200" b="0" i="0" u="none" strike="noStrike">
              <a:solidFill>
                <a:srgbClr val="4A5568"/>
              </a:solidFill>
              <a:latin typeface="Poppins"/>
              <a:ea typeface="Poppins"/>
              <a:cs typeface="Poppins"/>
              <a:sym typeface="Poppins"/>
            </a:endParaRPr>
          </a:p>
        </p:txBody>
      </p:sp>
      <p:sp>
        <p:nvSpPr>
          <p:cNvPr id="11" name="AutoShape 11"/>
          <p:cNvSpPr/>
          <p:nvPr/>
        </p:nvSpPr>
        <p:spPr>
          <a:xfrm>
            <a:off x="2984500" y="5588000"/>
            <a:ext cx="2095500" cy="952500"/>
          </a:xfrm>
          <a:prstGeom prst="roundRect">
            <a:avLst>
              <a:gd name="adj" fmla="val 0"/>
            </a:avLst>
          </a:prstGeom>
          <a:solidFill>
            <a:srgbClr val="FFFFFF">
              <a:alpha val="70000"/>
            </a:srgbClr>
          </a:solidFill>
          <a:ln w="12700" cap="flat" cmpd="sng">
            <a:solidFill>
              <a:srgbClr val="CBD5E0">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048000" y="5689600"/>
            <a:ext cx="196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Poppins"/>
                <a:ea typeface="Poppins"/>
                <a:cs typeface="Poppins"/>
                <a:sym typeface="Poppins"/>
              </a:rPr>
              <a:t>Performance Manager</a:t>
            </a:r>
            <a:endParaRPr lang="en-US" sz="1100"/>
          </a:p>
          <a:p>
            <a:pPr marL="0" indent="0" algn="l">
              <a:lnSpc>
                <a:spcPct val="100000"/>
              </a:lnSpc>
            </a:pPr>
            <a:r>
              <a:rPr lang="en-US" sz="1200" b="0" i="0" u="none" strike="noStrike">
                <a:solidFill>
                  <a:srgbClr val="4A5568"/>
                </a:solidFill>
                <a:latin typeface="Poppins"/>
                <a:ea typeface="Poppins"/>
                <a:cs typeface="Poppins"/>
                <a:sym typeface="Poppins"/>
              </a:rPr>
              <a:t>Manages day-to-day execution and optimizes for maximum ROI.</a:t>
            </a:r>
            <a:endParaRPr lang="en-US" sz="1200" b="0" i="0" u="none" strike="noStrike">
              <a:solidFill>
                <a:srgbClr val="4A5568"/>
              </a:solidFill>
              <a:latin typeface="Poppins"/>
              <a:ea typeface="Poppins"/>
              <a:cs typeface="Poppins"/>
              <a:sym typeface="Poppins"/>
            </a:endParaRPr>
          </a:p>
        </p:txBody>
      </p:sp>
      <p:sp>
        <p:nvSpPr>
          <p:cNvPr id="13" name="AutoShape 13"/>
          <p:cNvSpPr/>
          <p:nvPr/>
        </p:nvSpPr>
        <p:spPr>
          <a:xfrm>
            <a:off x="5842000" y="1524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Project Roadmap &amp; Milestones</a:t>
            </a:r>
            <a:endParaRPr lang="en-US" sz="1100"/>
          </a:p>
        </p:txBody>
      </p:sp>
      <p:sp>
        <p:nvSpPr>
          <p:cNvPr id="14" name="AutoShape 14"/>
          <p:cNvSpPr/>
          <p:nvPr/>
        </p:nvSpPr>
        <p:spPr>
          <a:xfrm>
            <a:off x="5842000" y="2159000"/>
            <a:ext cx="5842000" cy="7112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32500" y="2362200"/>
            <a:ext cx="304800" cy="304800"/>
          </a:xfrm>
          <a:prstGeom prst="rect">
            <a:avLst/>
          </a:prstGeom>
        </p:spPr>
      </p:pic>
      <p:sp>
        <p:nvSpPr>
          <p:cNvPr id="16" name="AutoShape 16"/>
          <p:cNvSpPr/>
          <p:nvPr/>
        </p:nvSpPr>
        <p:spPr>
          <a:xfrm>
            <a:off x="6477000" y="2235200"/>
            <a:ext cx="514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Phase 1: Strategy &amp; Creative (Weeks 1-3)</a:t>
            </a:r>
            <a:endParaRPr lang="en-US" sz="1100"/>
          </a:p>
          <a:p>
            <a:pPr marL="0" indent="0" algn="l">
              <a:lnSpc>
                <a:spcPct val="125000"/>
              </a:lnSpc>
            </a:pPr>
            <a:r>
              <a:rPr lang="en-US" sz="1200" b="0" i="0" u="none" strike="noStrike">
                <a:solidFill>
                  <a:srgbClr val="4A5568"/>
                </a:solidFill>
                <a:latin typeface="Poppins"/>
                <a:ea typeface="Poppins"/>
                <a:cs typeface="Poppins"/>
                <a:sym typeface="Poppins"/>
              </a:rPr>
              <a:t>Deep-dive into business goals, audience insights, and concept ideation to align on a tailored plan.</a:t>
            </a:r>
            <a:endParaRPr lang="en-US" sz="1200" b="0" i="0" u="none" strike="noStrike">
              <a:solidFill>
                <a:srgbClr val="4A5568"/>
              </a:solidFill>
              <a:latin typeface="Poppins"/>
              <a:ea typeface="Poppins"/>
              <a:cs typeface="Poppins"/>
              <a:sym typeface="Poppins"/>
            </a:endParaRPr>
          </a:p>
        </p:txBody>
      </p:sp>
      <p:sp>
        <p:nvSpPr>
          <p:cNvPr id="17" name="AutoShape 17"/>
          <p:cNvSpPr/>
          <p:nvPr/>
        </p:nvSpPr>
        <p:spPr>
          <a:xfrm>
            <a:off x="5842000" y="2997200"/>
            <a:ext cx="5842000" cy="7112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2500" y="3200400"/>
            <a:ext cx="304800" cy="304800"/>
          </a:xfrm>
          <a:prstGeom prst="rect">
            <a:avLst/>
          </a:prstGeom>
        </p:spPr>
      </p:pic>
      <p:sp>
        <p:nvSpPr>
          <p:cNvPr id="19" name="AutoShape 19"/>
          <p:cNvSpPr/>
          <p:nvPr/>
        </p:nvSpPr>
        <p:spPr>
          <a:xfrm>
            <a:off x="6477000" y="3073400"/>
            <a:ext cx="514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Phase 2: Production &amp; Setup (Weeks 4-5)</a:t>
            </a:r>
            <a:endParaRPr lang="en-US" sz="1100"/>
          </a:p>
          <a:p>
            <a:pPr marL="0" indent="0" algn="l">
              <a:lnSpc>
                <a:spcPct val="125000"/>
              </a:lnSpc>
            </a:pPr>
            <a:r>
              <a:rPr lang="en-US" sz="1200" b="0" i="0" u="none" strike="noStrike">
                <a:solidFill>
                  <a:srgbClr val="4A5568"/>
                </a:solidFill>
                <a:latin typeface="Poppins"/>
                <a:ea typeface="Poppins"/>
                <a:cs typeface="Poppins"/>
                <a:sym typeface="Poppins"/>
              </a:rPr>
              <a:t>Content creation, asset design, technical setup, and platform configuration for seamless deployment.</a:t>
            </a:r>
            <a:endParaRPr lang="en-US" sz="1200" b="0" i="0" u="none" strike="noStrike">
              <a:solidFill>
                <a:srgbClr val="4A5568"/>
              </a:solidFill>
              <a:latin typeface="Poppins"/>
              <a:ea typeface="Poppins"/>
              <a:cs typeface="Poppins"/>
              <a:sym typeface="Poppins"/>
            </a:endParaRPr>
          </a:p>
        </p:txBody>
      </p:sp>
      <p:sp>
        <p:nvSpPr>
          <p:cNvPr id="20" name="AutoShape 20"/>
          <p:cNvSpPr/>
          <p:nvPr/>
        </p:nvSpPr>
        <p:spPr>
          <a:xfrm>
            <a:off x="5842000" y="3835400"/>
            <a:ext cx="5842000" cy="7112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2500" y="4038600"/>
            <a:ext cx="304800" cy="304800"/>
          </a:xfrm>
          <a:prstGeom prst="rect">
            <a:avLst/>
          </a:prstGeom>
        </p:spPr>
      </p:pic>
      <p:sp>
        <p:nvSpPr>
          <p:cNvPr id="22" name="AutoShape 22"/>
          <p:cNvSpPr/>
          <p:nvPr/>
        </p:nvSpPr>
        <p:spPr>
          <a:xfrm>
            <a:off x="6477000" y="3911600"/>
            <a:ext cx="514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Phase 3: Launch &amp; Monitor (Weeks 6-12)</a:t>
            </a:r>
            <a:endParaRPr lang="en-US" sz="1100"/>
          </a:p>
          <a:p>
            <a:pPr marL="0" indent="0" algn="l">
              <a:lnSpc>
                <a:spcPct val="125000"/>
              </a:lnSpc>
            </a:pPr>
            <a:r>
              <a:rPr lang="en-US" sz="1200" b="0" i="0" u="none" strike="noStrike">
                <a:solidFill>
                  <a:srgbClr val="4A5568"/>
                </a:solidFill>
                <a:latin typeface="Poppins"/>
                <a:ea typeface="Poppins"/>
                <a:cs typeface="Poppins"/>
                <a:sym typeface="Poppins"/>
              </a:rPr>
              <a:t>Campaign goes live with 24/7 performance tracking, real-time monitoring, and daily adjustments.</a:t>
            </a:r>
            <a:endParaRPr lang="en-US" sz="1200" b="0" i="0" u="none" strike="noStrike">
              <a:solidFill>
                <a:srgbClr val="4A5568"/>
              </a:solidFill>
              <a:latin typeface="Poppins"/>
              <a:ea typeface="Poppins"/>
              <a:cs typeface="Poppins"/>
              <a:sym typeface="Poppins"/>
            </a:endParaRPr>
          </a:p>
        </p:txBody>
      </p:sp>
      <p:sp>
        <p:nvSpPr>
          <p:cNvPr id="23" name="AutoShape 23"/>
          <p:cNvSpPr/>
          <p:nvPr/>
        </p:nvSpPr>
        <p:spPr>
          <a:xfrm>
            <a:off x="5842000" y="4673600"/>
            <a:ext cx="5842000" cy="7112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32500" y="4876800"/>
            <a:ext cx="304800" cy="304800"/>
          </a:xfrm>
          <a:prstGeom prst="rect">
            <a:avLst/>
          </a:prstGeom>
        </p:spPr>
      </p:pic>
      <p:sp>
        <p:nvSpPr>
          <p:cNvPr id="25" name="AutoShape 25"/>
          <p:cNvSpPr/>
          <p:nvPr/>
        </p:nvSpPr>
        <p:spPr>
          <a:xfrm>
            <a:off x="6477000" y="4749800"/>
            <a:ext cx="514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Phase 4: Optimization &amp; Reporting (Ongoing)</a:t>
            </a:r>
            <a:endParaRPr lang="en-US" sz="1100"/>
          </a:p>
          <a:p>
            <a:pPr marL="0" indent="0" algn="l">
              <a:lnSpc>
                <a:spcPct val="125000"/>
              </a:lnSpc>
            </a:pPr>
            <a:r>
              <a:rPr lang="en-US" sz="1200" b="0" i="0" u="none" strike="noStrike">
                <a:solidFill>
                  <a:srgbClr val="4A5568"/>
                </a:solidFill>
                <a:latin typeface="Poppins"/>
                <a:ea typeface="Poppins"/>
                <a:cs typeface="Poppins"/>
                <a:sym typeface="Poppins"/>
              </a:rPr>
              <a:t>Data-driven A/B testing, budget reallocation, and weekly performance reviews to maximize results.</a:t>
            </a:r>
            <a:endParaRPr lang="en-US" sz="1200" b="0" i="0" u="none" strike="noStrike">
              <a:solidFill>
                <a:srgbClr val="4A5568"/>
              </a:solidFill>
              <a:latin typeface="Poppins"/>
              <a:ea typeface="Poppins"/>
              <a:cs typeface="Poppins"/>
              <a:sym typeface="Poppins"/>
            </a:endParaRPr>
          </a:p>
        </p:txBody>
      </p:sp>
      <p:sp>
        <p:nvSpPr>
          <p:cNvPr id="26" name="AutoShape 26"/>
          <p:cNvSpPr/>
          <p:nvPr/>
        </p:nvSpPr>
        <p:spPr>
          <a:xfrm>
            <a:off x="5842000" y="5511800"/>
            <a:ext cx="5842000" cy="711200"/>
          </a:xfrm>
          <a:prstGeom prst="roundRect">
            <a:avLst>
              <a:gd name="adj" fmla="val 0"/>
            </a:avLst>
          </a:prstGeom>
          <a:solidFill>
            <a:srgbClr val="2D3748">
              <a:alpha val="6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32500" y="5715000"/>
            <a:ext cx="304800" cy="304800"/>
          </a:xfrm>
          <a:prstGeom prst="rect">
            <a:avLst/>
          </a:prstGeom>
        </p:spPr>
      </p:pic>
      <p:sp>
        <p:nvSpPr>
          <p:cNvPr id="28" name="AutoShape 28"/>
          <p:cNvSpPr/>
          <p:nvPr/>
        </p:nvSpPr>
        <p:spPr>
          <a:xfrm>
            <a:off x="6477000" y="5588000"/>
            <a:ext cx="514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Phase 5: Final Analysis &amp; Debrief (Week 13)</a:t>
            </a:r>
            <a:endParaRPr lang="en-US" sz="1100"/>
          </a:p>
          <a:p>
            <a:pPr marL="0" indent="0" algn="l">
              <a:lnSpc>
                <a:spcPct val="125000"/>
              </a:lnSpc>
            </a:pPr>
            <a:r>
              <a:rPr lang="en-US" sz="1200" b="0" i="0" u="none" strike="noStrike">
                <a:solidFill>
                  <a:srgbClr val="4A5568"/>
                </a:solidFill>
                <a:latin typeface="Poppins"/>
                <a:ea typeface="Poppins"/>
                <a:cs typeface="Poppins"/>
                <a:sym typeface="Poppins"/>
              </a:rPr>
              <a:t>Comprehensive results report, key takeaways, and actionable recommendations for future growth.</a:t>
            </a:r>
            <a:endParaRPr lang="en-US" sz="1200" b="0" i="0" u="none" strike="noStrike">
              <a:solidFill>
                <a:srgbClr val="4A5568"/>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Investment &amp; Partnership: A Clear Path to Collaboration</a:t>
            </a:r>
            <a:endParaRPr lang="en-US" sz="1100"/>
          </a:p>
        </p:txBody>
      </p:sp>
      <p:sp>
        <p:nvSpPr>
          <p:cNvPr id="4" name="AutoShape 4"/>
          <p:cNvSpPr/>
          <p:nvPr/>
        </p:nvSpPr>
        <p:spPr>
          <a:xfrm>
            <a:off x="762000" y="1778000"/>
            <a:ext cx="5270500" cy="4191000"/>
          </a:xfrm>
          <a:prstGeom prst="roundRect">
            <a:avLst>
              <a:gd name="adj" fmla="val 0"/>
            </a:avLst>
          </a:prstGeom>
          <a:solidFill>
            <a:srgbClr val="FFFFFF">
              <a:alpha val="5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032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Investment Breakdown</a:t>
            </a: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30500"/>
            <a:ext cx="304800" cy="304800"/>
          </a:xfrm>
          <a:prstGeom prst="rect">
            <a:avLst/>
          </a:prstGeom>
        </p:spPr>
      </p:pic>
      <p:sp>
        <p:nvSpPr>
          <p:cNvPr id="7" name="AutoShape 7"/>
          <p:cNvSpPr/>
          <p:nvPr/>
        </p:nvSpPr>
        <p:spPr>
          <a:xfrm>
            <a:off x="1397000" y="2692400"/>
            <a:ext cx="450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Poppins"/>
                <a:ea typeface="Poppins"/>
                <a:cs typeface="Poppins"/>
                <a:sym typeface="Poppins"/>
              </a:rPr>
              <a:t>Retainer / Project Fee: $15,000/mo</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Covers strategy, account management, creative development, and detailed monthly reporting.</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492500"/>
            <a:ext cx="304800" cy="304800"/>
          </a:xfrm>
          <a:prstGeom prst="rect">
            <a:avLst/>
          </a:prstGeom>
        </p:spPr>
      </p:pic>
      <p:sp>
        <p:nvSpPr>
          <p:cNvPr id="9" name="AutoShape 9"/>
          <p:cNvSpPr/>
          <p:nvPr/>
        </p:nvSpPr>
        <p:spPr>
          <a:xfrm>
            <a:off x="1397000" y="3454400"/>
            <a:ext cx="450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Poppins"/>
                <a:ea typeface="Poppins"/>
                <a:cs typeface="Poppins"/>
                <a:sym typeface="Poppins"/>
              </a:rPr>
              <a:t>Media Spend: $20,000/mo</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Allocated to paid social, search, and display ads—managed with 100% financial transparency.</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304800" cy="304800"/>
          </a:xfrm>
          <a:prstGeom prst="rect">
            <a:avLst/>
          </a:prstGeom>
        </p:spPr>
      </p:pic>
      <p:sp>
        <p:nvSpPr>
          <p:cNvPr id="11" name="AutoShape 11"/>
          <p:cNvSpPr/>
          <p:nvPr/>
        </p:nvSpPr>
        <p:spPr>
          <a:xfrm>
            <a:off x="1397000" y="4216400"/>
            <a:ext cx="4508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Poppins"/>
                <a:ea typeface="Poppins"/>
                <a:cs typeface="Poppins"/>
                <a:sym typeface="Poppins"/>
              </a:rPr>
              <a:t>Production Costs: $5,000 (one-time)</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Covers high-quality video production, professional photography, and graphic asset creation.</a:t>
            </a:r>
            <a:endParaRPr lang="en-US" sz="1100"/>
          </a:p>
        </p:txBody>
      </p:sp>
      <p:sp>
        <p:nvSpPr>
          <p:cNvPr id="12" name="AutoShape 12"/>
          <p:cNvSpPr/>
          <p:nvPr/>
        </p:nvSpPr>
        <p:spPr>
          <a:xfrm>
            <a:off x="952500" y="5143500"/>
            <a:ext cx="4889500" cy="571500"/>
          </a:xfrm>
          <a:prstGeom prst="roundRect">
            <a:avLst>
              <a:gd name="adj" fmla="val 0"/>
            </a:avLst>
          </a:prstGeom>
          <a:solidFill>
            <a:srgbClr val="2D3748">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79500" y="52324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Total Estimated Investment: $40,000 (Initial)</a:t>
            </a:r>
            <a:endParaRPr lang="en-US" sz="1100"/>
          </a:p>
        </p:txBody>
      </p:sp>
      <p:sp>
        <p:nvSpPr>
          <p:cNvPr id="14" name="AutoShape 14"/>
          <p:cNvSpPr/>
          <p:nvPr/>
        </p:nvSpPr>
        <p:spPr>
          <a:xfrm>
            <a:off x="6286500" y="1778000"/>
            <a:ext cx="5270500" cy="4191000"/>
          </a:xfrm>
          <a:prstGeom prst="roundRect">
            <a:avLst>
              <a:gd name="adj" fmla="val 0"/>
            </a:avLst>
          </a:prstGeom>
          <a:solidFill>
            <a:srgbClr val="FFFFFF">
              <a:alpha val="50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2032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Partnership Model</a:t>
            </a:r>
            <a:endParaRPr lang="en-US" sz="1100"/>
          </a:p>
        </p:txBody>
      </p:sp>
      <p:sp>
        <p:nvSpPr>
          <p:cNvPr id="16" name="AutoShape 16"/>
          <p:cNvSpPr/>
          <p:nvPr/>
        </p:nvSpPr>
        <p:spPr>
          <a:xfrm>
            <a:off x="6477000" y="2730500"/>
            <a:ext cx="4889500" cy="9525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2997200"/>
            <a:ext cx="406400" cy="406400"/>
          </a:xfrm>
          <a:prstGeom prst="rect">
            <a:avLst/>
          </a:prstGeom>
        </p:spPr>
      </p:pic>
      <p:sp>
        <p:nvSpPr>
          <p:cNvPr id="18" name="AutoShape 18"/>
          <p:cNvSpPr/>
          <p:nvPr/>
        </p:nvSpPr>
        <p:spPr>
          <a:xfrm>
            <a:off x="7175500" y="28194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Poppins"/>
                <a:ea typeface="Poppins"/>
                <a:cs typeface="Poppins"/>
                <a:sym typeface="Poppins"/>
              </a:rPr>
              <a:t>Performance-Based Bonus</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Success is mutual. Earn a bonus structure based on exceeding KPIs like ROI, lead generation, or engagement targets.</a:t>
            </a:r>
            <a:endParaRPr lang="en-US" sz="1100"/>
          </a:p>
        </p:txBody>
      </p:sp>
      <p:sp>
        <p:nvSpPr>
          <p:cNvPr id="19" name="AutoShape 19"/>
          <p:cNvSpPr/>
          <p:nvPr/>
        </p:nvSpPr>
        <p:spPr>
          <a:xfrm>
            <a:off x="6477000" y="3810000"/>
            <a:ext cx="4889500" cy="9525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4076700"/>
            <a:ext cx="406400" cy="406400"/>
          </a:xfrm>
          <a:prstGeom prst="rect">
            <a:avLst/>
          </a:prstGeom>
        </p:spPr>
      </p:pic>
      <p:sp>
        <p:nvSpPr>
          <p:cNvPr id="21" name="AutoShape 21"/>
          <p:cNvSpPr/>
          <p:nvPr/>
        </p:nvSpPr>
        <p:spPr>
          <a:xfrm>
            <a:off x="7175500" y="38989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Poppins"/>
                <a:ea typeface="Poppins"/>
                <a:cs typeface="Poppins"/>
                <a:sym typeface="Poppins"/>
              </a:rPr>
              <a:t>Strategic Monthly Reviews</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Bi-weekly check-ins and monthly deep dives to review performance, adjust strategies, and align on goals.</a:t>
            </a:r>
            <a:endParaRPr lang="en-US" sz="1100"/>
          </a:p>
        </p:txBody>
      </p:sp>
      <p:sp>
        <p:nvSpPr>
          <p:cNvPr id="22" name="AutoShape 22"/>
          <p:cNvSpPr/>
          <p:nvPr/>
        </p:nvSpPr>
        <p:spPr>
          <a:xfrm>
            <a:off x="6477000" y="4889500"/>
            <a:ext cx="4889500" cy="9525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67500" y="5156200"/>
            <a:ext cx="406400" cy="406400"/>
          </a:xfrm>
          <a:prstGeom prst="rect">
            <a:avLst/>
          </a:prstGeom>
        </p:spPr>
      </p:pic>
      <p:sp>
        <p:nvSpPr>
          <p:cNvPr id="24" name="AutoShape 24"/>
          <p:cNvSpPr/>
          <p:nvPr/>
        </p:nvSpPr>
        <p:spPr>
          <a:xfrm>
            <a:off x="7175500" y="4978400"/>
            <a:ext cx="419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Poppins"/>
                <a:ea typeface="Poppins"/>
                <a:cs typeface="Poppins"/>
                <a:sym typeface="Poppins"/>
              </a:rPr>
              <a:t>Real-Time Collaboration</a:t>
            </a:r>
            <a:br>
              <a:rPr lang="en-US" sz="1600" b="0" i="0" u="none" strike="noStrike">
                <a:solidFill>
                  <a:srgbClr val="1F2329"/>
                </a:solidFill>
                <a:latin typeface="Poppins"/>
                <a:ea typeface="Poppins"/>
                <a:cs typeface="Poppins"/>
                <a:sym typeface="Poppins"/>
              </a:rPr>
            </a:br>
            <a:r>
              <a:rPr lang="en-US" sz="1200" b="0" i="0" u="none" strike="noStrike">
                <a:solidFill>
                  <a:srgbClr val="4A5568"/>
                </a:solidFill>
                <a:latin typeface="Poppins"/>
                <a:ea typeface="Poppins"/>
                <a:cs typeface="Poppins"/>
                <a:sym typeface="Poppins"/>
              </a:rPr>
              <a:t>Dedicated Slack channel for instant communication, plus direct access to your account manager for urgent needs.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FFFFFF"/>
                </a:solidFill>
                <a:latin typeface="Poppins"/>
                <a:ea typeface="Poppins"/>
                <a:cs typeface="Poppins"/>
                <a:sym typeface="Poppins"/>
              </a:rPr>
              <a:t>Let's Begin: Transforming [Client Brand] Together</a:t>
            </a:r>
            <a:endParaRPr lang="en-US" sz="1100"/>
          </a:p>
        </p:txBody>
      </p:sp>
      <p:sp>
        <p:nvSpPr>
          <p:cNvPr id="4" name="AutoShape 4"/>
          <p:cNvSpPr/>
          <p:nvPr/>
        </p:nvSpPr>
        <p:spPr>
          <a:xfrm>
            <a:off x="762000" y="3556000"/>
            <a:ext cx="34290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784600"/>
            <a:ext cx="304800" cy="304800"/>
          </a:xfrm>
          <a:prstGeom prst="rect">
            <a:avLst/>
          </a:prstGeom>
        </p:spPr>
      </p:pic>
      <p:sp>
        <p:nvSpPr>
          <p:cNvPr id="6" name="AutoShape 6"/>
          <p:cNvSpPr/>
          <p:nvPr/>
        </p:nvSpPr>
        <p:spPr>
          <a:xfrm>
            <a:off x="1422400" y="37592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01. Deep Dive Workshop</a:t>
            </a:r>
            <a:endParaRPr lang="en-US" sz="1100"/>
          </a:p>
        </p:txBody>
      </p:sp>
      <p:sp>
        <p:nvSpPr>
          <p:cNvPr id="7" name="AutoShape 7"/>
          <p:cNvSpPr/>
          <p:nvPr/>
        </p:nvSpPr>
        <p:spPr>
          <a:xfrm>
            <a:off x="1016000" y="425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4902"/>
                  </a:srgbClr>
                </a:solidFill>
                <a:latin typeface="Poppins"/>
                <a:ea typeface="Poppins"/>
                <a:cs typeface="Poppins"/>
                <a:sym typeface="Poppins"/>
              </a:rPr>
              <a:t>Collaborate with key stakeholders to refine the strategy, align on goals, and establish clear success metrics for the project.</a:t>
            </a:r>
            <a:endParaRPr lang="en-US" sz="1100"/>
          </a:p>
        </p:txBody>
      </p:sp>
      <p:sp>
        <p:nvSpPr>
          <p:cNvPr id="8" name="AutoShape 8"/>
          <p:cNvSpPr/>
          <p:nvPr/>
        </p:nvSpPr>
        <p:spPr>
          <a:xfrm>
            <a:off x="4381500" y="3556000"/>
            <a:ext cx="34290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784600"/>
            <a:ext cx="304800" cy="304800"/>
          </a:xfrm>
          <a:prstGeom prst="rect">
            <a:avLst/>
          </a:prstGeom>
        </p:spPr>
      </p:pic>
      <p:sp>
        <p:nvSpPr>
          <p:cNvPr id="10" name="AutoShape 10"/>
          <p:cNvSpPr/>
          <p:nvPr/>
        </p:nvSpPr>
        <p:spPr>
          <a:xfrm>
            <a:off x="5041900" y="37592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02. Formalize Partnership</a:t>
            </a:r>
            <a:endParaRPr lang="en-US" sz="1100"/>
          </a:p>
        </p:txBody>
      </p:sp>
      <p:sp>
        <p:nvSpPr>
          <p:cNvPr id="11" name="AutoShape 11"/>
          <p:cNvSpPr/>
          <p:nvPr/>
        </p:nvSpPr>
        <p:spPr>
          <a:xfrm>
            <a:off x="4635500" y="425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4902"/>
                  </a:srgbClr>
                </a:solidFill>
                <a:latin typeface="Poppins"/>
                <a:ea typeface="Poppins"/>
                <a:cs typeface="Poppins"/>
                <a:sym typeface="Poppins"/>
              </a:rPr>
              <a:t>Finalize contracts, SOW, and payment terms within 3 business days to secure the timeline and officially kick off operations.</a:t>
            </a:r>
            <a:endParaRPr lang="en-US" sz="1100"/>
          </a:p>
        </p:txBody>
      </p:sp>
      <p:sp>
        <p:nvSpPr>
          <p:cNvPr id="12" name="AutoShape 12"/>
          <p:cNvSpPr/>
          <p:nvPr/>
        </p:nvSpPr>
        <p:spPr>
          <a:xfrm>
            <a:off x="8001000" y="3556000"/>
            <a:ext cx="34290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3784600"/>
            <a:ext cx="304800" cy="304800"/>
          </a:xfrm>
          <a:prstGeom prst="rect">
            <a:avLst/>
          </a:prstGeom>
        </p:spPr>
      </p:pic>
      <p:sp>
        <p:nvSpPr>
          <p:cNvPr id="14" name="AutoShape 14"/>
          <p:cNvSpPr/>
          <p:nvPr/>
        </p:nvSpPr>
        <p:spPr>
          <a:xfrm>
            <a:off x="8661400" y="37592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03. Target Launch Date</a:t>
            </a:r>
            <a:endParaRPr lang="en-US" sz="1100"/>
          </a:p>
        </p:txBody>
      </p:sp>
      <p:sp>
        <p:nvSpPr>
          <p:cNvPr id="15" name="AutoShape 15"/>
          <p:cNvSpPr/>
          <p:nvPr/>
        </p:nvSpPr>
        <p:spPr>
          <a:xfrm>
            <a:off x="8255000" y="4254500"/>
            <a:ext cx="292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4902"/>
                  </a:srgbClr>
                </a:solidFill>
                <a:latin typeface="Poppins"/>
                <a:ea typeface="Poppins"/>
                <a:cs typeface="Poppins"/>
                <a:sym typeface="Poppins"/>
              </a:rPr>
              <a:t>Aim for an official go-live by Q4 2026, with a phased rollout strategy to ensure smooth adoption and maximize initial impact.</a:t>
            </a:r>
            <a:endParaRPr lang="en-US" sz="1100"/>
          </a:p>
        </p:txBody>
      </p:sp>
      <p:sp>
        <p:nvSpPr>
          <p:cNvPr id="16" name="AutoShape 16"/>
          <p:cNvSpPr/>
          <p:nvPr/>
        </p:nvSpPr>
        <p:spPr>
          <a:xfrm>
            <a:off x="762000" y="5486400"/>
            <a:ext cx="10668000" cy="8128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638800"/>
            <a:ext cx="254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Sarah Jenkins</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Account Director</a:t>
            </a:r>
            <a:endParaRPr lang="en-US" sz="1100"/>
          </a:p>
        </p:txBody>
      </p:sp>
      <p:cxnSp>
        <p:nvCxnSpPr>
          <p:cNvPr id="18" name="Connector 18"/>
          <p:cNvCxnSpPr/>
          <p:nvPr/>
        </p:nvCxnSpPr>
        <p:spPr>
          <a:xfrm rot="5304531">
            <a:off x="3327400" y="5886538"/>
            <a:ext cx="4572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19"/>
          <p:cNvSpPr/>
          <p:nvPr/>
        </p:nvSpPr>
        <p:spPr>
          <a:xfrm>
            <a:off x="3810000" y="5638800"/>
            <a:ext cx="254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+44 (20) 7987-6543</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Direct Phone</a:t>
            </a:r>
            <a:endParaRPr lang="en-US" sz="1100"/>
          </a:p>
        </p:txBody>
      </p:sp>
      <p:cxnSp>
        <p:nvCxnSpPr>
          <p:cNvPr id="20" name="Connector 20"/>
          <p:cNvCxnSpPr/>
          <p:nvPr/>
        </p:nvCxnSpPr>
        <p:spPr>
          <a:xfrm rot="5304531">
            <a:off x="6121400" y="5886538"/>
            <a:ext cx="4572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21" name="AutoShape 21"/>
          <p:cNvSpPr/>
          <p:nvPr/>
        </p:nvSpPr>
        <p:spPr>
          <a:xfrm>
            <a:off x="6604000" y="5638800"/>
            <a:ext cx="254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sarah.j@agency.co</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Email Address</a:t>
            </a:r>
            <a:endParaRPr lang="en-US" sz="1100"/>
          </a:p>
        </p:txBody>
      </p:sp>
      <p:cxnSp>
        <p:nvCxnSpPr>
          <p:cNvPr id="22" name="Connector 22"/>
          <p:cNvCxnSpPr/>
          <p:nvPr/>
        </p:nvCxnSpPr>
        <p:spPr>
          <a:xfrm rot="5304531">
            <a:off x="8915400" y="5886538"/>
            <a:ext cx="4572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23" name="AutoShape 23"/>
          <p:cNvSpPr/>
          <p:nvPr/>
        </p:nvSpPr>
        <p:spPr>
          <a:xfrm>
            <a:off x="9334500" y="5638800"/>
            <a:ext cx="215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www.agency.co</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Visit Our Website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7911</Words>
  <Application>WPS 演示</Application>
  <PresentationFormat/>
  <Paragraphs>205</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10</vt:i4>
      </vt:variant>
    </vt:vector>
  </HeadingPairs>
  <TitlesOfParts>
    <vt:vector size="23" baseType="lpstr">
      <vt:lpstr>Arial</vt:lpstr>
      <vt:lpstr>宋体</vt:lpstr>
      <vt:lpstr>Wingdings</vt:lpstr>
      <vt:lpstr>Arial</vt:lpstr>
      <vt:lpstr>Poppins</vt:lpstr>
      <vt:lpstr>Thonburi</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黄卓辉</cp:lastModifiedBy>
  <cp:revision>1</cp:revision>
  <dcterms:created xsi:type="dcterms:W3CDTF">2026-07-04T07:20:41Z</dcterms:created>
  <dcterms:modified xsi:type="dcterms:W3CDTF">2026-07-04T07:20:41Z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{"Label":"1","ContentProducer":"001191110102MACQD9K64010000","ProduceID":"7658569212067892421","ReservedCode1":"","ContentPropagator":"","PropagateID":"","ReservedCode2":""}</vt:lpwstr>
  </property>
  <property fmtid="{D5CDD505-2E9C-101B-9397-08002B2CF9AE}" pid="3" name="ICV">
    <vt:lpwstr>D8D048F0197EA38A49B4486A66EEBAF9_42</vt:lpwstr>
  </property>
  <property fmtid="{D5CDD505-2E9C-101B-9397-08002B2CF9AE}" pid="4" name="KSOProductBuildVer">
    <vt:lpwstr>2052-5.3.0.7863</vt:lpwstr>
  </property>
</Properties>
</file>
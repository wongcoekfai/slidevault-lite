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notesSlides/notesSlide12.xml" ContentType="application/vnd.openxmlformats-officedocument.presentationml.notes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charts/chart1.xml" ContentType="application/vnd.openxmlformats-officedocument.drawingml.chart+xml"/>
  <Override PartName="/ppt/slides/slide14.xml" ContentType="application/vnd.openxmlformats-officedocument.presentationml.slide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ppt/slides/slide11.xml" ContentType="application/vnd.openxmlformats-officedocument.presentationml.slide+xml"/>
  <Override PartName="/ppt/notesSlides/notesSlide1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docProps/core.xml" ContentType="application/vnd.openxmlformats-package.core-properties+xml"/>
  <Override PartName="/ppt/notesSlides/notesSlide4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9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s/slide9.xml" ContentType="application/vnd.openxmlformats-officedocument.presentationml.slide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3" Type="http://schemas.openxmlformats.org/officeDocument/2006/relationships/slide" Target="slides/slide3.xml" /><Relationship Id="rId20" Type="http://schemas.openxmlformats.org/officeDocument/2006/relationships/viewProps" Target="viewProps.xml" /><Relationship Id="rId2" Type="http://schemas.openxmlformats.org/officeDocument/2006/relationships/slide" Target="slides/slide2.xml" /><Relationship Id="rId9" Type="http://schemas.openxmlformats.org/officeDocument/2006/relationships/slide" Target="slides/slide9.xml" /><Relationship Id="rId5" Type="http://schemas.openxmlformats.org/officeDocument/2006/relationships/slide" Target="slides/slide5.xml" /><Relationship Id="rId19" Type="http://schemas.openxmlformats.org/officeDocument/2006/relationships/tableStyles" Target="tableStyles.xml" /><Relationship Id="rId16" Type="http://schemas.openxmlformats.org/officeDocument/2006/relationships/slide" Target="slides/slide16.xml" /><Relationship Id="rId1" Type="http://schemas.openxmlformats.org/officeDocument/2006/relationships/slide" Target="slides/slide1.xml" /><Relationship Id="rId15" Type="http://schemas.openxmlformats.org/officeDocument/2006/relationships/slide" Target="slides/slide15.xml" /><Relationship Id="rId17" Type="http://schemas.openxmlformats.org/officeDocument/2006/relationships/notesMaster" Target="notesMasters/notesMaster1.xml" /><Relationship Id="rId4" Type="http://schemas.openxmlformats.org/officeDocument/2006/relationships/slide" Target="slides/slide4.xml" /><Relationship Id="rId0" Type="http://schemas.openxmlformats.org/officeDocument/2006/relationships/slideMaster" Target="slideMasters/slideMaster1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12" Type="http://schemas.openxmlformats.org/officeDocument/2006/relationships/slide" Target="slides/slide12.xml" /><Relationship Id="rId18" Type="http://schemas.openxmlformats.org/officeDocument/2006/relationships/presProps" Target="presProps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1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2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3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4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5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6.xml" 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.xml" 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.xml" 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.xml" 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.xml" 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.xml" 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.xml" 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.xml" 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TEMPLATE GUIDE: Replace every {{placeholder}} with your own content. Change accent colors in the generator (C.accent / C.accent2) to match your brand. Delete slides you do not need. Charts keep sample numbers — edit them in PowerPoint.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Financial plan: link every number back to the objectives slide.</a:t>
            </a:r>
            <a:endParaRPr 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Risks: name them before your audience does. Every risk needs an owner.</a:t>
            </a:r>
            <a:endParaRPr lang="en-US" dirty="0"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Roadmap: quarterly milestones with owners.</a:t>
            </a:r>
            <a:endParaRPr lang="en-US" dirty="0"/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Team: delete cards if you have fewer members.</a:t>
            </a:r>
            <a:endParaRPr lang="en-US" dirty="0"/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The ask: be specific. Vague asks get vague answers.</a:t>
            </a:r>
            <a:endParaRPr lang="en-US" dirty="0"/>
          </a:p>
        </p:txBody>
      </p:sp>
      <p:sp>
        <p:nvSpPr>
          <p:cNvPr id="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Next steps: end every business deck with actions, owners, and dates.</a:t>
            </a:r>
            <a:endParaRPr lang="en-US" dirty="0"/>
          </a:p>
        </p:txBody>
      </p:sp>
      <p:sp>
        <p:nvSpPr>
          <p:cNvPr id="2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Closing: contact info and one clear call to action.</a:t>
            </a:r>
            <a:endParaRPr lang="en-US" dirty="0"/>
          </a:p>
        </p:txBody>
      </p:sp>
      <p:sp>
        <p:nvSpPr>
          <p:cNvPr id="3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Executive summary: four points max. If the reader stops here, they should get the whole story.</a:t>
            </a:r>
            <a:endParaRPr lang="en-US" dirty="0"/>
          </a:p>
        </p:txBody>
      </p:sp>
      <p:sp>
        <p:nvSpPr>
          <p:cNvPr id="3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Objectives: 3-5 measurable goals. Each needs an owner and a number.</a:t>
            </a:r>
            <a:endParaRPr lang="en-US" dirty="0"/>
          </a:p>
        </p:txBody>
      </p:sp>
      <p:sp>
        <p:nvSpPr>
          <p:cNvPr id="4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Situation: classic SWOT in a 2x2 grid. Keep each quadrant to 2-3 bullets when presenting.</a:t>
            </a:r>
            <a:endParaRPr lang="en-US" dirty="0"/>
          </a:p>
        </p:txBody>
      </p:sp>
      <p:sp>
        <p:nvSpPr>
          <p:cNvPr id="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Market: TAM / SAM / SOM. Cite sources for your numbers.</a:t>
            </a:r>
            <a:endParaRPr lang="en-US" dirty="0"/>
          </a:p>
        </p:txBody>
      </p:sp>
      <p:sp>
        <p:nvSpPr>
          <p:cNvPr id="4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Competition: focus on the gap, not just the players.</a:t>
            </a:r>
            <a:endParaRPr lang="en-US" dirty="0"/>
          </a:p>
        </p:txBody>
      </p:sp>
      <p:sp>
        <p:nvSpPr>
          <p:cNvPr id="5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Business model: revenue streams with their share of total revenue.</a:t>
            </a:r>
            <a:endParaRPr lang="en-US" dirty="0"/>
          </a:p>
        </p:txBody>
      </p:sp>
      <p:sp>
        <p:nvSpPr>
          <p:cNvPr id="5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Operations: the 2-3 things that must run well for the plan to work.</a:t>
            </a:r>
            <a:endParaRPr lang="en-US" dirty="0"/>
          </a:p>
        </p:txBody>
      </p:sp>
      <p:sp>
        <p:nvSpPr>
          <p:cNvPr id="6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6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Key metrics: chart shows sample data — replace values and labels with yours in PowerPoint.</a:t>
            </a:r>
            <a:endParaRPr lang="en-US" dirty="0"/>
          </a:p>
        </p:txBody>
      </p:sp>
      <p:sp>
        <p:nvSpPr>
          <p:cNvPr id="6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9.xml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0.xml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1.xml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2.xml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3.xml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4.xml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5.xml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Relationship Id="rId0" Type="http://schemas.openxmlformats.org/officeDocument/2006/relationships/chart" Target="charts/char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.xml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.xml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.xml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.xml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.xml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7.xml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8.xml" /><Relationship Id="rId0" Type="http://schemas.openxmlformats.org/officeDocument/2006/relationships/slideLayout" Target="../slideLayouts/slideLayout1.xml" /></Relationships>
</file>

<file path=ppt/slides/charts/chart1.xml><?xml version="1.0" encoding="utf-8"?>
<c:chartSpace xmlns:c="http://schemas.openxmlformats.org/drawingml/2006/chart" xmlns:a="http://schemas.openxmlformats.org/drawingml/2006/main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{{Series}}</c:v>
                </c:pt>
              </c:strCache>
            </c:strRef>
          </c:tx>
          <c:spPr>
            <a:solidFill>
              <a:srgbClr val="38BDF8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F8FAF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{{P1}}</c:v>
                  </c:pt>
                  <c:pt idx="1">
                    <c:v>{{P2}}</c:v>
                  </c:pt>
                  <c:pt idx="2">
                    <c:v>{{P3}}</c:v>
                  </c:pt>
                  <c:pt idx="3">
                    <c:v>{{P4}}</c:v>
                  </c:pt>
                  <c:pt idx="4">
                    <c:v>{{P5}}</c:v>
                  </c:pt>
                  <c:pt idx="5">
                    <c:v>{{P6}}</c:v>
                  </c:pt>
                </c:lvl>
              </c:multiLvlStrCache>
            </c:multiLvlStrRef>
          </c:cat>
          <c:val>
            <c:numRef>
              <c:f>sheet</c:f>
              <c:numCache>
                <c:formatCode>General</c:formatCode>
                <c:ptCount val="6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24</c:v>
                </c:pt>
                <c:pt idx="4">
                  <c:v>30</c:v>
                </c:pt>
                <c:pt idx="5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0" i="0" u="none" strike="noStrike">
                  <a:solidFill>
                    <a:srgbClr val="F8FAF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</c:chartSpace>
</file>

<file path=ppt/slides/slide1.xml><?xml version="1.0" encoding="utf-8"?>
<p:sld xmlns:p="http://schemas.openxmlformats.org/presentationml/2006/main" xmlns:a="http://schemas.openxmlformats.org/drawing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38BDF8">
              <a:alpha val="14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818CF8">
              <a:alpha val="2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FBBF24">
              <a:alpha val="18000"/>
            </a:srgbClr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 TEMPLATE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{{Company Name}}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 {{Year}}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{{Mission in one sentence — what the company exists to do, for whom.}}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v1.0   ·   Replace every {{placeholder}}   ·   Free to use &amp; modify (CC0)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 name="Slide 2">
    <p:bg>
      <p:bgPr>
        <a:solidFill>
          <a:srgbClr val="0F1B2D"/>
        </a:solidFill>
      </p:bgPr>
    </p:bg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49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150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{{Where we are, where we are going}}</a:t>
            </a:r>
            <a:endParaRPr lang="en-US" sz="3200" dirty="0"/>
          </a:p>
        </p:txBody>
      </p:sp>
      <p:sp>
        <p:nvSpPr>
          <p:cNvPr id="151" name="Shape 3"/>
          <p:cNvSpPr/>
          <p:nvPr/>
        </p:nvSpPr>
        <p:spPr>
          <a:xfrm>
            <a:off x="640080" y="1783080"/>
            <a:ext cx="5166360" cy="1874520"/>
          </a:xfrm>
          <a:prstGeom prst="roundRect">
            <a:avLst>
              <a:gd name="adj" fmla="val 5854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2" name="Shape 4"/>
          <p:cNvSpPr/>
          <p:nvPr/>
        </p:nvSpPr>
        <p:spPr>
          <a:xfrm>
            <a:off x="960120" y="2103120"/>
            <a:ext cx="566928" cy="566928"/>
          </a:xfrm>
          <a:prstGeom prst="ellipse">
            <a:avLst/>
          </a:prstGeom>
          <a:solidFill>
            <a:srgbClr val="38BDF8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3" name="Text 5"/>
          <p:cNvSpPr/>
          <p:nvPr/>
        </p:nvSpPr>
        <p:spPr>
          <a:xfrm>
            <a:off x="96012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54" name="Text 6"/>
          <p:cNvSpPr/>
          <p:nvPr/>
        </p:nvSpPr>
        <p:spPr>
          <a:xfrm>
            <a:off x="1691640" y="20574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{{Headline 1}}</a:t>
            </a:r>
            <a:endParaRPr lang="en-US" sz="1900" dirty="0"/>
          </a:p>
        </p:txBody>
      </p:sp>
      <p:sp>
        <p:nvSpPr>
          <p:cNvPr id="155" name="Text 7"/>
          <p:cNvSpPr/>
          <p:nvPr/>
        </p:nvSpPr>
        <p:spPr>
          <a:xfrm>
            <a:off x="1691640" y="2560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{{One-line summary of the most important point.}}</a:t>
            </a:r>
            <a:endParaRPr lang="en-US" sz="1300" dirty="0"/>
          </a:p>
        </p:txBody>
      </p:sp>
      <p:sp>
        <p:nvSpPr>
          <p:cNvPr id="156" name="Shape 8"/>
          <p:cNvSpPr/>
          <p:nvPr/>
        </p:nvSpPr>
        <p:spPr>
          <a:xfrm>
            <a:off x="6355080" y="1783080"/>
            <a:ext cx="5166360" cy="1874520"/>
          </a:xfrm>
          <a:prstGeom prst="roundRect">
            <a:avLst>
              <a:gd name="adj" fmla="val 5854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7" name="Shape 9"/>
          <p:cNvSpPr/>
          <p:nvPr/>
        </p:nvSpPr>
        <p:spPr>
          <a:xfrm>
            <a:off x="6675120" y="2103120"/>
            <a:ext cx="566928" cy="566928"/>
          </a:xfrm>
          <a:prstGeom prst="ellipse">
            <a:avLst/>
          </a:prstGeom>
          <a:solidFill>
            <a:srgbClr val="818CF8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8" name="Text 10"/>
          <p:cNvSpPr/>
          <p:nvPr/>
        </p:nvSpPr>
        <p:spPr>
          <a:xfrm>
            <a:off x="667512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9" name="Text 11"/>
          <p:cNvSpPr/>
          <p:nvPr/>
        </p:nvSpPr>
        <p:spPr>
          <a:xfrm>
            <a:off x="7406640" y="20574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{{Headline 2}}</a:t>
            </a:r>
            <a:endParaRPr lang="en-US" sz="1900" dirty="0"/>
          </a:p>
        </p:txBody>
      </p:sp>
      <p:sp>
        <p:nvSpPr>
          <p:cNvPr id="160" name="Text 12"/>
          <p:cNvSpPr/>
          <p:nvPr/>
        </p:nvSpPr>
        <p:spPr>
          <a:xfrm>
            <a:off x="7406640" y="2560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{{One-line summary of the second point.}}</a:t>
            </a:r>
            <a:endParaRPr lang="en-US" sz="1300" dirty="0"/>
          </a:p>
        </p:txBody>
      </p:sp>
      <p:sp>
        <p:nvSpPr>
          <p:cNvPr id="161" name="Shape 13"/>
          <p:cNvSpPr/>
          <p:nvPr/>
        </p:nvSpPr>
        <p:spPr>
          <a:xfrm>
            <a:off x="640080" y="4069080"/>
            <a:ext cx="5166360" cy="1874520"/>
          </a:xfrm>
          <a:prstGeom prst="roundRect">
            <a:avLst>
              <a:gd name="adj" fmla="val 5854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62" name="Shape 14"/>
          <p:cNvSpPr/>
          <p:nvPr/>
        </p:nvSpPr>
        <p:spPr>
          <a:xfrm>
            <a:off x="960120" y="4389120"/>
            <a:ext cx="566928" cy="566928"/>
          </a:xfrm>
          <a:prstGeom prst="ellipse">
            <a:avLst/>
          </a:prstGeom>
          <a:solidFill>
            <a:srgbClr val="38BDF8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63" name="Text 15"/>
          <p:cNvSpPr/>
          <p:nvPr/>
        </p:nvSpPr>
        <p:spPr>
          <a:xfrm>
            <a:off x="96012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4" name="Text 16"/>
          <p:cNvSpPr/>
          <p:nvPr/>
        </p:nvSpPr>
        <p:spPr>
          <a:xfrm>
            <a:off x="1691640" y="43434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{{Headline 3}}</a:t>
            </a:r>
            <a:endParaRPr lang="en-US" sz="1900" dirty="0"/>
          </a:p>
        </p:txBody>
      </p:sp>
      <p:sp>
        <p:nvSpPr>
          <p:cNvPr id="165" name="Text 17"/>
          <p:cNvSpPr/>
          <p:nvPr/>
        </p:nvSpPr>
        <p:spPr>
          <a:xfrm>
            <a:off x="1691640" y="4846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{{One-line summary of the third point.}}</a:t>
            </a:r>
            <a:endParaRPr lang="en-US" sz="1300" dirty="0"/>
          </a:p>
        </p:txBody>
      </p:sp>
      <p:sp>
        <p:nvSpPr>
          <p:cNvPr id="166" name="Shape 18"/>
          <p:cNvSpPr/>
          <p:nvPr/>
        </p:nvSpPr>
        <p:spPr>
          <a:xfrm>
            <a:off x="6355080" y="4069080"/>
            <a:ext cx="5166360" cy="1874520"/>
          </a:xfrm>
          <a:prstGeom prst="roundRect">
            <a:avLst>
              <a:gd name="adj" fmla="val 5854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67" name="Shape 19"/>
          <p:cNvSpPr/>
          <p:nvPr/>
        </p:nvSpPr>
        <p:spPr>
          <a:xfrm>
            <a:off x="6675120" y="4389120"/>
            <a:ext cx="566928" cy="566928"/>
          </a:xfrm>
          <a:prstGeom prst="ellipse">
            <a:avLst/>
          </a:prstGeom>
          <a:solidFill>
            <a:srgbClr val="818CF8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68" name="Text 20"/>
          <p:cNvSpPr/>
          <p:nvPr/>
        </p:nvSpPr>
        <p:spPr>
          <a:xfrm>
            <a:off x="667512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69" name="Text 21"/>
          <p:cNvSpPr/>
          <p:nvPr/>
        </p:nvSpPr>
        <p:spPr>
          <a:xfrm>
            <a:off x="7406640" y="43434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{{Headline 4}}</a:t>
            </a:r>
            <a:endParaRPr lang="en-US" sz="1900" dirty="0"/>
          </a:p>
        </p:txBody>
      </p:sp>
      <p:sp>
        <p:nvSpPr>
          <p:cNvPr id="170" name="Text 22"/>
          <p:cNvSpPr/>
          <p:nvPr/>
        </p:nvSpPr>
        <p:spPr>
          <a:xfrm>
            <a:off x="7406640" y="4846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{{One-line summary of the fourth point.}}</a:t>
            </a:r>
            <a:endParaRPr lang="en-US" sz="1300" dirty="0"/>
          </a:p>
        </p:txBody>
      </p:sp>
      <p:sp>
        <p:nvSpPr>
          <p:cNvPr id="171" name="Text 23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closing sentence: the single decision or takeaway you want from the reader.}}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 name="Slide 3">
    <p:bg>
      <p:bgPr>
        <a:solidFill>
          <a:srgbClr val="0F1B2D"/>
        </a:solidFill>
      </p:bgPr>
    </p:bg>
    <p:spTree>
      <p:nvGrpSpPr>
        <p:cNvPr id="1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74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175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{{Company objectives this year}}</a:t>
            </a:r>
            <a:endParaRPr lang="en-US" sz="3200" dirty="0"/>
          </a:p>
        </p:txBody>
      </p:sp>
      <p:sp>
        <p:nvSpPr>
          <p:cNvPr id="176" name="Shape 3"/>
          <p:cNvSpPr/>
          <p:nvPr/>
        </p:nvSpPr>
        <p:spPr>
          <a:xfrm>
            <a:off x="640080" y="25603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77" name="Shape 4"/>
          <p:cNvSpPr/>
          <p:nvPr/>
        </p:nvSpPr>
        <p:spPr>
          <a:xfrm>
            <a:off x="2071116" y="2971800"/>
            <a:ext cx="566928" cy="566928"/>
          </a:xfrm>
          <a:prstGeom prst="ellipse">
            <a:avLst/>
          </a:prstGeom>
          <a:solidFill>
            <a:srgbClr val="38BDF8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78" name="Text 5"/>
          <p:cNvSpPr/>
          <p:nvPr/>
        </p:nvSpPr>
        <p:spPr>
          <a:xfrm>
            <a:off x="2071116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79" name="Text 6"/>
          <p:cNvSpPr/>
          <p:nvPr/>
        </p:nvSpPr>
        <p:spPr>
          <a:xfrm>
            <a:off x="640080" y="3703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{{Objective 1}}</a:t>
            </a:r>
            <a:endParaRPr lang="en-US" sz="1900" dirty="0"/>
          </a:p>
        </p:txBody>
      </p:sp>
      <p:sp>
        <p:nvSpPr>
          <p:cNvPr id="180" name="Text 7"/>
          <p:cNvSpPr/>
          <p:nvPr/>
        </p:nvSpPr>
        <p:spPr>
          <a:xfrm>
            <a:off x="960120" y="42519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{{Measurable target, e.g. "Revenue {{X}} by {{date}}."}}</a:t>
            </a:r>
            <a:endParaRPr lang="en-US" sz="1300" dirty="0"/>
          </a:p>
        </p:txBody>
      </p:sp>
      <p:sp>
        <p:nvSpPr>
          <p:cNvPr id="181" name="Shape 8"/>
          <p:cNvSpPr/>
          <p:nvPr/>
        </p:nvSpPr>
        <p:spPr>
          <a:xfrm>
            <a:off x="4526280" y="25603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82" name="Shape 9"/>
          <p:cNvSpPr/>
          <p:nvPr/>
        </p:nvSpPr>
        <p:spPr>
          <a:xfrm>
            <a:off x="5957316" y="2971800"/>
            <a:ext cx="566928" cy="566928"/>
          </a:xfrm>
          <a:prstGeom prst="ellipse">
            <a:avLst/>
          </a:prstGeom>
          <a:solidFill>
            <a:srgbClr val="818CF8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83" name="Text 10"/>
          <p:cNvSpPr/>
          <p:nvPr/>
        </p:nvSpPr>
        <p:spPr>
          <a:xfrm>
            <a:off x="5957316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4" name="Text 11"/>
          <p:cNvSpPr/>
          <p:nvPr/>
        </p:nvSpPr>
        <p:spPr>
          <a:xfrm>
            <a:off x="4526280" y="3703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{{Objective 2}}</a:t>
            </a:r>
            <a:endParaRPr lang="en-US" sz="1900" dirty="0"/>
          </a:p>
        </p:txBody>
      </p:sp>
      <p:sp>
        <p:nvSpPr>
          <p:cNvPr id="185" name="Text 12"/>
          <p:cNvSpPr/>
          <p:nvPr/>
        </p:nvSpPr>
        <p:spPr>
          <a:xfrm>
            <a:off x="4846320" y="42519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{{Measurable target, one line.}}</a:t>
            </a:r>
            <a:endParaRPr lang="en-US" sz="1300" dirty="0"/>
          </a:p>
        </p:txBody>
      </p:sp>
      <p:sp>
        <p:nvSpPr>
          <p:cNvPr id="186" name="Shape 13"/>
          <p:cNvSpPr/>
          <p:nvPr/>
        </p:nvSpPr>
        <p:spPr>
          <a:xfrm>
            <a:off x="8412480" y="25603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87" name="Shape 14"/>
          <p:cNvSpPr/>
          <p:nvPr/>
        </p:nvSpPr>
        <p:spPr>
          <a:xfrm>
            <a:off x="9843516" y="2971800"/>
            <a:ext cx="566928" cy="566928"/>
          </a:xfrm>
          <a:prstGeom prst="ellipse">
            <a:avLst/>
          </a:prstGeom>
          <a:solidFill>
            <a:srgbClr val="38BDF8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88" name="Text 15"/>
          <p:cNvSpPr/>
          <p:nvPr/>
        </p:nvSpPr>
        <p:spPr>
          <a:xfrm>
            <a:off x="9843516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9" name="Text 16"/>
          <p:cNvSpPr/>
          <p:nvPr/>
        </p:nvSpPr>
        <p:spPr>
          <a:xfrm>
            <a:off x="8412480" y="3703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{{Objective 3}}</a:t>
            </a:r>
            <a:endParaRPr lang="en-US" sz="1900" dirty="0"/>
          </a:p>
        </p:txBody>
      </p:sp>
      <p:sp>
        <p:nvSpPr>
          <p:cNvPr id="190" name="Text 17"/>
          <p:cNvSpPr/>
          <p:nvPr/>
        </p:nvSpPr>
        <p:spPr>
          <a:xfrm>
            <a:off x="8732520" y="42519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{{Measurable target, one line.}}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 name="Slide 4">
    <p:bg>
      <p:bgPr>
        <a:solidFill>
          <a:srgbClr val="0F1B2D"/>
        </a:solidFill>
      </p:bgPr>
    </p:bg>
    <p:spTree>
      <p:nvGrpSpPr>
        <p:cNvPr id="1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200" dirty="0"/>
          </a:p>
        </p:txBody>
      </p:sp>
      <p:sp>
        <p:nvSpPr>
          <p:cNvPr id="19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{{Where the business stands today}}</a:t>
            </a:r>
            <a:endParaRPr lang="en-US" sz="3200" dirty="0"/>
          </a:p>
        </p:txBody>
      </p:sp>
      <p:sp>
        <p:nvSpPr>
          <p:cNvPr id="195" name="Shape 3"/>
          <p:cNvSpPr/>
          <p:nvPr/>
        </p:nvSpPr>
        <p:spPr>
          <a:xfrm>
            <a:off x="640080" y="178308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96" name="Shape 4"/>
          <p:cNvSpPr/>
          <p:nvPr/>
        </p:nvSpPr>
        <p:spPr>
          <a:xfrm>
            <a:off x="960120" y="2148840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7" name="Text 5"/>
          <p:cNvSpPr/>
          <p:nvPr/>
        </p:nvSpPr>
        <p:spPr>
          <a:xfrm>
            <a:off x="9601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198" name="Text 6"/>
          <p:cNvSpPr/>
          <p:nvPr/>
        </p:nvSpPr>
        <p:spPr>
          <a:xfrm>
            <a:off x="1645920" y="2075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{{Strengths}}</a:t>
            </a:r>
            <a:endParaRPr lang="en-US" sz="1900" dirty="0"/>
          </a:p>
        </p:txBody>
      </p:sp>
      <p:sp>
        <p:nvSpPr>
          <p:cNvPr id="199" name="Text 7"/>
          <p:cNvSpPr/>
          <p:nvPr/>
        </p:nvSpPr>
        <p:spPr>
          <a:xfrm>
            <a:off x="1645920" y="26060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you do better than anyone.}}</a:t>
            </a:r>
            <a:endParaRPr lang="en-US" sz="1300" dirty="0"/>
          </a:p>
        </p:txBody>
      </p:sp>
      <p:sp>
        <p:nvSpPr>
          <p:cNvPr id="200" name="Shape 8"/>
          <p:cNvSpPr/>
          <p:nvPr/>
        </p:nvSpPr>
        <p:spPr>
          <a:xfrm>
            <a:off x="6355080" y="178308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1" name="Shape 9"/>
          <p:cNvSpPr/>
          <p:nvPr/>
        </p:nvSpPr>
        <p:spPr>
          <a:xfrm>
            <a:off x="6675120" y="2148840"/>
            <a:ext cx="502920" cy="502920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p/>
        </p:txBody>
      </p:sp>
      <p:sp>
        <p:nvSpPr>
          <p:cNvPr id="202" name="Text 10"/>
          <p:cNvSpPr/>
          <p:nvPr/>
        </p:nvSpPr>
        <p:spPr>
          <a:xfrm>
            <a:off x="66751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203" name="Text 11"/>
          <p:cNvSpPr/>
          <p:nvPr/>
        </p:nvSpPr>
        <p:spPr>
          <a:xfrm>
            <a:off x="7360920" y="2075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{{Weaknesses}}</a:t>
            </a:r>
            <a:endParaRPr lang="en-US" sz="1900" dirty="0"/>
          </a:p>
        </p:txBody>
      </p:sp>
      <p:sp>
        <p:nvSpPr>
          <p:cNvPr id="204" name="Text 12"/>
          <p:cNvSpPr/>
          <p:nvPr/>
        </p:nvSpPr>
        <p:spPr>
          <a:xfrm>
            <a:off x="7360920" y="26060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holds you back right now.}}</a:t>
            </a:r>
            <a:endParaRPr lang="en-US" sz="1300" dirty="0"/>
          </a:p>
        </p:txBody>
      </p:sp>
      <p:sp>
        <p:nvSpPr>
          <p:cNvPr id="205" name="Shape 13"/>
          <p:cNvSpPr/>
          <p:nvPr/>
        </p:nvSpPr>
        <p:spPr>
          <a:xfrm>
            <a:off x="640080" y="416052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6" name="Shape 14"/>
          <p:cNvSpPr/>
          <p:nvPr/>
        </p:nvSpPr>
        <p:spPr>
          <a:xfrm>
            <a:off x="960120" y="4526280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07" name="Text 15"/>
          <p:cNvSpPr/>
          <p:nvPr/>
        </p:nvSpPr>
        <p:spPr>
          <a:xfrm>
            <a:off x="96012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208" name="Text 16"/>
          <p:cNvSpPr/>
          <p:nvPr/>
        </p:nvSpPr>
        <p:spPr>
          <a:xfrm>
            <a:off x="1645920" y="44531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{{Opportunities}}</a:t>
            </a:r>
            <a:endParaRPr lang="en-US" sz="1900" dirty="0"/>
          </a:p>
        </p:txBody>
      </p:sp>
      <p:sp>
        <p:nvSpPr>
          <p:cNvPr id="209" name="Text 17"/>
          <p:cNvSpPr/>
          <p:nvPr/>
        </p:nvSpPr>
        <p:spPr>
          <a:xfrm>
            <a:off x="1645920" y="49834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{{External tailwinds you can ride.}}</a:t>
            </a:r>
            <a:endParaRPr lang="en-US" sz="1300" dirty="0"/>
          </a:p>
        </p:txBody>
      </p:sp>
      <p:sp>
        <p:nvSpPr>
          <p:cNvPr id="210" name="Shape 18"/>
          <p:cNvSpPr/>
          <p:nvPr/>
        </p:nvSpPr>
        <p:spPr>
          <a:xfrm>
            <a:off x="6355080" y="416052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11" name="Shape 19"/>
          <p:cNvSpPr/>
          <p:nvPr/>
        </p:nvSpPr>
        <p:spPr>
          <a:xfrm>
            <a:off x="6675120" y="4526280"/>
            <a:ext cx="502920" cy="502920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p/>
        </p:txBody>
      </p:sp>
      <p:sp>
        <p:nvSpPr>
          <p:cNvPr id="212" name="Text 20"/>
          <p:cNvSpPr/>
          <p:nvPr/>
        </p:nvSpPr>
        <p:spPr>
          <a:xfrm>
            <a:off x="667512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213" name="Text 21"/>
          <p:cNvSpPr/>
          <p:nvPr/>
        </p:nvSpPr>
        <p:spPr>
          <a:xfrm>
            <a:off x="7360920" y="44531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{{Threats}}</a:t>
            </a:r>
            <a:endParaRPr lang="en-US" sz="1900" dirty="0"/>
          </a:p>
        </p:txBody>
      </p:sp>
      <p:sp>
        <p:nvSpPr>
          <p:cNvPr id="214" name="Text 22"/>
          <p:cNvSpPr/>
          <p:nvPr/>
        </p:nvSpPr>
        <p:spPr>
          <a:xfrm>
            <a:off x="7360920" y="49834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{{External risks to watch.}}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 name="Slide 5">
    <p:bg>
      <p:bgPr>
        <a:solidFill>
          <a:srgbClr val="0F1B2D"/>
        </a:solidFill>
      </p:bgPr>
    </p:bg>
    <p:spTree>
      <p:nvGrpSpPr>
        <p:cNvPr id="2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17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00" dirty="0"/>
          </a:p>
        </p:txBody>
      </p:sp>
      <p:sp>
        <p:nvSpPr>
          <p:cNvPr id="218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{{Market size &amp; opportunity}}</a:t>
            </a:r>
            <a:endParaRPr lang="en-US" sz="3200" dirty="0"/>
          </a:p>
        </p:txBody>
      </p:sp>
      <p:sp>
        <p:nvSpPr>
          <p:cNvPr id="219" name="Text 3"/>
          <p:cNvSpPr/>
          <p:nvPr/>
        </p:nvSpPr>
        <p:spPr>
          <a:xfrm>
            <a:off x="640080" y="182880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{{Frame the market you play in and why it matters now.}}</a:t>
            </a:r>
            <a:endParaRPr lang="en-US" sz="1600" dirty="0"/>
          </a:p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{{Structural change, regulation, or behavior shift creating the opening.}}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{{Growth rate or trend, e.g. "growing {{X}}% YoY."}}</a:t>
            </a:r>
            <a:endParaRPr lang="en-US" sz="1600" dirty="0"/>
          </a:p>
        </p:txBody>
      </p:sp>
      <p:sp>
        <p:nvSpPr>
          <p:cNvPr id="220" name="Shape 4"/>
          <p:cNvSpPr/>
          <p:nvPr/>
        </p:nvSpPr>
        <p:spPr>
          <a:xfrm>
            <a:off x="6309360" y="178308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1F3049"/>
          </a:solidFill>
          <a:ln w="12700">
            <a:solidFill>
              <a:srgbClr val="2A3B55"/>
            </a:solidFill>
            <a:prstDash val="solid"/>
          </a:ln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21" name="Text 5"/>
          <p:cNvSpPr/>
          <p:nvPr/>
        </p:nvSpPr>
        <p:spPr>
          <a:xfrm>
            <a:off x="6675120" y="2103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 {{Total addressable market}}</a:t>
            </a:r>
            <a:endParaRPr lang="en-US" sz="1300" dirty="0"/>
          </a:p>
        </p:txBody>
      </p:sp>
      <p:sp>
        <p:nvSpPr>
          <p:cNvPr id="222" name="Text 6"/>
          <p:cNvSpPr/>
          <p:nvPr/>
        </p:nvSpPr>
        <p:spPr>
          <a:xfrm>
            <a:off x="6675120" y="24231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{{TAM}}</a:t>
            </a:r>
            <a:endParaRPr lang="en-US" sz="3000" dirty="0"/>
          </a:p>
        </p:txBody>
      </p:sp>
      <p:sp>
        <p:nvSpPr>
          <p:cNvPr id="223" name="Text 7"/>
          <p:cNvSpPr/>
          <p:nvPr/>
        </p:nvSpPr>
        <p:spPr>
          <a:xfrm>
            <a:off x="7132320" y="3337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 {{Serviceable available market}}</a:t>
            </a:r>
            <a:endParaRPr lang="en-US" sz="1300" dirty="0"/>
          </a:p>
        </p:txBody>
      </p:sp>
      <p:sp>
        <p:nvSpPr>
          <p:cNvPr id="224" name="Text 8"/>
          <p:cNvSpPr/>
          <p:nvPr/>
        </p:nvSpPr>
        <p:spPr>
          <a:xfrm>
            <a:off x="7132320" y="36576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{{SAM}}</a:t>
            </a:r>
            <a:endParaRPr lang="en-US" sz="2600" dirty="0"/>
          </a:p>
        </p:txBody>
      </p:sp>
      <p:sp>
        <p:nvSpPr>
          <p:cNvPr id="225" name="Text 9"/>
          <p:cNvSpPr/>
          <p:nvPr/>
        </p:nvSpPr>
        <p:spPr>
          <a:xfrm>
            <a:off x="7589520" y="4572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 {{Serviceable obtainable market}}</a:t>
            </a:r>
            <a:endParaRPr lang="en-US" sz="1300" dirty="0"/>
          </a:p>
        </p:txBody>
      </p:sp>
      <p:sp>
        <p:nvSpPr>
          <p:cNvPr id="226" name="Text 10"/>
          <p:cNvSpPr/>
          <p:nvPr/>
        </p:nvSpPr>
        <p:spPr>
          <a:xfrm>
            <a:off x="7589520" y="48920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{{SOM}}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 name="Slide 6">
    <p:bg>
      <p:bgPr>
        <a:solidFill>
          <a:srgbClr val="0F1B2D"/>
        </a:solidFill>
      </p:bgPr>
    </p:bg>
    <p:spTree>
      <p:nvGrpSpPr>
        <p:cNvPr id="2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29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230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{{Competitive landscape}}</a:t>
            </a:r>
            <a:endParaRPr lang="en-US" sz="3200" dirty="0"/>
          </a:p>
        </p:txBody>
      </p:sp>
      <p:sp>
        <p:nvSpPr>
          <p:cNvPr id="231" name="Shape 3"/>
          <p:cNvSpPr/>
          <p:nvPr/>
        </p:nvSpPr>
        <p:spPr>
          <a:xfrm>
            <a:off x="640080" y="1920240"/>
            <a:ext cx="3291840" cy="548640"/>
          </a:xfrm>
          <a:prstGeom prst="roundRect">
            <a:avLst>
              <a:gd name="adj" fmla="val 16667"/>
            </a:avLst>
          </a:prstGeom>
          <a:solidFill>
            <a:srgbClr val="1F3049"/>
          </a:solidFill>
          <a:ln/>
        </p:spPr>
        <p:txBody>
          <a:bodyPr/>
          <a:p/>
        </p:txBody>
      </p:sp>
      <p:sp>
        <p:nvSpPr>
          <p:cNvPr id="232" name="Text 4"/>
          <p:cNvSpPr/>
          <p:nvPr/>
        </p:nvSpPr>
        <p:spPr>
          <a:xfrm>
            <a:off x="640080" y="1920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{{Player}}</a:t>
            </a:r>
            <a:endParaRPr lang="en-US" sz="1500" dirty="0"/>
          </a:p>
        </p:txBody>
      </p:sp>
      <p:sp>
        <p:nvSpPr>
          <p:cNvPr id="233" name="Shape 5"/>
          <p:cNvSpPr/>
          <p:nvPr/>
        </p:nvSpPr>
        <p:spPr>
          <a:xfrm>
            <a:off x="4023360" y="1920240"/>
            <a:ext cx="3749040" cy="548640"/>
          </a:xfrm>
          <a:prstGeom prst="roundRect">
            <a:avLst>
              <a:gd name="adj" fmla="val 16667"/>
            </a:avLst>
          </a:prstGeom>
          <a:solidFill>
            <a:srgbClr val="1F3049"/>
          </a:solidFill>
          <a:ln/>
        </p:spPr>
        <p:txBody>
          <a:bodyPr/>
          <a:p/>
        </p:txBody>
      </p:sp>
      <p:sp>
        <p:nvSpPr>
          <p:cNvPr id="234" name="Text 6"/>
          <p:cNvSpPr/>
          <p:nvPr/>
        </p:nvSpPr>
        <p:spPr>
          <a:xfrm>
            <a:off x="4023360" y="19202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{{Strength}}</a:t>
            </a:r>
            <a:endParaRPr lang="en-US" sz="1500" dirty="0"/>
          </a:p>
        </p:txBody>
      </p:sp>
      <p:sp>
        <p:nvSpPr>
          <p:cNvPr id="235" name="Shape 7"/>
          <p:cNvSpPr/>
          <p:nvPr/>
        </p:nvSpPr>
        <p:spPr>
          <a:xfrm>
            <a:off x="7863840" y="1920240"/>
            <a:ext cx="3840480" cy="548640"/>
          </a:xfrm>
          <a:prstGeom prst="roundRect">
            <a:avLst>
              <a:gd name="adj" fmla="val 16667"/>
            </a:avLst>
          </a:prstGeom>
          <a:solidFill>
            <a:srgbClr val="1F3049"/>
          </a:solidFill>
          <a:ln/>
        </p:spPr>
        <p:txBody>
          <a:bodyPr/>
          <a:p/>
        </p:txBody>
      </p:sp>
      <p:sp>
        <p:nvSpPr>
          <p:cNvPr id="236" name="Text 8"/>
          <p:cNvSpPr/>
          <p:nvPr/>
        </p:nvSpPr>
        <p:spPr>
          <a:xfrm>
            <a:off x="7863840" y="1920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{{Gap we exploit}}</a:t>
            </a:r>
            <a:endParaRPr lang="en-US" sz="1500" dirty="0"/>
          </a:p>
        </p:txBody>
      </p:sp>
      <p:sp>
        <p:nvSpPr>
          <p:cNvPr id="237" name="Shape 9"/>
          <p:cNvSpPr/>
          <p:nvPr/>
        </p:nvSpPr>
        <p:spPr>
          <a:xfrm>
            <a:off x="640080" y="260604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18263C"/>
          </a:solidFill>
          <a:ln/>
        </p:spPr>
        <p:txBody>
          <a:bodyPr/>
          <a:p/>
        </p:txBody>
      </p:sp>
      <p:sp>
        <p:nvSpPr>
          <p:cNvPr id="238" name="Text 10"/>
          <p:cNvSpPr/>
          <p:nvPr/>
        </p:nvSpPr>
        <p:spPr>
          <a:xfrm>
            <a:off x="822960" y="2606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{{Competitor 1}}</a:t>
            </a:r>
            <a:endParaRPr lang="en-US" sz="1300" dirty="0"/>
          </a:p>
        </p:txBody>
      </p:sp>
      <p:sp>
        <p:nvSpPr>
          <p:cNvPr id="239" name="Shape 11"/>
          <p:cNvSpPr/>
          <p:nvPr/>
        </p:nvSpPr>
        <p:spPr>
          <a:xfrm>
            <a:off x="4023360" y="2606040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18263C"/>
          </a:solidFill>
          <a:ln/>
        </p:spPr>
        <p:txBody>
          <a:bodyPr/>
          <a:p/>
        </p:txBody>
      </p:sp>
      <p:sp>
        <p:nvSpPr>
          <p:cNvPr id="240" name="Text 12"/>
          <p:cNvSpPr/>
          <p:nvPr/>
        </p:nvSpPr>
        <p:spPr>
          <a:xfrm>
            <a:off x="4206240" y="2606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{{Their edge}}</a:t>
            </a:r>
            <a:endParaRPr lang="en-US" sz="1300" dirty="0"/>
          </a:p>
        </p:txBody>
      </p:sp>
      <p:sp>
        <p:nvSpPr>
          <p:cNvPr id="241" name="Shape 13"/>
          <p:cNvSpPr/>
          <p:nvPr/>
        </p:nvSpPr>
        <p:spPr>
          <a:xfrm>
            <a:off x="7863840" y="260604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18263C"/>
          </a:solidFill>
          <a:ln/>
        </p:spPr>
        <p:txBody>
          <a:bodyPr/>
          <a:p/>
        </p:txBody>
      </p:sp>
      <p:sp>
        <p:nvSpPr>
          <p:cNvPr id="242" name="Text 14"/>
          <p:cNvSpPr/>
          <p:nvPr/>
        </p:nvSpPr>
        <p:spPr>
          <a:xfrm>
            <a:off x="8046720" y="26060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{{Their gap}}</a:t>
            </a:r>
            <a:endParaRPr lang="en-US" sz="1300" dirty="0"/>
          </a:p>
        </p:txBody>
      </p:sp>
      <p:sp>
        <p:nvSpPr>
          <p:cNvPr id="243" name="Shape 15"/>
          <p:cNvSpPr/>
          <p:nvPr/>
        </p:nvSpPr>
        <p:spPr>
          <a:xfrm>
            <a:off x="640080" y="365760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18263C"/>
          </a:solidFill>
          <a:ln/>
        </p:spPr>
        <p:txBody>
          <a:bodyPr/>
          <a:p/>
        </p:txBody>
      </p:sp>
      <p:sp>
        <p:nvSpPr>
          <p:cNvPr id="244" name="Text 16"/>
          <p:cNvSpPr/>
          <p:nvPr/>
        </p:nvSpPr>
        <p:spPr>
          <a:xfrm>
            <a:off x="822960" y="3657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{{Competitor 2}}</a:t>
            </a:r>
            <a:endParaRPr lang="en-US" sz="1300" dirty="0"/>
          </a:p>
        </p:txBody>
      </p:sp>
      <p:sp>
        <p:nvSpPr>
          <p:cNvPr id="245" name="Shape 17"/>
          <p:cNvSpPr/>
          <p:nvPr/>
        </p:nvSpPr>
        <p:spPr>
          <a:xfrm>
            <a:off x="4023360" y="3657600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18263C"/>
          </a:solidFill>
          <a:ln/>
        </p:spPr>
        <p:txBody>
          <a:bodyPr/>
          <a:p/>
        </p:txBody>
      </p:sp>
      <p:sp>
        <p:nvSpPr>
          <p:cNvPr id="246" name="Text 18"/>
          <p:cNvSpPr/>
          <p:nvPr/>
        </p:nvSpPr>
        <p:spPr>
          <a:xfrm>
            <a:off x="4206240" y="36576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{{Their edge}}</a:t>
            </a:r>
            <a:endParaRPr lang="en-US" sz="1300" dirty="0"/>
          </a:p>
        </p:txBody>
      </p:sp>
      <p:sp>
        <p:nvSpPr>
          <p:cNvPr id="247" name="Shape 19"/>
          <p:cNvSpPr/>
          <p:nvPr/>
        </p:nvSpPr>
        <p:spPr>
          <a:xfrm>
            <a:off x="7863840" y="365760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18263C"/>
          </a:solidFill>
          <a:ln/>
        </p:spPr>
        <p:txBody>
          <a:bodyPr/>
          <a:p/>
        </p:txBody>
      </p:sp>
      <p:sp>
        <p:nvSpPr>
          <p:cNvPr id="248" name="Text 20"/>
          <p:cNvSpPr/>
          <p:nvPr/>
        </p:nvSpPr>
        <p:spPr>
          <a:xfrm>
            <a:off x="804672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{{Their gap}}</a:t>
            </a:r>
            <a:endParaRPr lang="en-US" sz="1300" dirty="0"/>
          </a:p>
        </p:txBody>
      </p:sp>
      <p:sp>
        <p:nvSpPr>
          <p:cNvPr id="249" name="Shape 21"/>
          <p:cNvSpPr/>
          <p:nvPr/>
        </p:nvSpPr>
        <p:spPr>
          <a:xfrm>
            <a:off x="640080" y="470916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50" name="Text 22"/>
          <p:cNvSpPr/>
          <p:nvPr/>
        </p:nvSpPr>
        <p:spPr>
          <a:xfrm>
            <a:off x="822960" y="4709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{{Us}}</a:t>
            </a:r>
            <a:endParaRPr lang="en-US" sz="1500" dirty="0"/>
          </a:p>
        </p:txBody>
      </p:sp>
      <p:sp>
        <p:nvSpPr>
          <p:cNvPr id="251" name="Shape 23"/>
          <p:cNvSpPr/>
          <p:nvPr/>
        </p:nvSpPr>
        <p:spPr>
          <a:xfrm>
            <a:off x="4023360" y="4709160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52" name="Text 24"/>
          <p:cNvSpPr/>
          <p:nvPr/>
        </p:nvSpPr>
        <p:spPr>
          <a:xfrm>
            <a:off x="4206240" y="47091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{{Our edge}}</a:t>
            </a:r>
            <a:endParaRPr lang="en-US" sz="1500" dirty="0"/>
          </a:p>
        </p:txBody>
      </p:sp>
      <p:sp>
        <p:nvSpPr>
          <p:cNvPr id="253" name="Shape 25"/>
          <p:cNvSpPr/>
          <p:nvPr/>
        </p:nvSpPr>
        <p:spPr>
          <a:xfrm>
            <a:off x="7863840" y="470916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54" name="Text 26"/>
          <p:cNvSpPr/>
          <p:nvPr/>
        </p:nvSpPr>
        <p:spPr>
          <a:xfrm>
            <a:off x="8046720" y="47091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we win}}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 name="Slide 7">
    <p:bg>
      <p:bgPr>
        <a:solidFill>
          <a:srgbClr val="0F1B2D"/>
        </a:solidFill>
      </p:bgPr>
    </p:bg>
    <p:spTree>
      <p:nvGrpSpPr>
        <p:cNvPr id="2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57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258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we make money}}</a:t>
            </a:r>
            <a:endParaRPr lang="en-US" sz="3200" dirty="0"/>
          </a:p>
        </p:txBody>
      </p:sp>
      <p:sp>
        <p:nvSpPr>
          <p:cNvPr id="259" name="Shape 3"/>
          <p:cNvSpPr/>
          <p:nvPr/>
        </p:nvSpPr>
        <p:spPr>
          <a:xfrm>
            <a:off x="640080" y="192024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18263C"/>
          </a:solidFill>
          <a:ln w="12700">
            <a:solidFill>
              <a:srgbClr val="2A3B55"/>
            </a:solidFill>
            <a:prstDash val="solid"/>
          </a:ln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60" name="Text 4"/>
          <p:cNvSpPr/>
          <p:nvPr/>
        </p:nvSpPr>
        <p:spPr>
          <a:xfrm>
            <a:off x="640080" y="22402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{{Stream 1}}</a:t>
            </a:r>
            <a:endParaRPr lang="en-US" sz="2000" dirty="0"/>
          </a:p>
        </p:txBody>
      </p:sp>
      <p:sp>
        <p:nvSpPr>
          <p:cNvPr id="261" name="Text 5"/>
          <p:cNvSpPr/>
          <p:nvPr/>
        </p:nvSpPr>
        <p:spPr>
          <a:xfrm>
            <a:off x="640080" y="28346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{{%}}</a:t>
            </a: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{{of revenue}}</a:t>
            </a:r>
            <a:endParaRPr lang="en-US" sz="4000" dirty="0"/>
          </a:p>
        </p:txBody>
      </p:sp>
      <p:sp>
        <p:nvSpPr>
          <p:cNvPr id="262" name="Text 6"/>
          <p:cNvSpPr/>
          <p:nvPr/>
        </p:nvSpPr>
        <p:spPr>
          <a:xfrm>
            <a:off x="1005840" y="384048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pays, for what, how often.}}</a:t>
            </a:r>
            <a:endParaRPr lang="en-US" sz="1300" dirty="0"/>
          </a:p>
        </p:txBody>
      </p:sp>
      <p:sp>
        <p:nvSpPr>
          <p:cNvPr id="263" name="Shape 7"/>
          <p:cNvSpPr/>
          <p:nvPr/>
        </p:nvSpPr>
        <p:spPr>
          <a:xfrm>
            <a:off x="4526280" y="192024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1F3049"/>
          </a:solidFill>
          <a:ln w="12700">
            <a:solidFill>
              <a:srgbClr val="818CF8"/>
            </a:solidFill>
            <a:prstDash val="solid"/>
          </a:ln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64" name="Text 8"/>
          <p:cNvSpPr/>
          <p:nvPr/>
        </p:nvSpPr>
        <p:spPr>
          <a:xfrm>
            <a:off x="4526280" y="22402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{{Stream 2}}</a:t>
            </a:r>
            <a:endParaRPr lang="en-US" sz="2000" dirty="0"/>
          </a:p>
        </p:txBody>
      </p:sp>
      <p:sp>
        <p:nvSpPr>
          <p:cNvPr id="265" name="Text 9"/>
          <p:cNvSpPr/>
          <p:nvPr/>
        </p:nvSpPr>
        <p:spPr>
          <a:xfrm>
            <a:off x="4526280" y="28346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{{%}}</a:t>
            </a: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{{of revenue}}</a:t>
            </a:r>
            <a:endParaRPr lang="en-US" sz="4000" dirty="0"/>
          </a:p>
        </p:txBody>
      </p:sp>
      <p:sp>
        <p:nvSpPr>
          <p:cNvPr id="266" name="Text 10"/>
          <p:cNvSpPr/>
          <p:nvPr/>
        </p:nvSpPr>
        <p:spPr>
          <a:xfrm>
            <a:off x="4892040" y="384048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pays, for what, how often.}}</a:t>
            </a:r>
            <a:endParaRPr lang="en-US" sz="1300" dirty="0"/>
          </a:p>
        </p:txBody>
      </p:sp>
      <p:sp>
        <p:nvSpPr>
          <p:cNvPr id="267" name="Shape 11"/>
          <p:cNvSpPr/>
          <p:nvPr/>
        </p:nvSpPr>
        <p:spPr>
          <a:xfrm>
            <a:off x="8412480" y="192024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18263C"/>
          </a:solidFill>
          <a:ln w="12700">
            <a:solidFill>
              <a:srgbClr val="2A3B55"/>
            </a:solidFill>
            <a:prstDash val="solid"/>
          </a:ln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68" name="Text 12"/>
          <p:cNvSpPr/>
          <p:nvPr/>
        </p:nvSpPr>
        <p:spPr>
          <a:xfrm>
            <a:off x="8412480" y="22402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{{Stream 3}}</a:t>
            </a:r>
            <a:endParaRPr lang="en-US" sz="2000" dirty="0"/>
          </a:p>
        </p:txBody>
      </p:sp>
      <p:sp>
        <p:nvSpPr>
          <p:cNvPr id="269" name="Text 13"/>
          <p:cNvSpPr/>
          <p:nvPr/>
        </p:nvSpPr>
        <p:spPr>
          <a:xfrm>
            <a:off x="8412480" y="28346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{{%}}</a:t>
            </a: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{{of revenue}}</a:t>
            </a:r>
            <a:endParaRPr lang="en-US" sz="4000" dirty="0"/>
          </a:p>
        </p:txBody>
      </p:sp>
      <p:sp>
        <p:nvSpPr>
          <p:cNvPr id="270" name="Text 14"/>
          <p:cNvSpPr/>
          <p:nvPr/>
        </p:nvSpPr>
        <p:spPr>
          <a:xfrm>
            <a:off x="8778240" y="384048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pays, for what, how often.}}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 name="Slide 8">
    <p:bg>
      <p:bgPr>
        <a:solidFill>
          <a:srgbClr val="0F1B2D"/>
        </a:solidFill>
      </p:bgPr>
    </p:bg>
    <p:spTree>
      <p:nvGrpSpPr>
        <p:cNvPr id="2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7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27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the business runs day to day}}</a:t>
            </a:r>
            <a:endParaRPr lang="en-US" sz="3200" dirty="0"/>
          </a:p>
        </p:txBody>
      </p:sp>
      <p:sp>
        <p:nvSpPr>
          <p:cNvPr id="275" name="Shape 3"/>
          <p:cNvSpPr/>
          <p:nvPr/>
        </p:nvSpPr>
        <p:spPr>
          <a:xfrm>
            <a:off x="640080" y="2286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76" name="Shape 4"/>
          <p:cNvSpPr/>
          <p:nvPr/>
        </p:nvSpPr>
        <p:spPr>
          <a:xfrm>
            <a:off x="960120" y="2651760"/>
            <a:ext cx="566928" cy="566928"/>
          </a:xfrm>
          <a:prstGeom prst="ellipse">
            <a:avLst/>
          </a:prstGeom>
          <a:solidFill>
            <a:srgbClr val="38BDF8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77" name="Text 5"/>
          <p:cNvSpPr/>
          <p:nvPr/>
        </p:nvSpPr>
        <p:spPr>
          <a:xfrm>
            <a:off x="96012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78" name="Text 6"/>
          <p:cNvSpPr/>
          <p:nvPr/>
        </p:nvSpPr>
        <p:spPr>
          <a:xfrm>
            <a:off x="1691640" y="26700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{{Area 1}}</a:t>
            </a:r>
            <a:endParaRPr lang="en-US" sz="1800" dirty="0"/>
          </a:p>
        </p:txBody>
      </p:sp>
      <p:sp>
        <p:nvSpPr>
          <p:cNvPr id="279" name="Text 7"/>
          <p:cNvSpPr/>
          <p:nvPr/>
        </p:nvSpPr>
        <p:spPr>
          <a:xfrm>
            <a:off x="1005840" y="35204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{{e.g. Production / delivery — key process and owner.}}</a:t>
            </a:r>
            <a:endParaRPr lang="en-US" sz="1400" dirty="0"/>
          </a:p>
        </p:txBody>
      </p:sp>
      <p:sp>
        <p:nvSpPr>
          <p:cNvPr id="280" name="Shape 8"/>
          <p:cNvSpPr/>
          <p:nvPr/>
        </p:nvSpPr>
        <p:spPr>
          <a:xfrm>
            <a:off x="3986784" y="3401568"/>
            <a:ext cx="411480" cy="512064"/>
          </a:xfrm>
          <a:prstGeom prst="chevron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81" name="Shape 9"/>
          <p:cNvSpPr/>
          <p:nvPr/>
        </p:nvSpPr>
        <p:spPr>
          <a:xfrm>
            <a:off x="4434840" y="2286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82" name="Shape 10"/>
          <p:cNvSpPr/>
          <p:nvPr/>
        </p:nvSpPr>
        <p:spPr>
          <a:xfrm>
            <a:off x="4754880" y="2651760"/>
            <a:ext cx="566928" cy="566928"/>
          </a:xfrm>
          <a:prstGeom prst="ellipse">
            <a:avLst/>
          </a:prstGeom>
          <a:solidFill>
            <a:srgbClr val="818CF8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83" name="Text 11"/>
          <p:cNvSpPr/>
          <p:nvPr/>
        </p:nvSpPr>
        <p:spPr>
          <a:xfrm>
            <a:off x="47548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84" name="Text 12"/>
          <p:cNvSpPr/>
          <p:nvPr/>
        </p:nvSpPr>
        <p:spPr>
          <a:xfrm>
            <a:off x="5486400" y="26700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{{Area 2}}</a:t>
            </a:r>
            <a:endParaRPr lang="en-US" sz="1800" dirty="0"/>
          </a:p>
        </p:txBody>
      </p:sp>
      <p:sp>
        <p:nvSpPr>
          <p:cNvPr id="285" name="Text 13"/>
          <p:cNvSpPr/>
          <p:nvPr/>
        </p:nvSpPr>
        <p:spPr>
          <a:xfrm>
            <a:off x="4800600" y="35204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{{e.g. Supply / partners — key dependency and owner.}}</a:t>
            </a:r>
            <a:endParaRPr lang="en-US" sz="1400" dirty="0"/>
          </a:p>
        </p:txBody>
      </p:sp>
      <p:sp>
        <p:nvSpPr>
          <p:cNvPr id="286" name="Shape 14"/>
          <p:cNvSpPr/>
          <p:nvPr/>
        </p:nvSpPr>
        <p:spPr>
          <a:xfrm>
            <a:off x="7781544" y="3401568"/>
            <a:ext cx="411480" cy="512064"/>
          </a:xfrm>
          <a:prstGeom prst="chevron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87" name="Shape 15"/>
          <p:cNvSpPr/>
          <p:nvPr/>
        </p:nvSpPr>
        <p:spPr>
          <a:xfrm>
            <a:off x="8229600" y="2286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88" name="Shape 16"/>
          <p:cNvSpPr/>
          <p:nvPr/>
        </p:nvSpPr>
        <p:spPr>
          <a:xfrm>
            <a:off x="8549640" y="2651760"/>
            <a:ext cx="566928" cy="566928"/>
          </a:xfrm>
          <a:prstGeom prst="ellipse">
            <a:avLst/>
          </a:prstGeom>
          <a:solidFill>
            <a:srgbClr val="38BDF8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89" name="Text 17"/>
          <p:cNvSpPr/>
          <p:nvPr/>
        </p:nvSpPr>
        <p:spPr>
          <a:xfrm>
            <a:off x="854964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90" name="Text 18"/>
          <p:cNvSpPr/>
          <p:nvPr/>
        </p:nvSpPr>
        <p:spPr>
          <a:xfrm>
            <a:off x="9281160" y="26700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{{Area 3}}</a:t>
            </a:r>
            <a:endParaRPr lang="en-US" sz="1800" dirty="0"/>
          </a:p>
        </p:txBody>
      </p:sp>
      <p:sp>
        <p:nvSpPr>
          <p:cNvPr id="291" name="Text 19"/>
          <p:cNvSpPr/>
          <p:nvPr/>
        </p:nvSpPr>
        <p:spPr>
          <a:xfrm>
            <a:off x="8595360" y="35204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{{e.g. Support / quality — key metric and owner.}}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p="http://schemas.openxmlformats.org/presentationml/2006/main" xmlns:a="http://schemas.openxmlformats.org/drawingml/2006/main">
  <p:cSld name="Slide 9">
    <p:bg>
      <p:bgPr>
        <a:solidFill>
          <a:srgbClr val="0F1B2D"/>
        </a:solidFill>
      </p:bgPr>
    </p:bg>
    <p:spTree>
      <p:nvGrpSpPr>
        <p:cNvPr id="2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94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200" dirty="0"/>
          </a:p>
        </p:txBody>
      </p:sp>
      <p:sp>
        <p:nvSpPr>
          <p:cNvPr id="295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numbers we manage by}}</a:t>
            </a:r>
            <a:endParaRPr lang="en-US" sz="3200" dirty="0"/>
          </a:p>
        </p:txBody>
      </p:sp>
      <p:sp>
        <p:nvSpPr>
          <p:cNvPr id="296" name="Shape 3"/>
          <p:cNvSpPr/>
          <p:nvPr/>
        </p:nvSpPr>
        <p:spPr>
          <a:xfrm>
            <a:off x="640080" y="1783080"/>
            <a:ext cx="6035040" cy="4206240"/>
          </a:xfrm>
          <a:prstGeom prst="roundRect">
            <a:avLst>
              <a:gd name="adj" fmla="val 2609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97" name="Text 4"/>
          <p:cNvSpPr/>
          <p:nvPr/>
        </p:nvSpPr>
        <p:spPr>
          <a:xfrm>
            <a:off x="868680" y="19202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{{Metric}} (by {{period}})</a:t>
            </a:r>
            <a:endParaRPr lang="en-US" sz="1400" dirty="0"/>
          </a:p>
        </p:txBody>
      </p:sp>
      <p:graphicFrame>
        <p:nvGraphicFramePr>
          <p:cNvPr id="298" name="Chart 0"/>
          <p:cNvGraphicFramePr/>
          <p:nvPr/>
        </p:nvGraphicFramePr>
        <p:xfrm>
          <a:off x="822960" y="2331720"/>
          <a:ext cx="5669280" cy="347472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299" name="Shape 5"/>
          <p:cNvSpPr/>
          <p:nvPr/>
        </p:nvSpPr>
        <p:spPr>
          <a:xfrm>
            <a:off x="7040880" y="178308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00" name="Text 6"/>
          <p:cNvSpPr/>
          <p:nvPr/>
        </p:nvSpPr>
        <p:spPr>
          <a:xfrm>
            <a:off x="7040880" y="198424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 1}}</a:t>
            </a:r>
            <a:endParaRPr lang="en-US" sz="3200" dirty="0"/>
          </a:p>
        </p:txBody>
      </p:sp>
      <p:sp>
        <p:nvSpPr>
          <p:cNvPr id="301" name="Text 7"/>
          <p:cNvSpPr/>
          <p:nvPr/>
        </p:nvSpPr>
        <p:spPr>
          <a:xfrm>
            <a:off x="7040880" y="27157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{{Headline metric 1}}</a:t>
            </a:r>
            <a:endParaRPr lang="en-US" sz="1400" dirty="0"/>
          </a:p>
        </p:txBody>
      </p:sp>
      <p:sp>
        <p:nvSpPr>
          <p:cNvPr id="302" name="Text 8"/>
          <p:cNvSpPr/>
          <p:nvPr/>
        </p:nvSpPr>
        <p:spPr>
          <a:xfrm>
            <a:off x="7223760" y="3081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{{Target vs. actual}}</a:t>
            </a:r>
            <a:endParaRPr lang="en-US" sz="1100" dirty="0"/>
          </a:p>
        </p:txBody>
      </p:sp>
      <p:sp>
        <p:nvSpPr>
          <p:cNvPr id="303" name="Shape 9"/>
          <p:cNvSpPr/>
          <p:nvPr/>
        </p:nvSpPr>
        <p:spPr>
          <a:xfrm>
            <a:off x="7040880" y="320040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04" name="Text 10"/>
          <p:cNvSpPr/>
          <p:nvPr/>
        </p:nvSpPr>
        <p:spPr>
          <a:xfrm>
            <a:off x="7040880" y="340156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 2}}</a:t>
            </a:r>
            <a:endParaRPr lang="en-US" sz="3200" dirty="0"/>
          </a:p>
        </p:txBody>
      </p:sp>
      <p:sp>
        <p:nvSpPr>
          <p:cNvPr id="305" name="Text 11"/>
          <p:cNvSpPr/>
          <p:nvPr/>
        </p:nvSpPr>
        <p:spPr>
          <a:xfrm>
            <a:off x="7040880" y="41330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{{Headline metric 2}}</a:t>
            </a:r>
            <a:endParaRPr lang="en-US" sz="1400" dirty="0"/>
          </a:p>
        </p:txBody>
      </p:sp>
      <p:sp>
        <p:nvSpPr>
          <p:cNvPr id="306" name="Text 12"/>
          <p:cNvSpPr/>
          <p:nvPr/>
        </p:nvSpPr>
        <p:spPr>
          <a:xfrm>
            <a:off x="7223760" y="44988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{{Target vs. actual}}</a:t>
            </a:r>
            <a:endParaRPr lang="en-US" sz="1100" dirty="0"/>
          </a:p>
        </p:txBody>
      </p:sp>
      <p:sp>
        <p:nvSpPr>
          <p:cNvPr id="307" name="Shape 13"/>
          <p:cNvSpPr/>
          <p:nvPr/>
        </p:nvSpPr>
        <p:spPr>
          <a:xfrm>
            <a:off x="7040880" y="461772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08" name="Text 14"/>
          <p:cNvSpPr/>
          <p:nvPr/>
        </p:nvSpPr>
        <p:spPr>
          <a:xfrm>
            <a:off x="7040880" y="481888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 3}}</a:t>
            </a:r>
            <a:endParaRPr lang="en-US" sz="3200" dirty="0"/>
          </a:p>
        </p:txBody>
      </p:sp>
      <p:sp>
        <p:nvSpPr>
          <p:cNvPr id="309" name="Text 15"/>
          <p:cNvSpPr/>
          <p:nvPr/>
        </p:nvSpPr>
        <p:spPr>
          <a:xfrm>
            <a:off x="7040880" y="55504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{{Headline metric 3}}</a:t>
            </a:r>
            <a:endParaRPr lang="en-US" sz="1400" dirty="0"/>
          </a:p>
        </p:txBody>
      </p:sp>
      <p:sp>
        <p:nvSpPr>
          <p:cNvPr id="310" name="Text 16"/>
          <p:cNvSpPr/>
          <p:nvPr/>
        </p:nvSpPr>
        <p:spPr>
          <a:xfrm>
            <a:off x="7223760" y="59161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{{Target vs. actual}}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 name="Slide 10">
    <p:bg>
      <p:bgPr>
        <a:solidFill>
          <a:srgbClr val="0F1B2D"/>
        </a:solidFill>
      </p:bgPr>
    </p:bg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2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</a:t>
            </a:r>
            <a:endParaRPr lang="en-US" sz="1200" dirty="0"/>
          </a:p>
        </p:txBody>
      </p:sp>
      <p:sp>
        <p:nvSpPr>
          <p:cNvPr id="13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{{Budget &amp; forecast}}</a:t>
            </a:r>
            <a:endParaRPr lang="en-US" sz="3200" dirty="0"/>
          </a:p>
        </p:txBody>
      </p:sp>
      <p:sp>
        <p:nvSpPr>
          <p:cNvPr id="14" name="Text 3"/>
          <p:cNvSpPr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{{Summarize the plan: revenue target, cost base, and the margin you are protecting.}}</a:t>
            </a:r>
            <a:endParaRPr lang="en-US" sz="1500" dirty="0"/>
          </a:p>
        </p:txBody>
      </p:sp>
      <p:sp>
        <p:nvSpPr>
          <p:cNvPr id="15" name="Shape 4"/>
          <p:cNvSpPr/>
          <p:nvPr/>
        </p:nvSpPr>
        <p:spPr>
          <a:xfrm>
            <a:off x="640080" y="237744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6" name="Text 5"/>
          <p:cNvSpPr/>
          <p:nvPr/>
        </p:nvSpPr>
        <p:spPr>
          <a:xfrm>
            <a:off x="640080" y="26974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</a:t>
            </a:r>
            <a:endParaRPr lang="en-US" sz="4000" dirty="0"/>
          </a:p>
        </p:txBody>
      </p:sp>
      <p:sp>
        <p:nvSpPr>
          <p:cNvPr id="17" name="Text 6"/>
          <p:cNvSpPr/>
          <p:nvPr/>
        </p:nvSpPr>
        <p:spPr>
          <a:xfrm>
            <a:off x="640080" y="36118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{{Revenue}}</a:t>
            </a:r>
            <a:endParaRPr lang="en-US" sz="1800" dirty="0"/>
          </a:p>
        </p:txBody>
      </p:sp>
      <p:sp>
        <p:nvSpPr>
          <p:cNvPr id="18" name="Text 7"/>
          <p:cNvSpPr/>
          <p:nvPr/>
        </p:nvSpPr>
        <p:spPr>
          <a:xfrm>
            <a:off x="960120" y="41148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{{Target for the period, with growth rate}}</a:t>
            </a:r>
            <a:endParaRPr lang="en-US" sz="1300" dirty="0"/>
          </a:p>
        </p:txBody>
      </p:sp>
      <p:sp>
        <p:nvSpPr>
          <p:cNvPr id="19" name="Shape 8"/>
          <p:cNvSpPr/>
          <p:nvPr/>
        </p:nvSpPr>
        <p:spPr>
          <a:xfrm>
            <a:off x="4526280" y="237744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Text 9"/>
          <p:cNvSpPr/>
          <p:nvPr/>
        </p:nvSpPr>
        <p:spPr>
          <a:xfrm>
            <a:off x="4526280" y="26974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</a:t>
            </a:r>
            <a:endParaRPr lang="en-US" sz="4000" dirty="0"/>
          </a:p>
        </p:txBody>
      </p:sp>
      <p:sp>
        <p:nvSpPr>
          <p:cNvPr id="21" name="Text 10"/>
          <p:cNvSpPr/>
          <p:nvPr/>
        </p:nvSpPr>
        <p:spPr>
          <a:xfrm>
            <a:off x="4526280" y="36118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{{Cost base}}</a:t>
            </a:r>
            <a:endParaRPr lang="en-US" sz="1800" dirty="0"/>
          </a:p>
        </p:txBody>
      </p:sp>
      <p:sp>
        <p:nvSpPr>
          <p:cNvPr id="22" name="Text 11"/>
          <p:cNvSpPr/>
          <p:nvPr/>
        </p:nvSpPr>
        <p:spPr>
          <a:xfrm>
            <a:off x="4846320" y="41148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{{Major cost lines and how they scale}}</a:t>
            </a:r>
            <a:endParaRPr lang="en-US" sz="1300" dirty="0"/>
          </a:p>
        </p:txBody>
      </p:sp>
      <p:sp>
        <p:nvSpPr>
          <p:cNvPr id="23" name="Shape 12"/>
          <p:cNvSpPr/>
          <p:nvPr/>
        </p:nvSpPr>
        <p:spPr>
          <a:xfrm>
            <a:off x="8412480" y="237744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4" name="Text 13"/>
          <p:cNvSpPr/>
          <p:nvPr/>
        </p:nvSpPr>
        <p:spPr>
          <a:xfrm>
            <a:off x="8412480" y="26974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{{X%}}</a:t>
            </a:r>
            <a:endParaRPr lang="en-US" sz="4000" dirty="0"/>
          </a:p>
        </p:txBody>
      </p:sp>
      <p:sp>
        <p:nvSpPr>
          <p:cNvPr id="25" name="Text 14"/>
          <p:cNvSpPr/>
          <p:nvPr/>
        </p:nvSpPr>
        <p:spPr>
          <a:xfrm>
            <a:off x="8412480" y="36118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{{Margin}}</a:t>
            </a:r>
            <a:endParaRPr lang="en-US" sz="1800" dirty="0"/>
          </a:p>
        </p:txBody>
      </p:sp>
      <p:sp>
        <p:nvSpPr>
          <p:cNvPr id="26" name="Text 15"/>
          <p:cNvSpPr/>
          <p:nvPr/>
        </p:nvSpPr>
        <p:spPr>
          <a:xfrm>
            <a:off x="8732520" y="41148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{{Margin you commit to and why it holds}}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 name="Slide 11">
    <p:bg>
      <p:bgPr>
        <a:solidFill>
          <a:srgbClr val="0F1B2D"/>
        </a:solidFill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9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30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{{Risks &amp; mitigation}}</a:t>
            </a:r>
            <a:endParaRPr lang="en-US" sz="3200" dirty="0"/>
          </a:p>
        </p:txBody>
      </p:sp>
      <p:sp>
        <p:nvSpPr>
          <p:cNvPr id="31" name="Shape 3"/>
          <p:cNvSpPr/>
          <p:nvPr/>
        </p:nvSpPr>
        <p:spPr>
          <a:xfrm>
            <a:off x="640080" y="1920240"/>
            <a:ext cx="4206240" cy="548640"/>
          </a:xfrm>
          <a:prstGeom prst="roundRect">
            <a:avLst>
              <a:gd name="adj" fmla="val 16667"/>
            </a:avLst>
          </a:prstGeom>
          <a:solidFill>
            <a:srgbClr val="1F3049"/>
          </a:solidFill>
          <a:ln/>
        </p:spPr>
        <p:txBody>
          <a:bodyPr/>
          <a:p/>
        </p:txBody>
      </p:sp>
      <p:sp>
        <p:nvSpPr>
          <p:cNvPr id="32" name="Text 4"/>
          <p:cNvSpPr/>
          <p:nvPr/>
        </p:nvSpPr>
        <p:spPr>
          <a:xfrm>
            <a:off x="640080" y="1920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{{Risk}}</a:t>
            </a:r>
            <a:endParaRPr lang="en-US" sz="1500" dirty="0"/>
          </a:p>
        </p:txBody>
      </p:sp>
      <p:sp>
        <p:nvSpPr>
          <p:cNvPr id="33" name="Shape 5"/>
          <p:cNvSpPr/>
          <p:nvPr/>
        </p:nvSpPr>
        <p:spPr>
          <a:xfrm>
            <a:off x="4937760" y="192024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1F3049"/>
          </a:solidFill>
          <a:ln/>
        </p:spPr>
        <p:txBody>
          <a:bodyPr/>
          <a:p/>
        </p:txBody>
      </p:sp>
      <p:sp>
        <p:nvSpPr>
          <p:cNvPr id="34" name="Text 6"/>
          <p:cNvSpPr/>
          <p:nvPr/>
        </p:nvSpPr>
        <p:spPr>
          <a:xfrm>
            <a:off x="493776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{{Likelihood}}</a:t>
            </a:r>
            <a:endParaRPr lang="en-US" sz="1500" dirty="0"/>
          </a:p>
        </p:txBody>
      </p:sp>
      <p:sp>
        <p:nvSpPr>
          <p:cNvPr id="35" name="Shape 7"/>
          <p:cNvSpPr/>
          <p:nvPr/>
        </p:nvSpPr>
        <p:spPr>
          <a:xfrm>
            <a:off x="6858000" y="1920240"/>
            <a:ext cx="4754880" cy="548640"/>
          </a:xfrm>
          <a:prstGeom prst="roundRect">
            <a:avLst>
              <a:gd name="adj" fmla="val 16667"/>
            </a:avLst>
          </a:prstGeom>
          <a:solidFill>
            <a:srgbClr val="1F3049"/>
          </a:solidFill>
          <a:ln/>
        </p:spPr>
        <p:txBody>
          <a:bodyPr/>
          <a:p/>
        </p:txBody>
      </p:sp>
      <p:sp>
        <p:nvSpPr>
          <p:cNvPr id="36" name="Text 8"/>
          <p:cNvSpPr/>
          <p:nvPr/>
        </p:nvSpPr>
        <p:spPr>
          <a:xfrm>
            <a:off x="6858000" y="1920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{{Mitigation}}</a:t>
            </a:r>
            <a:endParaRPr lang="en-US" sz="1500" dirty="0"/>
          </a:p>
        </p:txBody>
      </p:sp>
      <p:sp>
        <p:nvSpPr>
          <p:cNvPr id="37" name="Shape 9"/>
          <p:cNvSpPr/>
          <p:nvPr/>
        </p:nvSpPr>
        <p:spPr>
          <a:xfrm>
            <a:off x="640080" y="260604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18263C"/>
          </a:solidFill>
          <a:ln/>
        </p:spPr>
        <p:txBody>
          <a:bodyPr/>
          <a:p/>
        </p:txBody>
      </p:sp>
      <p:sp>
        <p:nvSpPr>
          <p:cNvPr id="38" name="Text 10"/>
          <p:cNvSpPr/>
          <p:nvPr/>
        </p:nvSpPr>
        <p:spPr>
          <a:xfrm>
            <a:off x="822960" y="26060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 1}}</a:t>
            </a:r>
            <a:endParaRPr lang="en-US" sz="1300" dirty="0"/>
          </a:p>
        </p:txBody>
      </p:sp>
      <p:sp>
        <p:nvSpPr>
          <p:cNvPr id="39" name="Shape 11"/>
          <p:cNvSpPr/>
          <p:nvPr/>
        </p:nvSpPr>
        <p:spPr>
          <a:xfrm>
            <a:off x="4937760" y="260604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18263C"/>
          </a:solidFill>
          <a:ln/>
        </p:spPr>
        <p:txBody>
          <a:bodyPr/>
          <a:p/>
        </p:txBody>
      </p:sp>
      <p:sp>
        <p:nvSpPr>
          <p:cNvPr id="40" name="Text 12"/>
          <p:cNvSpPr/>
          <p:nvPr/>
        </p:nvSpPr>
        <p:spPr>
          <a:xfrm>
            <a:off x="5120640" y="26060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{{High / Med / Low}}</a:t>
            </a:r>
            <a:endParaRPr lang="en-US" sz="1300" dirty="0"/>
          </a:p>
        </p:txBody>
      </p:sp>
      <p:sp>
        <p:nvSpPr>
          <p:cNvPr id="41" name="Shape 13"/>
          <p:cNvSpPr/>
          <p:nvPr/>
        </p:nvSpPr>
        <p:spPr>
          <a:xfrm>
            <a:off x="6858000" y="2606040"/>
            <a:ext cx="4754880" cy="914400"/>
          </a:xfrm>
          <a:prstGeom prst="roundRect">
            <a:avLst>
              <a:gd name="adj" fmla="val 10000"/>
            </a:avLst>
          </a:prstGeom>
          <a:solidFill>
            <a:srgbClr val="18263C"/>
          </a:solidFill>
          <a:ln/>
        </p:spPr>
        <p:txBody>
          <a:bodyPr/>
          <a:p/>
        </p:txBody>
      </p:sp>
      <p:sp>
        <p:nvSpPr>
          <p:cNvPr id="42" name="Text 14"/>
          <p:cNvSpPr/>
          <p:nvPr/>
        </p:nvSpPr>
        <p:spPr>
          <a:xfrm>
            <a:off x="7040880" y="26060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{{Mitigation, one line}}</a:t>
            </a:r>
            <a:endParaRPr lang="en-US" sz="1300" dirty="0"/>
          </a:p>
        </p:txBody>
      </p:sp>
      <p:sp>
        <p:nvSpPr>
          <p:cNvPr id="43" name="Shape 15"/>
          <p:cNvSpPr/>
          <p:nvPr/>
        </p:nvSpPr>
        <p:spPr>
          <a:xfrm>
            <a:off x="640080" y="365760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18263C"/>
          </a:solidFill>
          <a:ln/>
        </p:spPr>
        <p:txBody>
          <a:bodyPr/>
          <a:p/>
        </p:txBody>
      </p:sp>
      <p:sp>
        <p:nvSpPr>
          <p:cNvPr id="44" name="Text 16"/>
          <p:cNvSpPr/>
          <p:nvPr/>
        </p:nvSpPr>
        <p:spPr>
          <a:xfrm>
            <a:off x="822960" y="36576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 2}}</a:t>
            </a:r>
            <a:endParaRPr lang="en-US" sz="1300" dirty="0"/>
          </a:p>
        </p:txBody>
      </p:sp>
      <p:sp>
        <p:nvSpPr>
          <p:cNvPr id="45" name="Shape 17"/>
          <p:cNvSpPr/>
          <p:nvPr/>
        </p:nvSpPr>
        <p:spPr>
          <a:xfrm>
            <a:off x="4937760" y="36576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18263C"/>
          </a:solidFill>
          <a:ln/>
        </p:spPr>
        <p:txBody>
          <a:bodyPr/>
          <a:p/>
        </p:txBody>
      </p:sp>
      <p:sp>
        <p:nvSpPr>
          <p:cNvPr id="46" name="Text 18"/>
          <p:cNvSpPr/>
          <p:nvPr/>
        </p:nvSpPr>
        <p:spPr>
          <a:xfrm>
            <a:off x="5120640" y="36576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{{High / Med / Low}}</a:t>
            </a:r>
            <a:endParaRPr lang="en-US" sz="1300" dirty="0"/>
          </a:p>
        </p:txBody>
      </p:sp>
      <p:sp>
        <p:nvSpPr>
          <p:cNvPr id="47" name="Shape 19"/>
          <p:cNvSpPr/>
          <p:nvPr/>
        </p:nvSpPr>
        <p:spPr>
          <a:xfrm>
            <a:off x="6858000" y="3657600"/>
            <a:ext cx="4754880" cy="914400"/>
          </a:xfrm>
          <a:prstGeom prst="roundRect">
            <a:avLst>
              <a:gd name="adj" fmla="val 10000"/>
            </a:avLst>
          </a:prstGeom>
          <a:solidFill>
            <a:srgbClr val="18263C"/>
          </a:solidFill>
          <a:ln/>
        </p:spPr>
        <p:txBody>
          <a:bodyPr/>
          <a:p/>
        </p:txBody>
      </p:sp>
      <p:sp>
        <p:nvSpPr>
          <p:cNvPr id="48" name="Text 20"/>
          <p:cNvSpPr/>
          <p:nvPr/>
        </p:nvSpPr>
        <p:spPr>
          <a:xfrm>
            <a:off x="7040880" y="36576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{{Mitigation, one line}}</a:t>
            </a:r>
            <a:endParaRPr lang="en-US" sz="1300" dirty="0"/>
          </a:p>
        </p:txBody>
      </p:sp>
      <p:sp>
        <p:nvSpPr>
          <p:cNvPr id="49" name="Shape 21"/>
          <p:cNvSpPr/>
          <p:nvPr/>
        </p:nvSpPr>
        <p:spPr>
          <a:xfrm>
            <a:off x="640080" y="470916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18263C"/>
          </a:solidFill>
          <a:ln/>
        </p:spPr>
        <p:txBody>
          <a:bodyPr/>
          <a:p/>
        </p:txBody>
      </p:sp>
      <p:sp>
        <p:nvSpPr>
          <p:cNvPr id="50" name="Text 22"/>
          <p:cNvSpPr/>
          <p:nvPr/>
        </p:nvSpPr>
        <p:spPr>
          <a:xfrm>
            <a:off x="822960" y="47091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 3}}</a:t>
            </a:r>
            <a:endParaRPr lang="en-US" sz="1300" dirty="0"/>
          </a:p>
        </p:txBody>
      </p:sp>
      <p:sp>
        <p:nvSpPr>
          <p:cNvPr id="51" name="Shape 23"/>
          <p:cNvSpPr/>
          <p:nvPr/>
        </p:nvSpPr>
        <p:spPr>
          <a:xfrm>
            <a:off x="4937760" y="470916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18263C"/>
          </a:solidFill>
          <a:ln/>
        </p:spPr>
        <p:txBody>
          <a:bodyPr/>
          <a:p/>
        </p:txBody>
      </p:sp>
      <p:sp>
        <p:nvSpPr>
          <p:cNvPr id="52" name="Text 24"/>
          <p:cNvSpPr/>
          <p:nvPr/>
        </p:nvSpPr>
        <p:spPr>
          <a:xfrm>
            <a:off x="5120640" y="4709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{{High / Med / Low}}</a:t>
            </a:r>
            <a:endParaRPr lang="en-US" sz="1300" dirty="0"/>
          </a:p>
        </p:txBody>
      </p:sp>
      <p:sp>
        <p:nvSpPr>
          <p:cNvPr id="53" name="Shape 25"/>
          <p:cNvSpPr/>
          <p:nvPr/>
        </p:nvSpPr>
        <p:spPr>
          <a:xfrm>
            <a:off x="6858000" y="4709160"/>
            <a:ext cx="4754880" cy="914400"/>
          </a:xfrm>
          <a:prstGeom prst="roundRect">
            <a:avLst>
              <a:gd name="adj" fmla="val 10000"/>
            </a:avLst>
          </a:prstGeom>
          <a:solidFill>
            <a:srgbClr val="18263C"/>
          </a:solidFill>
          <a:ln/>
        </p:spPr>
        <p:txBody>
          <a:bodyPr/>
          <a:p/>
        </p:txBody>
      </p:sp>
      <p:sp>
        <p:nvSpPr>
          <p:cNvPr id="54" name="Text 26"/>
          <p:cNvSpPr/>
          <p:nvPr/>
        </p:nvSpPr>
        <p:spPr>
          <a:xfrm>
            <a:off x="7040880" y="47091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{{Mitigation, one line}}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 name="Slide 12">
    <p:bg>
      <p:bgPr>
        <a:solidFill>
          <a:srgbClr val="0F1B2D"/>
        </a:solidFill>
      </p:bgPr>
    </p:bg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57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58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{{Next 12 months}}</a:t>
            </a:r>
            <a:endParaRPr lang="en-US" sz="3200" dirty="0"/>
          </a:p>
        </p:txBody>
      </p:sp>
      <p:sp>
        <p:nvSpPr>
          <p:cNvPr id="59" name="Shape 3"/>
          <p:cNvSpPr/>
          <p:nvPr/>
        </p:nvSpPr>
        <p:spPr>
          <a:xfrm>
            <a:off x="1097280" y="2057400"/>
            <a:ext cx="10058400" cy="0"/>
          </a:xfrm>
          <a:prstGeom prst="line">
            <a:avLst/>
          </a:prstGeom>
          <a:noFill/>
          <a:ln w="25400">
            <a:solidFill>
              <a:srgbClr val="2A3B55"/>
            </a:solidFill>
            <a:prstDash val="solid"/>
          </a:ln>
        </p:spPr>
        <p:txBody>
          <a:bodyPr/>
          <a:p/>
        </p:txBody>
      </p:sp>
      <p:sp>
        <p:nvSpPr>
          <p:cNvPr id="60" name="Shape 4"/>
          <p:cNvSpPr/>
          <p:nvPr/>
        </p:nvSpPr>
        <p:spPr>
          <a:xfrm>
            <a:off x="1778508" y="1892808"/>
            <a:ext cx="329184" cy="329184"/>
          </a:xfrm>
          <a:prstGeom prst="ellipse">
            <a:avLst/>
          </a:prstGeom>
          <a:solidFill>
            <a:srgbClr val="38BDF8"/>
          </a:solidFill>
          <a:ln w="38100">
            <a:solidFill>
              <a:srgbClr val="0F1B2D"/>
            </a:solidFill>
            <a:prstDash val="solid"/>
          </a:ln>
        </p:spPr>
        <p:txBody>
          <a:bodyPr/>
          <a:p/>
        </p:txBody>
      </p:sp>
      <p:sp>
        <p:nvSpPr>
          <p:cNvPr id="61" name="Shape 5"/>
          <p:cNvSpPr/>
          <p:nvPr/>
        </p:nvSpPr>
        <p:spPr>
          <a:xfrm>
            <a:off x="640080" y="23774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2" name="Text 6"/>
          <p:cNvSpPr/>
          <p:nvPr/>
        </p:nvSpPr>
        <p:spPr>
          <a:xfrm>
            <a:off x="640080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2600" dirty="0"/>
          </a:p>
        </p:txBody>
      </p:sp>
      <p:sp>
        <p:nvSpPr>
          <p:cNvPr id="63" name="Text 7"/>
          <p:cNvSpPr/>
          <p:nvPr/>
        </p:nvSpPr>
        <p:spPr>
          <a:xfrm>
            <a:off x="640080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{{Milestone}}</a:t>
            </a:r>
            <a:endParaRPr lang="en-US" sz="1700" dirty="0"/>
          </a:p>
        </p:txBody>
      </p:sp>
      <p:sp>
        <p:nvSpPr>
          <p:cNvPr id="64" name="Text 8"/>
          <p:cNvSpPr/>
          <p:nvPr/>
        </p:nvSpPr>
        <p:spPr>
          <a:xfrm>
            <a:off x="914400" y="3840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{{Detail, one line}}</a:t>
            </a:r>
            <a:endParaRPr lang="en-US" sz="1300" dirty="0"/>
          </a:p>
        </p:txBody>
      </p:sp>
      <p:sp>
        <p:nvSpPr>
          <p:cNvPr id="65" name="Shape 9"/>
          <p:cNvSpPr/>
          <p:nvPr/>
        </p:nvSpPr>
        <p:spPr>
          <a:xfrm>
            <a:off x="4677156" y="1892808"/>
            <a:ext cx="329184" cy="329184"/>
          </a:xfrm>
          <a:prstGeom prst="ellipse">
            <a:avLst/>
          </a:prstGeom>
          <a:solidFill>
            <a:srgbClr val="38BDF8"/>
          </a:solidFill>
          <a:ln w="38100">
            <a:solidFill>
              <a:srgbClr val="0F1B2D"/>
            </a:solidFill>
            <a:prstDash val="solid"/>
          </a:ln>
        </p:spPr>
        <p:txBody>
          <a:bodyPr/>
          <a:p/>
        </p:txBody>
      </p:sp>
      <p:sp>
        <p:nvSpPr>
          <p:cNvPr id="66" name="Shape 10"/>
          <p:cNvSpPr/>
          <p:nvPr/>
        </p:nvSpPr>
        <p:spPr>
          <a:xfrm>
            <a:off x="3538728" y="23774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7" name="Text 11"/>
          <p:cNvSpPr/>
          <p:nvPr/>
        </p:nvSpPr>
        <p:spPr>
          <a:xfrm>
            <a:off x="3538728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2600" dirty="0"/>
          </a:p>
        </p:txBody>
      </p:sp>
      <p:sp>
        <p:nvSpPr>
          <p:cNvPr id="68" name="Text 12"/>
          <p:cNvSpPr/>
          <p:nvPr/>
        </p:nvSpPr>
        <p:spPr>
          <a:xfrm>
            <a:off x="3538728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{{Milestone}}</a:t>
            </a:r>
            <a:endParaRPr lang="en-US" sz="1700" dirty="0"/>
          </a:p>
        </p:txBody>
      </p:sp>
      <p:sp>
        <p:nvSpPr>
          <p:cNvPr id="69" name="Text 13"/>
          <p:cNvSpPr/>
          <p:nvPr/>
        </p:nvSpPr>
        <p:spPr>
          <a:xfrm>
            <a:off x="3813048" y="3840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{{Detail, one line}}</a:t>
            </a:r>
            <a:endParaRPr lang="en-US" sz="1300" dirty="0"/>
          </a:p>
        </p:txBody>
      </p:sp>
      <p:sp>
        <p:nvSpPr>
          <p:cNvPr id="70" name="Shape 14"/>
          <p:cNvSpPr/>
          <p:nvPr/>
        </p:nvSpPr>
        <p:spPr>
          <a:xfrm>
            <a:off x="7575804" y="1892808"/>
            <a:ext cx="329184" cy="329184"/>
          </a:xfrm>
          <a:prstGeom prst="ellipse">
            <a:avLst/>
          </a:prstGeom>
          <a:solidFill>
            <a:srgbClr val="38BDF8"/>
          </a:solidFill>
          <a:ln w="38100">
            <a:solidFill>
              <a:srgbClr val="0F1B2D"/>
            </a:solidFill>
            <a:prstDash val="solid"/>
          </a:ln>
        </p:spPr>
        <p:txBody>
          <a:bodyPr/>
          <a:p/>
        </p:txBody>
      </p:sp>
      <p:sp>
        <p:nvSpPr>
          <p:cNvPr id="71" name="Shape 15"/>
          <p:cNvSpPr/>
          <p:nvPr/>
        </p:nvSpPr>
        <p:spPr>
          <a:xfrm>
            <a:off x="6437376" y="23774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72" name="Text 16"/>
          <p:cNvSpPr/>
          <p:nvPr/>
        </p:nvSpPr>
        <p:spPr>
          <a:xfrm>
            <a:off x="6437376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2600" dirty="0"/>
          </a:p>
        </p:txBody>
      </p:sp>
      <p:sp>
        <p:nvSpPr>
          <p:cNvPr id="73" name="Text 17"/>
          <p:cNvSpPr/>
          <p:nvPr/>
        </p:nvSpPr>
        <p:spPr>
          <a:xfrm>
            <a:off x="6437376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{{Milestone}}</a:t>
            </a:r>
            <a:endParaRPr lang="en-US" sz="1700" dirty="0"/>
          </a:p>
        </p:txBody>
      </p:sp>
      <p:sp>
        <p:nvSpPr>
          <p:cNvPr id="74" name="Text 18"/>
          <p:cNvSpPr/>
          <p:nvPr/>
        </p:nvSpPr>
        <p:spPr>
          <a:xfrm>
            <a:off x="6711696" y="3840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{{Detail, one line}}</a:t>
            </a:r>
            <a:endParaRPr lang="en-US" sz="1300" dirty="0"/>
          </a:p>
        </p:txBody>
      </p:sp>
      <p:sp>
        <p:nvSpPr>
          <p:cNvPr id="75" name="Shape 19"/>
          <p:cNvSpPr/>
          <p:nvPr/>
        </p:nvSpPr>
        <p:spPr>
          <a:xfrm>
            <a:off x="10474452" y="1892808"/>
            <a:ext cx="329184" cy="329184"/>
          </a:xfrm>
          <a:prstGeom prst="ellipse">
            <a:avLst/>
          </a:prstGeom>
          <a:solidFill>
            <a:srgbClr val="38BDF8"/>
          </a:solidFill>
          <a:ln w="38100">
            <a:solidFill>
              <a:srgbClr val="0F1B2D"/>
            </a:solidFill>
            <a:prstDash val="solid"/>
          </a:ln>
        </p:spPr>
        <p:txBody>
          <a:bodyPr/>
          <a:p/>
        </p:txBody>
      </p:sp>
      <p:sp>
        <p:nvSpPr>
          <p:cNvPr id="76" name="Shape 20"/>
          <p:cNvSpPr/>
          <p:nvPr/>
        </p:nvSpPr>
        <p:spPr>
          <a:xfrm>
            <a:off x="9336024" y="23774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77" name="Text 21"/>
          <p:cNvSpPr/>
          <p:nvPr/>
        </p:nvSpPr>
        <p:spPr>
          <a:xfrm>
            <a:off x="9336024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2600" dirty="0"/>
          </a:p>
        </p:txBody>
      </p:sp>
      <p:sp>
        <p:nvSpPr>
          <p:cNvPr id="78" name="Text 22"/>
          <p:cNvSpPr/>
          <p:nvPr/>
        </p:nvSpPr>
        <p:spPr>
          <a:xfrm>
            <a:off x="9336024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{{Milestone}}</a:t>
            </a:r>
            <a:endParaRPr lang="en-US" sz="1700" dirty="0"/>
          </a:p>
        </p:txBody>
      </p:sp>
      <p:sp>
        <p:nvSpPr>
          <p:cNvPr id="79" name="Text 23"/>
          <p:cNvSpPr/>
          <p:nvPr/>
        </p:nvSpPr>
        <p:spPr>
          <a:xfrm>
            <a:off x="9610344" y="3840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{{Detail, one line}}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 name="Slide 13">
    <p:bg>
      <p:bgPr>
        <a:solidFill>
          <a:srgbClr val="0F1B2D"/>
        </a:solidFill>
      </p:bgPr>
    </p:bg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82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83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delivers the plan}}</a:t>
            </a:r>
            <a:endParaRPr lang="en-US" sz="3200" dirty="0"/>
          </a:p>
        </p:txBody>
      </p:sp>
      <p:sp>
        <p:nvSpPr>
          <p:cNvPr id="84" name="Shape 3"/>
          <p:cNvSpPr/>
          <p:nvPr/>
        </p:nvSpPr>
        <p:spPr>
          <a:xfrm>
            <a:off x="640080" y="20116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5" name="Shape 4"/>
          <p:cNvSpPr/>
          <p:nvPr/>
        </p:nvSpPr>
        <p:spPr>
          <a:xfrm>
            <a:off x="1440180" y="2377440"/>
            <a:ext cx="1005840" cy="100584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86" name="Text 5"/>
          <p:cNvSpPr/>
          <p:nvPr/>
        </p:nvSpPr>
        <p:spPr>
          <a:xfrm>
            <a:off x="1440180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{{N}}</a:t>
            </a:r>
            <a:endParaRPr lang="en-US" sz="2200" dirty="0"/>
          </a:p>
        </p:txBody>
      </p:sp>
      <p:sp>
        <p:nvSpPr>
          <p:cNvPr id="87" name="Text 6"/>
          <p:cNvSpPr/>
          <p:nvPr/>
        </p:nvSpPr>
        <p:spPr>
          <a:xfrm>
            <a:off x="640080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{{Role}}</a:t>
            </a:r>
            <a:endParaRPr lang="en-US" sz="1800" dirty="0"/>
          </a:p>
        </p:txBody>
      </p:sp>
      <p:sp>
        <p:nvSpPr>
          <p:cNvPr id="88" name="Text 7"/>
          <p:cNvSpPr/>
          <p:nvPr/>
        </p:nvSpPr>
        <p:spPr>
          <a:xfrm>
            <a:off x="868680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{{Relevant background, one line.}}</a:t>
            </a:r>
            <a:endParaRPr lang="en-US" sz="1200" dirty="0"/>
          </a:p>
        </p:txBody>
      </p:sp>
      <p:sp>
        <p:nvSpPr>
          <p:cNvPr id="89" name="Shape 8"/>
          <p:cNvSpPr/>
          <p:nvPr/>
        </p:nvSpPr>
        <p:spPr>
          <a:xfrm>
            <a:off x="3538728" y="20116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90" name="Shape 9"/>
          <p:cNvSpPr/>
          <p:nvPr/>
        </p:nvSpPr>
        <p:spPr>
          <a:xfrm>
            <a:off x="4338828" y="2377440"/>
            <a:ext cx="1005840" cy="1005840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p/>
        </p:txBody>
      </p:sp>
      <p:sp>
        <p:nvSpPr>
          <p:cNvPr id="91" name="Text 10"/>
          <p:cNvSpPr/>
          <p:nvPr/>
        </p:nvSpPr>
        <p:spPr>
          <a:xfrm>
            <a:off x="4338828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{{N}}</a:t>
            </a:r>
            <a:endParaRPr lang="en-US" sz="2200" dirty="0"/>
          </a:p>
        </p:txBody>
      </p:sp>
      <p:sp>
        <p:nvSpPr>
          <p:cNvPr id="92" name="Text 11"/>
          <p:cNvSpPr/>
          <p:nvPr/>
        </p:nvSpPr>
        <p:spPr>
          <a:xfrm>
            <a:off x="3538728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{{Role}}</a:t>
            </a:r>
            <a:endParaRPr lang="en-US" sz="1800" dirty="0"/>
          </a:p>
        </p:txBody>
      </p:sp>
      <p:sp>
        <p:nvSpPr>
          <p:cNvPr id="93" name="Text 12"/>
          <p:cNvSpPr/>
          <p:nvPr/>
        </p:nvSpPr>
        <p:spPr>
          <a:xfrm>
            <a:off x="3767328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{{Relevant background, one line.}}</a:t>
            </a:r>
            <a:endParaRPr lang="en-US" sz="1200" dirty="0"/>
          </a:p>
        </p:txBody>
      </p:sp>
      <p:sp>
        <p:nvSpPr>
          <p:cNvPr id="94" name="Shape 13"/>
          <p:cNvSpPr/>
          <p:nvPr/>
        </p:nvSpPr>
        <p:spPr>
          <a:xfrm>
            <a:off x="6437376" y="20116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95" name="Shape 14"/>
          <p:cNvSpPr/>
          <p:nvPr/>
        </p:nvSpPr>
        <p:spPr>
          <a:xfrm>
            <a:off x="7237476" y="2377440"/>
            <a:ext cx="1005840" cy="100584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96" name="Text 15"/>
          <p:cNvSpPr/>
          <p:nvPr/>
        </p:nvSpPr>
        <p:spPr>
          <a:xfrm>
            <a:off x="7237476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{{N}}</a:t>
            </a:r>
            <a:endParaRPr lang="en-US" sz="2200" dirty="0"/>
          </a:p>
        </p:txBody>
      </p:sp>
      <p:sp>
        <p:nvSpPr>
          <p:cNvPr id="97" name="Text 16"/>
          <p:cNvSpPr/>
          <p:nvPr/>
        </p:nvSpPr>
        <p:spPr>
          <a:xfrm>
            <a:off x="6437376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{{Role}}</a:t>
            </a:r>
            <a:endParaRPr lang="en-US" sz="1800" dirty="0"/>
          </a:p>
        </p:txBody>
      </p:sp>
      <p:sp>
        <p:nvSpPr>
          <p:cNvPr id="98" name="Text 17"/>
          <p:cNvSpPr/>
          <p:nvPr/>
        </p:nvSpPr>
        <p:spPr>
          <a:xfrm>
            <a:off x="6665976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{{Relevant background, one line.}}</a:t>
            </a:r>
            <a:endParaRPr lang="en-US" sz="1200" dirty="0"/>
          </a:p>
        </p:txBody>
      </p:sp>
      <p:sp>
        <p:nvSpPr>
          <p:cNvPr id="99" name="Shape 18"/>
          <p:cNvSpPr/>
          <p:nvPr/>
        </p:nvSpPr>
        <p:spPr>
          <a:xfrm>
            <a:off x="9336024" y="20116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0" name="Shape 19"/>
          <p:cNvSpPr/>
          <p:nvPr/>
        </p:nvSpPr>
        <p:spPr>
          <a:xfrm>
            <a:off x="10136124" y="2377440"/>
            <a:ext cx="1005840" cy="1005840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p/>
        </p:txBody>
      </p:sp>
      <p:sp>
        <p:nvSpPr>
          <p:cNvPr id="101" name="Text 20"/>
          <p:cNvSpPr/>
          <p:nvPr/>
        </p:nvSpPr>
        <p:spPr>
          <a:xfrm>
            <a:off x="10136124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{{N}}</a:t>
            </a:r>
            <a:endParaRPr lang="en-US" sz="2200" dirty="0"/>
          </a:p>
        </p:txBody>
      </p:sp>
      <p:sp>
        <p:nvSpPr>
          <p:cNvPr id="102" name="Text 21"/>
          <p:cNvSpPr/>
          <p:nvPr/>
        </p:nvSpPr>
        <p:spPr>
          <a:xfrm>
            <a:off x="9336024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{{Role}}</a:t>
            </a:r>
            <a:endParaRPr lang="en-US" sz="1800" dirty="0"/>
          </a:p>
        </p:txBody>
      </p:sp>
      <p:sp>
        <p:nvSpPr>
          <p:cNvPr id="103" name="Text 22"/>
          <p:cNvSpPr/>
          <p:nvPr/>
        </p:nvSpPr>
        <p:spPr>
          <a:xfrm>
            <a:off x="9564624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{{Relevant background, one line.}}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 name="Slide 14">
    <p:bg>
      <p:bgPr>
        <a:solidFill>
          <a:srgbClr val="0F1B2D"/>
        </a:solidFill>
      </p:bgPr>
    </p:bg>
    <p:spTree>
      <p:nvGrpSpPr>
        <p:cNvPr id="1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06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107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we need to deliver}}</a:t>
            </a:r>
            <a:endParaRPr lang="en-US" sz="3200" dirty="0"/>
          </a:p>
        </p:txBody>
      </p:sp>
      <p:sp>
        <p:nvSpPr>
          <p:cNvPr id="108" name="Text 3"/>
          <p:cNvSpPr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{{State the ask plainly: budget, headcount, or decision — and what it unlocks.}}</a:t>
            </a:r>
            <a:endParaRPr lang="en-US" sz="1500" dirty="0"/>
          </a:p>
        </p:txBody>
      </p:sp>
      <p:sp>
        <p:nvSpPr>
          <p:cNvPr id="109" name="Shape 4"/>
          <p:cNvSpPr/>
          <p:nvPr/>
        </p:nvSpPr>
        <p:spPr>
          <a:xfrm>
            <a:off x="640080" y="237744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0" name="Text 5"/>
          <p:cNvSpPr/>
          <p:nvPr/>
        </p:nvSpPr>
        <p:spPr>
          <a:xfrm>
            <a:off x="640080" y="26974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</a:t>
            </a:r>
            <a:endParaRPr lang="en-US" sz="4000" dirty="0"/>
          </a:p>
        </p:txBody>
      </p:sp>
      <p:sp>
        <p:nvSpPr>
          <p:cNvPr id="111" name="Text 6"/>
          <p:cNvSpPr/>
          <p:nvPr/>
        </p:nvSpPr>
        <p:spPr>
          <a:xfrm>
            <a:off x="640080" y="36118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{{Investment}}</a:t>
            </a:r>
            <a:endParaRPr lang="en-US" sz="1800" dirty="0"/>
          </a:p>
        </p:txBody>
      </p:sp>
      <p:sp>
        <p:nvSpPr>
          <p:cNvPr id="112" name="Text 7"/>
          <p:cNvSpPr/>
          <p:nvPr/>
        </p:nvSpPr>
        <p:spPr>
          <a:xfrm>
            <a:off x="960120" y="41148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{{Total resources requested}}</a:t>
            </a:r>
            <a:endParaRPr lang="en-US" sz="1300" dirty="0"/>
          </a:p>
        </p:txBody>
      </p:sp>
      <p:sp>
        <p:nvSpPr>
          <p:cNvPr id="113" name="Shape 8"/>
          <p:cNvSpPr/>
          <p:nvPr/>
        </p:nvSpPr>
        <p:spPr>
          <a:xfrm>
            <a:off x="4526280" y="237744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4" name="Text 9"/>
          <p:cNvSpPr/>
          <p:nvPr/>
        </p:nvSpPr>
        <p:spPr>
          <a:xfrm>
            <a:off x="4526280" y="26974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</a:t>
            </a:r>
            <a:endParaRPr lang="en-US" sz="4000" dirty="0"/>
          </a:p>
        </p:txBody>
      </p:sp>
      <p:sp>
        <p:nvSpPr>
          <p:cNvPr id="115" name="Text 10"/>
          <p:cNvSpPr/>
          <p:nvPr/>
        </p:nvSpPr>
        <p:spPr>
          <a:xfrm>
            <a:off x="4526280" y="36118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{{Headcount}}</a:t>
            </a:r>
            <a:endParaRPr lang="en-US" sz="1800" dirty="0"/>
          </a:p>
        </p:txBody>
      </p:sp>
      <p:sp>
        <p:nvSpPr>
          <p:cNvPr id="116" name="Text 11"/>
          <p:cNvSpPr/>
          <p:nvPr/>
        </p:nvSpPr>
        <p:spPr>
          <a:xfrm>
            <a:off x="4846320" y="41148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{{Roles and start dates}}</a:t>
            </a:r>
            <a:endParaRPr lang="en-US" sz="1300" dirty="0"/>
          </a:p>
        </p:txBody>
      </p:sp>
      <p:sp>
        <p:nvSpPr>
          <p:cNvPr id="117" name="Shape 12"/>
          <p:cNvSpPr/>
          <p:nvPr/>
        </p:nvSpPr>
        <p:spPr>
          <a:xfrm>
            <a:off x="8412480" y="237744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8" name="Text 13"/>
          <p:cNvSpPr/>
          <p:nvPr/>
        </p:nvSpPr>
        <p:spPr>
          <a:xfrm>
            <a:off x="8412480" y="26974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</a:t>
            </a:r>
            <a:endParaRPr lang="en-US" sz="4000" dirty="0"/>
          </a:p>
        </p:txBody>
      </p:sp>
      <p:sp>
        <p:nvSpPr>
          <p:cNvPr id="119" name="Text 14"/>
          <p:cNvSpPr/>
          <p:nvPr/>
        </p:nvSpPr>
        <p:spPr>
          <a:xfrm>
            <a:off x="8412480" y="36118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{{Return}}</a:t>
            </a:r>
            <a:endParaRPr lang="en-US" sz="1800" dirty="0"/>
          </a:p>
        </p:txBody>
      </p:sp>
      <p:sp>
        <p:nvSpPr>
          <p:cNvPr id="120" name="Text 15"/>
          <p:cNvSpPr/>
          <p:nvPr/>
        </p:nvSpPr>
        <p:spPr>
          <a:xfrm>
            <a:off x="8732520" y="41148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{{Expected payback period}}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 name="Slide 15">
    <p:bg>
      <p:bgPr>
        <a:solidFill>
          <a:srgbClr val="0F1B2D"/>
        </a:solidFill>
      </p:bgPr>
    </p:bg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2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12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happens next}}</a:t>
            </a:r>
            <a:endParaRPr lang="en-US" sz="3200" dirty="0"/>
          </a:p>
        </p:txBody>
      </p:sp>
      <p:sp>
        <p:nvSpPr>
          <p:cNvPr id="125" name="Shape 3"/>
          <p:cNvSpPr/>
          <p:nvPr/>
        </p:nvSpPr>
        <p:spPr>
          <a:xfrm>
            <a:off x="640080" y="21031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26" name="Shape 4"/>
          <p:cNvSpPr/>
          <p:nvPr/>
        </p:nvSpPr>
        <p:spPr>
          <a:xfrm>
            <a:off x="2071116" y="2468880"/>
            <a:ext cx="566928" cy="566928"/>
          </a:xfrm>
          <a:prstGeom prst="ellipse">
            <a:avLst/>
          </a:prstGeom>
          <a:solidFill>
            <a:srgbClr val="38BDF8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27" name="Text 5"/>
          <p:cNvSpPr/>
          <p:nvPr/>
        </p:nvSpPr>
        <p:spPr>
          <a:xfrm>
            <a:off x="2071116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8" name="Text 6"/>
          <p:cNvSpPr/>
          <p:nvPr/>
        </p:nvSpPr>
        <p:spPr>
          <a:xfrm>
            <a:off x="640080" y="3200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{{Step 1}}</a:t>
            </a:r>
            <a:endParaRPr lang="en-US" sz="1800" dirty="0"/>
          </a:p>
        </p:txBody>
      </p:sp>
      <p:sp>
        <p:nvSpPr>
          <p:cNvPr id="129" name="Text 7"/>
          <p:cNvSpPr/>
          <p:nvPr/>
        </p:nvSpPr>
        <p:spPr>
          <a:xfrm>
            <a:off x="960120" y="37490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{{Action and owner, one line.}}</a:t>
            </a:r>
            <a:endParaRPr lang="en-US" sz="1300" dirty="0"/>
          </a:p>
        </p:txBody>
      </p:sp>
      <p:sp>
        <p:nvSpPr>
          <p:cNvPr id="130" name="Shape 8"/>
          <p:cNvSpPr/>
          <p:nvPr/>
        </p:nvSpPr>
        <p:spPr>
          <a:xfrm>
            <a:off x="4526280" y="21031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31" name="Shape 9"/>
          <p:cNvSpPr/>
          <p:nvPr/>
        </p:nvSpPr>
        <p:spPr>
          <a:xfrm>
            <a:off x="5957316" y="2468880"/>
            <a:ext cx="566928" cy="566928"/>
          </a:xfrm>
          <a:prstGeom prst="ellipse">
            <a:avLst/>
          </a:prstGeom>
          <a:solidFill>
            <a:srgbClr val="818CF8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32" name="Text 10"/>
          <p:cNvSpPr/>
          <p:nvPr/>
        </p:nvSpPr>
        <p:spPr>
          <a:xfrm>
            <a:off x="5957316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3" name="Text 11"/>
          <p:cNvSpPr/>
          <p:nvPr/>
        </p:nvSpPr>
        <p:spPr>
          <a:xfrm>
            <a:off x="4526280" y="3200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{{Step 2}}</a:t>
            </a:r>
            <a:endParaRPr lang="en-US" sz="1800" dirty="0"/>
          </a:p>
        </p:txBody>
      </p:sp>
      <p:sp>
        <p:nvSpPr>
          <p:cNvPr id="134" name="Text 12"/>
          <p:cNvSpPr/>
          <p:nvPr/>
        </p:nvSpPr>
        <p:spPr>
          <a:xfrm>
            <a:off x="4846320" y="37490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{{Action and owner, one line.}}</a:t>
            </a:r>
            <a:endParaRPr lang="en-US" sz="1300" dirty="0"/>
          </a:p>
        </p:txBody>
      </p:sp>
      <p:sp>
        <p:nvSpPr>
          <p:cNvPr id="135" name="Shape 13"/>
          <p:cNvSpPr/>
          <p:nvPr/>
        </p:nvSpPr>
        <p:spPr>
          <a:xfrm>
            <a:off x="8412480" y="21031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8263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36" name="Shape 14"/>
          <p:cNvSpPr/>
          <p:nvPr/>
        </p:nvSpPr>
        <p:spPr>
          <a:xfrm>
            <a:off x="9843516" y="2468880"/>
            <a:ext cx="566928" cy="566928"/>
          </a:xfrm>
          <a:prstGeom prst="ellipse">
            <a:avLst/>
          </a:prstGeom>
          <a:solidFill>
            <a:srgbClr val="38BDF8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37" name="Text 15"/>
          <p:cNvSpPr/>
          <p:nvPr/>
        </p:nvSpPr>
        <p:spPr>
          <a:xfrm>
            <a:off x="9843516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8" name="Text 16"/>
          <p:cNvSpPr/>
          <p:nvPr/>
        </p:nvSpPr>
        <p:spPr>
          <a:xfrm>
            <a:off x="8412480" y="3200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{{Step 3}}</a:t>
            </a:r>
            <a:endParaRPr lang="en-US" sz="1800" dirty="0"/>
          </a:p>
        </p:txBody>
      </p:sp>
      <p:sp>
        <p:nvSpPr>
          <p:cNvPr id="139" name="Text 17"/>
          <p:cNvSpPr/>
          <p:nvPr/>
        </p:nvSpPr>
        <p:spPr>
          <a:xfrm>
            <a:off x="8732520" y="37490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{{Action and owner, one line.}}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 name="Slide 16">
    <p:bg>
      <p:bgPr>
        <a:solidFill>
          <a:srgbClr val="0F1B2D"/>
        </a:solidFill>
      </p:bgPr>
    </p:bg>
    <p:spTree>
      <p:nvGrpSpPr>
        <p:cNvPr id="1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0"/>
          <p:cNvSpPr/>
          <p:nvPr/>
        </p:nvSpPr>
        <p:spPr>
          <a:xfrm>
            <a:off x="8595360" y="1097280"/>
            <a:ext cx="3657600" cy="3657600"/>
          </a:xfrm>
          <a:prstGeom prst="ellipse">
            <a:avLst/>
          </a:prstGeom>
          <a:solidFill>
            <a:srgbClr val="38BDF8">
              <a:alpha val="13000"/>
            </a:srgbClr>
          </a:solidFill>
          <a:ln/>
        </p:spPr>
        <p:txBody>
          <a:bodyPr/>
          <a:p/>
        </p:txBody>
      </p:sp>
      <p:sp>
        <p:nvSpPr>
          <p:cNvPr id="142" name="Shape 1"/>
          <p:cNvSpPr/>
          <p:nvPr/>
        </p:nvSpPr>
        <p:spPr>
          <a:xfrm>
            <a:off x="9875520" y="3291840"/>
            <a:ext cx="2194560" cy="2194560"/>
          </a:xfrm>
          <a:prstGeom prst="ellipse">
            <a:avLst/>
          </a:prstGeom>
          <a:solidFill>
            <a:srgbClr val="818CF8">
              <a:alpha val="18000"/>
            </a:srgbClr>
          </a:solidFill>
          <a:ln/>
        </p:spPr>
        <p:txBody>
          <a:bodyPr/>
          <a:p/>
        </p:txBody>
      </p:sp>
      <p:sp>
        <p:nvSpPr>
          <p:cNvPr id="143" name="Text 2"/>
          <p:cNvSpPr/>
          <p:nvPr/>
        </p:nvSpPr>
        <p:spPr>
          <a:xfrm>
            <a:off x="82296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</a:t>
            </a:r>
            <a:endParaRPr lang="en-US" sz="1400" dirty="0"/>
          </a:p>
        </p:txBody>
      </p:sp>
      <p:sp>
        <p:nvSpPr>
          <p:cNvPr id="144" name="Text 3"/>
          <p:cNvSpPr/>
          <p:nvPr/>
        </p:nvSpPr>
        <p:spPr>
          <a:xfrm>
            <a:off x="777240" y="24688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{{Your closing line}}</a:t>
            </a:r>
            <a:endParaRPr lang="en-US" sz="4400" dirty="0"/>
          </a:p>
        </p:txBody>
      </p:sp>
      <p:sp>
        <p:nvSpPr>
          <p:cNvPr id="145" name="Text 4"/>
          <p:cNvSpPr/>
          <p:nvPr/>
        </p:nvSpPr>
        <p:spPr>
          <a:xfrm>
            <a:off x="822960" y="4846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{{email@yourcompany.com}}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 {{yourcompany.com}}</a:t>
            </a:r>
            <a:endParaRPr lang="en-US" sz="1600" dirty="0"/>
          </a:p>
        </p:txBody>
      </p:sp>
      <p:sp>
        <p:nvSpPr>
          <p:cNvPr id="146" name="Text 5"/>
          <p:cNvSpPr/>
          <p:nvPr/>
        </p:nvSpPr>
        <p:spPr>
          <a:xfrm>
            <a:off x="822960" y="5486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template — use, modify, and share. No attribution required. (CC0)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thm15="http://schemas.microsoft.com/office/thememl/2012/main" xmlns:a="http://schemas.openxmlformats.org/drawingml/2006/main" xmlns:mc="http://schemas.openxmlformats.org/markup-compatibility/2006" name="Office 主题​​" mc:Ignorable="thm15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明朝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2026-10-28T16:39:34Z</dcterms:created>
  <dcterms:modified xsi:type="dcterms:W3CDTF">2026-10-28T16:39:34Z</dcterms:modified>
</cp:coreProperties>
</file>
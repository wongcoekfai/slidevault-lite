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160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参加今天的分享。今天我将向大家介绍一款革命性的产品——SynergyOS，它是新一代的企业数字化协同平台。我们的核心理念是“连接、协同、智能”，旨在帮助企业在数字化浪潮中抓住机遇，应对挑战，构建全新的竞争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分享将分为七个部分。首先，我们将探讨当前的时代背景与企业面临的挑战。接着，我会介绍SynergyOS的整体解决方案。然后，我们将深入了解其三大核心功能模块。之后，通过对比和数据展示，量化其价值。最后，我们会分享一个成功案例，并展望未来的合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首先，让我们进入第一部分，探讨我们所处的时代背景以及企业在数字化转型过程中普遍面临的挑战。理解这些宏观环境和具体痛点，是我们找到有效解决方案的前提。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We are in an irreversible digital age. However, many enterprises face four major 'invisible shackles' in their transformation: information silos, process fragmentation, decision latency, and inefficient collaboration. These issues severely restrict enterprise development. SynergyOS was born to break these shackles, providing enterprises with a brand-new digital collaboration operating system through Connection, Synergy, and Intelligence.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Next, I will provide a detailed introduction to the SynergyOS solution. We will see that it is not just a software tool, but a complete enterprise digital collaborative operating system.</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SynergyOS consists of three core modules. First, the "Intelligent Collaboration Hub" reshapes team collaboration by integrating all tools into a unified workspace. Second, "Integrated Business Processes" drive operational efficiency through a low-code engine and open integration capabilities. Finally, the "Panoramic Data Cockpit" provides managers with real-time, intelligent data insights to empower smart decision-making.</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那么，SynergyOS相比传统的办公模式，究竟有哪些革命性的差异和优势呢？在第三部分，我们将通过一个直观的对比来揭示其核心价值。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slide highlights the revolutionary differences between SynergyOS and traditional office models across key dimensions like Information Flow, Collaboration Efficiency, Process Management, and Decision Support. SynergyOS delivers tangible value such as 90% increase in information transparency, 70% reduction in process handling time, and more, driving substantial business improvements.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Next, we will quantify the measurable benefits SynergyOS brings to the enterprise through specific data. These data will visually demonstrate its outstanding performance in improving efficiency, reducing costs, and optimizing decision-making.</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Data is the best proof. After using SynergyOS, our customers have seen cross-departmental project delivery cycles shortened by 60% and employees' average daily effective working hours increased by 27%. Meanwhile, travel/administrative expenses and IT maintenance costs have both been reduced by 30%. Most importantly, strategic decision information acquisition has been shortened from 48 hours to real-time, with prediction accuracy also greatly improved. These figures fully demonstrate the enormous value of SynergyOS.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理论和数据固然重要，但真实的案例更具说服力。接下来，让我们分享一个世界500强企业——XX集团的数字化转型故事，看看他们是如何通过SynergyOS实现蜕变的。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As a large multinational manufacturing enterprise, XX Group faced severe challenges such as global collaboration barriers, complex supply chains, and delayed decision-making. By deploying SynergyOS, they built a global collaborative workspace, an integrated supply chain platform, and a group-level data cockpit. Ultimately, the new product R&amp;D cycle was reduced by 33%, supply chain efficiency was increased by 60%, and decision-making efficiency also achieved a qualitative leap. As their CIO said, SynergyOS has become the core engine of their digital transformation.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最后，让我们共同展望未来的合作。我们希望能与您携手，开启贵公司的数字化转型之旅。</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SynergyOS通过连接、协同、智能三大核心能力，为企业提供了一套完整的数字化协同解决方案。我们承诺提供专业的服务、灵活的扩展能力和可靠的安全保障。我们诚挚地邀请您，即刻开启数字化转型之旅，与我们共创企业数字化的新未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我的分享到此结束，感谢大家的聆听！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2.xml"/><Relationship Id="rId6" Type="http://schemas.openxmlformats.org/officeDocument/2006/relationships/image" Target="../media/image3.svg"/><Relationship Id="rId5" Type="http://schemas.openxmlformats.org/officeDocument/2006/relationships/image" Target="../media/image3.png"/><Relationship Id="rId4" Type="http://schemas.openxmlformats.org/officeDocument/2006/relationships/image" Target="../media/image2.svg"/><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6.svg"/><Relationship Id="rId7" Type="http://schemas.openxmlformats.org/officeDocument/2006/relationships/image" Target="../media/image6.png"/><Relationship Id="rId6" Type="http://schemas.openxmlformats.org/officeDocument/2006/relationships/image" Target="../media/image2.svg"/><Relationship Id="rId5" Type="http://schemas.openxmlformats.org/officeDocument/2006/relationships/image" Target="../media/image2.png"/><Relationship Id="rId4" Type="http://schemas.openxmlformats.org/officeDocument/2006/relationships/image" Target="../media/image5.svg"/><Relationship Id="rId3" Type="http://schemas.openxmlformats.org/officeDocument/2006/relationships/image" Target="../media/image5.png"/><Relationship Id="rId2" Type="http://schemas.openxmlformats.org/officeDocument/2006/relationships/image" Target="../media/image4.svg"/><Relationship Id="rId10" Type="http://schemas.openxmlformats.org/officeDocument/2006/relationships/notesSlide" Target="../notesSlides/notesSlide4.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0.svg"/><Relationship Id="rId7" Type="http://schemas.openxmlformats.org/officeDocument/2006/relationships/image" Target="../media/image10.png"/><Relationship Id="rId6" Type="http://schemas.openxmlformats.org/officeDocument/2006/relationships/image" Target="../media/image9.svg"/><Relationship Id="rId5" Type="http://schemas.openxmlformats.org/officeDocument/2006/relationships/image" Target="../media/image9.png"/><Relationship Id="rId4" Type="http://schemas.openxmlformats.org/officeDocument/2006/relationships/image" Target="../media/image8.svg"/><Relationship Id="rId3" Type="http://schemas.openxmlformats.org/officeDocument/2006/relationships/image" Target="../media/image8.png"/><Relationship Id="rId2" Type="http://schemas.openxmlformats.org/officeDocument/2006/relationships/image" Target="../media/image7.svg"/><Relationship Id="rId10" Type="http://schemas.openxmlformats.org/officeDocument/2006/relationships/notesSlide" Target="../notesSlides/notesSlide5.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12.png"/><Relationship Id="rId4" Type="http://schemas.openxmlformats.org/officeDocument/2006/relationships/image" Target="../media/image11.svg"/><Relationship Id="rId3" Type="http://schemas.openxmlformats.org/officeDocument/2006/relationships/image" Target="../media/image11.png"/><Relationship Id="rId2" Type="http://schemas.openxmlformats.org/officeDocument/2006/relationships/image" Target="../media/image2.sv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2.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5.png"/><Relationship Id="rId4" Type="http://schemas.openxmlformats.org/officeDocument/2006/relationships/image" Target="../media/image1.svg"/><Relationship Id="rId3" Type="http://schemas.openxmlformats.org/officeDocument/2006/relationships/image" Target="../media/image1.png"/><Relationship Id="rId2" Type="http://schemas.openxmlformats.org/officeDocument/2006/relationships/image" Target="../media/image17.jpeg"/><Relationship Id="rId1" Type="http://schemas.openxmlformats.org/officeDocument/2006/relationships/image" Target="../media/image16.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14.svg"/><Relationship Id="rId7" Type="http://schemas.openxmlformats.org/officeDocument/2006/relationships/image" Target="../media/image19.png"/><Relationship Id="rId6" Type="http://schemas.openxmlformats.org/officeDocument/2006/relationships/image" Target="../media/image13.svg"/><Relationship Id="rId5" Type="http://schemas.openxmlformats.org/officeDocument/2006/relationships/image" Target="../media/image18.png"/><Relationship Id="rId4" Type="http://schemas.openxmlformats.org/officeDocument/2006/relationships/image" Target="../media/image6.svg"/><Relationship Id="rId3" Type="http://schemas.openxmlformats.org/officeDocument/2006/relationships/image" Target="../media/image6.png"/><Relationship Id="rId2" Type="http://schemas.openxmlformats.org/officeDocument/2006/relationships/image" Target="../media/image7.svg"/><Relationship Id="rId14" Type="http://schemas.openxmlformats.org/officeDocument/2006/relationships/notesSlide" Target="../notesSlides/notesSlide14.xml"/><Relationship Id="rId13" Type="http://schemas.openxmlformats.org/officeDocument/2006/relationships/slideLayout" Target="../slideLayouts/slideLayout12.xml"/><Relationship Id="rId12" Type="http://schemas.openxmlformats.org/officeDocument/2006/relationships/image" Target="../media/image16.svg"/><Relationship Id="rId11" Type="http://schemas.openxmlformats.org/officeDocument/2006/relationships/image" Target="../media/image21.png"/><Relationship Id="rId10" Type="http://schemas.openxmlformats.org/officeDocument/2006/relationships/image" Target="../media/image15.svg"/><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81636">
              <a:alpha val="9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1016000" y="2286000"/>
            <a:ext cx="10160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5600" b="1" i="0" u="none" strike="noStrike">
                <a:solidFill>
                  <a:srgbClr val="FFFFFF"/>
                </a:solidFill>
                <a:latin typeface="Noto Sans SC"/>
                <a:ea typeface="Noto Sans SC"/>
                <a:cs typeface="Noto Sans SC"/>
                <a:sym typeface="Noto Sans SC"/>
              </a:rPr>
              <a:t>SynergyOS</a:t>
            </a:r>
            <a:endParaRPr lang="en-US" sz="1100"/>
          </a:p>
        </p:txBody>
      </p:sp>
      <p:sp>
        <p:nvSpPr>
          <p:cNvPr id="4" name="AutoShape 4"/>
          <p:cNvSpPr/>
          <p:nvPr/>
        </p:nvSpPr>
        <p:spPr>
          <a:xfrm>
            <a:off x="5334000" y="3556000"/>
            <a:ext cx="1524000" cy="50800"/>
          </a:xfrm>
          <a:prstGeom prst="roundRect">
            <a:avLst>
              <a:gd name="adj" fmla="val 0"/>
            </a:avLst>
          </a:prstGeom>
          <a:solidFill>
            <a:srgbClr val="00C7FF">
              <a:alpha val="100000"/>
            </a:srgbClr>
          </a:solidFill>
          <a:ln w="25400" cap="flat" cmpd="sng">
            <a:noFill/>
            <a:prstDash val="solid"/>
            <a:round/>
          </a:ln>
        </p:spPr>
        <p:txBody>
          <a:bodyPr vert="horz" wrap="square" lIns="0" tIns="0" rIns="0" bIns="0" rtlCol="0" anchor="ctr" anchorCtr="0"/>
          <a:lstStyle/>
          <a:p>
            <a:pPr algn="ctr">
              <a:defRPr/>
            </a:pPr>
          </a:p>
        </p:txBody>
      </p:sp>
      <p:sp>
        <p:nvSpPr>
          <p:cNvPr id="5" name="AutoShape 5"/>
          <p:cNvSpPr/>
          <p:nvPr/>
        </p:nvSpPr>
        <p:spPr>
          <a:xfrm>
            <a:off x="1016000" y="3937000"/>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E6F0FF">
                    <a:alpha val="94902"/>
                  </a:srgbClr>
                </a:solidFill>
                <a:latin typeface="Noto Sans SC"/>
                <a:ea typeface="Noto Sans SC"/>
                <a:cs typeface="Noto Sans SC"/>
                <a:sym typeface="Noto Sans SC"/>
              </a:rPr>
              <a:t>The Next-Generation Enterprise Digital Collaboration Platform</a:t>
            </a:r>
            <a:endParaRPr lang="en-US" sz="1100"/>
          </a:p>
        </p:txBody>
      </p:sp>
      <p:sp>
        <p:nvSpPr>
          <p:cNvPr id="6" name="AutoShape 6"/>
          <p:cNvSpPr/>
          <p:nvPr/>
        </p:nvSpPr>
        <p:spPr>
          <a:xfrm>
            <a:off x="1016000" y="5080000"/>
            <a:ext cx="10160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C8DCF5">
                    <a:alpha val="85098"/>
                  </a:srgbClr>
                </a:solidFill>
                <a:latin typeface="Noto Sans SC"/>
                <a:ea typeface="Noto Sans SC"/>
                <a:cs typeface="Noto Sans SC"/>
                <a:sym typeface="Noto Sans SC"/>
              </a:rPr>
              <a:t>Connect · Synergize · Intelligentize</a:t>
            </a:r>
            <a:endParaRPr lang="en-US" sz="1100"/>
          </a:p>
        </p:txBody>
      </p:sp>
      <p:cxnSp>
        <p:nvCxnSpPr>
          <p:cNvPr id="7" name="Connector 7"/>
          <p:cNvCxnSpPr/>
          <p:nvPr/>
        </p:nvCxnSpPr>
        <p:spPr>
          <a:xfrm rot="-4774">
            <a:off x="1524004" y="5835650"/>
            <a:ext cx="9144000" cy="12700"/>
          </a:xfrm>
          <a:prstGeom prst="straightConnector1">
            <a:avLst/>
          </a:prstGeom>
          <a:solidFill>
            <a:srgbClr val="DEE0E3">
              <a:alpha val="100000"/>
            </a:srgbClr>
          </a:solidFill>
          <a:ln w="12700" cap="flat" cmpd="sng">
            <a:solidFill>
              <a:srgbClr val="00C7FF">
                <a:alpha val="40000"/>
              </a:srgbClr>
            </a:solidFill>
            <a:prstDash val="solid"/>
            <a:round/>
            <a:headEnd type="none" w="med" len="med"/>
            <a:tailEnd type="none" w="med" len="med"/>
          </a:ln>
        </p:spPr>
      </p:cxnSp>
      <p:sp>
        <p:nvSpPr>
          <p:cNvPr id="8" name="AutoShape 8"/>
          <p:cNvSpPr/>
          <p:nvPr/>
        </p:nvSpPr>
        <p:spPr>
          <a:xfrm>
            <a:off x="1016000" y="6032500"/>
            <a:ext cx="10160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B4CDEB">
                    <a:alpha val="74902"/>
                  </a:srgbClr>
                </a:solidFill>
                <a:latin typeface="Noto Sans SC"/>
                <a:ea typeface="Noto Sans SC"/>
                <a:cs typeface="Noto Sans SC"/>
                <a:sym typeface="Noto Sans SC"/>
              </a:rPr>
              <a:t>Presenter: [Your Name/Department] | Date: June 18, 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92F">
              <a:alpha val="92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1016000" y="762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Poppins"/>
                <a:ea typeface="Poppins"/>
                <a:cs typeface="Poppins"/>
                <a:sym typeface="Poppins"/>
              </a:rPr>
              <a:t>CONTENTS</a:t>
            </a:r>
            <a:endParaRPr lang="en-US" sz="1100"/>
          </a:p>
        </p:txBody>
      </p:sp>
      <p:cxnSp>
        <p:nvCxnSpPr>
          <p:cNvPr id="4" name="Connector 4"/>
          <p:cNvCxnSpPr/>
          <p:nvPr/>
        </p:nvCxnSpPr>
        <p:spPr>
          <a:xfrm rot="-4297">
            <a:off x="1016004" y="1644650"/>
            <a:ext cx="10160000" cy="12700"/>
          </a:xfrm>
          <a:prstGeom prst="straightConnector1">
            <a:avLst/>
          </a:prstGeom>
          <a:solidFill>
            <a:srgbClr val="DEE0E3">
              <a:alpha val="100000"/>
            </a:srgbClr>
          </a:solidFill>
          <a:ln w="25400" cap="flat" cmpd="sng">
            <a:solidFill>
              <a:srgbClr val="00BFFF">
                <a:alpha val="100000"/>
              </a:srgbClr>
            </a:solidFill>
            <a:prstDash val="solid"/>
            <a:round/>
            <a:headEnd type="none" w="lg" len="lg"/>
            <a:tailEnd type="none" w="lg" len="lg"/>
          </a:ln>
        </p:spPr>
      </p:cxnSp>
      <p:sp>
        <p:nvSpPr>
          <p:cNvPr id="5" name="AutoShape 5"/>
          <p:cNvSpPr/>
          <p:nvPr/>
        </p:nvSpPr>
        <p:spPr>
          <a:xfrm>
            <a:off x="1016000" y="2032000"/>
            <a:ext cx="5080000" cy="1270000"/>
          </a:xfrm>
          <a:prstGeom prst="roundRect">
            <a:avLst>
              <a:gd name="adj" fmla="val 0"/>
            </a:avLst>
          </a:prstGeom>
          <a:solidFill>
            <a:srgbClr val="172C4D">
              <a:alpha val="85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1016000" y="2032000"/>
            <a:ext cx="76200" cy="1270000"/>
          </a:xfrm>
          <a:prstGeom prst="roundRect">
            <a:avLst>
              <a:gd name="adj" fmla="val 0"/>
            </a:avLst>
          </a:prstGeom>
          <a:solidFill>
            <a:srgbClr val="00BFFF">
              <a:alpha val="100000"/>
            </a:srgbClr>
          </a:solidFill>
          <a:ln w="25400" cap="flat" cmpd="sng">
            <a:noFill/>
            <a:prstDash val="solid"/>
            <a:round/>
          </a:ln>
        </p:spPr>
        <p:txBody>
          <a:bodyPr vert="horz" wrap="square" lIns="0" tIns="0" rIns="0" bIns="0" rtlCol="0" anchor="ctr" anchorCtr="0"/>
          <a:lstStyle/>
          <a:p>
            <a:pPr algn="ctr">
              <a:defRPr/>
            </a:pPr>
          </a:p>
        </p:txBody>
      </p:sp>
      <p:sp>
        <p:nvSpPr>
          <p:cNvPr id="7" name="AutoShape 7"/>
          <p:cNvSpPr/>
          <p:nvPr/>
        </p:nvSpPr>
        <p:spPr>
          <a:xfrm>
            <a:off x="1270000" y="2222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BFFF"/>
                </a:solidFill>
                <a:latin typeface="Poppins"/>
                <a:ea typeface="Poppins"/>
                <a:cs typeface="Poppins"/>
                <a:sym typeface="Poppins"/>
              </a:rPr>
              <a:t>01</a:t>
            </a:r>
            <a:endParaRPr lang="en-US" sz="1100"/>
          </a:p>
        </p:txBody>
      </p:sp>
      <p:sp>
        <p:nvSpPr>
          <p:cNvPr id="8" name="AutoShape 8"/>
          <p:cNvSpPr/>
          <p:nvPr/>
        </p:nvSpPr>
        <p:spPr>
          <a:xfrm>
            <a:off x="2159000" y="2159000"/>
            <a:ext cx="368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FFFFFF"/>
                </a:solidFill>
                <a:latin typeface="Noto Sans SC"/>
                <a:ea typeface="Noto Sans SC"/>
                <a:cs typeface="Noto Sans SC"/>
                <a:sym typeface="Noto Sans SC"/>
              </a:rPr>
              <a:t>Era Background &amp; Corporate Challenges</a:t>
            </a:r>
            <a:endParaRPr lang="en-US" sz="1100"/>
          </a:p>
          <a:p>
            <a:pPr marL="0" indent="0" algn="l">
              <a:lnSpc>
                <a:spcPct val="108000"/>
              </a:lnSpc>
            </a:pPr>
            <a:r>
              <a:rPr lang="en-US" sz="1000" b="0" i="0" u="none" strike="noStrike">
                <a:solidFill>
                  <a:srgbClr val="B4C3D2"/>
                </a:solidFill>
                <a:latin typeface="Noto Sans SC"/>
                <a:ea typeface="Noto Sans SC"/>
                <a:cs typeface="Noto Sans SC"/>
                <a:sym typeface="Noto Sans SC"/>
              </a:rPr>
              <a:t>Opportunities and Challenges in the Digital Wave; Core Pain Points of Traditional Office Models.</a:t>
            </a:r>
            <a:endParaRPr lang="en-US" sz="1000" b="0" i="0" u="none" strike="noStrike">
              <a:solidFill>
                <a:srgbClr val="B4C3D2"/>
              </a:solidFill>
              <a:latin typeface="Noto Sans SC"/>
              <a:ea typeface="Noto Sans SC"/>
              <a:cs typeface="Noto Sans SC"/>
              <a:sym typeface="Noto Sans SC"/>
            </a:endParaRPr>
          </a:p>
        </p:txBody>
      </p:sp>
      <p:sp>
        <p:nvSpPr>
          <p:cNvPr id="9" name="AutoShape 9"/>
          <p:cNvSpPr/>
          <p:nvPr/>
        </p:nvSpPr>
        <p:spPr>
          <a:xfrm>
            <a:off x="1016000" y="3556000"/>
            <a:ext cx="5080000" cy="1270000"/>
          </a:xfrm>
          <a:prstGeom prst="roundRect">
            <a:avLst>
              <a:gd name="adj" fmla="val 0"/>
            </a:avLst>
          </a:prstGeom>
          <a:solidFill>
            <a:srgbClr val="172C4D">
              <a:alpha val="85000"/>
            </a:srgbClr>
          </a:solidFill>
          <a:ln w="25400" cap="flat" cmpd="sng">
            <a:noFill/>
            <a:prstDash val="solid"/>
            <a:round/>
          </a:ln>
        </p:spPr>
        <p:txBody>
          <a:bodyPr vert="horz" wrap="square" lIns="0" tIns="0" rIns="0" bIns="0" rtlCol="0" anchor="ctr" anchorCtr="0"/>
          <a:lstStyle/>
          <a:p>
            <a:pPr algn="ctr">
              <a:defRPr/>
            </a:pPr>
          </a:p>
        </p:txBody>
      </p:sp>
      <p:sp>
        <p:nvSpPr>
          <p:cNvPr id="10" name="AutoShape 10"/>
          <p:cNvSpPr/>
          <p:nvPr/>
        </p:nvSpPr>
        <p:spPr>
          <a:xfrm>
            <a:off x="1016000" y="3556000"/>
            <a:ext cx="76200" cy="1270000"/>
          </a:xfrm>
          <a:prstGeom prst="roundRect">
            <a:avLst>
              <a:gd name="adj" fmla="val 0"/>
            </a:avLst>
          </a:prstGeom>
          <a:solidFill>
            <a:srgbClr val="00BFFF">
              <a:alpha val="100000"/>
            </a:srgbClr>
          </a:solidFill>
          <a:ln w="25400" cap="flat" cmpd="sng">
            <a:noFill/>
            <a:prstDash val="solid"/>
            <a:round/>
          </a:ln>
        </p:spPr>
        <p:txBody>
          <a:bodyPr vert="horz" wrap="square" lIns="0" tIns="0" rIns="0" bIns="0" rtlCol="0" anchor="ctr" anchorCtr="0"/>
          <a:lstStyle/>
          <a:p>
            <a:pPr algn="ctr">
              <a:defRPr/>
            </a:pPr>
          </a:p>
        </p:txBody>
      </p:sp>
      <p:sp>
        <p:nvSpPr>
          <p:cNvPr id="11" name="AutoShape 11"/>
          <p:cNvSpPr/>
          <p:nvPr/>
        </p:nvSpPr>
        <p:spPr>
          <a:xfrm>
            <a:off x="1270000" y="3746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BFFF"/>
                </a:solidFill>
                <a:latin typeface="Poppins"/>
                <a:ea typeface="Poppins"/>
                <a:cs typeface="Poppins"/>
                <a:sym typeface="Poppins"/>
              </a:rPr>
              <a:t>02</a:t>
            </a:r>
            <a:endParaRPr lang="en-US" sz="1100"/>
          </a:p>
        </p:txBody>
      </p:sp>
      <p:sp>
        <p:nvSpPr>
          <p:cNvPr id="12" name="AutoShape 12"/>
          <p:cNvSpPr/>
          <p:nvPr/>
        </p:nvSpPr>
        <p:spPr>
          <a:xfrm>
            <a:off x="2159000" y="3683000"/>
            <a:ext cx="368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FFFFFF"/>
                </a:solidFill>
                <a:latin typeface="Noto Sans SC"/>
                <a:ea typeface="Noto Sans SC"/>
                <a:cs typeface="Noto Sans SC"/>
                <a:sym typeface="Noto Sans SC"/>
              </a:rPr>
              <a:t>SynergyOS Solution Overview</a:t>
            </a:r>
            <a:endParaRPr lang="en-US" sz="1100"/>
          </a:p>
          <a:p>
            <a:pPr marL="0" indent="0" algn="l">
              <a:lnSpc>
                <a:spcPct val="108000"/>
              </a:lnSpc>
            </a:pPr>
            <a:r>
              <a:rPr lang="en-US" sz="1000" b="0" i="0" u="none" strike="noStrike">
                <a:solidFill>
                  <a:srgbClr val="B4C3D2"/>
                </a:solidFill>
                <a:latin typeface="Noto Sans SC"/>
                <a:ea typeface="Noto Sans SC"/>
                <a:cs typeface="Noto Sans SC"/>
                <a:sym typeface="Noto Sans SC"/>
              </a:rPr>
              <a:t>Product Vision &amp; Core Values; Overall Architecture &amp; Design Philosophy.</a:t>
            </a:r>
            <a:endParaRPr lang="en-US" sz="1000" b="0" i="0" u="none" strike="noStrike">
              <a:solidFill>
                <a:srgbClr val="B4C3D2"/>
              </a:solidFill>
              <a:latin typeface="Noto Sans SC"/>
              <a:ea typeface="Noto Sans SC"/>
              <a:cs typeface="Noto Sans SC"/>
              <a:sym typeface="Noto Sans SC"/>
            </a:endParaRPr>
          </a:p>
        </p:txBody>
      </p:sp>
      <p:sp>
        <p:nvSpPr>
          <p:cNvPr id="13" name="AutoShape 13"/>
          <p:cNvSpPr/>
          <p:nvPr/>
        </p:nvSpPr>
        <p:spPr>
          <a:xfrm>
            <a:off x="1016000" y="5080000"/>
            <a:ext cx="5080000" cy="1270000"/>
          </a:xfrm>
          <a:prstGeom prst="roundRect">
            <a:avLst>
              <a:gd name="adj" fmla="val 0"/>
            </a:avLst>
          </a:prstGeom>
          <a:solidFill>
            <a:srgbClr val="172C4D">
              <a:alpha val="85000"/>
            </a:srgbClr>
          </a:solidFill>
          <a:ln w="25400" cap="flat" cmpd="sng">
            <a:noFill/>
            <a:prstDash val="solid"/>
            <a:round/>
          </a:ln>
        </p:spPr>
        <p:txBody>
          <a:bodyPr vert="horz" wrap="square" lIns="0" tIns="0" rIns="0" bIns="0" rtlCol="0" anchor="ctr" anchorCtr="0"/>
          <a:lstStyle/>
          <a:p>
            <a:pPr algn="ctr">
              <a:defRPr/>
            </a:pPr>
          </a:p>
        </p:txBody>
      </p:sp>
      <p:sp>
        <p:nvSpPr>
          <p:cNvPr id="14" name="AutoShape 14"/>
          <p:cNvSpPr/>
          <p:nvPr/>
        </p:nvSpPr>
        <p:spPr>
          <a:xfrm>
            <a:off x="1016000" y="5080000"/>
            <a:ext cx="76200" cy="1270000"/>
          </a:xfrm>
          <a:prstGeom prst="roundRect">
            <a:avLst>
              <a:gd name="adj" fmla="val 0"/>
            </a:avLst>
          </a:prstGeom>
          <a:solidFill>
            <a:srgbClr val="00BFFF">
              <a:alpha val="100000"/>
            </a:srgbClr>
          </a:solidFill>
          <a:ln w="25400" cap="flat" cmpd="sng">
            <a:noFill/>
            <a:prstDash val="solid"/>
            <a:round/>
          </a:ln>
        </p:spPr>
        <p:txBody>
          <a:bodyPr vert="horz" wrap="square" lIns="0" tIns="0" rIns="0" bIns="0" rtlCol="0" anchor="ctr" anchorCtr="0"/>
          <a:lstStyle/>
          <a:p>
            <a:pPr algn="ctr">
              <a:defRPr/>
            </a:pPr>
          </a:p>
        </p:txBody>
      </p:sp>
      <p:sp>
        <p:nvSpPr>
          <p:cNvPr id="15" name="AutoShape 15"/>
          <p:cNvSpPr/>
          <p:nvPr/>
        </p:nvSpPr>
        <p:spPr>
          <a:xfrm>
            <a:off x="1270000" y="5270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BFFF"/>
                </a:solidFill>
                <a:latin typeface="Poppins"/>
                <a:ea typeface="Poppins"/>
                <a:cs typeface="Poppins"/>
                <a:sym typeface="Poppins"/>
              </a:rPr>
              <a:t>03</a:t>
            </a:r>
            <a:endParaRPr lang="en-US" sz="1100"/>
          </a:p>
        </p:txBody>
      </p:sp>
      <p:sp>
        <p:nvSpPr>
          <p:cNvPr id="16" name="AutoShape 16"/>
          <p:cNvSpPr/>
          <p:nvPr/>
        </p:nvSpPr>
        <p:spPr>
          <a:xfrm>
            <a:off x="2159000" y="5207000"/>
            <a:ext cx="368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FFFFFF"/>
                </a:solidFill>
                <a:latin typeface="Noto Sans SC"/>
                <a:ea typeface="Noto Sans SC"/>
                <a:cs typeface="Noto Sans SC"/>
                <a:sym typeface="Noto Sans SC"/>
              </a:rPr>
              <a:t>Core Functional Modules</a:t>
            </a:r>
            <a:endParaRPr lang="en-US" sz="1100"/>
          </a:p>
          <a:p>
            <a:pPr marL="0" indent="0" algn="l">
              <a:lnSpc>
                <a:spcPct val="108000"/>
              </a:lnSpc>
            </a:pPr>
            <a:r>
              <a:rPr lang="en-US" sz="900" b="0" i="0" u="none" strike="noStrike">
                <a:solidFill>
                  <a:srgbClr val="B4C3D2"/>
                </a:solidFill>
                <a:latin typeface="Noto Sans SC"/>
                <a:ea typeface="Noto Sans SC"/>
                <a:cs typeface="Noto Sans SC"/>
                <a:sym typeface="Noto Sans SC"/>
              </a:rPr>
              <a:t>Collaboration Hub, Integrated Processes, Data Cockpit.</a:t>
            </a:r>
            <a:endParaRPr lang="en-US" sz="900" b="0" i="0" u="none" strike="noStrike">
              <a:solidFill>
                <a:srgbClr val="B4C3D2"/>
              </a:solidFill>
              <a:latin typeface="Noto Sans SC"/>
              <a:ea typeface="Noto Sans SC"/>
              <a:cs typeface="Noto Sans SC"/>
              <a:sym typeface="Noto Sans SC"/>
            </a:endParaRPr>
          </a:p>
        </p:txBody>
      </p:sp>
      <p:sp>
        <p:nvSpPr>
          <p:cNvPr id="17" name="AutoShape 17"/>
          <p:cNvSpPr/>
          <p:nvPr/>
        </p:nvSpPr>
        <p:spPr>
          <a:xfrm>
            <a:off x="6477000" y="2032000"/>
            <a:ext cx="4699000" cy="1270000"/>
          </a:xfrm>
          <a:prstGeom prst="roundRect">
            <a:avLst>
              <a:gd name="adj" fmla="val 0"/>
            </a:avLst>
          </a:prstGeom>
          <a:solidFill>
            <a:srgbClr val="172C4D">
              <a:alpha val="85000"/>
            </a:srgbClr>
          </a:solidFill>
          <a:ln w="25400" cap="flat" cmpd="sng">
            <a:noFill/>
            <a:prstDash val="solid"/>
            <a:round/>
          </a:ln>
        </p:spPr>
        <p:txBody>
          <a:bodyPr vert="horz" wrap="square" lIns="0" tIns="0" rIns="0" bIns="0" rtlCol="0" anchor="ctr" anchorCtr="0"/>
          <a:lstStyle/>
          <a:p>
            <a:pPr algn="ctr">
              <a:defRPr/>
            </a:pPr>
          </a:p>
        </p:txBody>
      </p:sp>
      <p:sp>
        <p:nvSpPr>
          <p:cNvPr id="18" name="AutoShape 18"/>
          <p:cNvSpPr/>
          <p:nvPr/>
        </p:nvSpPr>
        <p:spPr>
          <a:xfrm>
            <a:off x="6477000" y="2032000"/>
            <a:ext cx="76200" cy="1270000"/>
          </a:xfrm>
          <a:prstGeom prst="roundRect">
            <a:avLst>
              <a:gd name="adj" fmla="val 0"/>
            </a:avLst>
          </a:prstGeom>
          <a:solidFill>
            <a:srgbClr val="00BFFF">
              <a:alpha val="100000"/>
            </a:srgbClr>
          </a:solidFill>
          <a:ln w="25400" cap="flat" cmpd="sng">
            <a:noFill/>
            <a:prstDash val="solid"/>
            <a:round/>
          </a:ln>
        </p:spPr>
        <p:txBody>
          <a:bodyPr vert="horz" wrap="square" lIns="0" tIns="0" rIns="0" bIns="0" rtlCol="0" anchor="ctr" anchorCtr="0"/>
          <a:lstStyle/>
          <a:p>
            <a:pPr algn="ctr">
              <a:defRPr/>
            </a:pPr>
          </a:p>
        </p:txBody>
      </p:sp>
      <p:sp>
        <p:nvSpPr>
          <p:cNvPr id="19" name="AutoShape 19"/>
          <p:cNvSpPr/>
          <p:nvPr/>
        </p:nvSpPr>
        <p:spPr>
          <a:xfrm>
            <a:off x="6731000" y="2222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BFFF"/>
                </a:solidFill>
                <a:latin typeface="Poppins"/>
                <a:ea typeface="Poppins"/>
                <a:cs typeface="Poppins"/>
                <a:sym typeface="Poppins"/>
              </a:rPr>
              <a:t>04</a:t>
            </a:r>
            <a:endParaRPr lang="en-US" sz="1100"/>
          </a:p>
        </p:txBody>
      </p:sp>
      <p:sp>
        <p:nvSpPr>
          <p:cNvPr id="20" name="AutoShape 20"/>
          <p:cNvSpPr/>
          <p:nvPr/>
        </p:nvSpPr>
        <p:spPr>
          <a:xfrm>
            <a:off x="7620000" y="2159000"/>
            <a:ext cx="342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FFFFFF"/>
                </a:solidFill>
                <a:latin typeface="Noto Sans SC"/>
                <a:ea typeface="Noto Sans SC"/>
                <a:cs typeface="Noto Sans SC"/>
                <a:sym typeface="Noto Sans SC"/>
              </a:rPr>
              <a:t>Core Advantages &amp; Value</a:t>
            </a:r>
            <a:endParaRPr lang="en-US" sz="1100"/>
          </a:p>
          <a:p>
            <a:pPr marL="0" indent="0" algn="l">
              <a:lnSpc>
                <a:spcPct val="108000"/>
              </a:lnSpc>
            </a:pPr>
            <a:r>
              <a:rPr lang="en-US" sz="1000" b="0" i="0" u="none" strike="noStrike">
                <a:solidFill>
                  <a:srgbClr val="B4C3D2"/>
                </a:solidFill>
                <a:latin typeface="Noto Sans SC"/>
                <a:ea typeface="Noto Sans SC"/>
                <a:cs typeface="Noto Sans SC"/>
                <a:sym typeface="Noto Sans SC"/>
              </a:rPr>
              <a:t>Revolutionary Differences; Why Choose SynergyOS.</a:t>
            </a:r>
            <a:endParaRPr lang="en-US" sz="1000" b="0" i="0" u="none" strike="noStrike">
              <a:solidFill>
                <a:srgbClr val="B4C3D2"/>
              </a:solidFill>
              <a:latin typeface="Noto Sans SC"/>
              <a:ea typeface="Noto Sans SC"/>
              <a:cs typeface="Noto Sans SC"/>
              <a:sym typeface="Noto Sans SC"/>
            </a:endParaRPr>
          </a:p>
        </p:txBody>
      </p:sp>
      <p:sp>
        <p:nvSpPr>
          <p:cNvPr id="21" name="AutoShape 21"/>
          <p:cNvSpPr/>
          <p:nvPr/>
        </p:nvSpPr>
        <p:spPr>
          <a:xfrm>
            <a:off x="6477000" y="3556000"/>
            <a:ext cx="4699000" cy="1270000"/>
          </a:xfrm>
          <a:prstGeom prst="roundRect">
            <a:avLst>
              <a:gd name="adj" fmla="val 0"/>
            </a:avLst>
          </a:prstGeom>
          <a:solidFill>
            <a:srgbClr val="172C4D">
              <a:alpha val="85000"/>
            </a:srgbClr>
          </a:solidFill>
          <a:ln w="25400" cap="flat" cmpd="sng">
            <a:noFill/>
            <a:prstDash val="solid"/>
            <a:round/>
          </a:ln>
        </p:spPr>
        <p:txBody>
          <a:bodyPr vert="horz" wrap="square" lIns="0" tIns="0" rIns="0" bIns="0" rtlCol="0" anchor="ctr" anchorCtr="0"/>
          <a:lstStyle/>
          <a:p>
            <a:pPr algn="ctr">
              <a:defRPr/>
            </a:pPr>
          </a:p>
        </p:txBody>
      </p:sp>
      <p:sp>
        <p:nvSpPr>
          <p:cNvPr id="22" name="AutoShape 22"/>
          <p:cNvSpPr/>
          <p:nvPr/>
        </p:nvSpPr>
        <p:spPr>
          <a:xfrm>
            <a:off x="6477000" y="3556000"/>
            <a:ext cx="76200" cy="1270000"/>
          </a:xfrm>
          <a:prstGeom prst="roundRect">
            <a:avLst>
              <a:gd name="adj" fmla="val 0"/>
            </a:avLst>
          </a:prstGeom>
          <a:solidFill>
            <a:srgbClr val="00BFFF">
              <a:alpha val="100000"/>
            </a:srgbClr>
          </a:solidFill>
          <a:ln w="25400" cap="flat" cmpd="sng">
            <a:noFill/>
            <a:prstDash val="solid"/>
            <a:round/>
          </a:ln>
        </p:spPr>
        <p:txBody>
          <a:bodyPr vert="horz" wrap="square" lIns="0" tIns="0" rIns="0" bIns="0" rtlCol="0" anchor="ctr" anchorCtr="0"/>
          <a:lstStyle/>
          <a:p>
            <a:pPr algn="ctr">
              <a:defRPr/>
            </a:pPr>
          </a:p>
        </p:txBody>
      </p:sp>
      <p:sp>
        <p:nvSpPr>
          <p:cNvPr id="23" name="AutoShape 23"/>
          <p:cNvSpPr/>
          <p:nvPr/>
        </p:nvSpPr>
        <p:spPr>
          <a:xfrm>
            <a:off x="6731000" y="3746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BFFF"/>
                </a:solidFill>
                <a:latin typeface="Poppins"/>
                <a:ea typeface="Poppins"/>
                <a:cs typeface="Poppins"/>
                <a:sym typeface="Poppins"/>
              </a:rPr>
              <a:t>05</a:t>
            </a:r>
            <a:endParaRPr lang="en-US" sz="1100"/>
          </a:p>
        </p:txBody>
      </p:sp>
      <p:sp>
        <p:nvSpPr>
          <p:cNvPr id="24" name="AutoShape 24"/>
          <p:cNvSpPr/>
          <p:nvPr/>
        </p:nvSpPr>
        <p:spPr>
          <a:xfrm>
            <a:off x="7620000" y="3683000"/>
            <a:ext cx="342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FFFFFF"/>
                </a:solidFill>
                <a:latin typeface="Noto Sans SC"/>
                <a:ea typeface="Noto Sans SC"/>
                <a:cs typeface="Noto Sans SC"/>
                <a:sym typeface="Noto Sans SC"/>
              </a:rPr>
              <a:t>Value Quantification &amp; Data</a:t>
            </a:r>
            <a:endParaRPr lang="en-US" sz="1100"/>
          </a:p>
          <a:p>
            <a:pPr marL="0" indent="0" algn="l">
              <a:lnSpc>
                <a:spcPct val="108000"/>
              </a:lnSpc>
            </a:pPr>
            <a:r>
              <a:rPr lang="en-US" sz="1000" b="0" i="0" u="none" strike="noStrike">
                <a:solidFill>
                  <a:srgbClr val="B4C3D2"/>
                </a:solidFill>
                <a:latin typeface="Noto Sans SC"/>
                <a:ea typeface="Noto Sans SC"/>
                <a:cs typeface="Noto Sans SC"/>
                <a:sym typeface="Noto Sans SC"/>
              </a:rPr>
              <a:t>KPI Improvement Analysis; ROI Model Overview.</a:t>
            </a:r>
            <a:endParaRPr lang="en-US" sz="1000" b="0" i="0" u="none" strike="noStrike">
              <a:solidFill>
                <a:srgbClr val="B4C3D2"/>
              </a:solidFill>
              <a:latin typeface="Noto Sans SC"/>
              <a:ea typeface="Noto Sans SC"/>
              <a:cs typeface="Noto Sans SC"/>
              <a:sym typeface="Noto Sans SC"/>
            </a:endParaRPr>
          </a:p>
        </p:txBody>
      </p:sp>
      <p:sp>
        <p:nvSpPr>
          <p:cNvPr id="25" name="AutoShape 25"/>
          <p:cNvSpPr/>
          <p:nvPr/>
        </p:nvSpPr>
        <p:spPr>
          <a:xfrm>
            <a:off x="6477000" y="5080000"/>
            <a:ext cx="2286000" cy="1270000"/>
          </a:xfrm>
          <a:prstGeom prst="roundRect">
            <a:avLst>
              <a:gd name="adj" fmla="val 0"/>
            </a:avLst>
          </a:prstGeom>
          <a:solidFill>
            <a:srgbClr val="172C4D">
              <a:alpha val="85000"/>
            </a:srgbClr>
          </a:solidFill>
          <a:ln w="25400" cap="flat" cmpd="sng">
            <a:noFill/>
            <a:prstDash val="solid"/>
            <a:round/>
          </a:ln>
        </p:spPr>
        <p:txBody>
          <a:bodyPr vert="horz" wrap="square" lIns="0" tIns="0" rIns="0" bIns="0" rtlCol="0" anchor="ctr" anchorCtr="0"/>
          <a:lstStyle/>
          <a:p>
            <a:pPr algn="ctr">
              <a:defRPr/>
            </a:pPr>
          </a:p>
        </p:txBody>
      </p:sp>
      <p:sp>
        <p:nvSpPr>
          <p:cNvPr id="26" name="AutoShape 26"/>
          <p:cNvSpPr/>
          <p:nvPr/>
        </p:nvSpPr>
        <p:spPr>
          <a:xfrm>
            <a:off x="6477000" y="5080000"/>
            <a:ext cx="76200" cy="1270000"/>
          </a:xfrm>
          <a:prstGeom prst="roundRect">
            <a:avLst>
              <a:gd name="adj" fmla="val 0"/>
            </a:avLst>
          </a:prstGeom>
          <a:solidFill>
            <a:srgbClr val="00BFFF">
              <a:alpha val="100000"/>
            </a:srgbClr>
          </a:solidFill>
          <a:ln w="25400" cap="flat" cmpd="sng">
            <a:noFill/>
            <a:prstDash val="solid"/>
            <a:round/>
          </a:ln>
        </p:spPr>
        <p:txBody>
          <a:bodyPr vert="horz" wrap="square" lIns="0" tIns="0" rIns="0" bIns="0" rtlCol="0" anchor="ctr" anchorCtr="0"/>
          <a:lstStyle/>
          <a:p>
            <a:pPr algn="ctr">
              <a:defRPr/>
            </a:pPr>
          </a:p>
        </p:txBody>
      </p:sp>
      <p:sp>
        <p:nvSpPr>
          <p:cNvPr id="27" name="AutoShape 27"/>
          <p:cNvSpPr/>
          <p:nvPr/>
        </p:nvSpPr>
        <p:spPr>
          <a:xfrm>
            <a:off x="6667500" y="5181600"/>
            <a:ext cx="1968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00BFFF"/>
                </a:solidFill>
                <a:latin typeface="Poppins"/>
                <a:ea typeface="Poppins"/>
                <a:cs typeface="Poppins"/>
                <a:sym typeface="Poppins"/>
              </a:rPr>
              <a:t>06</a:t>
            </a:r>
            <a:endParaRPr lang="en-US" sz="1100"/>
          </a:p>
          <a:p>
            <a:pPr marL="0" indent="0" algn="l">
              <a:lnSpc>
                <a:spcPct val="100000"/>
              </a:lnSpc>
            </a:pPr>
            <a:r>
              <a:rPr lang="en-US" sz="1200" b="1" i="0" u="none" strike="noStrike">
                <a:solidFill>
                  <a:srgbClr val="FFFFFF"/>
                </a:solidFill>
                <a:latin typeface="Noto Sans SC"/>
                <a:ea typeface="Noto Sans SC"/>
                <a:cs typeface="Noto Sans SC"/>
                <a:sym typeface="Noto Sans SC"/>
              </a:rPr>
              <a:t>Success Case Sharing</a:t>
            </a:r>
            <a:endParaRPr lang="en-US" sz="1200" b="1" i="0" u="none" strike="noStrike">
              <a:solidFill>
                <a:srgbClr val="FFFFFF"/>
              </a:solidFill>
              <a:latin typeface="Noto Sans SC"/>
              <a:ea typeface="Noto Sans SC"/>
              <a:cs typeface="Noto Sans SC"/>
              <a:sym typeface="Noto Sans SC"/>
            </a:endParaRPr>
          </a:p>
          <a:p>
            <a:pPr marL="0" indent="0" algn="l">
              <a:lnSpc>
                <a:spcPct val="100000"/>
              </a:lnSpc>
            </a:pPr>
            <a:r>
              <a:rPr lang="en-US" sz="900" b="0" i="0" u="none" strike="noStrike">
                <a:solidFill>
                  <a:srgbClr val="B4C3D2"/>
                </a:solidFill>
                <a:latin typeface="Noto Sans SC"/>
                <a:ea typeface="Noto Sans SC"/>
                <a:cs typeface="Noto Sans SC"/>
                <a:sym typeface="Noto Sans SC"/>
              </a:rPr>
              <a:t>[XX Group] Digital Transformation Journey.</a:t>
            </a:r>
            <a:endParaRPr lang="en-US" sz="900" b="0" i="0" u="none" strike="noStrike">
              <a:solidFill>
                <a:srgbClr val="B4C3D2"/>
              </a:solidFill>
              <a:latin typeface="Noto Sans SC"/>
              <a:ea typeface="Noto Sans SC"/>
              <a:cs typeface="Noto Sans SC"/>
              <a:sym typeface="Noto Sans SC"/>
            </a:endParaRPr>
          </a:p>
        </p:txBody>
      </p:sp>
      <p:sp>
        <p:nvSpPr>
          <p:cNvPr id="28" name="AutoShape 28"/>
          <p:cNvSpPr/>
          <p:nvPr/>
        </p:nvSpPr>
        <p:spPr>
          <a:xfrm>
            <a:off x="8890000" y="5080000"/>
            <a:ext cx="2286000" cy="1270000"/>
          </a:xfrm>
          <a:prstGeom prst="roundRect">
            <a:avLst>
              <a:gd name="adj" fmla="val 0"/>
            </a:avLst>
          </a:prstGeom>
          <a:solidFill>
            <a:srgbClr val="172C4D">
              <a:alpha val="85000"/>
            </a:srgbClr>
          </a:solidFill>
          <a:ln w="25400" cap="flat" cmpd="sng">
            <a:noFill/>
            <a:prstDash val="solid"/>
            <a:round/>
          </a:ln>
        </p:spPr>
        <p:txBody>
          <a:bodyPr vert="horz" wrap="square" lIns="0" tIns="0" rIns="0" bIns="0" rtlCol="0" anchor="ctr" anchorCtr="0"/>
          <a:lstStyle/>
          <a:p>
            <a:pPr algn="ctr">
              <a:defRPr/>
            </a:pPr>
          </a:p>
        </p:txBody>
      </p:sp>
      <p:sp>
        <p:nvSpPr>
          <p:cNvPr id="29" name="AutoShape 29"/>
          <p:cNvSpPr/>
          <p:nvPr/>
        </p:nvSpPr>
        <p:spPr>
          <a:xfrm>
            <a:off x="8890000" y="5080000"/>
            <a:ext cx="76200" cy="1270000"/>
          </a:xfrm>
          <a:prstGeom prst="roundRect">
            <a:avLst>
              <a:gd name="adj" fmla="val 0"/>
            </a:avLst>
          </a:prstGeom>
          <a:solidFill>
            <a:srgbClr val="00BFFF">
              <a:alpha val="100000"/>
            </a:srgbClr>
          </a:solidFill>
          <a:ln w="25400" cap="flat" cmpd="sng">
            <a:noFill/>
            <a:prstDash val="solid"/>
            <a:round/>
          </a:ln>
        </p:spPr>
        <p:txBody>
          <a:bodyPr vert="horz" wrap="square" lIns="0" tIns="0" rIns="0" bIns="0" rtlCol="0" anchor="ctr" anchorCtr="0"/>
          <a:lstStyle/>
          <a:p>
            <a:pPr algn="ctr">
              <a:defRPr/>
            </a:pPr>
          </a:p>
        </p:txBody>
      </p:sp>
      <p:sp>
        <p:nvSpPr>
          <p:cNvPr id="30" name="AutoShape 30"/>
          <p:cNvSpPr/>
          <p:nvPr/>
        </p:nvSpPr>
        <p:spPr>
          <a:xfrm>
            <a:off x="9080500" y="5181600"/>
            <a:ext cx="1968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00BFFF"/>
                </a:solidFill>
                <a:latin typeface="Poppins"/>
                <a:ea typeface="Poppins"/>
                <a:cs typeface="Poppins"/>
                <a:sym typeface="Poppins"/>
              </a:rPr>
              <a:t>07</a:t>
            </a:r>
            <a:endParaRPr lang="en-US" sz="1100"/>
          </a:p>
          <a:p>
            <a:pPr marL="0" indent="0" algn="l">
              <a:lnSpc>
                <a:spcPct val="100000"/>
              </a:lnSpc>
            </a:pPr>
            <a:r>
              <a:rPr lang="en-US" sz="1200" b="1" i="0" u="none" strike="noStrike">
                <a:solidFill>
                  <a:srgbClr val="FFFFFF"/>
                </a:solidFill>
                <a:latin typeface="Noto Sans SC"/>
                <a:ea typeface="Noto Sans SC"/>
                <a:cs typeface="Noto Sans SC"/>
                <a:sym typeface="Noto Sans SC"/>
              </a:rPr>
              <a:t>Cooperation Outlook</a:t>
            </a:r>
            <a:endParaRPr lang="en-US" sz="1200" b="1" i="0" u="none" strike="noStrike">
              <a:solidFill>
                <a:srgbClr val="FFFFFF"/>
              </a:solidFill>
              <a:latin typeface="Noto Sans SC"/>
              <a:ea typeface="Noto Sans SC"/>
              <a:cs typeface="Noto Sans SC"/>
              <a:sym typeface="Noto Sans SC"/>
            </a:endParaRPr>
          </a:p>
          <a:p>
            <a:pPr marL="0" indent="0" algn="l">
              <a:lnSpc>
                <a:spcPct val="100000"/>
              </a:lnSpc>
            </a:pPr>
            <a:r>
              <a:rPr lang="en-US" sz="900" b="0" i="0" u="none" strike="noStrike">
                <a:solidFill>
                  <a:srgbClr val="B4C3D2"/>
                </a:solidFill>
                <a:latin typeface="Noto Sans SC"/>
                <a:ea typeface="Noto Sans SC"/>
                <a:cs typeface="Noto Sans SC"/>
                <a:sym typeface="Noto Sans SC"/>
              </a:rPr>
              <a:t>Implementation Path &amp; Future.</a:t>
            </a:r>
            <a:endParaRPr lang="en-US" sz="900" b="0" i="0" u="none" strike="noStrike">
              <a:solidFill>
                <a:srgbClr val="B4C3D2"/>
              </a:solidFill>
              <a:latin typeface="Noto Sans SC"/>
              <a:ea typeface="Noto Sans SC"/>
              <a:cs typeface="Noto Sans SC"/>
              <a:sym typeface="Noto Sans S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92F">
              <a:alpha val="92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1016000" y="1270000"/>
            <a:ext cx="254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8000" b="1" i="0" u="none" strike="noStrike">
                <a:solidFill>
                  <a:srgbClr val="00BFFF"/>
                </a:solidFill>
                <a:latin typeface="Poppins"/>
                <a:ea typeface="Poppins"/>
                <a:cs typeface="Poppins"/>
                <a:sym typeface="Poppins"/>
              </a:rPr>
              <a:t>01</a:t>
            </a:r>
            <a:endParaRPr lang="en-US" sz="1100"/>
          </a:p>
        </p:txBody>
      </p:sp>
      <p:sp>
        <p:nvSpPr>
          <p:cNvPr id="4" name="AutoShape 4"/>
          <p:cNvSpPr/>
          <p:nvPr/>
        </p:nvSpPr>
        <p:spPr>
          <a:xfrm>
            <a:off x="1016000" y="2667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000" b="1" i="0" u="none" strike="noStrike">
                <a:solidFill>
                  <a:srgbClr val="FFFFFF"/>
                </a:solidFill>
                <a:latin typeface="Poppins"/>
                <a:ea typeface="Poppins"/>
                <a:cs typeface="Poppins"/>
                <a:sym typeface="Poppins"/>
              </a:rPr>
              <a:t>Era Background &amp; Corporate Challenges</a:t>
            </a:r>
            <a:endParaRPr lang="en-US" sz="1100"/>
          </a:p>
        </p:txBody>
      </p:sp>
      <p:sp>
        <p:nvSpPr>
          <p:cNvPr id="5" name="AutoShape 5"/>
          <p:cNvSpPr/>
          <p:nvPr/>
        </p:nvSpPr>
        <p:spPr>
          <a:xfrm>
            <a:off x="1016000" y="3810000"/>
            <a:ext cx="1524000" cy="50800"/>
          </a:xfrm>
          <a:prstGeom prst="roundRect">
            <a:avLst>
              <a:gd name="adj" fmla="val 0"/>
            </a:avLst>
          </a:prstGeom>
          <a:solidFill>
            <a:srgbClr val="00BFFF">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1016000" y="4318000"/>
            <a:ext cx="3302000" cy="2032000"/>
          </a:xfrm>
          <a:prstGeom prst="roundRect">
            <a:avLst>
              <a:gd name="adj" fmla="val 0"/>
            </a:avLst>
          </a:prstGeom>
          <a:solidFill>
            <a:srgbClr val="172C4D">
              <a:alpha val="85000"/>
            </a:srgbClr>
          </a:solidFill>
          <a:ln w="12700" cap="flat" cmpd="sng">
            <a:solidFill>
              <a:srgbClr val="00BFFF">
                <a:alpha val="30000"/>
              </a:srgbClr>
            </a:solidFill>
            <a:prstDash val="solid"/>
            <a:round/>
          </a:ln>
        </p:spPr>
        <p:txBody>
          <a:bodyPr vert="horz" wrap="square" lIns="0" tIns="0" rIns="0" bIns="0" rtlCol="0" anchor="ctr" anchorCtr="0"/>
          <a:lstStyle/>
          <a:p>
            <a:pPr algn="ctr">
              <a:defRPr/>
            </a:pPr>
          </a:p>
        </p:txBody>
      </p:sp>
      <p:sp>
        <p:nvSpPr>
          <p:cNvPr id="7" name="AutoShape 7"/>
          <p:cNvSpPr/>
          <p:nvPr/>
        </p:nvSpPr>
        <p:spPr>
          <a:xfrm>
            <a:off x="1016000" y="4318000"/>
            <a:ext cx="76200" cy="2032000"/>
          </a:xfrm>
          <a:prstGeom prst="roundRect">
            <a:avLst>
              <a:gd name="adj" fmla="val 0"/>
            </a:avLst>
          </a:prstGeom>
          <a:solidFill>
            <a:srgbClr val="00BFFF">
              <a:alpha val="100000"/>
            </a:srgbClr>
          </a:solidFill>
          <a:ln w="25400" cap="flat" cmpd="sng">
            <a:noFill/>
            <a:prstDash val="solid"/>
            <a:round/>
          </a:ln>
        </p:spPr>
        <p:txBody>
          <a:bodyPr vert="horz" wrap="square" lIns="0" tIns="0" rIns="0" bIns="0" rtlCol="0" anchor="ctr" anchorCtr="0"/>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00" y="4572000"/>
            <a:ext cx="355600" cy="355600"/>
          </a:xfrm>
          <a:prstGeom prst="rect">
            <a:avLst/>
          </a:prstGeom>
        </p:spPr>
      </p:pic>
      <p:sp>
        <p:nvSpPr>
          <p:cNvPr id="9" name="AutoShape 9"/>
          <p:cNvSpPr/>
          <p:nvPr/>
        </p:nvSpPr>
        <p:spPr>
          <a:xfrm>
            <a:off x="1778000" y="4546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a:solidFill>
                  <a:srgbClr val="FFFFFF"/>
                </a:solidFill>
                <a:latin typeface="Noto Sans SC"/>
                <a:ea typeface="Noto Sans SC"/>
                <a:cs typeface="Noto Sans SC"/>
                <a:sym typeface="Noto Sans SC"/>
              </a:rPr>
              <a:t>The Global Surge of Digitalization</a:t>
            </a:r>
            <a:endParaRPr lang="en-US" b="1" i="0" u="none" strike="noStrike">
              <a:solidFill>
                <a:srgbClr val="FFFFFF"/>
              </a:solidFill>
              <a:latin typeface="Noto Sans SC"/>
              <a:ea typeface="Noto Sans SC"/>
              <a:cs typeface="Noto Sans SC"/>
              <a:sym typeface="Noto Sans SC"/>
            </a:endParaRPr>
          </a:p>
        </p:txBody>
      </p:sp>
      <p:sp>
        <p:nvSpPr>
          <p:cNvPr id="10" name="AutoShape 10"/>
          <p:cNvSpPr/>
          <p:nvPr/>
        </p:nvSpPr>
        <p:spPr>
          <a:xfrm>
            <a:off x="1270000" y="5143500"/>
            <a:ext cx="279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C8DCF0"/>
                </a:solidFill>
                <a:latin typeface="Noto Sans SC"/>
                <a:ea typeface="Noto Sans SC"/>
                <a:cs typeface="Noto Sans SC"/>
                <a:sym typeface="Noto Sans SC"/>
              </a:rPr>
              <a:t>Rapid tech iteration, blurred markets, intertwined global rivalry and local needs have fundamentally reshaped corporate operating landscapes.</a:t>
            </a:r>
            <a:endParaRPr lang="en-US" sz="1200" b="0" i="0" u="none" strike="noStrike">
              <a:solidFill>
                <a:srgbClr val="C8DCF0"/>
              </a:solidFill>
              <a:latin typeface="Noto Sans SC"/>
              <a:ea typeface="Noto Sans SC"/>
              <a:cs typeface="Noto Sans SC"/>
              <a:sym typeface="Noto Sans SC"/>
            </a:endParaRPr>
          </a:p>
        </p:txBody>
      </p:sp>
      <p:sp>
        <p:nvSpPr>
          <p:cNvPr id="11" name="AutoShape 11"/>
          <p:cNvSpPr/>
          <p:nvPr/>
        </p:nvSpPr>
        <p:spPr>
          <a:xfrm>
            <a:off x="4572000" y="4318000"/>
            <a:ext cx="3302000" cy="2032000"/>
          </a:xfrm>
          <a:prstGeom prst="roundRect">
            <a:avLst>
              <a:gd name="adj" fmla="val 0"/>
            </a:avLst>
          </a:prstGeom>
          <a:solidFill>
            <a:srgbClr val="172C4D">
              <a:alpha val="85000"/>
            </a:srgbClr>
          </a:solidFill>
          <a:ln w="12700" cap="flat" cmpd="sng">
            <a:solidFill>
              <a:srgbClr val="00BFFF">
                <a:alpha val="30000"/>
              </a:srgbClr>
            </a:solidFill>
            <a:prstDash val="solid"/>
            <a:round/>
          </a:ln>
        </p:spPr>
        <p:txBody>
          <a:bodyPr vert="horz" wrap="square" lIns="0" tIns="0" rIns="0" bIns="0" rtlCol="0" anchor="ctr" anchorCtr="0"/>
          <a:lstStyle/>
          <a:p>
            <a:pPr algn="ctr">
              <a:defRPr/>
            </a:pPr>
          </a:p>
        </p:txBody>
      </p:sp>
      <p:sp>
        <p:nvSpPr>
          <p:cNvPr id="12" name="AutoShape 12"/>
          <p:cNvSpPr/>
          <p:nvPr/>
        </p:nvSpPr>
        <p:spPr>
          <a:xfrm>
            <a:off x="4572000" y="4318000"/>
            <a:ext cx="76200" cy="2032000"/>
          </a:xfrm>
          <a:prstGeom prst="roundRect">
            <a:avLst>
              <a:gd name="adj" fmla="val 0"/>
            </a:avLst>
          </a:prstGeom>
          <a:solidFill>
            <a:srgbClr val="00BFFF">
              <a:alpha val="80000"/>
            </a:srgbClr>
          </a:solidFill>
          <a:ln w="25400" cap="flat" cmpd="sng">
            <a:noFill/>
            <a:prstDash val="solid"/>
            <a:round/>
          </a:ln>
        </p:spPr>
        <p:txBody>
          <a:bodyPr vert="horz" wrap="square" lIns="0" tIns="0" rIns="0" bIns="0" rtlCol="0" anchor="ctr" anchorCtr="0"/>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26000" y="4572000"/>
            <a:ext cx="355600" cy="355600"/>
          </a:xfrm>
          <a:prstGeom prst="rect">
            <a:avLst/>
          </a:prstGeom>
        </p:spPr>
      </p:pic>
      <p:sp>
        <p:nvSpPr>
          <p:cNvPr id="14" name="AutoShape 14"/>
          <p:cNvSpPr/>
          <p:nvPr/>
        </p:nvSpPr>
        <p:spPr>
          <a:xfrm>
            <a:off x="5334000" y="4546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a:solidFill>
                  <a:srgbClr val="FFFFFF"/>
                </a:solidFill>
                <a:latin typeface="Noto Sans SC"/>
                <a:ea typeface="Noto Sans SC"/>
                <a:cs typeface="Noto Sans SC"/>
                <a:sym typeface="Noto Sans SC"/>
              </a:rPr>
              <a:t>Stagnant Business Growth</a:t>
            </a:r>
            <a:endParaRPr lang="en-US" b="1" i="0" u="none" strike="noStrike">
              <a:solidFill>
                <a:srgbClr val="FFFFFF"/>
              </a:solidFill>
              <a:latin typeface="Noto Sans SC"/>
              <a:ea typeface="Noto Sans SC"/>
              <a:cs typeface="Noto Sans SC"/>
              <a:sym typeface="Noto Sans SC"/>
            </a:endParaRPr>
          </a:p>
        </p:txBody>
      </p:sp>
      <p:sp>
        <p:nvSpPr>
          <p:cNvPr id="15" name="AutoShape 15"/>
          <p:cNvSpPr/>
          <p:nvPr/>
        </p:nvSpPr>
        <p:spPr>
          <a:xfrm>
            <a:off x="4826000" y="5143500"/>
            <a:ext cx="279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C8DCF0"/>
                </a:solidFill>
                <a:latin typeface="Noto Sans SC"/>
                <a:ea typeface="Noto Sans SC"/>
                <a:cs typeface="Noto Sans SC"/>
                <a:sym typeface="Noto Sans SC"/>
              </a:rPr>
              <a:t>Stagnant traditional models, fading traffic gains and rising customer costs call for new value &amp; profit growth engines.</a:t>
            </a:r>
            <a:endParaRPr lang="en-US" sz="1200" b="0" i="0" u="none" strike="noStrike">
              <a:solidFill>
                <a:srgbClr val="C8DCF0"/>
              </a:solidFill>
              <a:latin typeface="Noto Sans SC"/>
              <a:ea typeface="Noto Sans SC"/>
              <a:cs typeface="Noto Sans SC"/>
              <a:sym typeface="Noto Sans SC"/>
            </a:endParaRPr>
          </a:p>
        </p:txBody>
      </p:sp>
      <p:sp>
        <p:nvSpPr>
          <p:cNvPr id="16" name="AutoShape 16"/>
          <p:cNvSpPr/>
          <p:nvPr/>
        </p:nvSpPr>
        <p:spPr>
          <a:xfrm>
            <a:off x="8128000" y="4318000"/>
            <a:ext cx="3302000" cy="2032000"/>
          </a:xfrm>
          <a:prstGeom prst="roundRect">
            <a:avLst>
              <a:gd name="adj" fmla="val 0"/>
            </a:avLst>
          </a:prstGeom>
          <a:solidFill>
            <a:srgbClr val="172C4D">
              <a:alpha val="85000"/>
            </a:srgbClr>
          </a:solidFill>
          <a:ln w="12700" cap="flat" cmpd="sng">
            <a:solidFill>
              <a:srgbClr val="00BFFF">
                <a:alpha val="30000"/>
              </a:srgbClr>
            </a:solidFill>
            <a:prstDash val="solid"/>
            <a:round/>
          </a:ln>
        </p:spPr>
        <p:txBody>
          <a:bodyPr vert="horz" wrap="square" lIns="0" tIns="0" rIns="0" bIns="0" rtlCol="0" anchor="ctr" anchorCtr="0"/>
          <a:lstStyle/>
          <a:p>
            <a:pPr algn="ctr">
              <a:defRPr/>
            </a:pPr>
          </a:p>
        </p:txBody>
      </p:sp>
      <p:sp>
        <p:nvSpPr>
          <p:cNvPr id="17" name="AutoShape 17"/>
          <p:cNvSpPr/>
          <p:nvPr/>
        </p:nvSpPr>
        <p:spPr>
          <a:xfrm>
            <a:off x="8128000" y="4318000"/>
            <a:ext cx="76200" cy="2032000"/>
          </a:xfrm>
          <a:prstGeom prst="roundRect">
            <a:avLst>
              <a:gd name="adj" fmla="val 0"/>
            </a:avLst>
          </a:prstGeom>
          <a:solidFill>
            <a:srgbClr val="00BFFF">
              <a:alpha val="60000"/>
            </a:srgbClr>
          </a:solidFill>
          <a:ln w="25400" cap="flat" cmpd="sng">
            <a:noFill/>
            <a:prstDash val="solid"/>
            <a:round/>
          </a:ln>
        </p:spPr>
        <p:txBody>
          <a:bodyPr vert="horz" wrap="square" lIns="0" tIns="0" rIns="0" bIns="0" rtlCol="0" anchor="ctr" anchorCtr="0"/>
          <a:lstStyle/>
          <a:p>
            <a:pPr algn="ctr">
              <a:defRPr/>
            </a:p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4572000"/>
            <a:ext cx="355600" cy="355600"/>
          </a:xfrm>
          <a:prstGeom prst="rect">
            <a:avLst/>
          </a:prstGeom>
        </p:spPr>
      </p:pic>
      <p:sp>
        <p:nvSpPr>
          <p:cNvPr id="19" name="AutoShape 19"/>
          <p:cNvSpPr/>
          <p:nvPr/>
        </p:nvSpPr>
        <p:spPr>
          <a:xfrm>
            <a:off x="8890000" y="4546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a:solidFill>
                  <a:srgbClr val="FFFFFF"/>
                </a:solidFill>
                <a:latin typeface="Noto Sans SC"/>
                <a:ea typeface="Noto Sans SC"/>
                <a:cs typeface="Noto Sans SC"/>
                <a:sym typeface="Noto Sans SC"/>
              </a:rPr>
              <a:t>Organizational Capabilities Need Urgent Upgrade</a:t>
            </a:r>
            <a:endParaRPr lang="en-US" b="1" i="0" u="none" strike="noStrike">
              <a:solidFill>
                <a:srgbClr val="FFFFFF"/>
              </a:solidFill>
              <a:latin typeface="Noto Sans SC"/>
              <a:ea typeface="Noto Sans SC"/>
              <a:cs typeface="Noto Sans SC"/>
              <a:sym typeface="Noto Sans SC"/>
            </a:endParaRPr>
          </a:p>
        </p:txBody>
      </p:sp>
      <p:sp>
        <p:nvSpPr>
          <p:cNvPr id="20" name="AutoShape 20"/>
          <p:cNvSpPr/>
          <p:nvPr/>
        </p:nvSpPr>
        <p:spPr>
          <a:xfrm>
            <a:off x="8382000" y="5143500"/>
            <a:ext cx="279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C8DCF0"/>
                </a:solidFill>
                <a:latin typeface="Noto Sans SC"/>
                <a:ea typeface="Noto Sans SC"/>
                <a:cs typeface="Noto Sans SC"/>
                <a:sym typeface="Noto Sans SC"/>
              </a:rPr>
              <a:t>Stiff processes, disjointed data and weak team digital skills fail to meet demands for agile decisions &amp; efficient teamwork.</a:t>
            </a:r>
            <a:endParaRPr lang="en-US" sz="1200" b="0" i="0" u="none" strike="noStrike">
              <a:solidFill>
                <a:srgbClr val="C8DCF0"/>
              </a:solidFill>
              <a:latin typeface="Noto Sans SC"/>
              <a:ea typeface="Noto Sans SC"/>
              <a:cs typeface="Noto Sans SC"/>
              <a:sym typeface="Noto Sans SC"/>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192F">
                <a:alpha val="100000"/>
              </a:srgbClr>
            </a:gs>
            <a:gs pos="100000">
              <a:srgbClr val="172A45">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92F">
              <a:alpha val="95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200" b="1" i="0" u="none" strike="noStrike">
                <a:solidFill>
                  <a:srgbClr val="FFFFFF"/>
                </a:solidFill>
                <a:latin typeface="Noto Sans SC"/>
                <a:ea typeface="Noto Sans SC"/>
                <a:cs typeface="Noto Sans SC"/>
                <a:sym typeface="Noto Sans SC"/>
              </a:rPr>
              <a:t>Embrace Change: The New Paradigm for Enterprises in the Digital Wave</a:t>
            </a:r>
            <a:endParaRPr lang="en-US" sz="1100"/>
          </a:p>
        </p:txBody>
      </p:sp>
      <p:sp>
        <p:nvSpPr>
          <p:cNvPr id="4" name="AutoShape 4"/>
          <p:cNvSpPr/>
          <p:nvPr/>
        </p:nvSpPr>
        <p:spPr>
          <a:xfrm>
            <a:off x="1016000" y="16510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CCCCCC"/>
                </a:solidFill>
                <a:latin typeface="Noto Sans SC"/>
                <a:ea typeface="Noto Sans SC"/>
                <a:cs typeface="Noto Sans SC"/>
                <a:sym typeface="Noto Sans SC"/>
              </a:rPr>
              <a:t>Driven by both global economic integration and technological revolution, digital transformation has evolved from an 'option' to a 'necessity' for corporate survival and development. Technologies such as cloud computing, big data, and artificial intelligence are profoundly reshaping the business landscape, driving fundamental changes in operational models, organizational structures, and customer interaction methods.</a:t>
            </a:r>
            <a:endParaRPr lang="en-US" sz="1100"/>
          </a:p>
        </p:txBody>
      </p:sp>
      <p:cxnSp>
        <p:nvCxnSpPr>
          <p:cNvPr id="5" name="Connector 5"/>
          <p:cNvCxnSpPr/>
          <p:nvPr/>
        </p:nvCxnSpPr>
        <p:spPr>
          <a:xfrm rot="-4297">
            <a:off x="1016004" y="2851150"/>
            <a:ext cx="10160000" cy="12700"/>
          </a:xfrm>
          <a:prstGeom prst="straightConnector1">
            <a:avLst/>
          </a:prstGeom>
          <a:solidFill>
            <a:srgbClr val="DEE0E3">
              <a:alpha val="100000"/>
            </a:srgbClr>
          </a:solidFill>
          <a:ln w="12700" cap="flat" cmpd="sng">
            <a:solidFill>
              <a:srgbClr val="00BFFF">
                <a:alpha val="60000"/>
              </a:srgbClr>
            </a:solidFill>
            <a:prstDash val="solid"/>
            <a:round/>
            <a:headEnd type="none" w="med" len="med"/>
            <a:tailEnd type="none" w="med" len="med"/>
          </a:ln>
        </p:spPr>
      </p:cxnSp>
      <p:sp>
        <p:nvSpPr>
          <p:cNvPr id="6" name="AutoShape 6"/>
          <p:cNvSpPr/>
          <p:nvPr/>
        </p:nvSpPr>
        <p:spPr>
          <a:xfrm>
            <a:off x="1016000" y="3175000"/>
            <a:ext cx="2413000" cy="1905000"/>
          </a:xfrm>
          <a:prstGeom prst="roundRect">
            <a:avLst>
              <a:gd name="adj" fmla="val 0"/>
            </a:avLst>
          </a:prstGeom>
          <a:solidFill>
            <a:srgbClr val="172A45">
              <a:alpha val="90000"/>
            </a:srgbClr>
          </a:solidFill>
          <a:ln w="12700" cap="flat" cmpd="sng">
            <a:solidFill>
              <a:srgbClr val="00BFFF">
                <a:alpha val="70000"/>
              </a:srgbClr>
            </a:solidFill>
            <a:prstDash val="solid"/>
            <a:round/>
          </a:ln>
        </p:spPr>
        <p:txBody>
          <a:bodyPr vert="horz" wrap="square" lIns="0" tIns="0" rIns="0" bIns="0" rtlCol="0" anchor="ctr" anchorCtr="0"/>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06500" y="3365500"/>
            <a:ext cx="304800" cy="304800"/>
          </a:xfrm>
          <a:prstGeom prst="rect">
            <a:avLst/>
          </a:prstGeom>
        </p:spPr>
      </p:pic>
      <p:sp>
        <p:nvSpPr>
          <p:cNvPr id="8" name="AutoShape 8"/>
          <p:cNvSpPr/>
          <p:nvPr/>
        </p:nvSpPr>
        <p:spPr>
          <a:xfrm>
            <a:off x="1587500" y="33274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Information Silos</a:t>
            </a:r>
            <a:endParaRPr lang="en-US" sz="1100"/>
          </a:p>
        </p:txBody>
      </p:sp>
      <p:cxnSp>
        <p:nvCxnSpPr>
          <p:cNvPr id="9" name="Connector 9"/>
          <p:cNvCxnSpPr/>
          <p:nvPr/>
        </p:nvCxnSpPr>
        <p:spPr>
          <a:xfrm rot="-21485">
            <a:off x="1206520" y="3867150"/>
            <a:ext cx="2032000" cy="12700"/>
          </a:xfrm>
          <a:prstGeom prst="straightConnector1">
            <a:avLst/>
          </a:prstGeom>
          <a:solidFill>
            <a:srgbClr val="DEE0E3">
              <a:alpha val="100000"/>
            </a:srgbClr>
          </a:solidFill>
          <a:ln w="12700" cap="flat" cmpd="sng">
            <a:solidFill>
              <a:srgbClr val="00BFFF">
                <a:alpha val="40000"/>
              </a:srgbClr>
            </a:solidFill>
            <a:prstDash val="dash"/>
            <a:round/>
            <a:headEnd type="none" w="med" len="med"/>
            <a:tailEnd type="none" w="med" len="med"/>
          </a:ln>
        </p:spPr>
      </p:cxnSp>
      <p:sp>
        <p:nvSpPr>
          <p:cNvPr id="10" name="AutoShape 10"/>
          <p:cNvSpPr/>
          <p:nvPr/>
        </p:nvSpPr>
        <p:spPr>
          <a:xfrm>
            <a:off x="1143000" y="400050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000" b="0" i="0" u="none" strike="noStrike">
                <a:solidFill>
                  <a:srgbClr val="CCCCCC"/>
                </a:solidFill>
                <a:latin typeface="Noto Sans SC"/>
                <a:ea typeface="Noto Sans SC"/>
                <a:cs typeface="Noto Sans SC"/>
                <a:sym typeface="Noto Sans SC"/>
              </a:rPr>
              <a:t>Business systems operate in isolation, data cannot flow and share freely, leading to difficulties in cross-departmental collaboration and a lack of a global perspective in decision-making.</a:t>
            </a:r>
            <a:endParaRPr lang="en-US" sz="1100"/>
          </a:p>
        </p:txBody>
      </p:sp>
      <p:sp>
        <p:nvSpPr>
          <p:cNvPr id="11" name="AutoShape 11"/>
          <p:cNvSpPr/>
          <p:nvPr/>
        </p:nvSpPr>
        <p:spPr>
          <a:xfrm>
            <a:off x="3594100" y="3175000"/>
            <a:ext cx="2413000" cy="1905000"/>
          </a:xfrm>
          <a:prstGeom prst="roundRect">
            <a:avLst>
              <a:gd name="adj" fmla="val 0"/>
            </a:avLst>
          </a:prstGeom>
          <a:solidFill>
            <a:srgbClr val="172A45">
              <a:alpha val="90000"/>
            </a:srgbClr>
          </a:solidFill>
          <a:ln w="12700" cap="flat" cmpd="sng">
            <a:solidFill>
              <a:srgbClr val="00BFFF">
                <a:alpha val="70000"/>
              </a:srgbClr>
            </a:solidFill>
            <a:prstDash val="solid"/>
            <a:round/>
          </a:ln>
        </p:spPr>
        <p:txBody>
          <a:bodyPr vert="horz" wrap="square" lIns="0" tIns="0" rIns="0" bIns="0" rtlCol="0" anchor="ctr" anchorCtr="0"/>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84600" y="3365500"/>
            <a:ext cx="304800" cy="304800"/>
          </a:xfrm>
          <a:prstGeom prst="rect">
            <a:avLst/>
          </a:prstGeom>
        </p:spPr>
      </p:pic>
      <p:sp>
        <p:nvSpPr>
          <p:cNvPr id="13" name="AutoShape 13"/>
          <p:cNvSpPr/>
          <p:nvPr/>
        </p:nvSpPr>
        <p:spPr>
          <a:xfrm>
            <a:off x="4165600" y="33274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Process Fragmentation</a:t>
            </a:r>
            <a:endParaRPr lang="en-US" sz="1100"/>
          </a:p>
        </p:txBody>
      </p:sp>
      <p:cxnSp>
        <p:nvCxnSpPr>
          <p:cNvPr id="14" name="Connector 14"/>
          <p:cNvCxnSpPr/>
          <p:nvPr/>
        </p:nvCxnSpPr>
        <p:spPr>
          <a:xfrm rot="-21485">
            <a:off x="3784620" y="3867150"/>
            <a:ext cx="2032000" cy="12700"/>
          </a:xfrm>
          <a:prstGeom prst="straightConnector1">
            <a:avLst/>
          </a:prstGeom>
          <a:solidFill>
            <a:srgbClr val="DEE0E3">
              <a:alpha val="100000"/>
            </a:srgbClr>
          </a:solidFill>
          <a:ln w="12700" cap="flat" cmpd="sng">
            <a:solidFill>
              <a:srgbClr val="00BFFF">
                <a:alpha val="40000"/>
              </a:srgbClr>
            </a:solidFill>
            <a:prstDash val="dash"/>
            <a:round/>
            <a:headEnd type="none" w="med" len="med"/>
            <a:tailEnd type="none" w="med" len="med"/>
          </a:ln>
        </p:spPr>
      </p:cxnSp>
      <p:sp>
        <p:nvSpPr>
          <p:cNvPr id="15" name="AutoShape 15"/>
          <p:cNvSpPr/>
          <p:nvPr/>
        </p:nvSpPr>
        <p:spPr>
          <a:xfrm>
            <a:off x="3721100" y="400050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000" b="0" i="0" u="none" strike="noStrike">
                <a:solidFill>
                  <a:srgbClr val="CCCCCC"/>
                </a:solidFill>
                <a:latin typeface="Noto Sans SC"/>
                <a:ea typeface="Noto Sans SC"/>
                <a:cs typeface="Noto Sans SC"/>
                <a:sym typeface="Noto Sans SC"/>
              </a:rPr>
              <a:t>Key business processes rely on email, Excel, and offline communication, resulting in numerous process breakpoints, opaque status, and low efficiency.</a:t>
            </a:r>
            <a:endParaRPr lang="en-US" sz="1100"/>
          </a:p>
        </p:txBody>
      </p:sp>
      <p:sp>
        <p:nvSpPr>
          <p:cNvPr id="16" name="AutoShape 16"/>
          <p:cNvSpPr/>
          <p:nvPr/>
        </p:nvSpPr>
        <p:spPr>
          <a:xfrm>
            <a:off x="6172200" y="3175000"/>
            <a:ext cx="2413000" cy="1905000"/>
          </a:xfrm>
          <a:prstGeom prst="roundRect">
            <a:avLst>
              <a:gd name="adj" fmla="val 0"/>
            </a:avLst>
          </a:prstGeom>
          <a:solidFill>
            <a:srgbClr val="172A45">
              <a:alpha val="90000"/>
            </a:srgbClr>
          </a:solidFill>
          <a:ln w="12700" cap="flat" cmpd="sng">
            <a:solidFill>
              <a:srgbClr val="00BFFF">
                <a:alpha val="70000"/>
              </a:srgbClr>
            </a:solidFill>
            <a:prstDash val="solid"/>
            <a:round/>
          </a:ln>
        </p:spPr>
        <p:txBody>
          <a:bodyPr vert="horz" wrap="square" lIns="0" tIns="0" rIns="0" bIns="0" rtlCol="0" anchor="ctr" anchorCtr="0"/>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62700" y="3365500"/>
            <a:ext cx="304800" cy="304800"/>
          </a:xfrm>
          <a:prstGeom prst="rect">
            <a:avLst/>
          </a:prstGeom>
        </p:spPr>
      </p:pic>
      <p:sp>
        <p:nvSpPr>
          <p:cNvPr id="18" name="AutoShape 18"/>
          <p:cNvSpPr/>
          <p:nvPr/>
        </p:nvSpPr>
        <p:spPr>
          <a:xfrm>
            <a:off x="6743700" y="33274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Decision Latency</a:t>
            </a:r>
            <a:endParaRPr lang="en-US" sz="1100"/>
          </a:p>
        </p:txBody>
      </p:sp>
      <p:cxnSp>
        <p:nvCxnSpPr>
          <p:cNvPr id="19" name="Connector 19"/>
          <p:cNvCxnSpPr/>
          <p:nvPr/>
        </p:nvCxnSpPr>
        <p:spPr>
          <a:xfrm rot="-21485">
            <a:off x="6362720" y="3867150"/>
            <a:ext cx="2032000" cy="12700"/>
          </a:xfrm>
          <a:prstGeom prst="straightConnector1">
            <a:avLst/>
          </a:prstGeom>
          <a:solidFill>
            <a:srgbClr val="DEE0E3">
              <a:alpha val="100000"/>
            </a:srgbClr>
          </a:solidFill>
          <a:ln w="12700" cap="flat" cmpd="sng">
            <a:solidFill>
              <a:srgbClr val="00BFFF">
                <a:alpha val="40000"/>
              </a:srgbClr>
            </a:solidFill>
            <a:prstDash val="dash"/>
            <a:round/>
            <a:headEnd type="none" w="med" len="med"/>
            <a:tailEnd type="none" w="med" len="med"/>
          </a:ln>
        </p:spPr>
      </p:cxnSp>
      <p:sp>
        <p:nvSpPr>
          <p:cNvPr id="20" name="AutoShape 20"/>
          <p:cNvSpPr/>
          <p:nvPr/>
        </p:nvSpPr>
        <p:spPr>
          <a:xfrm>
            <a:off x="6299200" y="400050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000" b="0" i="0" u="none" strike="noStrike">
                <a:solidFill>
                  <a:srgbClr val="CCCCCC"/>
                </a:solidFill>
                <a:latin typeface="Noto Sans SC"/>
                <a:ea typeface="Noto Sans SC"/>
                <a:cs typeface="Noto Sans SC"/>
                <a:sym typeface="Noto Sans SC"/>
              </a:rPr>
              <a:t>Managers lack real-time, accurate data support, relying on periodic reports and experience for decision-making, unable to respond quickly to market changes.</a:t>
            </a:r>
            <a:endParaRPr lang="en-US" sz="1100"/>
          </a:p>
        </p:txBody>
      </p:sp>
      <p:sp>
        <p:nvSpPr>
          <p:cNvPr id="21" name="AutoShape 21"/>
          <p:cNvSpPr/>
          <p:nvPr/>
        </p:nvSpPr>
        <p:spPr>
          <a:xfrm>
            <a:off x="8763000" y="3175000"/>
            <a:ext cx="2413000" cy="1905000"/>
          </a:xfrm>
          <a:prstGeom prst="roundRect">
            <a:avLst>
              <a:gd name="adj" fmla="val 0"/>
            </a:avLst>
          </a:prstGeom>
          <a:solidFill>
            <a:srgbClr val="172A45">
              <a:alpha val="90000"/>
            </a:srgbClr>
          </a:solidFill>
          <a:ln w="12700" cap="flat" cmpd="sng">
            <a:solidFill>
              <a:srgbClr val="00BFFF">
                <a:alpha val="70000"/>
              </a:srgbClr>
            </a:solidFill>
            <a:prstDash val="solid"/>
            <a:round/>
          </a:ln>
        </p:spPr>
        <p:txBody>
          <a:bodyPr vert="horz" wrap="square" lIns="0" tIns="0" rIns="0" bIns="0" rtlCol="0" anchor="ctr" anchorCtr="0"/>
          <a:lstStyle/>
          <a:p>
            <a:pPr algn="ctr">
              <a:defRPr/>
            </a:pPr>
          </a:p>
        </p:txBody>
      </p:sp>
      <p:pic>
        <p:nvPicPr>
          <p:cNvPr id="22" name="Picture 2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953500" y="3365500"/>
            <a:ext cx="304800" cy="304800"/>
          </a:xfrm>
          <a:prstGeom prst="rect">
            <a:avLst/>
          </a:prstGeom>
        </p:spPr>
      </p:pic>
      <p:sp>
        <p:nvSpPr>
          <p:cNvPr id="23" name="AutoShape 23"/>
          <p:cNvSpPr/>
          <p:nvPr/>
        </p:nvSpPr>
        <p:spPr>
          <a:xfrm>
            <a:off x="9334500" y="33274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Inefficient Collaboration</a:t>
            </a:r>
            <a:endParaRPr lang="en-US" sz="1100"/>
          </a:p>
        </p:txBody>
      </p:sp>
      <p:cxnSp>
        <p:nvCxnSpPr>
          <p:cNvPr id="24" name="Connector 24"/>
          <p:cNvCxnSpPr/>
          <p:nvPr/>
        </p:nvCxnSpPr>
        <p:spPr>
          <a:xfrm rot="-21485">
            <a:off x="8953520" y="3867150"/>
            <a:ext cx="2032000" cy="12700"/>
          </a:xfrm>
          <a:prstGeom prst="straightConnector1">
            <a:avLst/>
          </a:prstGeom>
          <a:solidFill>
            <a:srgbClr val="DEE0E3">
              <a:alpha val="100000"/>
            </a:srgbClr>
          </a:solidFill>
          <a:ln w="12700" cap="flat" cmpd="sng">
            <a:solidFill>
              <a:srgbClr val="00BFFF">
                <a:alpha val="40000"/>
              </a:srgbClr>
            </a:solidFill>
            <a:prstDash val="dash"/>
            <a:round/>
            <a:headEnd type="none" w="med" len="med"/>
            <a:tailEnd type="none" w="med" len="med"/>
          </a:ln>
        </p:spPr>
      </p:cxnSp>
      <p:sp>
        <p:nvSpPr>
          <p:cNvPr id="25" name="AutoShape 25"/>
          <p:cNvSpPr/>
          <p:nvPr/>
        </p:nvSpPr>
        <p:spPr>
          <a:xfrm>
            <a:off x="8890000" y="400050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000" b="0" i="0" u="none" strike="noStrike">
                <a:solidFill>
                  <a:srgbClr val="CCCCCC"/>
                </a:solidFill>
                <a:latin typeface="Noto Sans SC"/>
                <a:ea typeface="Noto Sans SC"/>
                <a:cs typeface="Noto Sans SC"/>
                <a:sym typeface="Noto Sans SC"/>
              </a:rPr>
              <a:t>Team communication relies on instant messaging tools and email, leading to fragmented information, confusion with important document versions, and difficulty in task tracking.</a:t>
            </a:r>
            <a:endParaRPr lang="en-US" sz="1100"/>
          </a:p>
        </p:txBody>
      </p:sp>
      <p:sp>
        <p:nvSpPr>
          <p:cNvPr id="26" name="AutoShape 26"/>
          <p:cNvSpPr/>
          <p:nvPr/>
        </p:nvSpPr>
        <p:spPr>
          <a:xfrm>
            <a:off x="1016000" y="5334000"/>
            <a:ext cx="10160000" cy="1143000"/>
          </a:xfrm>
          <a:prstGeom prst="roundRect">
            <a:avLst>
              <a:gd name="adj" fmla="val 0"/>
            </a:avLst>
          </a:prstGeom>
          <a:solidFill>
            <a:srgbClr val="172A45">
              <a:alpha val="90000"/>
            </a:srgbClr>
          </a:solidFill>
          <a:ln w="25400" cap="flat" cmpd="sng">
            <a:noFill/>
            <a:prstDash val="solid"/>
            <a:round/>
          </a:ln>
        </p:spPr>
        <p:txBody>
          <a:bodyPr vert="horz" wrap="square" lIns="0" tIns="0" rIns="0" bIns="0" rtlCol="0" anchor="ctr" anchorCtr="0"/>
          <a:lstStyle/>
          <a:p>
            <a:pPr algn="ctr">
              <a:defRPr/>
            </a:pPr>
          </a:p>
        </p:txBody>
      </p:sp>
      <p:sp>
        <p:nvSpPr>
          <p:cNvPr id="27" name="AutoShape 27"/>
          <p:cNvSpPr/>
          <p:nvPr/>
        </p:nvSpPr>
        <p:spPr>
          <a:xfrm>
            <a:off x="1016000" y="5334000"/>
            <a:ext cx="76200" cy="1143000"/>
          </a:xfrm>
          <a:prstGeom prst="roundRect">
            <a:avLst>
              <a:gd name="adj" fmla="val 0"/>
            </a:avLst>
          </a:prstGeom>
          <a:solidFill>
            <a:srgbClr val="00BFFF">
              <a:alpha val="100000"/>
            </a:srgbClr>
          </a:solidFill>
          <a:ln w="25400" cap="flat" cmpd="sng">
            <a:noFill/>
            <a:prstDash val="solid"/>
            <a:round/>
          </a:ln>
        </p:spPr>
        <p:txBody>
          <a:bodyPr vert="horz" wrap="square" lIns="0" tIns="0" rIns="0" bIns="0" rtlCol="0" anchor="ctr" anchorCtr="0"/>
          <a:lstStyle/>
          <a:p>
            <a:pPr algn="ctr">
              <a:defRPr/>
            </a:pPr>
          </a:p>
        </p:txBody>
      </p:sp>
      <p:sp>
        <p:nvSpPr>
          <p:cNvPr id="28" name="AutoShape 28"/>
          <p:cNvSpPr/>
          <p:nvPr/>
        </p:nvSpPr>
        <p:spPr>
          <a:xfrm>
            <a:off x="1270000" y="5461000"/>
            <a:ext cx="965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00BFFF"/>
                </a:solidFill>
                <a:latin typeface="Noto Sans SC"/>
                <a:ea typeface="Noto Sans SC"/>
                <a:cs typeface="Noto Sans SC"/>
                <a:sym typeface="Noto Sans SC"/>
              </a:rPr>
              <a:t>SynergyOS's Way to Break the Deadlock:</a:t>
            </a:r>
            <a:r>
              <a:rPr lang="en-US" sz="1200" b="0" i="0" u="none" strike="noStrike">
                <a:solidFill>
                  <a:srgbClr val="DDDDDD"/>
                </a:solidFill>
                <a:latin typeface="Noto Sans SC"/>
                <a:ea typeface="Noto Sans SC"/>
                <a:cs typeface="Noto Sans SC"/>
                <a:sym typeface="Noto Sans SC"/>
              </a:rPr>
              <a:t>SynergyOS is born to address the above challenges. Through our three core capabilities of Connection, Synergy, and Intelligence, we break down information silos, integrate business processes, empower smart decision-making, and help enterprises build agile, efficient, and intelligent digital core competencies.</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81428">
              <a:alpha val="9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1016000" y="1270000"/>
            <a:ext cx="381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9000" b="1" i="0" u="none" strike="noStrike">
                <a:solidFill>
                  <a:srgbClr val="00BFFF">
                    <a:alpha val="90196"/>
                  </a:srgbClr>
                </a:solidFill>
                <a:latin typeface="Poppins"/>
                <a:ea typeface="Poppins"/>
                <a:cs typeface="Poppins"/>
                <a:sym typeface="Poppins"/>
              </a:rPr>
              <a:t>02</a:t>
            </a:r>
            <a:endParaRPr lang="en-US" sz="1100"/>
          </a:p>
        </p:txBody>
      </p:sp>
      <p:sp>
        <p:nvSpPr>
          <p:cNvPr id="4" name="AutoShape 4"/>
          <p:cNvSpPr/>
          <p:nvPr/>
        </p:nvSpPr>
        <p:spPr>
          <a:xfrm>
            <a:off x="1016000" y="2921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Poppins"/>
                <a:ea typeface="Poppins"/>
                <a:cs typeface="Poppins"/>
                <a:sym typeface="Poppins"/>
              </a:rPr>
              <a:t>SynergyOS Solution Overview</a:t>
            </a:r>
            <a:endParaRPr lang="en-US" sz="1100"/>
          </a:p>
        </p:txBody>
      </p:sp>
      <p:sp>
        <p:nvSpPr>
          <p:cNvPr id="5" name="AutoShape 5"/>
          <p:cNvSpPr/>
          <p:nvPr/>
        </p:nvSpPr>
        <p:spPr>
          <a:xfrm>
            <a:off x="1016000" y="3937000"/>
            <a:ext cx="1524000" cy="50800"/>
          </a:xfrm>
          <a:prstGeom prst="roundRect">
            <a:avLst>
              <a:gd name="adj" fmla="val 0"/>
            </a:avLst>
          </a:prstGeom>
          <a:solidFill>
            <a:srgbClr val="00BFFF">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1016000" y="4445000"/>
            <a:ext cx="2413000" cy="2032000"/>
          </a:xfrm>
          <a:prstGeom prst="roundRect">
            <a:avLst>
              <a:gd name="adj" fmla="val 0"/>
            </a:avLst>
          </a:prstGeom>
          <a:solidFill>
            <a:srgbClr val="0F2341">
              <a:alpha val="85000"/>
            </a:srgbClr>
          </a:solidFill>
          <a:ln w="12700" cap="flat" cmpd="sng">
            <a:solidFill>
              <a:srgbClr val="00BFFF">
                <a:alpha val="60000"/>
              </a:srgbClr>
            </a:solidFill>
            <a:prstDash val="solid"/>
            <a:round/>
          </a:ln>
        </p:spPr>
        <p:txBody>
          <a:bodyPr vert="horz" wrap="square" lIns="0" tIns="0" rIns="0" bIns="0" rtlCol="0" anchor="ctr" anchorCtr="0"/>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06500" y="4673600"/>
            <a:ext cx="304800" cy="304800"/>
          </a:xfrm>
          <a:prstGeom prst="rect">
            <a:avLst/>
          </a:prstGeom>
        </p:spPr>
      </p:pic>
      <p:sp>
        <p:nvSpPr>
          <p:cNvPr id="8" name="AutoShape 8"/>
          <p:cNvSpPr/>
          <p:nvPr/>
        </p:nvSpPr>
        <p:spPr>
          <a:xfrm>
            <a:off x="1625600" y="4597400"/>
            <a:ext cx="165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300" b="1" i="0" u="none" strike="noStrike">
                <a:solidFill>
                  <a:srgbClr val="FFFFFF"/>
                </a:solidFill>
                <a:latin typeface="Poppins"/>
                <a:ea typeface="Poppins"/>
                <a:cs typeface="Poppins"/>
                <a:sym typeface="Poppins"/>
              </a:rPr>
              <a:t>Full-Stack Collaborative Architecture</a:t>
            </a:r>
            <a:endParaRPr lang="en-US" sz="1100"/>
          </a:p>
        </p:txBody>
      </p:sp>
      <p:sp>
        <p:nvSpPr>
          <p:cNvPr id="9" name="AutoShape 9"/>
          <p:cNvSpPr/>
          <p:nvPr/>
        </p:nvSpPr>
        <p:spPr>
          <a:xfrm>
            <a:off x="1206500" y="5270500"/>
            <a:ext cx="203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000" b="0" i="0" u="none" strike="noStrike">
                <a:solidFill>
                  <a:srgbClr val="CCCCCC"/>
                </a:solidFill>
                <a:latin typeface="Poppins"/>
                <a:ea typeface="Poppins"/>
                <a:cs typeface="Poppins"/>
                <a:sym typeface="Poppins"/>
              </a:rPr>
              <a:t>Create an integrated digital foundation for the fusion of organization, processes, and data, enabling efficient collaboration in multi-system heterogeneous environments.</a:t>
            </a:r>
            <a:endParaRPr lang="en-US" sz="1100"/>
          </a:p>
        </p:txBody>
      </p:sp>
      <p:sp>
        <p:nvSpPr>
          <p:cNvPr id="10" name="AutoShape 10"/>
          <p:cNvSpPr/>
          <p:nvPr/>
        </p:nvSpPr>
        <p:spPr>
          <a:xfrm>
            <a:off x="3683000" y="4445000"/>
            <a:ext cx="2413000" cy="2032000"/>
          </a:xfrm>
          <a:prstGeom prst="roundRect">
            <a:avLst>
              <a:gd name="adj" fmla="val 0"/>
            </a:avLst>
          </a:prstGeom>
          <a:solidFill>
            <a:srgbClr val="0F2341">
              <a:alpha val="85000"/>
            </a:srgbClr>
          </a:solidFill>
          <a:ln w="12700" cap="flat" cmpd="sng">
            <a:solidFill>
              <a:srgbClr val="00BFFF">
                <a:alpha val="60000"/>
              </a:srgbClr>
            </a:solidFill>
            <a:prstDash val="solid"/>
            <a:round/>
          </a:ln>
        </p:spPr>
        <p:txBody>
          <a:bodyPr vert="horz" wrap="square" lIns="0" tIns="0" rIns="0" bIns="0" rtlCol="0" anchor="ctr" anchorCtr="0"/>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73500" y="4673600"/>
            <a:ext cx="304800" cy="304800"/>
          </a:xfrm>
          <a:prstGeom prst="rect">
            <a:avLst/>
          </a:prstGeom>
        </p:spPr>
      </p:pic>
      <p:sp>
        <p:nvSpPr>
          <p:cNvPr id="12" name="AutoShape 12"/>
          <p:cNvSpPr/>
          <p:nvPr/>
        </p:nvSpPr>
        <p:spPr>
          <a:xfrm>
            <a:off x="4292600" y="4597400"/>
            <a:ext cx="165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300" b="1" i="0" u="none" strike="noStrike">
                <a:solidFill>
                  <a:srgbClr val="FFFFFF"/>
                </a:solidFill>
                <a:latin typeface="Poppins"/>
                <a:ea typeface="Poppins"/>
                <a:cs typeface="Poppins"/>
                <a:sym typeface="Poppins"/>
              </a:rPr>
              <a:t>AI Intelligent Engine</a:t>
            </a:r>
            <a:endParaRPr lang="en-US" sz="1100"/>
          </a:p>
        </p:txBody>
      </p:sp>
      <p:sp>
        <p:nvSpPr>
          <p:cNvPr id="13" name="AutoShape 13"/>
          <p:cNvSpPr/>
          <p:nvPr/>
        </p:nvSpPr>
        <p:spPr>
          <a:xfrm>
            <a:off x="3873500" y="5270500"/>
            <a:ext cx="203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000" b="0" i="0" u="none" strike="noStrike">
                <a:solidFill>
                  <a:srgbClr val="CCCCCC"/>
                </a:solidFill>
                <a:latin typeface="Poppins"/>
                <a:ea typeface="Poppins"/>
                <a:cs typeface="Poppins"/>
                <a:sym typeface="Poppins"/>
              </a:rPr>
              <a:t>Built-in intelligent algorithm models provide data insights, process automation, intelligent Q&amp;A, and other capabilities to drive business intelligence.</a:t>
            </a:r>
            <a:endParaRPr lang="en-US" sz="1100"/>
          </a:p>
        </p:txBody>
      </p:sp>
      <p:sp>
        <p:nvSpPr>
          <p:cNvPr id="14" name="AutoShape 14"/>
          <p:cNvSpPr/>
          <p:nvPr/>
        </p:nvSpPr>
        <p:spPr>
          <a:xfrm>
            <a:off x="6350000" y="4445000"/>
            <a:ext cx="2413000" cy="2032000"/>
          </a:xfrm>
          <a:prstGeom prst="roundRect">
            <a:avLst>
              <a:gd name="adj" fmla="val 0"/>
            </a:avLst>
          </a:prstGeom>
          <a:solidFill>
            <a:srgbClr val="0F2341">
              <a:alpha val="85000"/>
            </a:srgbClr>
          </a:solidFill>
          <a:ln w="12700" cap="flat" cmpd="sng">
            <a:solidFill>
              <a:srgbClr val="00BFFF">
                <a:alpha val="60000"/>
              </a:srgbClr>
            </a:solidFill>
            <a:prstDash val="solid"/>
            <a:round/>
          </a:ln>
        </p:spPr>
        <p:txBody>
          <a:bodyPr vert="horz" wrap="square" lIns="0" tIns="0" rIns="0" bIns="0" rtlCol="0" anchor="ctr" anchorCtr="0"/>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40500" y="4673600"/>
            <a:ext cx="304800" cy="304800"/>
          </a:xfrm>
          <a:prstGeom prst="rect">
            <a:avLst/>
          </a:prstGeom>
        </p:spPr>
      </p:pic>
      <p:sp>
        <p:nvSpPr>
          <p:cNvPr id="16" name="AutoShape 16"/>
          <p:cNvSpPr/>
          <p:nvPr/>
        </p:nvSpPr>
        <p:spPr>
          <a:xfrm>
            <a:off x="6959600" y="4597400"/>
            <a:ext cx="165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200" b="1" i="0" u="none" strike="noStrike">
                <a:solidFill>
                  <a:srgbClr val="FFFFFF"/>
                </a:solidFill>
                <a:latin typeface="Poppins"/>
                <a:ea typeface="Poppins"/>
                <a:cs typeface="Poppins"/>
                <a:sym typeface="Poppins"/>
              </a:rPr>
              <a:t>Open &amp; Compatible Ecosystem</a:t>
            </a:r>
            <a:endParaRPr lang="en-US" sz="1100"/>
          </a:p>
        </p:txBody>
      </p:sp>
      <p:sp>
        <p:nvSpPr>
          <p:cNvPr id="17" name="AutoShape 17"/>
          <p:cNvSpPr/>
          <p:nvPr/>
        </p:nvSpPr>
        <p:spPr>
          <a:xfrm>
            <a:off x="6540500" y="5270500"/>
            <a:ext cx="203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000" b="0" i="0" u="none" strike="noStrike">
                <a:solidFill>
                  <a:srgbClr val="CCCCCC"/>
                </a:solidFill>
                <a:latin typeface="Poppins"/>
                <a:ea typeface="Poppins"/>
                <a:cs typeface="Poppins"/>
                <a:sym typeface="Poppins"/>
              </a:rPr>
              <a:t>Boasts a powerful low-code ecosystem and open APIs, easily connecting existing IT assets and protecting corporate investments.</a:t>
            </a:r>
            <a:endParaRPr lang="en-US" sz="1100"/>
          </a:p>
        </p:txBody>
      </p:sp>
      <p:sp>
        <p:nvSpPr>
          <p:cNvPr id="18" name="AutoShape 18"/>
          <p:cNvSpPr/>
          <p:nvPr/>
        </p:nvSpPr>
        <p:spPr>
          <a:xfrm>
            <a:off x="9017000" y="4445000"/>
            <a:ext cx="2413000" cy="2032000"/>
          </a:xfrm>
          <a:prstGeom prst="roundRect">
            <a:avLst>
              <a:gd name="adj" fmla="val 0"/>
            </a:avLst>
          </a:prstGeom>
          <a:solidFill>
            <a:srgbClr val="0F2341">
              <a:alpha val="85000"/>
            </a:srgbClr>
          </a:solidFill>
          <a:ln w="12700" cap="flat" cmpd="sng">
            <a:solidFill>
              <a:srgbClr val="00BFFF">
                <a:alpha val="60000"/>
              </a:srgbClr>
            </a:solidFill>
            <a:prstDash val="solid"/>
            <a:round/>
          </a:ln>
        </p:spPr>
        <p:txBody>
          <a:bodyPr vert="horz" wrap="square" lIns="0" tIns="0" rIns="0" bIns="0" rtlCol="0" anchor="ctr" anchorCtr="0"/>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07500" y="4673600"/>
            <a:ext cx="304800" cy="304800"/>
          </a:xfrm>
          <a:prstGeom prst="rect">
            <a:avLst/>
          </a:prstGeom>
        </p:spPr>
      </p:pic>
      <p:sp>
        <p:nvSpPr>
          <p:cNvPr id="20" name="AutoShape 20"/>
          <p:cNvSpPr/>
          <p:nvPr/>
        </p:nvSpPr>
        <p:spPr>
          <a:xfrm>
            <a:off x="9626600" y="4597400"/>
            <a:ext cx="165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200" b="1" i="0" u="none" strike="noStrike">
                <a:solidFill>
                  <a:srgbClr val="FFFFFF"/>
                </a:solidFill>
                <a:latin typeface="Poppins"/>
                <a:ea typeface="Poppins"/>
                <a:cs typeface="Poppins"/>
                <a:sym typeface="Poppins"/>
              </a:rPr>
              <a:t>Enterprise-Grade Security &amp; Compliance</a:t>
            </a:r>
            <a:endParaRPr lang="en-US" sz="1100"/>
          </a:p>
        </p:txBody>
      </p:sp>
      <p:sp>
        <p:nvSpPr>
          <p:cNvPr id="21" name="AutoShape 21"/>
          <p:cNvSpPr/>
          <p:nvPr/>
        </p:nvSpPr>
        <p:spPr>
          <a:xfrm>
            <a:off x="9207500" y="5270500"/>
            <a:ext cx="203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000" b="0" i="0" u="none" strike="noStrike">
                <a:solidFill>
                  <a:srgbClr val="CCCCCC"/>
                </a:solidFill>
                <a:latin typeface="Poppins"/>
                <a:ea typeface="Poppins"/>
                <a:cs typeface="Poppins"/>
                <a:sym typeface="Poppins"/>
              </a:rPr>
              <a:t>Adheres to international standards for data privacy protection and security management systems, ensuring the security of core corporate data and business assets.</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B1930">
              <a:alpha val="92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600" b="1" i="0" u="none" strike="noStrike">
                <a:solidFill>
                  <a:srgbClr val="FFFFFF"/>
                </a:solidFill>
                <a:latin typeface="Noto Sans SC"/>
                <a:ea typeface="Noto Sans SC"/>
                <a:cs typeface="Noto Sans SC"/>
                <a:sym typeface="Noto Sans SC"/>
              </a:rPr>
              <a:t>SynergyOS: Integrated Collaboration, Driving Business Growth</a:t>
            </a:r>
            <a:endParaRPr lang="en-US" sz="1100"/>
          </a:p>
        </p:txBody>
      </p:sp>
      <p:sp>
        <p:nvSpPr>
          <p:cNvPr id="4" name="AutoShape 4"/>
          <p:cNvSpPr/>
          <p:nvPr/>
        </p:nvSpPr>
        <p:spPr>
          <a:xfrm>
            <a:off x="762000" y="2032000"/>
            <a:ext cx="3302000" cy="457200"/>
          </a:xfrm>
          <a:prstGeom prst="roundRect">
            <a:avLst>
              <a:gd name="adj" fmla="val 0"/>
            </a:avLst>
          </a:prstGeom>
          <a:solidFill>
            <a:srgbClr val="3B82F6">
              <a:alpha val="15000"/>
            </a:srgbClr>
          </a:solidFill>
          <a:ln w="25400" cap="flat" cmpd="sng">
            <a:noFill/>
            <a:prstDash val="solid"/>
            <a:round/>
          </a:ln>
        </p:spPr>
        <p:txBody>
          <a:bodyPr vert="horz" wrap="square" lIns="0" tIns="0" rIns="0" bIns="0" rtlCol="0" anchor="ctr" anchorCtr="0"/>
          <a:lstStyle/>
          <a:p>
            <a:pPr algn="ctr">
              <a:defRPr/>
            </a:pPr>
          </a:p>
        </p:txBody>
      </p:sp>
      <p:sp>
        <p:nvSpPr>
          <p:cNvPr id="5" name="AutoShape 5"/>
          <p:cNvSpPr/>
          <p:nvPr/>
        </p:nvSpPr>
        <p:spPr>
          <a:xfrm>
            <a:off x="762000" y="2032000"/>
            <a:ext cx="50800" cy="457200"/>
          </a:xfrm>
          <a:prstGeom prst="roundRect">
            <a:avLst>
              <a:gd name="adj" fmla="val 0"/>
            </a:avLst>
          </a:prstGeom>
          <a:solidFill>
            <a:srgbClr val="3B82F6">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914400" y="2082800"/>
            <a:ext cx="304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Intelligent Collaboration Hub</a:t>
            </a:r>
            <a:endParaRPr lang="en-US" sz="1100"/>
          </a:p>
        </p:txBody>
      </p:sp>
      <p:sp>
        <p:nvSpPr>
          <p:cNvPr id="7" name="AutoShape 7"/>
          <p:cNvSpPr/>
          <p:nvPr/>
        </p:nvSpPr>
        <p:spPr>
          <a:xfrm>
            <a:off x="762000" y="2667000"/>
            <a:ext cx="330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D1D5DB"/>
                </a:solidFill>
                <a:latin typeface="Noto Sans SC"/>
                <a:ea typeface="Noto Sans SC"/>
                <a:cs typeface="Noto Sans SC"/>
                <a:sym typeface="Noto Sans SC"/>
              </a:rPr>
              <a:t>Reshape Team Collaboration, Inspire Organizational Vitality</a:t>
            </a:r>
            <a:endParaRPr lang="en-US" sz="1100"/>
          </a:p>
        </p:txBody>
      </p:sp>
      <p:cxnSp>
        <p:nvCxnSpPr>
          <p:cNvPr id="8" name="Connector 8"/>
          <p:cNvCxnSpPr/>
          <p:nvPr/>
        </p:nvCxnSpPr>
        <p:spPr>
          <a:xfrm rot="-13222">
            <a:off x="762012" y="3549650"/>
            <a:ext cx="3302000" cy="12700"/>
          </a:xfrm>
          <a:prstGeom prst="straightConnector1">
            <a:avLst/>
          </a:prstGeom>
          <a:solidFill>
            <a:srgbClr val="DEE0E3">
              <a:alpha val="100000"/>
            </a:srgbClr>
          </a:solidFill>
          <a:ln w="12700" cap="flat" cmpd="sng">
            <a:solidFill>
              <a:srgbClr val="FFFFFF">
                <a:alpha val="25000"/>
              </a:srgbClr>
            </a:solidFill>
            <a:prstDash val="dash"/>
            <a:round/>
            <a:headEnd type="none" w="med" len="med"/>
            <a:tailEnd type="none" w="med" len="med"/>
          </a:ln>
        </p:spPr>
      </p:cxnSp>
      <p:sp>
        <p:nvSpPr>
          <p:cNvPr id="9" name="AutoShape 9"/>
          <p:cNvSpPr/>
          <p:nvPr/>
        </p:nvSpPr>
        <p:spPr>
          <a:xfrm>
            <a:off x="762000" y="3810000"/>
            <a:ext cx="3302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a:solidFill>
                  <a:srgbClr val="60A5FA"/>
                </a:solidFill>
                <a:latin typeface="Noto Sans SC"/>
                <a:ea typeface="Noto Sans SC"/>
                <a:cs typeface="Noto Sans SC"/>
                <a:sym typeface="Noto Sans SC"/>
              </a:rPr>
              <a:t>Unified Work Entry:</a:t>
            </a:r>
            <a:r>
              <a:rPr lang="en-US" sz="1200" b="0" i="0" u="none" strike="noStrike">
                <a:solidFill>
                  <a:srgbClr val="E5E7EB"/>
                </a:solidFill>
                <a:latin typeface="Noto Sans SC"/>
                <a:ea typeface="Noto Sans SC"/>
                <a:cs typeface="Noto Sans SC"/>
                <a:sym typeface="Noto Sans SC"/>
              </a:rPr>
              <a:t>Integrates all collaboration tools such as instant messaging, audio/video conferencing, online documents, and task management.</a:t>
            </a:r>
            <a:endParaRPr lang="en-US" sz="1100"/>
          </a:p>
          <a:p>
            <a:pPr marL="0" indent="0" algn="l">
              <a:lnSpc>
                <a:spcPct val="117000"/>
              </a:lnSpc>
            </a:pPr>
            <a:r>
              <a:rPr lang="en-US" sz="1200" b="1" i="0" u="none" strike="noStrike">
                <a:solidFill>
                  <a:srgbClr val="60A5FA"/>
                </a:solidFill>
                <a:latin typeface="Noto Sans SC"/>
                <a:ea typeface="Noto Sans SC"/>
                <a:cs typeface="Noto Sans SC"/>
                <a:sym typeface="Noto Sans SC"/>
              </a:rPr>
              <a:t>AI Intelligent Assistant:</a:t>
            </a:r>
            <a:r>
              <a:rPr lang="en-US" sz="1200" b="0" i="0" u="none" strike="noStrike">
                <a:solidFill>
                  <a:srgbClr val="E5E7EB"/>
                </a:solidFill>
                <a:latin typeface="Noto Sans SC"/>
                <a:ea typeface="Noto Sans SC"/>
                <a:cs typeface="Noto Sans SC"/>
                <a:sym typeface="Noto Sans SC"/>
              </a:rPr>
              <a:t>Automatically generates meeting minutes, task to-dos, and information summaries, and intelligently recommends relevant documents and contacts.</a:t>
            </a:r>
            <a:endParaRPr lang="en-US" sz="1200" b="0" i="0" u="none" strike="noStrike">
              <a:solidFill>
                <a:srgbClr val="E5E7EB"/>
              </a:solidFill>
              <a:latin typeface="Noto Sans SC"/>
              <a:ea typeface="Noto Sans SC"/>
              <a:cs typeface="Noto Sans SC"/>
              <a:sym typeface="Noto Sans SC"/>
            </a:endParaRPr>
          </a:p>
          <a:p>
            <a:pPr marL="0" indent="0" algn="l">
              <a:lnSpc>
                <a:spcPct val="117000"/>
              </a:lnSpc>
            </a:pPr>
            <a:r>
              <a:rPr lang="en-US" sz="1200" b="1" i="0" u="none" strike="noStrike">
                <a:solidFill>
                  <a:srgbClr val="60A5FA"/>
                </a:solidFill>
                <a:latin typeface="Noto Sans SC"/>
                <a:ea typeface="Noto Sans SC"/>
                <a:cs typeface="Noto Sans SC"/>
                <a:sym typeface="Noto Sans SC"/>
              </a:rPr>
              <a:t>Knowledge Management:</a:t>
            </a:r>
            <a:r>
              <a:rPr lang="en-US" sz="1200" b="0" i="0" u="none" strike="noStrike">
                <a:solidFill>
                  <a:srgbClr val="E5E7EB"/>
                </a:solidFill>
                <a:latin typeface="Noto Sans SC"/>
                <a:ea typeface="Noto Sans SC"/>
                <a:cs typeface="Noto Sans SC"/>
                <a:sym typeface="Noto Sans SC"/>
              </a:rPr>
              <a:t>Converts project docs and communication records into a structured corporate knowledge base.</a:t>
            </a:r>
            <a:endParaRPr lang="en-US" sz="1200" b="0" i="0" u="none" strike="noStrike">
              <a:solidFill>
                <a:srgbClr val="E5E7EB"/>
              </a:solidFill>
              <a:latin typeface="Noto Sans SC"/>
              <a:ea typeface="Noto Sans SC"/>
              <a:cs typeface="Noto Sans SC"/>
              <a:sym typeface="Noto Sans SC"/>
            </a:endParaRPr>
          </a:p>
        </p:txBody>
      </p:sp>
      <p:sp>
        <p:nvSpPr>
          <p:cNvPr id="10" name="AutoShape 10"/>
          <p:cNvSpPr/>
          <p:nvPr/>
        </p:nvSpPr>
        <p:spPr>
          <a:xfrm>
            <a:off x="4445000" y="2032000"/>
            <a:ext cx="3302000" cy="457200"/>
          </a:xfrm>
          <a:prstGeom prst="roundRect">
            <a:avLst>
              <a:gd name="adj" fmla="val 0"/>
            </a:avLst>
          </a:prstGeom>
          <a:solidFill>
            <a:srgbClr val="3B82F6">
              <a:alpha val="15000"/>
            </a:srgbClr>
          </a:solidFill>
          <a:ln w="25400" cap="flat" cmpd="sng">
            <a:noFill/>
            <a:prstDash val="solid"/>
            <a:round/>
          </a:ln>
        </p:spPr>
        <p:txBody>
          <a:bodyPr vert="horz" wrap="square" lIns="0" tIns="0" rIns="0" bIns="0" rtlCol="0" anchor="ctr" anchorCtr="0"/>
          <a:lstStyle/>
          <a:p>
            <a:pPr algn="ctr">
              <a:defRPr/>
            </a:pPr>
          </a:p>
        </p:txBody>
      </p:sp>
      <p:sp>
        <p:nvSpPr>
          <p:cNvPr id="11" name="AutoShape 11"/>
          <p:cNvSpPr/>
          <p:nvPr/>
        </p:nvSpPr>
        <p:spPr>
          <a:xfrm>
            <a:off x="4445000" y="2032000"/>
            <a:ext cx="50800" cy="457200"/>
          </a:xfrm>
          <a:prstGeom prst="roundRect">
            <a:avLst>
              <a:gd name="adj" fmla="val 0"/>
            </a:avLst>
          </a:prstGeom>
          <a:solidFill>
            <a:srgbClr val="3B82F6">
              <a:alpha val="100000"/>
            </a:srgbClr>
          </a:solidFill>
          <a:ln w="25400" cap="flat" cmpd="sng">
            <a:noFill/>
            <a:prstDash val="solid"/>
            <a:round/>
          </a:ln>
        </p:spPr>
        <p:txBody>
          <a:bodyPr vert="horz" wrap="square" lIns="0" tIns="0" rIns="0" bIns="0" rtlCol="0" anchor="ctr" anchorCtr="0"/>
          <a:lstStyle/>
          <a:p>
            <a:pPr algn="ctr">
              <a:defRPr/>
            </a:pPr>
          </a:p>
        </p:txBody>
      </p:sp>
      <p:sp>
        <p:nvSpPr>
          <p:cNvPr id="12" name="AutoShape 12"/>
          <p:cNvSpPr/>
          <p:nvPr/>
        </p:nvSpPr>
        <p:spPr>
          <a:xfrm>
            <a:off x="4597400" y="2082800"/>
            <a:ext cx="304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Integrated Business Processes</a:t>
            </a:r>
            <a:endParaRPr lang="en-US" sz="1100"/>
          </a:p>
        </p:txBody>
      </p:sp>
      <p:sp>
        <p:nvSpPr>
          <p:cNvPr id="13" name="AutoShape 13"/>
          <p:cNvSpPr/>
          <p:nvPr/>
        </p:nvSpPr>
        <p:spPr>
          <a:xfrm>
            <a:off x="4445000" y="2667000"/>
            <a:ext cx="330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D1D5DB"/>
                </a:solidFill>
                <a:latin typeface="Noto Sans SC"/>
                <a:ea typeface="Noto Sans SC"/>
                <a:cs typeface="Noto Sans SC"/>
                <a:sym typeface="Noto Sans SC"/>
              </a:rPr>
              <a:t>Drive Efficient Operations, Optimize Resource Allocation</a:t>
            </a:r>
            <a:endParaRPr lang="en-US" sz="1100"/>
          </a:p>
        </p:txBody>
      </p:sp>
      <p:cxnSp>
        <p:nvCxnSpPr>
          <p:cNvPr id="14" name="Connector 14"/>
          <p:cNvCxnSpPr/>
          <p:nvPr/>
        </p:nvCxnSpPr>
        <p:spPr>
          <a:xfrm rot="-13222">
            <a:off x="4445012" y="3549650"/>
            <a:ext cx="3302000" cy="12700"/>
          </a:xfrm>
          <a:prstGeom prst="straightConnector1">
            <a:avLst/>
          </a:prstGeom>
          <a:solidFill>
            <a:srgbClr val="DEE0E3">
              <a:alpha val="100000"/>
            </a:srgbClr>
          </a:solidFill>
          <a:ln w="12700" cap="flat" cmpd="sng">
            <a:solidFill>
              <a:srgbClr val="FFFFFF">
                <a:alpha val="25000"/>
              </a:srgbClr>
            </a:solidFill>
            <a:prstDash val="dash"/>
            <a:round/>
            <a:headEnd type="none" w="med" len="med"/>
            <a:tailEnd type="none" w="med" len="med"/>
          </a:ln>
        </p:spPr>
      </p:cxnSp>
      <p:sp>
        <p:nvSpPr>
          <p:cNvPr id="15" name="AutoShape 15"/>
          <p:cNvSpPr/>
          <p:nvPr/>
        </p:nvSpPr>
        <p:spPr>
          <a:xfrm>
            <a:off x="4445000" y="3810000"/>
            <a:ext cx="3302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a:solidFill>
                  <a:srgbClr val="60A5FA"/>
                </a:solidFill>
                <a:latin typeface="Noto Sans SC"/>
                <a:ea typeface="Noto Sans SC"/>
                <a:cs typeface="Noto Sans SC"/>
                <a:sym typeface="Noto Sans SC"/>
              </a:rPr>
              <a:t>Low-Code Process Engine:</a:t>
            </a:r>
            <a:r>
              <a:rPr lang="en-US" sz="1200" b="0" i="0" u="none" strike="noStrike">
                <a:solidFill>
                  <a:srgbClr val="E5E7EB"/>
                </a:solidFill>
                <a:latin typeface="Noto Sans SC"/>
                <a:ea typeface="Noto Sans SC"/>
                <a:cs typeface="Noto Sans SC"/>
                <a:sym typeface="Noto Sans SC"/>
              </a:rPr>
              <a:t>A visual designer allows quick building/optimization of approval processes without programming.</a:t>
            </a:r>
            <a:endParaRPr lang="en-US" sz="1100"/>
          </a:p>
          <a:p>
            <a:pPr marL="0" indent="0" algn="l">
              <a:lnSpc>
                <a:spcPct val="117000"/>
              </a:lnSpc>
            </a:pPr>
            <a:r>
              <a:rPr lang="en-US" sz="1200" b="1" i="0" u="none" strike="noStrike">
                <a:solidFill>
                  <a:srgbClr val="60A5FA"/>
                </a:solidFill>
                <a:latin typeface="Noto Sans SC"/>
                <a:ea typeface="Noto Sans SC"/>
                <a:cs typeface="Noto Sans SC"/>
                <a:sym typeface="Noto Sans SC"/>
              </a:rPr>
              <a:t>Cross-System Integration:</a:t>
            </a:r>
            <a:r>
              <a:rPr lang="en-US" sz="1200" b="0" i="0" u="none" strike="noStrike">
                <a:solidFill>
                  <a:srgbClr val="E5E7EB"/>
                </a:solidFill>
                <a:latin typeface="Noto Sans SC"/>
                <a:ea typeface="Noto Sans SC"/>
                <a:cs typeface="Noto Sans SC"/>
                <a:sym typeface="Noto Sans SC"/>
              </a:rPr>
              <a:t>Connects ERP, CRM via open APIs, breaking information silos.</a:t>
            </a:r>
            <a:endParaRPr lang="en-US" sz="1200" b="0" i="0" u="none" strike="noStrike">
              <a:solidFill>
                <a:srgbClr val="E5E7EB"/>
              </a:solidFill>
              <a:latin typeface="Noto Sans SC"/>
              <a:ea typeface="Noto Sans SC"/>
              <a:cs typeface="Noto Sans SC"/>
              <a:sym typeface="Noto Sans SC"/>
            </a:endParaRPr>
          </a:p>
          <a:p>
            <a:pPr marL="0" indent="0" algn="l">
              <a:lnSpc>
                <a:spcPct val="117000"/>
              </a:lnSpc>
            </a:pPr>
            <a:r>
              <a:rPr lang="en-US" sz="1200" b="1" i="0" u="none" strike="noStrike">
                <a:solidFill>
                  <a:srgbClr val="60A5FA"/>
                </a:solidFill>
                <a:latin typeface="Noto Sans SC"/>
                <a:ea typeface="Noto Sans SC"/>
                <a:cs typeface="Noto Sans SC"/>
                <a:sym typeface="Noto Sans SC"/>
              </a:rPr>
              <a:t>Mobile Approval:</a:t>
            </a:r>
            <a:r>
              <a:rPr lang="en-US" sz="1200" b="0" i="0" u="none" strike="noStrike">
                <a:solidFill>
                  <a:srgbClr val="E5E7EB"/>
                </a:solidFill>
                <a:latin typeface="Noto Sans SC"/>
                <a:ea typeface="Noto Sans SC"/>
                <a:cs typeface="Noto Sans SC"/>
                <a:sym typeface="Noto Sans SC"/>
              </a:rPr>
              <a:t>All processes support mobile handling for anytime, anywhere approval.</a:t>
            </a:r>
            <a:endParaRPr lang="en-US" sz="1200" b="0" i="0" u="none" strike="noStrike">
              <a:solidFill>
                <a:srgbClr val="E5E7EB"/>
              </a:solidFill>
              <a:latin typeface="Noto Sans SC"/>
              <a:ea typeface="Noto Sans SC"/>
              <a:cs typeface="Noto Sans SC"/>
              <a:sym typeface="Noto Sans SC"/>
            </a:endParaRPr>
          </a:p>
        </p:txBody>
      </p:sp>
      <p:sp>
        <p:nvSpPr>
          <p:cNvPr id="16" name="AutoShape 16"/>
          <p:cNvSpPr/>
          <p:nvPr/>
        </p:nvSpPr>
        <p:spPr>
          <a:xfrm>
            <a:off x="8128000" y="2032000"/>
            <a:ext cx="3302000" cy="457200"/>
          </a:xfrm>
          <a:prstGeom prst="roundRect">
            <a:avLst>
              <a:gd name="adj" fmla="val 0"/>
            </a:avLst>
          </a:prstGeom>
          <a:solidFill>
            <a:srgbClr val="3B82F6">
              <a:alpha val="15000"/>
            </a:srgbClr>
          </a:solidFill>
          <a:ln w="25400" cap="flat" cmpd="sng">
            <a:noFill/>
            <a:prstDash val="solid"/>
            <a:round/>
          </a:ln>
        </p:spPr>
        <p:txBody>
          <a:bodyPr vert="horz" wrap="square" lIns="0" tIns="0" rIns="0" bIns="0" rtlCol="0" anchor="ctr" anchorCtr="0"/>
          <a:lstStyle/>
          <a:p>
            <a:pPr algn="ctr">
              <a:defRPr/>
            </a:pPr>
          </a:p>
        </p:txBody>
      </p:sp>
      <p:sp>
        <p:nvSpPr>
          <p:cNvPr id="17" name="AutoShape 17"/>
          <p:cNvSpPr/>
          <p:nvPr/>
        </p:nvSpPr>
        <p:spPr>
          <a:xfrm>
            <a:off x="8128000" y="2032000"/>
            <a:ext cx="50800" cy="457200"/>
          </a:xfrm>
          <a:prstGeom prst="roundRect">
            <a:avLst>
              <a:gd name="adj" fmla="val 0"/>
            </a:avLst>
          </a:prstGeom>
          <a:solidFill>
            <a:srgbClr val="3B82F6">
              <a:alpha val="100000"/>
            </a:srgbClr>
          </a:solidFill>
          <a:ln w="25400" cap="flat" cmpd="sng">
            <a:noFill/>
            <a:prstDash val="solid"/>
            <a:round/>
          </a:ln>
        </p:spPr>
        <p:txBody>
          <a:bodyPr vert="horz" wrap="square" lIns="0" tIns="0" rIns="0" bIns="0" rtlCol="0" anchor="ctr" anchorCtr="0"/>
          <a:lstStyle/>
          <a:p>
            <a:pPr algn="ctr">
              <a:defRPr/>
            </a:pPr>
          </a:p>
        </p:txBody>
      </p:sp>
      <p:sp>
        <p:nvSpPr>
          <p:cNvPr id="18" name="AutoShape 18"/>
          <p:cNvSpPr/>
          <p:nvPr/>
        </p:nvSpPr>
        <p:spPr>
          <a:xfrm>
            <a:off x="8280400" y="2082800"/>
            <a:ext cx="304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Panoramic Data Cockpit</a:t>
            </a:r>
            <a:endParaRPr lang="en-US" sz="1100"/>
          </a:p>
        </p:txBody>
      </p:sp>
      <p:sp>
        <p:nvSpPr>
          <p:cNvPr id="19" name="AutoShape 19"/>
          <p:cNvSpPr/>
          <p:nvPr/>
        </p:nvSpPr>
        <p:spPr>
          <a:xfrm>
            <a:off x="8128000" y="2667000"/>
            <a:ext cx="330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D1D5DB"/>
                </a:solidFill>
                <a:latin typeface="Noto Sans SC"/>
                <a:ea typeface="Noto Sans SC"/>
                <a:cs typeface="Noto Sans SC"/>
                <a:sym typeface="Noto Sans SC"/>
              </a:rPr>
              <a:t>Empower Smart Decision-Making, Insight into Business Opportunities</a:t>
            </a:r>
            <a:endParaRPr lang="en-US" sz="1100"/>
          </a:p>
        </p:txBody>
      </p:sp>
      <p:cxnSp>
        <p:nvCxnSpPr>
          <p:cNvPr id="20" name="Connector 20"/>
          <p:cNvCxnSpPr/>
          <p:nvPr/>
        </p:nvCxnSpPr>
        <p:spPr>
          <a:xfrm rot="-13222">
            <a:off x="8128012" y="3549650"/>
            <a:ext cx="3302000" cy="12700"/>
          </a:xfrm>
          <a:prstGeom prst="straightConnector1">
            <a:avLst/>
          </a:prstGeom>
          <a:solidFill>
            <a:srgbClr val="DEE0E3">
              <a:alpha val="100000"/>
            </a:srgbClr>
          </a:solidFill>
          <a:ln w="12700" cap="flat" cmpd="sng">
            <a:solidFill>
              <a:srgbClr val="FFFFFF">
                <a:alpha val="25000"/>
              </a:srgbClr>
            </a:solidFill>
            <a:prstDash val="dash"/>
            <a:round/>
            <a:headEnd type="none" w="med" len="med"/>
            <a:tailEnd type="none" w="med" len="med"/>
          </a:ln>
        </p:spPr>
      </p:cxnSp>
      <p:sp>
        <p:nvSpPr>
          <p:cNvPr id="21" name="AutoShape 21"/>
          <p:cNvSpPr/>
          <p:nvPr/>
        </p:nvSpPr>
        <p:spPr>
          <a:xfrm>
            <a:off x="8128000" y="3810000"/>
            <a:ext cx="3302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a:solidFill>
                  <a:srgbClr val="60A5FA"/>
                </a:solidFill>
                <a:latin typeface="Noto Sans SC"/>
                <a:ea typeface="Noto Sans SC"/>
                <a:cs typeface="Noto Sans SC"/>
                <a:sym typeface="Noto Sans SC"/>
              </a:rPr>
              <a:t>Multi-dimensional Dashboard:</a:t>
            </a:r>
            <a:r>
              <a:rPr lang="en-US" sz="1200" b="0" i="0" u="none" strike="noStrike">
                <a:solidFill>
                  <a:srgbClr val="E5E7EB"/>
                </a:solidFill>
                <a:latin typeface="Noto Sans SC"/>
                <a:ea typeface="Noto Sans SC"/>
                <a:cs typeface="Noto Sans SC"/>
                <a:sym typeface="Noto Sans SC"/>
              </a:rPr>
              <a:t>Drag-and-drop custom reports display core business indicators in real-time.</a:t>
            </a:r>
            <a:endParaRPr lang="en-US" sz="1100"/>
          </a:p>
          <a:p>
            <a:pPr marL="0" indent="0" algn="l">
              <a:lnSpc>
                <a:spcPct val="117000"/>
              </a:lnSpc>
            </a:pPr>
            <a:r>
              <a:rPr lang="en-US" sz="1200" b="1" i="0" u="none" strike="noStrike">
                <a:solidFill>
                  <a:srgbClr val="60A5FA"/>
                </a:solidFill>
                <a:latin typeface="Noto Sans SC"/>
                <a:ea typeface="Noto Sans SC"/>
                <a:cs typeface="Noto Sans SC"/>
                <a:sym typeface="Noto Sans SC"/>
              </a:rPr>
              <a:t>Intelligent Analysis:</a:t>
            </a:r>
            <a:r>
              <a:rPr lang="en-US" sz="1200" b="0" i="0" u="none" strike="noStrike">
                <a:solidFill>
                  <a:srgbClr val="E5E7EB"/>
                </a:solidFill>
                <a:latin typeface="Noto Sans SC"/>
                <a:ea typeface="Noto Sans SC"/>
                <a:cs typeface="Noto Sans SC"/>
                <a:sym typeface="Noto Sans SC"/>
              </a:rPr>
              <a:t>Built-in models identify trends, detect anomalies, and provide alerts.</a:t>
            </a:r>
            <a:endParaRPr lang="en-US" sz="1200" b="0" i="0" u="none" strike="noStrike">
              <a:solidFill>
                <a:srgbClr val="E5E7EB"/>
              </a:solidFill>
              <a:latin typeface="Noto Sans SC"/>
              <a:ea typeface="Noto Sans SC"/>
              <a:cs typeface="Noto Sans SC"/>
              <a:sym typeface="Noto Sans SC"/>
            </a:endParaRPr>
          </a:p>
          <a:p>
            <a:pPr marL="0" indent="0" algn="l">
              <a:lnSpc>
                <a:spcPct val="117000"/>
              </a:lnSpc>
            </a:pPr>
            <a:r>
              <a:rPr lang="en-US" sz="1200" b="1" i="0" u="none" strike="noStrike">
                <a:solidFill>
                  <a:srgbClr val="60A5FA"/>
                </a:solidFill>
                <a:latin typeface="Noto Sans SC"/>
                <a:ea typeface="Noto Sans SC"/>
                <a:cs typeface="Noto Sans SC"/>
                <a:sym typeface="Noto Sans SC"/>
              </a:rPr>
              <a:t>Self-Service Analysis:</a:t>
            </a:r>
            <a:r>
              <a:rPr lang="en-US" sz="1200" b="0" i="0" u="none" strike="noStrike">
                <a:solidFill>
                  <a:srgbClr val="E5E7EB"/>
                </a:solidFill>
                <a:latin typeface="Noto Sans SC"/>
                <a:ea typeface="Noto Sans SC"/>
                <a:cs typeface="Noto Sans SC"/>
                <a:sym typeface="Noto Sans SC"/>
              </a:rPr>
              <a:t>Easy tools enable business personnel to explore data independently.</a:t>
            </a:r>
            <a:endParaRPr lang="en-US" sz="1200" b="0" i="0" u="none" strike="noStrike">
              <a:solidFill>
                <a:srgbClr val="E5E7EB"/>
              </a:solidFill>
              <a:latin typeface="Noto Sans SC"/>
              <a:ea typeface="Noto Sans SC"/>
              <a:cs typeface="Noto Sans SC"/>
              <a:sym typeface="Noto Sans SC"/>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1016000" y="2032000"/>
            <a:ext cx="381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8000" b="1" i="0" u="none" strike="noStrike">
                <a:solidFill>
                  <a:srgbClr val="00BFFF"/>
                </a:solidFill>
                <a:latin typeface="Poppins"/>
                <a:ea typeface="Poppins"/>
                <a:cs typeface="Poppins"/>
                <a:sym typeface="Poppins"/>
              </a:rPr>
              <a:t>03</a:t>
            </a:r>
            <a:endParaRPr lang="en-US" sz="1100"/>
          </a:p>
        </p:txBody>
      </p:sp>
      <p:sp>
        <p:nvSpPr>
          <p:cNvPr id="4" name="AutoShape 4"/>
          <p:cNvSpPr/>
          <p:nvPr/>
        </p:nvSpPr>
        <p:spPr>
          <a:xfrm>
            <a:off x="1016000" y="3429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000" b="1" i="0" u="none" strike="noStrike">
                <a:solidFill>
                  <a:srgbClr val="FFFFFF"/>
                </a:solidFill>
                <a:latin typeface="Poppins"/>
                <a:ea typeface="Poppins"/>
                <a:cs typeface="Poppins"/>
                <a:sym typeface="Poppins"/>
              </a:rPr>
              <a:t>Core Advantages &amp; Value Comparison</a:t>
            </a:r>
            <a:endParaRPr lang="en-US" sz="1100"/>
          </a:p>
        </p:txBody>
      </p:sp>
      <p:sp>
        <p:nvSpPr>
          <p:cNvPr id="5" name="AutoShape 5"/>
          <p:cNvSpPr/>
          <p:nvPr/>
        </p:nvSpPr>
        <p:spPr>
          <a:xfrm>
            <a:off x="1016000" y="4572000"/>
            <a:ext cx="2032000" cy="50800"/>
          </a:xfrm>
          <a:prstGeom prst="roundRect">
            <a:avLst>
              <a:gd name="adj" fmla="val 0"/>
            </a:avLst>
          </a:prstGeom>
          <a:solidFill>
            <a:srgbClr val="00BFFF">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1016000" y="4953000"/>
            <a:ext cx="1016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CCD6E0"/>
                </a:solidFill>
                <a:latin typeface="Poppins"/>
                <a:ea typeface="Poppins"/>
                <a:cs typeface="Poppins"/>
                <a:sym typeface="Poppins"/>
              </a:rPr>
              <a:t>Say goodbye to the efficiency bottlenecks of traditional office models. By reconstructing collaboration processes, integrating core data, and optimizing resource allocation, SynergyOS brings revolutionary value to enterprises in terms of cost reduction and efficiency improvement. This chapter will deeply analyze its irreplaceable core competitiveness from three dimensions: efficiency, cost, and experience.</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92F">
              <a:alpha val="95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2400" b="1" i="0" u="none" strike="noStrike">
                <a:solidFill>
                  <a:srgbClr val="FFFFFF"/>
                </a:solidFill>
                <a:latin typeface="Noto Sans SC"/>
                <a:ea typeface="Noto Sans SC"/>
                <a:cs typeface="Noto Sans SC"/>
                <a:sym typeface="Noto Sans SC"/>
              </a:rPr>
              <a:t>Revolutionary Differences: SynergyOS vs. Traditional Office Models</a:t>
            </a:r>
            <a:endParaRPr lang="en-US" sz="1100"/>
          </a:p>
        </p:txBody>
      </p:sp>
      <p:sp>
        <p:nvSpPr>
          <p:cNvPr id="4" name="AutoShape 4"/>
          <p:cNvSpPr/>
          <p:nvPr/>
        </p:nvSpPr>
        <p:spPr>
          <a:xfrm>
            <a:off x="1016000" y="1651000"/>
            <a:ext cx="10160000" cy="508000"/>
          </a:xfrm>
          <a:prstGeom prst="roundRect">
            <a:avLst>
              <a:gd name="adj" fmla="val 0"/>
            </a:avLst>
          </a:prstGeom>
          <a:solidFill>
            <a:srgbClr val="0F4C81">
              <a:alpha val="100000"/>
            </a:srgbClr>
          </a:solidFill>
          <a:ln w="25400" cap="flat" cmpd="sng">
            <a:noFill/>
            <a:prstDash val="solid"/>
            <a:round/>
          </a:ln>
        </p:spPr>
        <p:txBody>
          <a:bodyPr vert="horz" wrap="square" lIns="0" tIns="0" rIns="0" bIns="0" rtlCol="0" anchor="ctr" anchorCtr="0"/>
          <a:lstStyle/>
          <a:p>
            <a:pPr algn="ctr">
              <a:defRPr/>
            </a:pPr>
          </a:p>
        </p:txBody>
      </p:sp>
      <p:sp>
        <p:nvSpPr>
          <p:cNvPr id="5" name="AutoShape 5"/>
          <p:cNvSpPr/>
          <p:nvPr/>
        </p:nvSpPr>
        <p:spPr>
          <a:xfrm>
            <a:off x="1079500" y="1714500"/>
            <a:ext cx="190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Core Dimension</a:t>
            </a:r>
            <a:endParaRPr lang="en-US" sz="1100"/>
          </a:p>
        </p:txBody>
      </p:sp>
      <p:sp>
        <p:nvSpPr>
          <p:cNvPr id="6" name="AutoShape 6"/>
          <p:cNvSpPr/>
          <p:nvPr/>
        </p:nvSpPr>
        <p:spPr>
          <a:xfrm>
            <a:off x="3111500" y="1714500"/>
            <a:ext cx="292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E6E6E6"/>
                </a:solidFill>
                <a:latin typeface="Noto Sans SC"/>
                <a:ea typeface="Noto Sans SC"/>
                <a:cs typeface="Noto Sans SC"/>
                <a:sym typeface="Noto Sans SC"/>
              </a:rPr>
              <a:t>Pain Points of Traditional Models</a:t>
            </a:r>
            <a:endParaRPr lang="en-US" sz="1100"/>
          </a:p>
        </p:txBody>
      </p:sp>
      <p:sp>
        <p:nvSpPr>
          <p:cNvPr id="7" name="AutoShape 7"/>
          <p:cNvSpPr/>
          <p:nvPr/>
        </p:nvSpPr>
        <p:spPr>
          <a:xfrm>
            <a:off x="6159500" y="1714500"/>
            <a:ext cx="292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E6E6E6"/>
                </a:solidFill>
                <a:latin typeface="Noto Sans SC"/>
                <a:ea typeface="Noto Sans SC"/>
                <a:cs typeface="Noto Sans SC"/>
                <a:sym typeface="Noto Sans SC"/>
              </a:rPr>
              <a:t>SynergyOS Next-Gen Solution</a:t>
            </a:r>
            <a:endParaRPr lang="en-US" sz="1100"/>
          </a:p>
        </p:txBody>
      </p:sp>
      <p:sp>
        <p:nvSpPr>
          <p:cNvPr id="8" name="AutoShape 8"/>
          <p:cNvSpPr/>
          <p:nvPr/>
        </p:nvSpPr>
        <p:spPr>
          <a:xfrm>
            <a:off x="9207500" y="1714500"/>
            <a:ext cx="190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64C8FF"/>
                </a:solidFill>
                <a:latin typeface="Noto Sans SC"/>
                <a:ea typeface="Noto Sans SC"/>
                <a:cs typeface="Noto Sans SC"/>
                <a:sym typeface="Noto Sans SC"/>
              </a:rPr>
              <a:t>Key Value Output</a:t>
            </a:r>
            <a:endParaRPr lang="en-US" sz="1100"/>
          </a:p>
        </p:txBody>
      </p:sp>
      <p:cxnSp>
        <p:nvCxnSpPr>
          <p:cNvPr id="9" name="Connector 9"/>
          <p:cNvCxnSpPr/>
          <p:nvPr/>
        </p:nvCxnSpPr>
        <p:spPr>
          <a:xfrm rot="-4297">
            <a:off x="1016004" y="2216150"/>
            <a:ext cx="10160000" cy="12700"/>
          </a:xfrm>
          <a:prstGeom prst="straightConnector1">
            <a:avLst/>
          </a:prstGeom>
          <a:solidFill>
            <a:srgbClr val="DEE0E3">
              <a:alpha val="100000"/>
            </a:srgbClr>
          </a:solidFill>
          <a:ln w="12700" cap="flat" cmpd="sng">
            <a:solidFill>
              <a:srgbClr val="4494FF">
                <a:alpha val="60000"/>
              </a:srgbClr>
            </a:solidFill>
            <a:prstDash val="solid"/>
            <a:round/>
            <a:headEnd type="none" w="med" len="med"/>
            <a:tailEnd type="none" w="med" len="med"/>
          </a:ln>
        </p:spPr>
      </p:cxnSp>
      <p:sp>
        <p:nvSpPr>
          <p:cNvPr id="10" name="AutoShape 10"/>
          <p:cNvSpPr/>
          <p:nvPr/>
        </p:nvSpPr>
        <p:spPr>
          <a:xfrm>
            <a:off x="1016000" y="2349500"/>
            <a:ext cx="10160000" cy="762000"/>
          </a:xfrm>
          <a:prstGeom prst="roundRect">
            <a:avLst>
              <a:gd name="adj" fmla="val 0"/>
            </a:avLst>
          </a:prstGeom>
          <a:solidFill>
            <a:srgbClr val="172C4D">
              <a:alpha val="90000"/>
            </a:srgbClr>
          </a:solidFill>
          <a:ln w="25400" cap="flat" cmpd="sng">
            <a:noFill/>
            <a:prstDash val="solid"/>
            <a:round/>
          </a:ln>
        </p:spPr>
        <p:txBody>
          <a:bodyPr vert="horz" wrap="square" lIns="0" tIns="0" rIns="0" bIns="0" rtlCol="0" anchor="ctr" anchorCtr="0"/>
          <a:lstStyle/>
          <a:p>
            <a:pPr algn="ctr">
              <a:defRPr/>
            </a:pPr>
          </a:p>
        </p:txBody>
      </p:sp>
      <p:sp>
        <p:nvSpPr>
          <p:cNvPr id="11" name="AutoShape 11"/>
          <p:cNvSpPr/>
          <p:nvPr/>
        </p:nvSpPr>
        <p:spPr>
          <a:xfrm>
            <a:off x="1016000" y="2349500"/>
            <a:ext cx="50800" cy="762000"/>
          </a:xfrm>
          <a:prstGeom prst="roundRect">
            <a:avLst>
              <a:gd name="adj" fmla="val 0"/>
            </a:avLst>
          </a:prstGeom>
          <a:solidFill>
            <a:srgbClr val="4494FF">
              <a:alpha val="100000"/>
            </a:srgbClr>
          </a:solidFill>
          <a:ln w="25400" cap="flat" cmpd="sng">
            <a:noFill/>
            <a:prstDash val="solid"/>
            <a:round/>
          </a:ln>
        </p:spPr>
        <p:txBody>
          <a:bodyPr vert="horz" wrap="square" lIns="0" tIns="0" rIns="0" bIns="0" rtlCol="0" anchor="ctr" anchorCtr="0"/>
          <a:lstStyle/>
          <a:p>
            <a:pPr algn="ctr">
              <a:defRPr/>
            </a:pPr>
          </a:p>
        </p:txBody>
      </p:sp>
      <p:sp>
        <p:nvSpPr>
          <p:cNvPr id="12" name="AutoShape 12"/>
          <p:cNvSpPr/>
          <p:nvPr/>
        </p:nvSpPr>
        <p:spPr>
          <a:xfrm>
            <a:off x="1143000" y="2413000"/>
            <a:ext cx="184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FFFFFF"/>
                </a:solidFill>
                <a:latin typeface="Noto Sans SC"/>
                <a:ea typeface="Noto Sans SC"/>
                <a:cs typeface="Noto Sans SC"/>
                <a:sym typeface="Noto Sans SC"/>
              </a:rPr>
              <a:t>Information Flow</a:t>
            </a:r>
            <a:endParaRPr lang="en-US" sz="1100"/>
          </a:p>
        </p:txBody>
      </p:sp>
      <p:sp>
        <p:nvSpPr>
          <p:cNvPr id="13" name="AutoShape 13"/>
          <p:cNvSpPr/>
          <p:nvPr/>
        </p:nvSpPr>
        <p:spPr>
          <a:xfrm>
            <a:off x="3111500" y="2413000"/>
            <a:ext cx="279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C8D2DC"/>
                </a:solidFill>
                <a:latin typeface="Noto Sans SC"/>
                <a:ea typeface="Noto Sans SC"/>
                <a:cs typeface="Noto Sans SC"/>
                <a:sym typeface="Noto Sans SC"/>
              </a:rPr>
              <a:t>Information silos, data scattered across systems, heavily reliant on manual aggregation, inefficient and error-prone.</a:t>
            </a:r>
            <a:endParaRPr lang="en-US" sz="1100"/>
          </a:p>
        </p:txBody>
      </p:sp>
      <p:sp>
        <p:nvSpPr>
          <p:cNvPr id="14" name="AutoShape 14"/>
          <p:cNvSpPr/>
          <p:nvPr/>
        </p:nvSpPr>
        <p:spPr>
          <a:xfrm>
            <a:off x="6096000" y="2413000"/>
            <a:ext cx="279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C8D2DC"/>
                </a:solidFill>
                <a:latin typeface="Noto Sans SC"/>
                <a:ea typeface="Noto Sans SC"/>
                <a:cs typeface="Noto Sans SC"/>
                <a:sym typeface="Noto Sans SC"/>
              </a:rPr>
              <a:t>Data Interconnection: Build a unified data foundation, break down system barriers, enable seamless flow.</a:t>
            </a:r>
            <a:endParaRPr lang="en-US" sz="1100"/>
          </a:p>
        </p:txBody>
      </p:sp>
      <p:sp>
        <p:nvSpPr>
          <p:cNvPr id="15" name="AutoShape 15"/>
          <p:cNvSpPr/>
          <p:nvPr/>
        </p:nvSpPr>
        <p:spPr>
          <a:xfrm>
            <a:off x="9080500" y="2438400"/>
            <a:ext cx="203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64C8FF"/>
                </a:solidFill>
                <a:latin typeface="Noto Sans SC"/>
                <a:ea typeface="Noto Sans SC"/>
                <a:cs typeface="Noto Sans SC"/>
                <a:sym typeface="Noto Sans SC"/>
              </a:rPr>
              <a:t>90% Increase in Information Transparency</a:t>
            </a:r>
            <a:endParaRPr lang="en-US" sz="1100"/>
          </a:p>
        </p:txBody>
      </p:sp>
      <p:sp>
        <p:nvSpPr>
          <p:cNvPr id="16" name="AutoShape 16"/>
          <p:cNvSpPr/>
          <p:nvPr/>
        </p:nvSpPr>
        <p:spPr>
          <a:xfrm>
            <a:off x="1016000" y="3238500"/>
            <a:ext cx="10160000" cy="762000"/>
          </a:xfrm>
          <a:prstGeom prst="roundRect">
            <a:avLst>
              <a:gd name="adj" fmla="val 0"/>
            </a:avLst>
          </a:prstGeom>
          <a:solidFill>
            <a:srgbClr val="172C4D">
              <a:alpha val="90000"/>
            </a:srgbClr>
          </a:solidFill>
          <a:ln w="25400" cap="flat" cmpd="sng">
            <a:noFill/>
            <a:prstDash val="solid"/>
            <a:round/>
          </a:ln>
        </p:spPr>
        <p:txBody>
          <a:bodyPr vert="horz" wrap="square" lIns="0" tIns="0" rIns="0" bIns="0" rtlCol="0" anchor="ctr" anchorCtr="0"/>
          <a:lstStyle/>
          <a:p>
            <a:pPr algn="ctr">
              <a:defRPr/>
            </a:pPr>
          </a:p>
        </p:txBody>
      </p:sp>
      <p:sp>
        <p:nvSpPr>
          <p:cNvPr id="17" name="AutoShape 17"/>
          <p:cNvSpPr/>
          <p:nvPr/>
        </p:nvSpPr>
        <p:spPr>
          <a:xfrm>
            <a:off x="1016000" y="3238500"/>
            <a:ext cx="50800" cy="762000"/>
          </a:xfrm>
          <a:prstGeom prst="roundRect">
            <a:avLst>
              <a:gd name="adj" fmla="val 0"/>
            </a:avLst>
          </a:prstGeom>
          <a:solidFill>
            <a:srgbClr val="4494FF">
              <a:alpha val="90000"/>
            </a:srgbClr>
          </a:solidFill>
          <a:ln w="25400" cap="flat" cmpd="sng">
            <a:noFill/>
            <a:prstDash val="solid"/>
            <a:round/>
          </a:ln>
        </p:spPr>
        <p:txBody>
          <a:bodyPr vert="horz" wrap="square" lIns="0" tIns="0" rIns="0" bIns="0" rtlCol="0" anchor="ctr" anchorCtr="0"/>
          <a:lstStyle/>
          <a:p>
            <a:pPr algn="ctr">
              <a:defRPr/>
            </a:pPr>
          </a:p>
        </p:txBody>
      </p:sp>
      <p:sp>
        <p:nvSpPr>
          <p:cNvPr id="18" name="AutoShape 18"/>
          <p:cNvSpPr/>
          <p:nvPr/>
        </p:nvSpPr>
        <p:spPr>
          <a:xfrm>
            <a:off x="1143000" y="3302000"/>
            <a:ext cx="184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FFFFFF"/>
                </a:solidFill>
                <a:latin typeface="Noto Sans SC"/>
                <a:ea typeface="Noto Sans SC"/>
                <a:cs typeface="Noto Sans SC"/>
                <a:sym typeface="Noto Sans SC"/>
              </a:rPr>
              <a:t>Collaboration Efficiency</a:t>
            </a:r>
            <a:endParaRPr lang="en-US" sz="1100"/>
          </a:p>
        </p:txBody>
      </p:sp>
      <p:sp>
        <p:nvSpPr>
          <p:cNvPr id="19" name="AutoShape 19"/>
          <p:cNvSpPr/>
          <p:nvPr/>
        </p:nvSpPr>
        <p:spPr>
          <a:xfrm>
            <a:off x="3111500" y="3302000"/>
            <a:ext cx="279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C8D2DC"/>
                </a:solidFill>
                <a:latin typeface="Noto Sans SC"/>
                <a:ea typeface="Noto Sans SC"/>
                <a:cs typeface="Noto Sans SC"/>
                <a:sym typeface="Noto Sans SC"/>
              </a:rPr>
              <a:t>Decentralized communication, repetitive processes, prone to information loss or distortion.</a:t>
            </a:r>
            <a:endParaRPr lang="en-US" sz="1100"/>
          </a:p>
        </p:txBody>
      </p:sp>
      <p:sp>
        <p:nvSpPr>
          <p:cNvPr id="20" name="AutoShape 20"/>
          <p:cNvSpPr/>
          <p:nvPr/>
        </p:nvSpPr>
        <p:spPr>
          <a:xfrm>
            <a:off x="6096000" y="3302000"/>
            <a:ext cx="279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C8D2DC"/>
                </a:solidFill>
                <a:latin typeface="Noto Sans SC"/>
                <a:ea typeface="Noto Sans SC"/>
                <a:cs typeface="Noto Sans SC"/>
                <a:sym typeface="Noto Sans SC"/>
              </a:rPr>
              <a:t>Scenario-based Collaboration: Aggregates info around tasks, clear context, efficient tracking.</a:t>
            </a:r>
            <a:endParaRPr lang="en-US" sz="1100"/>
          </a:p>
        </p:txBody>
      </p:sp>
      <p:sp>
        <p:nvSpPr>
          <p:cNvPr id="21" name="AutoShape 21"/>
          <p:cNvSpPr/>
          <p:nvPr/>
        </p:nvSpPr>
        <p:spPr>
          <a:xfrm>
            <a:off x="9080500" y="3327400"/>
            <a:ext cx="203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64C8FF"/>
                </a:solidFill>
                <a:latin typeface="Noto Sans SC"/>
                <a:ea typeface="Noto Sans SC"/>
                <a:cs typeface="Noto Sans SC"/>
                <a:sym typeface="Noto Sans SC"/>
              </a:rPr>
              <a:t>50% Increase in Team Collaboration Efficiency</a:t>
            </a:r>
            <a:endParaRPr lang="en-US" sz="1100"/>
          </a:p>
        </p:txBody>
      </p:sp>
      <p:sp>
        <p:nvSpPr>
          <p:cNvPr id="22" name="AutoShape 22"/>
          <p:cNvSpPr/>
          <p:nvPr/>
        </p:nvSpPr>
        <p:spPr>
          <a:xfrm>
            <a:off x="1016000" y="4127500"/>
            <a:ext cx="10160000" cy="762000"/>
          </a:xfrm>
          <a:prstGeom prst="roundRect">
            <a:avLst>
              <a:gd name="adj" fmla="val 0"/>
            </a:avLst>
          </a:prstGeom>
          <a:solidFill>
            <a:srgbClr val="172C4D">
              <a:alpha val="90000"/>
            </a:srgbClr>
          </a:solidFill>
          <a:ln w="25400" cap="flat" cmpd="sng">
            <a:noFill/>
            <a:prstDash val="solid"/>
            <a:round/>
          </a:ln>
        </p:spPr>
        <p:txBody>
          <a:bodyPr vert="horz" wrap="square" lIns="0" tIns="0" rIns="0" bIns="0" rtlCol="0" anchor="ctr" anchorCtr="0"/>
          <a:lstStyle/>
          <a:p>
            <a:pPr algn="ctr">
              <a:defRPr/>
            </a:pPr>
          </a:p>
        </p:txBody>
      </p:sp>
      <p:sp>
        <p:nvSpPr>
          <p:cNvPr id="23" name="AutoShape 23"/>
          <p:cNvSpPr/>
          <p:nvPr/>
        </p:nvSpPr>
        <p:spPr>
          <a:xfrm>
            <a:off x="1016000" y="4127500"/>
            <a:ext cx="50800" cy="762000"/>
          </a:xfrm>
          <a:prstGeom prst="roundRect">
            <a:avLst>
              <a:gd name="adj" fmla="val 0"/>
            </a:avLst>
          </a:prstGeom>
          <a:solidFill>
            <a:srgbClr val="4494FF">
              <a:alpha val="80000"/>
            </a:srgbClr>
          </a:solidFill>
          <a:ln w="25400" cap="flat" cmpd="sng">
            <a:noFill/>
            <a:prstDash val="solid"/>
            <a:round/>
          </a:ln>
        </p:spPr>
        <p:txBody>
          <a:bodyPr vert="horz" wrap="square" lIns="0" tIns="0" rIns="0" bIns="0" rtlCol="0" anchor="ctr" anchorCtr="0"/>
          <a:lstStyle/>
          <a:p>
            <a:pPr algn="ctr">
              <a:defRPr/>
            </a:pPr>
          </a:p>
        </p:txBody>
      </p:sp>
      <p:sp>
        <p:nvSpPr>
          <p:cNvPr id="24" name="AutoShape 24"/>
          <p:cNvSpPr/>
          <p:nvPr/>
        </p:nvSpPr>
        <p:spPr>
          <a:xfrm>
            <a:off x="1143000" y="4191000"/>
            <a:ext cx="184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FFFFFF"/>
                </a:solidFill>
                <a:latin typeface="Noto Sans SC"/>
                <a:ea typeface="Noto Sans SC"/>
                <a:cs typeface="Noto Sans SC"/>
                <a:sym typeface="Noto Sans SC"/>
              </a:rPr>
              <a:t>Process Management</a:t>
            </a:r>
            <a:endParaRPr lang="en-US" sz="1100"/>
          </a:p>
        </p:txBody>
      </p:sp>
      <p:sp>
        <p:nvSpPr>
          <p:cNvPr id="25" name="AutoShape 25"/>
          <p:cNvSpPr/>
          <p:nvPr/>
        </p:nvSpPr>
        <p:spPr>
          <a:xfrm>
            <a:off x="3111500" y="4191000"/>
            <a:ext cx="279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C8D2DC"/>
                </a:solidFill>
                <a:latin typeface="Noto Sans SC"/>
                <a:ea typeface="Noto Sans SC"/>
                <a:cs typeface="Noto Sans SC"/>
                <a:sym typeface="Noto Sans SC"/>
              </a:rPr>
              <a:t>Lengthy approval processes, opaque status, heavily reliant on offline reminders.</a:t>
            </a:r>
            <a:endParaRPr lang="en-US" sz="1100"/>
          </a:p>
        </p:txBody>
      </p:sp>
      <p:sp>
        <p:nvSpPr>
          <p:cNvPr id="26" name="AutoShape 26"/>
          <p:cNvSpPr/>
          <p:nvPr/>
        </p:nvSpPr>
        <p:spPr>
          <a:xfrm>
            <a:off x="6096000" y="4191000"/>
            <a:ext cx="279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C8D2DC"/>
                </a:solidFill>
                <a:latin typeface="Noto Sans SC"/>
                <a:ea typeface="Noto Sans SC"/>
                <a:cs typeface="Noto Sans SC"/>
                <a:sym typeface="Noto Sans SC"/>
              </a:rPr>
              <a:t>Process Automation: Visual engine, full online flow, real-time tracking, shorter cycles.</a:t>
            </a:r>
            <a:endParaRPr lang="en-US" sz="1100"/>
          </a:p>
        </p:txBody>
      </p:sp>
      <p:sp>
        <p:nvSpPr>
          <p:cNvPr id="27" name="AutoShape 27"/>
          <p:cNvSpPr/>
          <p:nvPr/>
        </p:nvSpPr>
        <p:spPr>
          <a:xfrm>
            <a:off x="9080500" y="4216400"/>
            <a:ext cx="203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64C8FF"/>
                </a:solidFill>
                <a:latin typeface="Noto Sans SC"/>
                <a:ea typeface="Noto Sans SC"/>
                <a:cs typeface="Noto Sans SC"/>
                <a:sym typeface="Noto Sans SC"/>
              </a:rPr>
              <a:t>70% Reduction in Process Handling Time</a:t>
            </a:r>
            <a:endParaRPr lang="en-US" sz="1100"/>
          </a:p>
        </p:txBody>
      </p:sp>
      <p:sp>
        <p:nvSpPr>
          <p:cNvPr id="28" name="AutoShape 28"/>
          <p:cNvSpPr/>
          <p:nvPr/>
        </p:nvSpPr>
        <p:spPr>
          <a:xfrm>
            <a:off x="1016000" y="5016500"/>
            <a:ext cx="10160000" cy="762000"/>
          </a:xfrm>
          <a:prstGeom prst="roundRect">
            <a:avLst>
              <a:gd name="adj" fmla="val 0"/>
            </a:avLst>
          </a:prstGeom>
          <a:solidFill>
            <a:srgbClr val="172C4D">
              <a:alpha val="90000"/>
            </a:srgbClr>
          </a:solidFill>
          <a:ln w="25400" cap="flat" cmpd="sng">
            <a:noFill/>
            <a:prstDash val="solid"/>
            <a:round/>
          </a:ln>
        </p:spPr>
        <p:txBody>
          <a:bodyPr vert="horz" wrap="square" lIns="0" tIns="0" rIns="0" bIns="0" rtlCol="0" anchor="ctr" anchorCtr="0"/>
          <a:lstStyle/>
          <a:p>
            <a:pPr algn="ctr">
              <a:defRPr/>
            </a:pPr>
          </a:p>
        </p:txBody>
      </p:sp>
      <p:sp>
        <p:nvSpPr>
          <p:cNvPr id="29" name="AutoShape 29"/>
          <p:cNvSpPr/>
          <p:nvPr/>
        </p:nvSpPr>
        <p:spPr>
          <a:xfrm>
            <a:off x="1016000" y="5016500"/>
            <a:ext cx="50800" cy="762000"/>
          </a:xfrm>
          <a:prstGeom prst="roundRect">
            <a:avLst>
              <a:gd name="adj" fmla="val 0"/>
            </a:avLst>
          </a:prstGeom>
          <a:solidFill>
            <a:srgbClr val="4494FF">
              <a:alpha val="70000"/>
            </a:srgbClr>
          </a:solidFill>
          <a:ln w="25400" cap="flat" cmpd="sng">
            <a:noFill/>
            <a:prstDash val="solid"/>
            <a:round/>
          </a:ln>
        </p:spPr>
        <p:txBody>
          <a:bodyPr vert="horz" wrap="square" lIns="0" tIns="0" rIns="0" bIns="0" rtlCol="0" anchor="ctr" anchorCtr="0"/>
          <a:lstStyle/>
          <a:p>
            <a:pPr algn="ctr">
              <a:defRPr/>
            </a:pPr>
          </a:p>
        </p:txBody>
      </p:sp>
      <p:sp>
        <p:nvSpPr>
          <p:cNvPr id="30" name="AutoShape 30"/>
          <p:cNvSpPr/>
          <p:nvPr/>
        </p:nvSpPr>
        <p:spPr>
          <a:xfrm>
            <a:off x="1143000" y="5080000"/>
            <a:ext cx="184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FFFFFF"/>
                </a:solidFill>
                <a:latin typeface="Noto Sans SC"/>
                <a:ea typeface="Noto Sans SC"/>
                <a:cs typeface="Noto Sans SC"/>
                <a:sym typeface="Noto Sans SC"/>
              </a:rPr>
              <a:t>Decision Support</a:t>
            </a:r>
            <a:endParaRPr lang="en-US" sz="1100"/>
          </a:p>
        </p:txBody>
      </p:sp>
      <p:sp>
        <p:nvSpPr>
          <p:cNvPr id="31" name="AutoShape 31"/>
          <p:cNvSpPr/>
          <p:nvPr/>
        </p:nvSpPr>
        <p:spPr>
          <a:xfrm>
            <a:off x="3111500" y="5080000"/>
            <a:ext cx="279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C8D2DC"/>
                </a:solidFill>
                <a:latin typeface="Noto Sans SC"/>
                <a:ea typeface="Noto Sans SC"/>
                <a:cs typeface="Noto Sans SC"/>
                <a:sym typeface="Noto Sans SC"/>
              </a:rPr>
              <a:t>Relies on lagging reports and experience, high risk, slow response to market changes.</a:t>
            </a:r>
            <a:endParaRPr lang="en-US" sz="1100"/>
          </a:p>
        </p:txBody>
      </p:sp>
      <p:sp>
        <p:nvSpPr>
          <p:cNvPr id="32" name="AutoShape 32"/>
          <p:cNvSpPr/>
          <p:nvPr/>
        </p:nvSpPr>
        <p:spPr>
          <a:xfrm>
            <a:off x="6096000" y="5080000"/>
            <a:ext cx="279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100" b="0" i="0" u="none" strike="noStrike">
                <a:solidFill>
                  <a:srgbClr val="C8D2DC"/>
                </a:solidFill>
                <a:latin typeface="Noto Sans SC"/>
                <a:ea typeface="Noto Sans SC"/>
                <a:cs typeface="Noto Sans SC"/>
                <a:sym typeface="Noto Sans SC"/>
              </a:rPr>
              <a:t>Data-Driven: Real-time dashboards &amp; intelligent alerts assist forward-looking decisions.</a:t>
            </a:r>
            <a:endParaRPr lang="en-US" sz="1100"/>
          </a:p>
        </p:txBody>
      </p:sp>
      <p:sp>
        <p:nvSpPr>
          <p:cNvPr id="33" name="AutoShape 33"/>
          <p:cNvSpPr/>
          <p:nvPr/>
        </p:nvSpPr>
        <p:spPr>
          <a:xfrm>
            <a:off x="9080500" y="5105400"/>
            <a:ext cx="203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64C8FF"/>
                </a:solidFill>
                <a:latin typeface="Noto Sans SC"/>
                <a:ea typeface="Noto Sans SC"/>
                <a:cs typeface="Noto Sans SC"/>
                <a:sym typeface="Noto Sans SC"/>
              </a:rPr>
              <a:t>60% Increase in Decision Response Speed</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92F">
              <a:alpha val="9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1016000" y="1270000"/>
            <a:ext cx="254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8000" b="1" i="0" u="none" strike="noStrike">
                <a:solidFill>
                  <a:srgbClr val="00BFFF"/>
                </a:solidFill>
                <a:latin typeface="Poppins"/>
                <a:ea typeface="Poppins"/>
                <a:cs typeface="Poppins"/>
                <a:sym typeface="Poppins"/>
              </a:rPr>
              <a:t>04</a:t>
            </a:r>
            <a:endParaRPr lang="en-US" sz="1100"/>
          </a:p>
        </p:txBody>
      </p:sp>
      <p:sp>
        <p:nvSpPr>
          <p:cNvPr id="4" name="AutoShape 4"/>
          <p:cNvSpPr/>
          <p:nvPr/>
        </p:nvSpPr>
        <p:spPr>
          <a:xfrm>
            <a:off x="1016000" y="2794000"/>
            <a:ext cx="990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FFFFFF"/>
                </a:solidFill>
                <a:latin typeface="Poppins"/>
                <a:ea typeface="Poppins"/>
                <a:cs typeface="Poppins"/>
                <a:sym typeface="Poppins"/>
              </a:rPr>
              <a:t>Value Quantification &amp; Data Presentation</a:t>
            </a:r>
            <a:endParaRPr lang="en-US" sz="1100"/>
          </a:p>
        </p:txBody>
      </p:sp>
      <p:sp>
        <p:nvSpPr>
          <p:cNvPr id="5" name="AutoShape 5"/>
          <p:cNvSpPr/>
          <p:nvPr/>
        </p:nvSpPr>
        <p:spPr>
          <a:xfrm>
            <a:off x="1016000" y="3810000"/>
            <a:ext cx="1524000" cy="50800"/>
          </a:xfrm>
          <a:prstGeom prst="roundRect">
            <a:avLst>
              <a:gd name="adj" fmla="val 0"/>
            </a:avLst>
          </a:prstGeom>
          <a:solidFill>
            <a:srgbClr val="00BFFF">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1016000" y="4191000"/>
            <a:ext cx="3175000" cy="2286000"/>
          </a:xfrm>
          <a:prstGeom prst="roundRect">
            <a:avLst>
              <a:gd name="adj" fmla="val 0"/>
            </a:avLst>
          </a:prstGeom>
          <a:solidFill>
            <a:srgbClr val="172C4D">
              <a:alpha val="80000"/>
            </a:srgbClr>
          </a:solidFill>
          <a:ln w="12700" cap="flat" cmpd="sng">
            <a:solidFill>
              <a:srgbClr val="00BFFF">
                <a:alpha val="30000"/>
              </a:srgbClr>
            </a:solidFill>
            <a:prstDash val="solid"/>
            <a:round/>
          </a:ln>
        </p:spPr>
        <p:txBody>
          <a:bodyPr vert="horz" wrap="square" lIns="0" tIns="0" rIns="0" bIns="0" rtlCol="0" anchor="ctr" anchorCtr="0"/>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00" y="4445000"/>
            <a:ext cx="406400" cy="406400"/>
          </a:xfrm>
          <a:prstGeom prst="rect">
            <a:avLst/>
          </a:prstGeom>
        </p:spPr>
      </p:pic>
      <p:sp>
        <p:nvSpPr>
          <p:cNvPr id="8" name="AutoShape 8"/>
          <p:cNvSpPr/>
          <p:nvPr/>
        </p:nvSpPr>
        <p:spPr>
          <a:xfrm>
            <a:off x="1778000" y="44704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Significant Efficiency Leap</a:t>
            </a:r>
            <a:endParaRPr lang="en-US" sz="1100"/>
          </a:p>
        </p:txBody>
      </p:sp>
      <p:cxnSp>
        <p:nvCxnSpPr>
          <p:cNvPr id="9" name="Connector 9"/>
          <p:cNvCxnSpPr/>
          <p:nvPr/>
        </p:nvCxnSpPr>
        <p:spPr>
          <a:xfrm rot="-16370">
            <a:off x="1270015" y="5010150"/>
            <a:ext cx="2667000" cy="12700"/>
          </a:xfrm>
          <a:prstGeom prst="straightConnector1">
            <a:avLst/>
          </a:prstGeom>
          <a:solidFill>
            <a:srgbClr val="DEE0E3">
              <a:alpha val="100000"/>
            </a:srgbClr>
          </a:solidFill>
          <a:ln w="12700" cap="flat" cmpd="sng">
            <a:solidFill>
              <a:srgbClr val="00BFFF">
                <a:alpha val="40000"/>
              </a:srgbClr>
            </a:solidFill>
            <a:prstDash val="solid"/>
            <a:round/>
            <a:headEnd type="none" w="med" len="med"/>
            <a:tailEnd type="none" w="med" len="med"/>
          </a:ln>
        </p:spPr>
      </p:cxnSp>
      <p:sp>
        <p:nvSpPr>
          <p:cNvPr id="10" name="AutoShape 10"/>
          <p:cNvSpPr/>
          <p:nvPr/>
        </p:nvSpPr>
        <p:spPr>
          <a:xfrm>
            <a:off x="1270000" y="5143500"/>
            <a:ext cx="2667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C8D2DC"/>
                </a:solidFill>
                <a:latin typeface="Poppins"/>
                <a:ea typeface="Poppins"/>
                <a:cs typeface="Poppins"/>
                <a:sym typeface="Poppins"/>
              </a:rPr>
              <a:t>Through process automation and resource allocation optimization, core business processing efficiency is increased by more than 45%, significantly shortening project delivery cycles.</a:t>
            </a:r>
            <a:endParaRPr lang="en-US" sz="1100"/>
          </a:p>
        </p:txBody>
      </p:sp>
      <p:sp>
        <p:nvSpPr>
          <p:cNvPr id="11" name="AutoShape 11"/>
          <p:cNvSpPr/>
          <p:nvPr/>
        </p:nvSpPr>
        <p:spPr>
          <a:xfrm>
            <a:off x="4508500" y="4191000"/>
            <a:ext cx="3175000" cy="2286000"/>
          </a:xfrm>
          <a:prstGeom prst="roundRect">
            <a:avLst>
              <a:gd name="adj" fmla="val 0"/>
            </a:avLst>
          </a:prstGeom>
          <a:solidFill>
            <a:srgbClr val="172C4D">
              <a:alpha val="80000"/>
            </a:srgbClr>
          </a:solidFill>
          <a:ln w="12700" cap="flat" cmpd="sng">
            <a:solidFill>
              <a:srgbClr val="00BFFF">
                <a:alpha val="30000"/>
              </a:srgbClr>
            </a:solidFill>
            <a:prstDash val="solid"/>
            <a:round/>
          </a:ln>
        </p:spPr>
        <p:txBody>
          <a:bodyPr vert="horz" wrap="square" lIns="0" tIns="0" rIns="0" bIns="0" rtlCol="0" anchor="ctr" anchorCtr="0"/>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62500" y="4445000"/>
            <a:ext cx="406400" cy="406400"/>
          </a:xfrm>
          <a:prstGeom prst="rect">
            <a:avLst/>
          </a:prstGeom>
        </p:spPr>
      </p:pic>
      <p:sp>
        <p:nvSpPr>
          <p:cNvPr id="13" name="AutoShape 13"/>
          <p:cNvSpPr/>
          <p:nvPr/>
        </p:nvSpPr>
        <p:spPr>
          <a:xfrm>
            <a:off x="5270500" y="44704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Sharp Drop in Operating Costs</a:t>
            </a:r>
            <a:endParaRPr lang="en-US" sz="1100"/>
          </a:p>
        </p:txBody>
      </p:sp>
      <p:cxnSp>
        <p:nvCxnSpPr>
          <p:cNvPr id="14" name="Connector 14"/>
          <p:cNvCxnSpPr/>
          <p:nvPr/>
        </p:nvCxnSpPr>
        <p:spPr>
          <a:xfrm rot="-16370">
            <a:off x="4762515" y="5010150"/>
            <a:ext cx="2667000" cy="12700"/>
          </a:xfrm>
          <a:prstGeom prst="straightConnector1">
            <a:avLst/>
          </a:prstGeom>
          <a:solidFill>
            <a:srgbClr val="DEE0E3">
              <a:alpha val="100000"/>
            </a:srgbClr>
          </a:solidFill>
          <a:ln w="12700" cap="flat" cmpd="sng">
            <a:solidFill>
              <a:srgbClr val="00BFFF">
                <a:alpha val="40000"/>
              </a:srgbClr>
            </a:solidFill>
            <a:prstDash val="solid"/>
            <a:round/>
            <a:headEnd type="none" w="med" len="med"/>
            <a:tailEnd type="none" w="med" len="med"/>
          </a:ln>
        </p:spPr>
      </p:cxnSp>
      <p:sp>
        <p:nvSpPr>
          <p:cNvPr id="15" name="AutoShape 15"/>
          <p:cNvSpPr/>
          <p:nvPr/>
        </p:nvSpPr>
        <p:spPr>
          <a:xfrm>
            <a:off x="4762500" y="5143500"/>
            <a:ext cx="2667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C8D2DC"/>
                </a:solidFill>
                <a:latin typeface="Poppins"/>
                <a:ea typeface="Poppins"/>
                <a:cs typeface="Poppins"/>
                <a:sym typeface="Poppins"/>
              </a:rPr>
              <a:t>Integrate redundant systems and optimize resource allocation, reducing overall operating costs by 30%, thus achieving leaner resource input and output.</a:t>
            </a:r>
            <a:endParaRPr lang="en-US" sz="1100"/>
          </a:p>
        </p:txBody>
      </p:sp>
      <p:sp>
        <p:nvSpPr>
          <p:cNvPr id="16" name="AutoShape 16"/>
          <p:cNvSpPr/>
          <p:nvPr/>
        </p:nvSpPr>
        <p:spPr>
          <a:xfrm>
            <a:off x="8001000" y="4191000"/>
            <a:ext cx="3175000" cy="2286000"/>
          </a:xfrm>
          <a:prstGeom prst="roundRect">
            <a:avLst>
              <a:gd name="adj" fmla="val 0"/>
            </a:avLst>
          </a:prstGeom>
          <a:solidFill>
            <a:srgbClr val="172C4D">
              <a:alpha val="80000"/>
            </a:srgbClr>
          </a:solidFill>
          <a:ln w="12700" cap="flat" cmpd="sng">
            <a:solidFill>
              <a:srgbClr val="00BFFF">
                <a:alpha val="30000"/>
              </a:srgbClr>
            </a:solidFill>
            <a:prstDash val="solid"/>
            <a:round/>
          </a:ln>
        </p:spPr>
        <p:txBody>
          <a:bodyPr vert="horz" wrap="square" lIns="0" tIns="0" rIns="0" bIns="0" rtlCol="0" anchor="ctr" anchorCtr="0"/>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55000" y="4445000"/>
            <a:ext cx="406400" cy="406400"/>
          </a:xfrm>
          <a:prstGeom prst="rect">
            <a:avLst/>
          </a:prstGeom>
        </p:spPr>
      </p:pic>
      <p:sp>
        <p:nvSpPr>
          <p:cNvPr id="18" name="AutoShape 18"/>
          <p:cNvSpPr/>
          <p:nvPr/>
        </p:nvSpPr>
        <p:spPr>
          <a:xfrm>
            <a:off x="8763000" y="44704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Poppins"/>
                <a:ea typeface="Poppins"/>
                <a:cs typeface="Poppins"/>
                <a:sym typeface="Poppins"/>
              </a:rPr>
              <a:t>Scientific &amp; Visual Decision-Making</a:t>
            </a:r>
            <a:endParaRPr lang="en-US" sz="1100"/>
          </a:p>
        </p:txBody>
      </p:sp>
      <p:cxnSp>
        <p:nvCxnSpPr>
          <p:cNvPr id="19" name="Connector 19"/>
          <p:cNvCxnSpPr/>
          <p:nvPr/>
        </p:nvCxnSpPr>
        <p:spPr>
          <a:xfrm rot="-16370">
            <a:off x="8255015" y="5010150"/>
            <a:ext cx="2667000" cy="12700"/>
          </a:xfrm>
          <a:prstGeom prst="straightConnector1">
            <a:avLst/>
          </a:prstGeom>
          <a:solidFill>
            <a:srgbClr val="DEE0E3">
              <a:alpha val="100000"/>
            </a:srgbClr>
          </a:solidFill>
          <a:ln w="12700" cap="flat" cmpd="sng">
            <a:solidFill>
              <a:srgbClr val="00BFFF">
                <a:alpha val="40000"/>
              </a:srgbClr>
            </a:solidFill>
            <a:prstDash val="solid"/>
            <a:round/>
            <a:headEnd type="none" w="med" len="med"/>
            <a:tailEnd type="none" w="med" len="med"/>
          </a:ln>
        </p:spPr>
      </p:cxnSp>
      <p:sp>
        <p:nvSpPr>
          <p:cNvPr id="20" name="AutoShape 20"/>
          <p:cNvSpPr/>
          <p:nvPr/>
        </p:nvSpPr>
        <p:spPr>
          <a:xfrm>
            <a:off x="8255000" y="5143500"/>
            <a:ext cx="2667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C8D2DC"/>
                </a:solidFill>
                <a:latin typeface="Poppins"/>
                <a:ea typeface="Poppins"/>
                <a:cs typeface="Poppins"/>
                <a:sym typeface="Poppins"/>
              </a:rPr>
              <a:t>Build a global data dashboard, transforming business insights into visual decision-making basis, making management and strategic decisions precise and evidence-based.</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92F">
              <a:alpha val="9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2000" b="1" i="0" u="none" strike="noStrike">
                <a:solidFill>
                  <a:srgbClr val="FFFFFF"/>
                </a:solidFill>
                <a:latin typeface="Noto Sans SC"/>
                <a:ea typeface="Noto Sans SC"/>
                <a:cs typeface="Noto Sans SC"/>
                <a:sym typeface="Noto Sans SC"/>
              </a:rPr>
              <a:t>Quantified Value: Tangible Benefits of SynergyOS for Enterprises</a:t>
            </a:r>
            <a:endParaRPr lang="en-US" sz="1100"/>
          </a:p>
        </p:txBody>
      </p:sp>
      <p:cxnSp>
        <p:nvCxnSpPr>
          <p:cNvPr id="4" name="Connector 4"/>
          <p:cNvCxnSpPr/>
          <p:nvPr/>
        </p:nvCxnSpPr>
        <p:spPr>
          <a:xfrm rot="-4297">
            <a:off x="1016004" y="1644650"/>
            <a:ext cx="10160000" cy="12700"/>
          </a:xfrm>
          <a:prstGeom prst="straightConnector1">
            <a:avLst/>
          </a:prstGeom>
          <a:solidFill>
            <a:srgbClr val="DEE0E3">
              <a:alpha val="100000"/>
            </a:srgbClr>
          </a:solidFill>
          <a:ln w="12700" cap="flat" cmpd="sng">
            <a:solidFill>
              <a:srgbClr val="64B5F6">
                <a:alpha val="60000"/>
              </a:srgbClr>
            </a:solidFill>
            <a:prstDash val="solid"/>
            <a:round/>
            <a:headEnd type="none" w="med" len="med"/>
            <a:tailEnd type="none" w="med" len="med"/>
          </a:ln>
        </p:spPr>
      </p:cxnSp>
      <p:sp>
        <p:nvSpPr>
          <p:cNvPr id="5" name="AutoShape 5"/>
          <p:cNvSpPr/>
          <p:nvPr/>
        </p:nvSpPr>
        <p:spPr>
          <a:xfrm>
            <a:off x="1016000" y="2032000"/>
            <a:ext cx="3302000" cy="4445000"/>
          </a:xfrm>
          <a:prstGeom prst="roundRect">
            <a:avLst>
              <a:gd name="adj" fmla="val 0"/>
            </a:avLst>
          </a:prstGeom>
          <a:solidFill>
            <a:srgbClr val="172C4D">
              <a:alpha val="85000"/>
            </a:srgbClr>
          </a:solidFill>
          <a:ln w="12700" cap="flat" cmpd="sng">
            <a:solidFill>
              <a:srgbClr val="64B5F6">
                <a:alpha val="40000"/>
              </a:srgbClr>
            </a:solidFill>
            <a:prstDash val="solid"/>
            <a:round/>
          </a:ln>
        </p:spPr>
        <p:txBody>
          <a:bodyPr vert="horz" wrap="square" lIns="0" tIns="0" rIns="0" bIns="0" rtlCol="0" anchor="ctr" anchorCtr="0"/>
          <a:lstStyle/>
          <a:p>
            <a:pPr algn="ctr">
              <a:defRPr/>
            </a:pPr>
          </a:p>
        </p:txBody>
      </p:sp>
      <p:sp>
        <p:nvSpPr>
          <p:cNvPr id="6" name="AutoShape 6"/>
          <p:cNvSpPr/>
          <p:nvPr/>
        </p:nvSpPr>
        <p:spPr>
          <a:xfrm>
            <a:off x="1206500" y="2222500"/>
            <a:ext cx="292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300" b="1" i="0" u="none" strike="noStrike">
                <a:solidFill>
                  <a:srgbClr val="FFFFFF"/>
                </a:solidFill>
                <a:latin typeface="Noto Sans SC"/>
                <a:ea typeface="Noto Sans SC"/>
                <a:cs typeface="Noto Sans SC"/>
                <a:sym typeface="Noto Sans SC"/>
              </a:rPr>
              <a:t>01 Significant Improvement in Operational Efficiency</a:t>
            </a:r>
            <a:endParaRPr lang="en-US" sz="1100"/>
          </a:p>
        </p:txBody>
      </p:sp>
      <p:pic>
        <p:nvPicPr>
          <p:cNvPr id="7" name="Picture 7"/>
          <p:cNvPicPr>
            <a:picLocks noChangeAspect="1"/>
          </p:cNvPicPr>
          <p:nvPr/>
        </p:nvPicPr>
        <p:blipFill>
          <a:blip r:embed="rId1"/>
          <a:stretch>
            <a:fillRect/>
          </a:stretch>
        </p:blipFill>
        <p:spPr>
          <a:xfrm>
            <a:off x="1206500" y="2984500"/>
            <a:ext cx="2921000" cy="1905000"/>
          </a:xfrm>
          <a:prstGeom prst="rect">
            <a:avLst/>
          </a:prstGeom>
          <a:ln w="12700">
            <a:noFill/>
            <a:prstDash val="solid"/>
          </a:ln>
        </p:spPr>
      </p:pic>
      <p:cxnSp>
        <p:nvCxnSpPr>
          <p:cNvPr id="8" name="Connector 8"/>
          <p:cNvCxnSpPr/>
          <p:nvPr/>
        </p:nvCxnSpPr>
        <p:spPr>
          <a:xfrm rot="-14946">
            <a:off x="1206514" y="5137150"/>
            <a:ext cx="2921000" cy="12700"/>
          </a:xfrm>
          <a:prstGeom prst="straightConnector1">
            <a:avLst/>
          </a:prstGeom>
          <a:solidFill>
            <a:srgbClr val="DEE0E3">
              <a:alpha val="100000"/>
            </a:srgbClr>
          </a:solidFill>
          <a:ln w="12700" cap="flat" cmpd="sng">
            <a:solidFill>
              <a:srgbClr val="64B5F6">
                <a:alpha val="30000"/>
              </a:srgbClr>
            </a:solidFill>
            <a:prstDash val="dash"/>
            <a:round/>
            <a:headEnd type="none" w="med" len="med"/>
            <a:tailEnd type="none" w="med" len="med"/>
          </a:ln>
        </p:spPr>
      </p:cxnSp>
      <p:sp>
        <p:nvSpPr>
          <p:cNvPr id="9" name="AutoShape 9"/>
          <p:cNvSpPr/>
          <p:nvPr/>
        </p:nvSpPr>
        <p:spPr>
          <a:xfrm>
            <a:off x="1206500" y="5270500"/>
            <a:ext cx="2921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CFD8DC"/>
                </a:solidFill>
                <a:latin typeface="Noto Sans SC"/>
                <a:ea typeface="Noto Sans SC"/>
                <a:cs typeface="Noto Sans SC"/>
                <a:sym typeface="Noto Sans SC"/>
              </a:rPr>
              <a:t>Cross-departmental project delivery cycles shortened by</a:t>
            </a:r>
            <a:r>
              <a:rPr lang="en-US" sz="1100" b="1" i="0" u="none" strike="noStrike">
                <a:solidFill>
                  <a:srgbClr val="64DD17"/>
                </a:solidFill>
                <a:latin typeface="Noto Sans SC"/>
                <a:ea typeface="Noto Sans SC"/>
                <a:cs typeface="Noto Sans SC"/>
                <a:sym typeface="Noto Sans SC"/>
              </a:rPr>
              <a:t>60%</a:t>
            </a:r>
            <a:r>
              <a:rPr lang="en-US" sz="1100" b="0" i="0" u="none" strike="noStrike">
                <a:solidFill>
                  <a:srgbClr val="CFD8DC"/>
                </a:solidFill>
                <a:latin typeface="Noto Sans SC"/>
                <a:ea typeface="Noto Sans SC"/>
                <a:cs typeface="Noto Sans SC"/>
                <a:sym typeface="Noto Sans SC"/>
              </a:rPr>
              <a:t>, employees' average daily effective working hours increased by</a:t>
            </a:r>
            <a:r>
              <a:rPr lang="en-US" sz="1100" b="1" i="0" u="none" strike="noStrike">
                <a:solidFill>
                  <a:srgbClr val="64DD17"/>
                </a:solidFill>
                <a:latin typeface="Noto Sans SC"/>
                <a:ea typeface="Noto Sans SC"/>
                <a:cs typeface="Noto Sans SC"/>
                <a:sym typeface="Noto Sans SC"/>
              </a:rPr>
              <a:t>27%</a:t>
            </a:r>
            <a:r>
              <a:rPr lang="en-US" sz="1100" b="0" i="0" u="none" strike="noStrike">
                <a:solidFill>
                  <a:srgbClr val="CFD8DC"/>
                </a:solidFill>
                <a:latin typeface="Noto Sans SC"/>
                <a:ea typeface="Noto Sans SC"/>
                <a:cs typeface="Noto Sans SC"/>
                <a:sym typeface="Noto Sans SC"/>
              </a:rPr>
              <a:t>, achieving a dual leap in efficiency and collaboration speed.</a:t>
            </a:r>
            <a:endParaRPr lang="en-US" sz="1100"/>
          </a:p>
        </p:txBody>
      </p:sp>
      <p:sp>
        <p:nvSpPr>
          <p:cNvPr id="10" name="AutoShape 10"/>
          <p:cNvSpPr/>
          <p:nvPr/>
        </p:nvSpPr>
        <p:spPr>
          <a:xfrm>
            <a:off x="4572000" y="2032000"/>
            <a:ext cx="3302000" cy="4445000"/>
          </a:xfrm>
          <a:prstGeom prst="roundRect">
            <a:avLst>
              <a:gd name="adj" fmla="val 0"/>
            </a:avLst>
          </a:prstGeom>
          <a:solidFill>
            <a:srgbClr val="172C4D">
              <a:alpha val="85000"/>
            </a:srgbClr>
          </a:solidFill>
          <a:ln w="12700" cap="flat" cmpd="sng">
            <a:solidFill>
              <a:srgbClr val="64B5F6">
                <a:alpha val="40000"/>
              </a:srgbClr>
            </a:solidFill>
            <a:prstDash val="solid"/>
            <a:round/>
          </a:ln>
        </p:spPr>
        <p:txBody>
          <a:bodyPr vert="horz" wrap="square" lIns="0" tIns="0" rIns="0" bIns="0" rtlCol="0" anchor="ctr" anchorCtr="0"/>
          <a:lstStyle/>
          <a:p>
            <a:pPr algn="ctr">
              <a:defRPr/>
            </a:pPr>
          </a:p>
        </p:txBody>
      </p:sp>
      <p:sp>
        <p:nvSpPr>
          <p:cNvPr id="11" name="AutoShape 11"/>
          <p:cNvSpPr/>
          <p:nvPr/>
        </p:nvSpPr>
        <p:spPr>
          <a:xfrm>
            <a:off x="4762500" y="2222500"/>
            <a:ext cx="292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300" b="1" i="0" u="none" strike="noStrike">
                <a:solidFill>
                  <a:srgbClr val="FFFFFF"/>
                </a:solidFill>
                <a:latin typeface="Noto Sans SC"/>
                <a:ea typeface="Noto Sans SC"/>
                <a:cs typeface="Noto Sans SC"/>
                <a:sym typeface="Noto Sans SC"/>
              </a:rPr>
              <a:t>02 Effective Reduction in Operating Costs</a:t>
            </a:r>
            <a:endParaRPr lang="en-US" sz="1100"/>
          </a:p>
        </p:txBody>
      </p:sp>
      <p:pic>
        <p:nvPicPr>
          <p:cNvPr id="12" name="Picture 12"/>
          <p:cNvPicPr>
            <a:picLocks noChangeAspect="1"/>
          </p:cNvPicPr>
          <p:nvPr/>
        </p:nvPicPr>
        <p:blipFill>
          <a:blip r:embed="rId2"/>
          <a:stretch>
            <a:fillRect/>
          </a:stretch>
        </p:blipFill>
        <p:spPr>
          <a:xfrm>
            <a:off x="4762500" y="2984500"/>
            <a:ext cx="2921000" cy="1905000"/>
          </a:xfrm>
          <a:prstGeom prst="rect">
            <a:avLst/>
          </a:prstGeom>
          <a:ln w="12700">
            <a:noFill/>
            <a:prstDash val="solid"/>
          </a:ln>
        </p:spPr>
      </p:pic>
      <p:cxnSp>
        <p:nvCxnSpPr>
          <p:cNvPr id="13" name="Connector 13"/>
          <p:cNvCxnSpPr/>
          <p:nvPr/>
        </p:nvCxnSpPr>
        <p:spPr>
          <a:xfrm rot="-14946">
            <a:off x="4762514" y="5137150"/>
            <a:ext cx="2921000" cy="12700"/>
          </a:xfrm>
          <a:prstGeom prst="straightConnector1">
            <a:avLst/>
          </a:prstGeom>
          <a:solidFill>
            <a:srgbClr val="DEE0E3">
              <a:alpha val="100000"/>
            </a:srgbClr>
          </a:solidFill>
          <a:ln w="12700" cap="flat" cmpd="sng">
            <a:solidFill>
              <a:srgbClr val="64B5F6">
                <a:alpha val="30000"/>
              </a:srgbClr>
            </a:solidFill>
            <a:prstDash val="dash"/>
            <a:round/>
            <a:headEnd type="none" w="med" len="med"/>
            <a:tailEnd type="none" w="med" len="med"/>
          </a:ln>
        </p:spPr>
      </p:cxnSp>
      <p:sp>
        <p:nvSpPr>
          <p:cNvPr id="14" name="AutoShape 14"/>
          <p:cNvSpPr/>
          <p:nvPr/>
        </p:nvSpPr>
        <p:spPr>
          <a:xfrm>
            <a:off x="4762500" y="5270500"/>
            <a:ext cx="2921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CFD8DC"/>
                </a:solidFill>
                <a:latin typeface="Noto Sans SC"/>
                <a:ea typeface="Noto Sans SC"/>
                <a:cs typeface="Noto Sans SC"/>
                <a:sym typeface="Noto Sans SC"/>
              </a:rPr>
              <a:t>Replacing offline operations with digital processes cuts annual travel/administrative and IT maintenance costs by</a:t>
            </a:r>
            <a:r>
              <a:rPr lang="en-US" sz="1100" b="1" i="0" u="none" strike="noStrike">
                <a:solidFill>
                  <a:srgbClr val="64DD17"/>
                </a:solidFill>
                <a:latin typeface="Noto Sans SC"/>
                <a:ea typeface="Noto Sans SC"/>
                <a:cs typeface="Noto Sans SC"/>
                <a:sym typeface="Noto Sans SC"/>
              </a:rPr>
              <a:t>30%</a:t>
            </a:r>
            <a:r>
              <a:rPr lang="en-US" sz="1100" b="0" i="0" u="none" strike="noStrike">
                <a:solidFill>
                  <a:srgbClr val="CFD8DC"/>
                </a:solidFill>
                <a:latin typeface="Noto Sans SC"/>
                <a:ea typeface="Noto Sans SC"/>
                <a:cs typeface="Noto Sans SC"/>
                <a:sym typeface="Noto Sans SC"/>
              </a:rPr>
              <a:t>each, effectively reducing unnecessary fixed expenditures.</a:t>
            </a:r>
            <a:endParaRPr lang="en-US" sz="1100"/>
          </a:p>
        </p:txBody>
      </p:sp>
      <p:sp>
        <p:nvSpPr>
          <p:cNvPr id="15" name="AutoShape 15"/>
          <p:cNvSpPr/>
          <p:nvPr/>
        </p:nvSpPr>
        <p:spPr>
          <a:xfrm>
            <a:off x="8128000" y="2032000"/>
            <a:ext cx="3302000" cy="4445000"/>
          </a:xfrm>
          <a:prstGeom prst="roundRect">
            <a:avLst>
              <a:gd name="adj" fmla="val 0"/>
            </a:avLst>
          </a:prstGeom>
          <a:solidFill>
            <a:srgbClr val="172C4D">
              <a:alpha val="85000"/>
            </a:srgbClr>
          </a:solidFill>
          <a:ln w="12700" cap="flat" cmpd="sng">
            <a:solidFill>
              <a:srgbClr val="64B5F6">
                <a:alpha val="40000"/>
              </a:srgbClr>
            </a:solidFill>
            <a:prstDash val="solid"/>
            <a:round/>
          </a:ln>
        </p:spPr>
        <p:txBody>
          <a:bodyPr vert="horz" wrap="square" lIns="0" tIns="0" rIns="0" bIns="0" rtlCol="0" anchor="ctr" anchorCtr="0"/>
          <a:lstStyle/>
          <a:p>
            <a:pPr algn="ctr">
              <a:defRPr/>
            </a:pPr>
          </a:p>
        </p:txBody>
      </p:sp>
      <p:sp>
        <p:nvSpPr>
          <p:cNvPr id="16" name="AutoShape 16"/>
          <p:cNvSpPr/>
          <p:nvPr/>
        </p:nvSpPr>
        <p:spPr>
          <a:xfrm>
            <a:off x="8318500" y="2222500"/>
            <a:ext cx="292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300" b="1" i="0" u="none" strike="noStrike">
                <a:solidFill>
                  <a:srgbClr val="FFFFFF"/>
                </a:solidFill>
                <a:latin typeface="Noto Sans SC"/>
                <a:ea typeface="Noto Sans SC"/>
                <a:cs typeface="Noto Sans SC"/>
                <a:sym typeface="Noto Sans SC"/>
              </a:rPr>
              <a:t>03 Optimization of Decision Quality &amp; Speed</a:t>
            </a:r>
            <a:endParaRPr lang="en-US" sz="1100"/>
          </a:p>
        </p:txBody>
      </p:sp>
      <p:pic>
        <p:nvPicPr>
          <p:cNvPr id="17" name="Picture 17"/>
          <p:cNvPicPr>
            <a:picLocks noChangeAspect="1"/>
          </p:cNvPicPr>
          <p:nvPr/>
        </p:nvPicPr>
        <p:blipFill>
          <a:blip r:embed="rId3"/>
          <a:stretch>
            <a:fillRect/>
          </a:stretch>
        </p:blipFill>
        <p:spPr>
          <a:xfrm>
            <a:off x="8318500" y="2984500"/>
            <a:ext cx="2921000" cy="1905000"/>
          </a:xfrm>
          <a:prstGeom prst="rect">
            <a:avLst/>
          </a:prstGeom>
          <a:ln w="12700">
            <a:noFill/>
            <a:prstDash val="solid"/>
          </a:ln>
        </p:spPr>
      </p:pic>
      <p:cxnSp>
        <p:nvCxnSpPr>
          <p:cNvPr id="18" name="Connector 18"/>
          <p:cNvCxnSpPr/>
          <p:nvPr/>
        </p:nvCxnSpPr>
        <p:spPr>
          <a:xfrm rot="-14946">
            <a:off x="8318514" y="5137150"/>
            <a:ext cx="2921000" cy="12700"/>
          </a:xfrm>
          <a:prstGeom prst="straightConnector1">
            <a:avLst/>
          </a:prstGeom>
          <a:solidFill>
            <a:srgbClr val="DEE0E3">
              <a:alpha val="100000"/>
            </a:srgbClr>
          </a:solidFill>
          <a:ln w="12700" cap="flat" cmpd="sng">
            <a:solidFill>
              <a:srgbClr val="64B5F6">
                <a:alpha val="30000"/>
              </a:srgbClr>
            </a:solidFill>
            <a:prstDash val="dash"/>
            <a:round/>
            <a:headEnd type="none" w="med" len="med"/>
            <a:tailEnd type="none" w="med" len="med"/>
          </a:ln>
        </p:spPr>
      </p:cxnSp>
      <p:sp>
        <p:nvSpPr>
          <p:cNvPr id="19" name="AutoShape 19"/>
          <p:cNvSpPr/>
          <p:nvPr/>
        </p:nvSpPr>
        <p:spPr>
          <a:xfrm>
            <a:off x="8318500" y="5270500"/>
            <a:ext cx="2921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CFD8DC"/>
                </a:solidFill>
                <a:latin typeface="Noto Sans SC"/>
                <a:ea typeface="Noto Sans SC"/>
                <a:cs typeface="Noto Sans SC"/>
                <a:sym typeface="Noto Sans SC"/>
              </a:rPr>
              <a:t>Strategic decision info access shortened from 48h to</a:t>
            </a:r>
            <a:r>
              <a:rPr lang="en-US" sz="1100" b="1" i="0" u="none" strike="noStrike">
                <a:solidFill>
                  <a:srgbClr val="64DD17"/>
                </a:solidFill>
                <a:latin typeface="Noto Sans SC"/>
                <a:ea typeface="Noto Sans SC"/>
                <a:cs typeface="Noto Sans SC"/>
                <a:sym typeface="Noto Sans SC"/>
              </a:rPr>
              <a:t>near real-time</a:t>
            </a:r>
            <a:r>
              <a:rPr lang="en-US" sz="1100" b="0" i="0" u="none" strike="noStrike">
                <a:solidFill>
                  <a:srgbClr val="CFD8DC"/>
                </a:solidFill>
                <a:latin typeface="Noto Sans SC"/>
                <a:ea typeface="Noto Sans SC"/>
                <a:cs typeface="Noto Sans SC"/>
                <a:sym typeface="Noto Sans SC"/>
              </a:rPr>
              <a:t>, with key business indicator prediction accuracy up to 92%, enabling more precise and timely decisions.</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92F">
              <a:alpha val="92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1016000" y="1143000"/>
            <a:ext cx="508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9600" b="1" i="0" u="none" strike="noStrike">
                <a:solidFill>
                  <a:srgbClr val="00BFFF"/>
                </a:solidFill>
                <a:latin typeface="Poppins"/>
                <a:ea typeface="Poppins"/>
                <a:cs typeface="Poppins"/>
                <a:sym typeface="Poppins"/>
              </a:rPr>
              <a:t>05</a:t>
            </a:r>
            <a:endParaRPr lang="en-US" sz="1100"/>
          </a:p>
        </p:txBody>
      </p:sp>
      <p:sp>
        <p:nvSpPr>
          <p:cNvPr id="4" name="AutoShape 4"/>
          <p:cNvSpPr/>
          <p:nvPr/>
        </p:nvSpPr>
        <p:spPr>
          <a:xfrm>
            <a:off x="1016000" y="2667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FFFFFF"/>
                </a:solidFill>
                <a:latin typeface="Poppins"/>
                <a:ea typeface="Poppins"/>
                <a:cs typeface="Poppins"/>
                <a:sym typeface="Poppins"/>
              </a:rPr>
              <a:t>Success Case Sharing</a:t>
            </a:r>
            <a:endParaRPr lang="en-US" sz="1100"/>
          </a:p>
        </p:txBody>
      </p:sp>
      <p:sp>
        <p:nvSpPr>
          <p:cNvPr id="5" name="AutoShape 5"/>
          <p:cNvSpPr/>
          <p:nvPr/>
        </p:nvSpPr>
        <p:spPr>
          <a:xfrm>
            <a:off x="1016000" y="4064000"/>
            <a:ext cx="1524000" cy="50800"/>
          </a:xfrm>
          <a:prstGeom prst="roundRect">
            <a:avLst>
              <a:gd name="adj" fmla="val 0"/>
            </a:avLst>
          </a:prstGeom>
          <a:solidFill>
            <a:srgbClr val="00BFFF">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1016000" y="4572000"/>
            <a:ext cx="9906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CCCCCC"/>
                </a:solidFill>
                <a:latin typeface="Noto Sans SC"/>
                <a:ea typeface="Noto Sans SC"/>
                <a:cs typeface="Noto Sans SC"/>
                <a:sym typeface="Noto Sans SC"/>
              </a:rPr>
              <a:t>Taking the Fortune 500 company XX Group as a benchmark, we deeply analyze the outstanding highlights of its full-link digital transformation with the help of SynergyOS. From business pain point identification to solution implementation, from efficiency improvement to data-driven management change, we comprehensively present the real transformation of technology empowering business value.</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92F">
              <a:alpha val="9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2200" b="1" i="0" u="none" strike="noStrike">
                <a:solidFill>
                  <a:srgbClr val="FFFFFF"/>
                </a:solidFill>
                <a:latin typeface="Noto Sans SC"/>
                <a:ea typeface="Noto Sans SC"/>
                <a:cs typeface="Noto Sans SC"/>
                <a:sym typeface="Noto Sans SC"/>
              </a:rPr>
              <a:t>Success Story: [XX Group]'s Digital Transformation Journey</a:t>
            </a:r>
            <a:endParaRPr lang="en-US" sz="1100"/>
          </a:p>
        </p:txBody>
      </p:sp>
      <p:cxnSp>
        <p:nvCxnSpPr>
          <p:cNvPr id="4" name="Connector 4"/>
          <p:cNvCxnSpPr/>
          <p:nvPr/>
        </p:nvCxnSpPr>
        <p:spPr>
          <a:xfrm rot="-4297">
            <a:off x="1016004" y="1644650"/>
            <a:ext cx="10160000" cy="12700"/>
          </a:xfrm>
          <a:prstGeom prst="straightConnector1">
            <a:avLst/>
          </a:prstGeom>
          <a:solidFill>
            <a:srgbClr val="DEE0E3">
              <a:alpha val="100000"/>
            </a:srgbClr>
          </a:solidFill>
          <a:ln w="12700" cap="flat" cmpd="sng">
            <a:solidFill>
              <a:srgbClr val="00BFFF">
                <a:alpha val="40000"/>
              </a:srgbClr>
            </a:solidFill>
            <a:prstDash val="solid"/>
            <a:round/>
            <a:headEnd type="none" w="med" len="med"/>
            <a:tailEnd type="none" w="med" len="med"/>
          </a:ln>
        </p:spPr>
      </p:cxnSp>
      <p:pic>
        <p:nvPicPr>
          <p:cNvPr id="5" name="Picture 5"/>
          <p:cNvPicPr>
            <a:picLocks noChangeAspect="1"/>
          </p:cNvPicPr>
          <p:nvPr/>
        </p:nvPicPr>
        <p:blipFill>
          <a:blip r:embed="rId1"/>
          <a:srcRect t="16666" b="16666"/>
          <a:stretch>
            <a:fillRect/>
          </a:stretch>
        </p:blipFill>
        <p:spPr>
          <a:xfrm>
            <a:off x="1016000" y="2032000"/>
            <a:ext cx="2286000" cy="1524000"/>
          </a:xfrm>
          <a:prstGeom prst="rect">
            <a:avLst/>
          </a:prstGeom>
          <a:noFill/>
          <a:ln w="12700" cap="flat" cmpd="sng">
            <a:solidFill>
              <a:srgbClr val="00BFFF">
                <a:alpha val="30000"/>
              </a:srgbClr>
            </a:solidFill>
            <a:prstDash val="solid"/>
            <a:round/>
          </a:ln>
        </p:spPr>
      </p:pic>
      <p:pic>
        <p:nvPicPr>
          <p:cNvPr id="6" name="Picture 6"/>
          <p:cNvPicPr>
            <a:picLocks noChangeAspect="1"/>
          </p:cNvPicPr>
          <p:nvPr/>
        </p:nvPicPr>
        <p:blipFill>
          <a:blip r:embed="rId2"/>
          <a:srcRect l="3125" r="3124"/>
          <a:stretch>
            <a:fillRect/>
          </a:stretch>
        </p:blipFill>
        <p:spPr>
          <a:xfrm>
            <a:off x="3556000" y="2032000"/>
            <a:ext cx="2286000" cy="1524000"/>
          </a:xfrm>
          <a:prstGeom prst="rect">
            <a:avLst/>
          </a:prstGeom>
          <a:noFill/>
          <a:ln w="12700" cap="flat" cmpd="sng">
            <a:solidFill>
              <a:srgbClr val="00BFFF">
                <a:alpha val="30000"/>
              </a:srgbClr>
            </a:solidFill>
            <a:prstDash val="solid"/>
            <a:round/>
          </a:ln>
        </p:spPr>
      </p:pic>
      <p:sp>
        <p:nvSpPr>
          <p:cNvPr id="7" name="AutoShape 7"/>
          <p:cNvSpPr/>
          <p:nvPr/>
        </p:nvSpPr>
        <p:spPr>
          <a:xfrm>
            <a:off x="1016000" y="3810000"/>
            <a:ext cx="4826000" cy="1143000"/>
          </a:xfrm>
          <a:prstGeom prst="roundRect">
            <a:avLst>
              <a:gd name="adj" fmla="val 0"/>
            </a:avLst>
          </a:prstGeom>
          <a:solidFill>
            <a:srgbClr val="FFFFFF">
              <a:alpha val="5000"/>
            </a:srgbClr>
          </a:solidFill>
          <a:ln w="25400" cap="flat" cmpd="sng">
            <a:noFill/>
            <a:prstDash val="solid"/>
            <a:round/>
          </a:ln>
        </p:spPr>
        <p:txBody>
          <a:bodyPr vert="horz" wrap="square" lIns="0" tIns="0" rIns="0" bIns="0" rtlCol="0" anchor="ctr" anchorCtr="0"/>
          <a:lstStyle/>
          <a:p>
            <a:pPr algn="ctr">
              <a:defRPr/>
            </a:pPr>
          </a:p>
        </p:txBody>
      </p:sp>
      <p:sp>
        <p:nvSpPr>
          <p:cNvPr id="8" name="AutoShape 8"/>
          <p:cNvSpPr/>
          <p:nvPr/>
        </p:nvSpPr>
        <p:spPr>
          <a:xfrm>
            <a:off x="1016000" y="3810000"/>
            <a:ext cx="50800" cy="1143000"/>
          </a:xfrm>
          <a:prstGeom prst="roundRect">
            <a:avLst>
              <a:gd name="adj" fmla="val 0"/>
            </a:avLst>
          </a:prstGeom>
          <a:solidFill>
            <a:srgbClr val="00BFFF">
              <a:alpha val="100000"/>
            </a:srgbClr>
          </a:solidFill>
          <a:ln w="25400" cap="flat" cmpd="sng">
            <a:noFill/>
            <a:prstDash val="solid"/>
            <a:round/>
          </a:ln>
        </p:spPr>
        <p:txBody>
          <a:bodyPr vert="horz" wrap="square" lIns="0" tIns="0" rIns="0" bIns="0" rtlCol="0" anchor="ctr" anchorCtr="0"/>
          <a:lstStyle/>
          <a:p>
            <a:pPr algn="ctr">
              <a:defRPr/>
            </a:pPr>
          </a:p>
        </p:txBody>
      </p:sp>
      <p:sp>
        <p:nvSpPr>
          <p:cNvPr id="9" name="AutoShape 9"/>
          <p:cNvSpPr/>
          <p:nvPr/>
        </p:nvSpPr>
        <p:spPr>
          <a:xfrm>
            <a:off x="1206500" y="3873500"/>
            <a:ext cx="457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00BFFF"/>
                </a:solidFill>
                <a:latin typeface="Noto Sans SC"/>
                <a:ea typeface="Noto Sans SC"/>
                <a:cs typeface="Noto Sans SC"/>
                <a:sym typeface="Noto Sans SC"/>
              </a:rPr>
              <a:t>Client Background:</a:t>
            </a:r>
            <a:r>
              <a:rPr lang="en-US" sz="1200" b="0" i="0" u="none" strike="noStrike">
                <a:solidFill>
                  <a:srgbClr val="CCCCCC"/>
                </a:solidFill>
                <a:latin typeface="Noto Sans SC"/>
                <a:ea typeface="Noto Sans SC"/>
                <a:cs typeface="Noto Sans SC"/>
                <a:sym typeface="Noto Sans SC"/>
              </a:rPr>
              <a:t>As a Fortune 500 intelligent manufacturing enterprise, XX has 80,000 global employees, operates in more than 30 countries, and is a leader in the industry.</a:t>
            </a:r>
            <a:endParaRPr lang="en-US" sz="1100"/>
          </a:p>
        </p:txBody>
      </p:sp>
      <p:sp>
        <p:nvSpPr>
          <p:cNvPr id="10" name="AutoShape 10"/>
          <p:cNvSpPr/>
          <p:nvPr/>
        </p:nvSpPr>
        <p:spPr>
          <a:xfrm>
            <a:off x="1016000" y="5207000"/>
            <a:ext cx="4826000" cy="1143000"/>
          </a:xfrm>
          <a:prstGeom prst="roundRect">
            <a:avLst>
              <a:gd name="adj" fmla="val 0"/>
            </a:avLst>
          </a:prstGeom>
          <a:solidFill>
            <a:srgbClr val="FFFFFF">
              <a:alpha val="5000"/>
            </a:srgbClr>
          </a:solidFill>
          <a:ln w="25400" cap="flat" cmpd="sng">
            <a:noFill/>
            <a:prstDash val="solid"/>
            <a:round/>
          </a:ln>
        </p:spPr>
        <p:txBody>
          <a:bodyPr vert="horz" wrap="square" lIns="0" tIns="0" rIns="0" bIns="0" rtlCol="0" anchor="ctr" anchorCtr="0"/>
          <a:lstStyle/>
          <a:p>
            <a:pPr algn="ctr">
              <a:defRPr/>
            </a:pPr>
          </a:p>
        </p:txBody>
      </p:sp>
      <p:sp>
        <p:nvSpPr>
          <p:cNvPr id="11" name="AutoShape 11"/>
          <p:cNvSpPr/>
          <p:nvPr/>
        </p:nvSpPr>
        <p:spPr>
          <a:xfrm>
            <a:off x="1016000" y="5207000"/>
            <a:ext cx="50800" cy="1143000"/>
          </a:xfrm>
          <a:prstGeom prst="roundRect">
            <a:avLst>
              <a:gd name="adj" fmla="val 0"/>
            </a:avLst>
          </a:prstGeom>
          <a:solidFill>
            <a:srgbClr val="FFA500">
              <a:alpha val="100000"/>
            </a:srgbClr>
          </a:solidFill>
          <a:ln w="25400" cap="flat" cmpd="sng">
            <a:noFill/>
            <a:prstDash val="solid"/>
            <a:round/>
          </a:ln>
        </p:spPr>
        <p:txBody>
          <a:bodyPr vert="horz" wrap="square" lIns="0" tIns="0" rIns="0" bIns="0" rtlCol="0" anchor="ctr" anchorCtr="0"/>
          <a:lstStyle/>
          <a:p>
            <a:pPr algn="ctr">
              <a:defRPr/>
            </a:pPr>
          </a:p>
        </p:txBody>
      </p:sp>
      <p:sp>
        <p:nvSpPr>
          <p:cNvPr id="12" name="AutoShape 12"/>
          <p:cNvSpPr/>
          <p:nvPr/>
        </p:nvSpPr>
        <p:spPr>
          <a:xfrm>
            <a:off x="1206500" y="5270500"/>
            <a:ext cx="457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FFA500"/>
                </a:solidFill>
                <a:latin typeface="Noto Sans SC"/>
                <a:ea typeface="Noto Sans SC"/>
                <a:cs typeface="Noto Sans SC"/>
                <a:sym typeface="Noto Sans SC"/>
              </a:rPr>
              <a:t>Challenges Faced:</a:t>
            </a:r>
            <a:r>
              <a:rPr lang="en-US" sz="1200" b="0" i="0" u="none" strike="noStrike">
                <a:solidFill>
                  <a:srgbClr val="CCCCCC"/>
                </a:solidFill>
                <a:latin typeface="Noto Sans SC"/>
                <a:ea typeface="Noto Sans SC"/>
                <a:cs typeface="Noto Sans SC"/>
                <a:sym typeface="Noto Sans SC"/>
              </a:rPr>
              <a:t>The existing collaboration barriers and data lag have led to slow and heavily impeded decision-making.</a:t>
            </a:r>
            <a:endParaRPr lang="en-US" sz="1100"/>
          </a:p>
        </p:txBody>
      </p:sp>
      <p:cxnSp>
        <p:nvCxnSpPr>
          <p:cNvPr id="13" name="Connector 13"/>
          <p:cNvCxnSpPr/>
          <p:nvPr/>
        </p:nvCxnSpPr>
        <p:spPr>
          <a:xfrm rot="5389889">
            <a:off x="4191000" y="4184659"/>
            <a:ext cx="4318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2095500"/>
            <a:ext cx="304800" cy="304800"/>
          </a:xfrm>
          <a:prstGeom prst="rect">
            <a:avLst/>
          </a:prstGeom>
        </p:spPr>
      </p:pic>
      <p:sp>
        <p:nvSpPr>
          <p:cNvPr id="15" name="AutoShape 15"/>
          <p:cNvSpPr/>
          <p:nvPr/>
        </p:nvSpPr>
        <p:spPr>
          <a:xfrm>
            <a:off x="7112000" y="2057400"/>
            <a:ext cx="431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FFFFFF"/>
                </a:solidFill>
                <a:latin typeface="Noto Sans SC"/>
                <a:ea typeface="Noto Sans SC"/>
                <a:cs typeface="Noto Sans SC"/>
                <a:sym typeface="Noto Sans SC"/>
              </a:rPr>
              <a:t>Global Collaborative Workspace, Breaking Communication Boundaries</a:t>
            </a:r>
            <a:endParaRPr lang="en-US" sz="1100"/>
          </a:p>
          <a:p>
            <a:pPr marL="0" indent="0" algn="l">
              <a:lnSpc>
                <a:spcPct val="100000"/>
              </a:lnSpc>
            </a:pPr>
            <a:r>
              <a:rPr lang="en-US" sz="1200" b="0" i="0" u="none" strike="noStrike">
                <a:solidFill>
                  <a:srgbClr val="CCCCCC"/>
                </a:solidFill>
                <a:latin typeface="Noto Sans SC"/>
                <a:ea typeface="Noto Sans SC"/>
                <a:cs typeface="Noto Sans SC"/>
                <a:sym typeface="Noto Sans SC"/>
              </a:rPr>
              <a:t>Build a unified digital collaborative workspace to enable barrier-free communication for global teams, integrating multi-language real-time translation, a unified global calendar view, and cross-time zone meeting scheduling functions.</a:t>
            </a:r>
            <a:endParaRPr lang="en-US" sz="1200" b="0" i="0" u="none" strike="noStrike">
              <a:solidFill>
                <a:srgbClr val="CCCCCC"/>
              </a:solidFill>
              <a:latin typeface="Noto Sans SC"/>
              <a:ea typeface="Noto Sans SC"/>
              <a:cs typeface="Noto Sans SC"/>
              <a:sym typeface="Noto Sans SC"/>
            </a:endParaRPr>
          </a:p>
        </p:txBody>
      </p:sp>
      <p:cxnSp>
        <p:nvCxnSpPr>
          <p:cNvPr id="16" name="Connector 16"/>
          <p:cNvCxnSpPr/>
          <p:nvPr/>
        </p:nvCxnSpPr>
        <p:spPr>
          <a:xfrm rot="-9549">
            <a:off x="6604009" y="3295650"/>
            <a:ext cx="4572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3556000"/>
            <a:ext cx="304800" cy="304800"/>
          </a:xfrm>
          <a:prstGeom prst="rect">
            <a:avLst/>
          </a:prstGeom>
        </p:spPr>
      </p:pic>
      <p:sp>
        <p:nvSpPr>
          <p:cNvPr id="18" name="AutoShape 18"/>
          <p:cNvSpPr/>
          <p:nvPr/>
        </p:nvSpPr>
        <p:spPr>
          <a:xfrm>
            <a:off x="7112000" y="3517900"/>
            <a:ext cx="431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FFFFFF"/>
                </a:solidFill>
                <a:latin typeface="Noto Sans SC"/>
                <a:ea typeface="Noto Sans SC"/>
                <a:cs typeface="Noto Sans SC"/>
                <a:sym typeface="Noto Sans SC"/>
              </a:rPr>
              <a:t>Integrated Supply Chain, Full-Link Visible &amp; Controllable</a:t>
            </a:r>
            <a:endParaRPr lang="en-US" sz="1100"/>
          </a:p>
          <a:p>
            <a:pPr marL="0" indent="0" algn="l">
              <a:lnSpc>
                <a:spcPct val="100000"/>
              </a:lnSpc>
            </a:pPr>
            <a:r>
              <a:rPr lang="en-US" sz="1200" b="0" i="0" u="none" strike="noStrike">
                <a:solidFill>
                  <a:srgbClr val="CCCCCC"/>
                </a:solidFill>
                <a:latin typeface="Noto Sans SC"/>
                <a:ea typeface="Noto Sans SC"/>
                <a:cs typeface="Noto Sans SC"/>
                <a:sym typeface="Noto Sans SC"/>
              </a:rPr>
              <a:t>Connect the entire chain of design, production, customers, and logistics to achieve real-time information flow synchronization, greatly improving order processing efficiency and inventory turnover rate.</a:t>
            </a:r>
            <a:endParaRPr lang="en-US" sz="1200" b="0" i="0" u="none" strike="noStrike">
              <a:solidFill>
                <a:srgbClr val="CCCCCC"/>
              </a:solidFill>
              <a:latin typeface="Noto Sans SC"/>
              <a:ea typeface="Noto Sans SC"/>
              <a:cs typeface="Noto Sans SC"/>
              <a:sym typeface="Noto Sans SC"/>
            </a:endParaRPr>
          </a:p>
        </p:txBody>
      </p:sp>
      <p:cxnSp>
        <p:nvCxnSpPr>
          <p:cNvPr id="19" name="Connector 19"/>
          <p:cNvCxnSpPr/>
          <p:nvPr/>
        </p:nvCxnSpPr>
        <p:spPr>
          <a:xfrm rot="-9549">
            <a:off x="6604009" y="4756150"/>
            <a:ext cx="4572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0" name="AutoShape 20"/>
          <p:cNvSpPr/>
          <p:nvPr/>
        </p:nvSpPr>
        <p:spPr>
          <a:xfrm>
            <a:off x="6604000" y="4953000"/>
            <a:ext cx="1397000" cy="825500"/>
          </a:xfrm>
          <a:prstGeom prst="roundRect">
            <a:avLst>
              <a:gd name="adj" fmla="val 0"/>
            </a:avLst>
          </a:prstGeom>
          <a:solidFill>
            <a:srgbClr val="00BFFF">
              <a:alpha val="15000"/>
            </a:srgbClr>
          </a:solidFill>
          <a:ln w="25400" cap="flat" cmpd="sng">
            <a:noFill/>
            <a:prstDash val="solid"/>
            <a:round/>
          </a:ln>
        </p:spPr>
        <p:txBody>
          <a:bodyPr vert="horz" wrap="square" lIns="0" tIns="0" rIns="0" bIns="0" rtlCol="0" anchor="ctr" anchorCtr="0"/>
          <a:lstStyle/>
          <a:p>
            <a:pPr algn="ctr">
              <a:defRPr/>
            </a:pPr>
          </a:p>
        </p:txBody>
      </p:sp>
      <p:sp>
        <p:nvSpPr>
          <p:cNvPr id="21" name="AutoShape 21"/>
          <p:cNvSpPr/>
          <p:nvPr/>
        </p:nvSpPr>
        <p:spPr>
          <a:xfrm>
            <a:off x="6604000" y="5016500"/>
            <a:ext cx="1397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92000"/>
              </a:lnSpc>
              <a:defRPr/>
            </a:pPr>
            <a:r>
              <a:rPr lang="en-US" sz="1600" b="1" i="0" u="none" strike="noStrike">
                <a:solidFill>
                  <a:srgbClr val="00FFFF"/>
                </a:solidFill>
                <a:latin typeface="Noto Sans SC"/>
                <a:ea typeface="Noto Sans SC"/>
                <a:cs typeface="Noto Sans SC"/>
                <a:sym typeface="Noto Sans SC"/>
              </a:rPr>
              <a:t>33%</a:t>
            </a:r>
            <a:endParaRPr lang="en-US" sz="1100"/>
          </a:p>
          <a:p>
            <a:pPr marL="0" indent="0" algn="ctr">
              <a:lnSpc>
                <a:spcPct val="92000"/>
              </a:lnSpc>
            </a:pPr>
            <a:r>
              <a:rPr lang="en-US" sz="1000" b="0" i="0" u="none" strike="noStrike">
                <a:solidFill>
                  <a:srgbClr val="CCCCCC"/>
                </a:solidFill>
                <a:latin typeface="Noto Sans SC"/>
                <a:ea typeface="Noto Sans SC"/>
                <a:cs typeface="Noto Sans SC"/>
                <a:sym typeface="Noto Sans SC"/>
              </a:rPr>
              <a:t>R&amp;D Cycle Reduction</a:t>
            </a:r>
            <a:endParaRPr lang="en-US" sz="1000" b="0" i="0" u="none" strike="noStrike">
              <a:solidFill>
                <a:srgbClr val="CCCCCC"/>
              </a:solidFill>
              <a:latin typeface="Noto Sans SC"/>
              <a:ea typeface="Noto Sans SC"/>
              <a:cs typeface="Noto Sans SC"/>
              <a:sym typeface="Noto Sans SC"/>
            </a:endParaRPr>
          </a:p>
        </p:txBody>
      </p:sp>
      <p:sp>
        <p:nvSpPr>
          <p:cNvPr id="22" name="AutoShape 22"/>
          <p:cNvSpPr/>
          <p:nvPr/>
        </p:nvSpPr>
        <p:spPr>
          <a:xfrm>
            <a:off x="8191500" y="4953000"/>
            <a:ext cx="1397000" cy="825500"/>
          </a:xfrm>
          <a:prstGeom prst="roundRect">
            <a:avLst>
              <a:gd name="adj" fmla="val 0"/>
            </a:avLst>
          </a:prstGeom>
          <a:solidFill>
            <a:srgbClr val="00BFFF">
              <a:alpha val="15000"/>
            </a:srgbClr>
          </a:solidFill>
          <a:ln w="25400" cap="flat" cmpd="sng">
            <a:noFill/>
            <a:prstDash val="solid"/>
            <a:round/>
          </a:ln>
        </p:spPr>
        <p:txBody>
          <a:bodyPr vert="horz" wrap="square" lIns="0" tIns="0" rIns="0" bIns="0" rtlCol="0" anchor="ctr" anchorCtr="0"/>
          <a:lstStyle/>
          <a:p>
            <a:pPr algn="ctr">
              <a:defRPr/>
            </a:pPr>
          </a:p>
        </p:txBody>
      </p:sp>
      <p:sp>
        <p:nvSpPr>
          <p:cNvPr id="23" name="AutoShape 23"/>
          <p:cNvSpPr/>
          <p:nvPr/>
        </p:nvSpPr>
        <p:spPr>
          <a:xfrm>
            <a:off x="8191500" y="5016500"/>
            <a:ext cx="1397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92000"/>
              </a:lnSpc>
              <a:defRPr/>
            </a:pPr>
            <a:r>
              <a:rPr lang="en-US" sz="1600" b="1" i="0" u="none" strike="noStrike">
                <a:solidFill>
                  <a:srgbClr val="00FFFF"/>
                </a:solidFill>
                <a:latin typeface="Noto Sans SC"/>
                <a:ea typeface="Noto Sans SC"/>
                <a:cs typeface="Noto Sans SC"/>
                <a:sym typeface="Noto Sans SC"/>
              </a:rPr>
              <a:t>60%</a:t>
            </a:r>
            <a:endParaRPr lang="en-US" sz="1100"/>
          </a:p>
          <a:p>
            <a:pPr marL="0" indent="0" algn="ctr">
              <a:lnSpc>
                <a:spcPct val="92000"/>
              </a:lnSpc>
            </a:pPr>
            <a:r>
              <a:rPr lang="en-US" sz="1000" b="0" i="0" u="none" strike="noStrike">
                <a:solidFill>
                  <a:srgbClr val="CCCCCC"/>
                </a:solidFill>
                <a:latin typeface="Noto Sans SC"/>
                <a:ea typeface="Noto Sans SC"/>
                <a:cs typeface="Noto Sans SC"/>
                <a:sym typeface="Noto Sans SC"/>
              </a:rPr>
              <a:t>Supply Chain Efficiency</a:t>
            </a:r>
            <a:endParaRPr lang="en-US" sz="1000" b="0" i="0" u="none" strike="noStrike">
              <a:solidFill>
                <a:srgbClr val="CCCCCC"/>
              </a:solidFill>
              <a:latin typeface="Noto Sans SC"/>
              <a:ea typeface="Noto Sans SC"/>
              <a:cs typeface="Noto Sans SC"/>
              <a:sym typeface="Noto Sans SC"/>
            </a:endParaRPr>
          </a:p>
        </p:txBody>
      </p:sp>
      <p:sp>
        <p:nvSpPr>
          <p:cNvPr id="24" name="AutoShape 24"/>
          <p:cNvSpPr/>
          <p:nvPr/>
        </p:nvSpPr>
        <p:spPr>
          <a:xfrm>
            <a:off x="9779000" y="4953000"/>
            <a:ext cx="1397000" cy="825500"/>
          </a:xfrm>
          <a:prstGeom prst="roundRect">
            <a:avLst>
              <a:gd name="adj" fmla="val 0"/>
            </a:avLst>
          </a:prstGeom>
          <a:solidFill>
            <a:srgbClr val="00BFFF">
              <a:alpha val="15000"/>
            </a:srgbClr>
          </a:solidFill>
          <a:ln w="25400" cap="flat" cmpd="sng">
            <a:noFill/>
            <a:prstDash val="solid"/>
            <a:round/>
          </a:ln>
        </p:spPr>
        <p:txBody>
          <a:bodyPr vert="horz" wrap="square" lIns="0" tIns="0" rIns="0" bIns="0" rtlCol="0" anchor="ctr" anchorCtr="0"/>
          <a:lstStyle/>
          <a:p>
            <a:pPr algn="ctr">
              <a:defRPr/>
            </a:pPr>
          </a:p>
        </p:txBody>
      </p:sp>
      <p:sp>
        <p:nvSpPr>
          <p:cNvPr id="25" name="AutoShape 25"/>
          <p:cNvSpPr/>
          <p:nvPr/>
        </p:nvSpPr>
        <p:spPr>
          <a:xfrm>
            <a:off x="9779000" y="5016500"/>
            <a:ext cx="1397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92000"/>
              </a:lnSpc>
              <a:defRPr/>
            </a:pPr>
            <a:r>
              <a:rPr lang="en-US" sz="1600" b="1" i="0" u="none" strike="noStrike">
                <a:solidFill>
                  <a:srgbClr val="00FFFF"/>
                </a:solidFill>
                <a:latin typeface="Noto Sans SC"/>
                <a:ea typeface="Noto Sans SC"/>
                <a:cs typeface="Noto Sans SC"/>
                <a:sym typeface="Noto Sans SC"/>
              </a:rPr>
              <a:t>2h</a:t>
            </a:r>
            <a:endParaRPr lang="en-US" sz="1100"/>
          </a:p>
          <a:p>
            <a:pPr marL="0" indent="0" algn="ctr">
              <a:lnSpc>
                <a:spcPct val="92000"/>
              </a:lnSpc>
            </a:pPr>
            <a:r>
              <a:rPr lang="en-US" sz="1000" b="0" i="0" u="none" strike="noStrike">
                <a:solidFill>
                  <a:srgbClr val="CCCCCC"/>
                </a:solidFill>
                <a:latin typeface="Noto Sans SC"/>
                <a:ea typeface="Noto Sans SC"/>
                <a:cs typeface="Noto Sans SC"/>
                <a:sym typeface="Noto Sans SC"/>
              </a:rPr>
              <a:t>Data Prep Time</a:t>
            </a:r>
            <a:endParaRPr lang="en-US" sz="1000" b="0" i="0" u="none" strike="noStrike">
              <a:solidFill>
                <a:srgbClr val="CCCCCC"/>
              </a:solidFill>
              <a:latin typeface="Noto Sans SC"/>
              <a:ea typeface="Noto Sans SC"/>
              <a:cs typeface="Noto Sans SC"/>
              <a:sym typeface="Noto Sans SC"/>
            </a:endParaRPr>
          </a:p>
        </p:txBody>
      </p:sp>
      <p:sp>
        <p:nvSpPr>
          <p:cNvPr id="26" name="AutoShape 26"/>
          <p:cNvSpPr/>
          <p:nvPr/>
        </p:nvSpPr>
        <p:spPr>
          <a:xfrm>
            <a:off x="6604000" y="5905500"/>
            <a:ext cx="4699000" cy="762000"/>
          </a:xfrm>
          <a:prstGeom prst="roundRect">
            <a:avLst>
              <a:gd name="adj" fmla="val 0"/>
            </a:avLst>
          </a:prstGeom>
          <a:solidFill>
            <a:srgbClr val="0A192F">
              <a:alpha val="90000"/>
            </a:srgbClr>
          </a:solidFill>
          <a:ln w="12700" cap="flat" cmpd="sng">
            <a:solidFill>
              <a:srgbClr val="00BFFF">
                <a:alpha val="60000"/>
              </a:srgbClr>
            </a:solidFill>
            <a:prstDash val="solid"/>
            <a:round/>
          </a:ln>
        </p:spPr>
        <p:txBody>
          <a:bodyPr vert="horz" wrap="square" lIns="0" tIns="0" rIns="0" bIns="0" rtlCol="0" anchor="ctr" anchorCtr="0"/>
          <a:lstStyle/>
          <a:p>
            <a:pPr algn="ctr">
              <a:defRPr/>
            </a:pPr>
          </a:p>
        </p:txBody>
      </p:sp>
      <p:sp>
        <p:nvSpPr>
          <p:cNvPr id="27" name="AutoShape 27"/>
          <p:cNvSpPr/>
          <p:nvPr/>
        </p:nvSpPr>
        <p:spPr>
          <a:xfrm>
            <a:off x="6731000" y="5969000"/>
            <a:ext cx="444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1" u="none" strike="noStrike">
                <a:solidFill>
                  <a:srgbClr val="DCDCDC"/>
                </a:solidFill>
                <a:latin typeface="Noto Sans SC"/>
                <a:ea typeface="Noto Sans SC"/>
                <a:cs typeface="Noto Sans SC"/>
                <a:sym typeface="Noto Sans SC"/>
              </a:rPr>
              <a:t>"SynergyOS is more than just a tool; it has become the core engine for our group's digital transformation."</a:t>
            </a:r>
            <a:endParaRPr lang="en-US" sz="1100"/>
          </a:p>
          <a:p>
            <a:pPr marL="0" indent="0" algn="l">
              <a:lnSpc>
                <a:spcPct val="100000"/>
              </a:lnSpc>
            </a:pPr>
            <a:r>
              <a:rPr lang="en-US" sz="1000" b="1" i="0" u="none" strike="noStrike">
                <a:solidFill>
                  <a:srgbClr val="00BFFF"/>
                </a:solidFill>
                <a:latin typeface="Noto Sans SC"/>
                <a:ea typeface="Noto Sans SC"/>
                <a:cs typeface="Noto Sans SC"/>
                <a:sym typeface="Noto Sans SC"/>
              </a:rPr>
              <a:t>—— Global CIO, [XX Group]</a:t>
            </a:r>
            <a:endParaRPr lang="en-US" sz="1000" b="1" i="0" u="none" strike="noStrike">
              <a:solidFill>
                <a:srgbClr val="00BFFF"/>
              </a:solidFill>
              <a:latin typeface="Noto Sans SC"/>
              <a:ea typeface="Noto Sans SC"/>
              <a:cs typeface="Noto Sans SC"/>
              <a:sym typeface="Noto Sans S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50F1E">
              <a:alpha val="9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1016000" y="1397000"/>
            <a:ext cx="381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7200" b="1" i="0" u="none" strike="noStrike">
                <a:solidFill>
                  <a:srgbClr val="00BFFF"/>
                </a:solidFill>
                <a:latin typeface="Poppins"/>
                <a:ea typeface="Poppins"/>
                <a:cs typeface="Poppins"/>
                <a:sym typeface="Poppins"/>
              </a:rPr>
              <a:t>06</a:t>
            </a:r>
            <a:endParaRPr lang="en-US" sz="1100"/>
          </a:p>
        </p:txBody>
      </p:sp>
      <p:sp>
        <p:nvSpPr>
          <p:cNvPr id="4" name="AutoShape 4"/>
          <p:cNvSpPr/>
          <p:nvPr/>
        </p:nvSpPr>
        <p:spPr>
          <a:xfrm>
            <a:off x="1016000" y="2667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Poppins"/>
                <a:ea typeface="Poppins"/>
                <a:cs typeface="Poppins"/>
                <a:sym typeface="Poppins"/>
              </a:rPr>
              <a:t>Cooperation Outlook &amp; Next Steps</a:t>
            </a:r>
            <a:endParaRPr lang="en-US" sz="1100"/>
          </a:p>
        </p:txBody>
      </p:sp>
      <p:sp>
        <p:nvSpPr>
          <p:cNvPr id="5" name="AutoShape 5"/>
          <p:cNvSpPr/>
          <p:nvPr/>
        </p:nvSpPr>
        <p:spPr>
          <a:xfrm>
            <a:off x="1016000" y="3810000"/>
            <a:ext cx="1270000" cy="50800"/>
          </a:xfrm>
          <a:prstGeom prst="roundRect">
            <a:avLst>
              <a:gd name="adj" fmla="val 0"/>
            </a:avLst>
          </a:prstGeom>
          <a:solidFill>
            <a:srgbClr val="00BFFF">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1016000" y="4318000"/>
            <a:ext cx="3302000" cy="2032000"/>
          </a:xfrm>
          <a:prstGeom prst="roundRect">
            <a:avLst>
              <a:gd name="adj" fmla="val 0"/>
            </a:avLst>
          </a:prstGeom>
          <a:solidFill>
            <a:srgbClr val="10294D">
              <a:alpha val="85000"/>
            </a:srgbClr>
          </a:solidFill>
          <a:ln w="12700" cap="flat" cmpd="sng">
            <a:solidFill>
              <a:srgbClr val="00BFFF">
                <a:alpha val="40000"/>
              </a:srgbClr>
            </a:solidFill>
            <a:prstDash val="solid"/>
            <a:round/>
          </a:ln>
        </p:spPr>
        <p:txBody>
          <a:bodyPr vert="horz" wrap="square" lIns="0" tIns="0" rIns="0" bIns="0" rtlCol="0" anchor="ctr" anchorCtr="0"/>
          <a:lstStyle/>
          <a:p>
            <a:pPr algn="ctr">
              <a:defRPr/>
            </a:pPr>
          </a:p>
        </p:txBody>
      </p:sp>
      <p:sp>
        <p:nvSpPr>
          <p:cNvPr id="7" name="AutoShape 7"/>
          <p:cNvSpPr/>
          <p:nvPr/>
        </p:nvSpPr>
        <p:spPr>
          <a:xfrm>
            <a:off x="1016000" y="4318000"/>
            <a:ext cx="50800" cy="2032000"/>
          </a:xfrm>
          <a:prstGeom prst="roundRect">
            <a:avLst>
              <a:gd name="adj" fmla="val 0"/>
            </a:avLst>
          </a:prstGeom>
          <a:solidFill>
            <a:srgbClr val="00BFFF">
              <a:alpha val="100000"/>
            </a:srgbClr>
          </a:solidFill>
          <a:ln w="25400" cap="flat" cmpd="sng">
            <a:noFill/>
            <a:prstDash val="solid"/>
            <a:round/>
          </a:ln>
        </p:spPr>
        <p:txBody>
          <a:bodyPr vert="horz" wrap="square" lIns="0" tIns="0" rIns="0" bIns="0" rtlCol="0" anchor="ctr" anchorCtr="0"/>
          <a:lstStyle/>
          <a:p>
            <a:pPr algn="ctr">
              <a:defRPr/>
            </a:pPr>
          </a:p>
        </p:txBody>
      </p:sp>
      <p:sp>
        <p:nvSpPr>
          <p:cNvPr id="8" name="AutoShape 8"/>
          <p:cNvSpPr/>
          <p:nvPr/>
        </p:nvSpPr>
        <p:spPr>
          <a:xfrm>
            <a:off x="1270000" y="45085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a:solidFill>
                  <a:srgbClr val="FFFFFF"/>
                </a:solidFill>
                <a:latin typeface="Poppins"/>
                <a:ea typeface="Poppins"/>
                <a:cs typeface="Poppins"/>
                <a:sym typeface="Poppins"/>
              </a:rPr>
              <a:t>01 Strategic Synergy Planning</a:t>
            </a:r>
            <a:endParaRPr lang="en-US"/>
          </a:p>
        </p:txBody>
      </p:sp>
      <p:cxnSp>
        <p:nvCxnSpPr>
          <p:cNvPr id="9" name="Connector 9"/>
          <p:cNvCxnSpPr/>
          <p:nvPr/>
        </p:nvCxnSpPr>
        <p:spPr>
          <a:xfrm rot="-15626">
            <a:off x="1270014" y="5137150"/>
            <a:ext cx="2794000" cy="12700"/>
          </a:xfrm>
          <a:prstGeom prst="straightConnector1">
            <a:avLst/>
          </a:prstGeom>
          <a:solidFill>
            <a:srgbClr val="DEE0E3">
              <a:alpha val="100000"/>
            </a:srgbClr>
          </a:solidFill>
          <a:ln w="12700" cap="flat" cmpd="sng">
            <a:solidFill>
              <a:srgbClr val="00BFFF">
                <a:alpha val="50000"/>
              </a:srgbClr>
            </a:solidFill>
            <a:prstDash val="solid"/>
            <a:round/>
            <a:headEnd type="none" w="med" len="med"/>
            <a:tailEnd type="none" w="med" len="med"/>
          </a:ln>
        </p:spPr>
      </p:cxnSp>
      <p:sp>
        <p:nvSpPr>
          <p:cNvPr id="10" name="AutoShape 10"/>
          <p:cNvSpPr/>
          <p:nvPr/>
        </p:nvSpPr>
        <p:spPr>
          <a:xfrm>
            <a:off x="1270000" y="5270500"/>
            <a:ext cx="279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CCD6E0"/>
                </a:solidFill>
                <a:latin typeface="Noto Sans SC"/>
                <a:ea typeface="Noto Sans SC"/>
                <a:cs typeface="Noto Sans SC"/>
                <a:sym typeface="Noto Sans SC"/>
              </a:rPr>
              <a:t>Deeply align with the core development strategies of both parties, establish a high-level regular communication mechanism, and ensure the cooperation direction is highly consistent with the long-term vision of the enterprise.</a:t>
            </a:r>
            <a:endParaRPr lang="en-US" sz="1100"/>
          </a:p>
        </p:txBody>
      </p:sp>
      <p:sp>
        <p:nvSpPr>
          <p:cNvPr id="11" name="AutoShape 11"/>
          <p:cNvSpPr/>
          <p:nvPr/>
        </p:nvSpPr>
        <p:spPr>
          <a:xfrm>
            <a:off x="4572000" y="4318000"/>
            <a:ext cx="3302000" cy="2032000"/>
          </a:xfrm>
          <a:prstGeom prst="roundRect">
            <a:avLst>
              <a:gd name="adj" fmla="val 0"/>
            </a:avLst>
          </a:prstGeom>
          <a:solidFill>
            <a:srgbClr val="10294D">
              <a:alpha val="85000"/>
            </a:srgbClr>
          </a:solidFill>
          <a:ln w="12700" cap="flat" cmpd="sng">
            <a:solidFill>
              <a:srgbClr val="00BFFF">
                <a:alpha val="40000"/>
              </a:srgbClr>
            </a:solidFill>
            <a:prstDash val="solid"/>
            <a:round/>
          </a:ln>
        </p:spPr>
        <p:txBody>
          <a:bodyPr vert="horz" wrap="square" lIns="0" tIns="0" rIns="0" bIns="0" rtlCol="0" anchor="ctr" anchorCtr="0"/>
          <a:lstStyle/>
          <a:p>
            <a:pPr algn="ctr">
              <a:defRPr/>
            </a:pPr>
          </a:p>
        </p:txBody>
      </p:sp>
      <p:sp>
        <p:nvSpPr>
          <p:cNvPr id="12" name="AutoShape 12"/>
          <p:cNvSpPr/>
          <p:nvPr/>
        </p:nvSpPr>
        <p:spPr>
          <a:xfrm>
            <a:off x="4572000" y="4318000"/>
            <a:ext cx="50800" cy="2032000"/>
          </a:xfrm>
          <a:prstGeom prst="roundRect">
            <a:avLst>
              <a:gd name="adj" fmla="val 0"/>
            </a:avLst>
          </a:prstGeom>
          <a:solidFill>
            <a:srgbClr val="00BFFF">
              <a:alpha val="100000"/>
            </a:srgbClr>
          </a:solidFill>
          <a:ln w="25400" cap="flat" cmpd="sng">
            <a:noFill/>
            <a:prstDash val="solid"/>
            <a:round/>
          </a:ln>
        </p:spPr>
        <p:txBody>
          <a:bodyPr vert="horz" wrap="square" lIns="0" tIns="0" rIns="0" bIns="0" rtlCol="0" anchor="ctr" anchorCtr="0"/>
          <a:lstStyle/>
          <a:p>
            <a:pPr algn="ctr">
              <a:defRPr/>
            </a:pPr>
          </a:p>
        </p:txBody>
      </p:sp>
      <p:sp>
        <p:nvSpPr>
          <p:cNvPr id="13" name="AutoShape 13"/>
          <p:cNvSpPr/>
          <p:nvPr/>
        </p:nvSpPr>
        <p:spPr>
          <a:xfrm>
            <a:off x="4826000" y="45085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a:solidFill>
                  <a:srgbClr val="FFFFFF"/>
                </a:solidFill>
                <a:latin typeface="Poppins"/>
                <a:ea typeface="Poppins"/>
                <a:cs typeface="Poppins"/>
                <a:sym typeface="Poppins"/>
              </a:rPr>
              <a:t>02 Full Business Implementation</a:t>
            </a:r>
            <a:endParaRPr lang="en-US"/>
          </a:p>
        </p:txBody>
      </p:sp>
      <p:cxnSp>
        <p:nvCxnSpPr>
          <p:cNvPr id="14" name="Connector 14"/>
          <p:cNvCxnSpPr/>
          <p:nvPr/>
        </p:nvCxnSpPr>
        <p:spPr>
          <a:xfrm rot="-15626">
            <a:off x="4826014" y="5137150"/>
            <a:ext cx="2794000" cy="12700"/>
          </a:xfrm>
          <a:prstGeom prst="straightConnector1">
            <a:avLst/>
          </a:prstGeom>
          <a:solidFill>
            <a:srgbClr val="DEE0E3">
              <a:alpha val="100000"/>
            </a:srgbClr>
          </a:solidFill>
          <a:ln w="12700" cap="flat" cmpd="sng">
            <a:solidFill>
              <a:srgbClr val="00BFFF">
                <a:alpha val="50000"/>
              </a:srgbClr>
            </a:solidFill>
            <a:prstDash val="solid"/>
            <a:round/>
            <a:headEnd type="none" w="med" len="med"/>
            <a:tailEnd type="none" w="med" len="med"/>
          </a:ln>
        </p:spPr>
      </p:cxnSp>
      <p:sp>
        <p:nvSpPr>
          <p:cNvPr id="15" name="AutoShape 15"/>
          <p:cNvSpPr/>
          <p:nvPr/>
        </p:nvSpPr>
        <p:spPr>
          <a:xfrm>
            <a:off x="4826000" y="5270500"/>
            <a:ext cx="279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CCD6E0"/>
                </a:solidFill>
                <a:latin typeface="Noto Sans SC"/>
                <a:ea typeface="Noto Sans SC"/>
                <a:cs typeface="Noto Sans SC"/>
                <a:sym typeface="Noto Sans SC"/>
              </a:rPr>
              <a:t>Extend from pilot projects to full business scenarios, break down data silos and process barriers, and drive continuous growth of business value with actual implementation results.</a:t>
            </a:r>
            <a:endParaRPr lang="en-US" sz="1100"/>
          </a:p>
        </p:txBody>
      </p:sp>
      <p:sp>
        <p:nvSpPr>
          <p:cNvPr id="16" name="AutoShape 16"/>
          <p:cNvSpPr/>
          <p:nvPr/>
        </p:nvSpPr>
        <p:spPr>
          <a:xfrm>
            <a:off x="8128000" y="4318000"/>
            <a:ext cx="3302000" cy="2032000"/>
          </a:xfrm>
          <a:prstGeom prst="roundRect">
            <a:avLst>
              <a:gd name="adj" fmla="val 0"/>
            </a:avLst>
          </a:prstGeom>
          <a:solidFill>
            <a:srgbClr val="10294D">
              <a:alpha val="85000"/>
            </a:srgbClr>
          </a:solidFill>
          <a:ln w="12700" cap="flat" cmpd="sng">
            <a:solidFill>
              <a:srgbClr val="00BFFF">
                <a:alpha val="40000"/>
              </a:srgbClr>
            </a:solidFill>
            <a:prstDash val="solid"/>
            <a:round/>
          </a:ln>
        </p:spPr>
        <p:txBody>
          <a:bodyPr vert="horz" wrap="square" lIns="0" tIns="0" rIns="0" bIns="0" rtlCol="0" anchor="ctr" anchorCtr="0"/>
          <a:lstStyle/>
          <a:p>
            <a:pPr algn="ctr">
              <a:defRPr/>
            </a:pPr>
          </a:p>
        </p:txBody>
      </p:sp>
      <p:sp>
        <p:nvSpPr>
          <p:cNvPr id="17" name="AutoShape 17"/>
          <p:cNvSpPr/>
          <p:nvPr/>
        </p:nvSpPr>
        <p:spPr>
          <a:xfrm>
            <a:off x="8128000" y="4318000"/>
            <a:ext cx="50800" cy="2032000"/>
          </a:xfrm>
          <a:prstGeom prst="roundRect">
            <a:avLst>
              <a:gd name="adj" fmla="val 0"/>
            </a:avLst>
          </a:prstGeom>
          <a:solidFill>
            <a:srgbClr val="00BFFF">
              <a:alpha val="100000"/>
            </a:srgbClr>
          </a:solidFill>
          <a:ln w="25400" cap="flat" cmpd="sng">
            <a:noFill/>
            <a:prstDash val="solid"/>
            <a:round/>
          </a:ln>
        </p:spPr>
        <p:txBody>
          <a:bodyPr vert="horz" wrap="square" lIns="0" tIns="0" rIns="0" bIns="0" rtlCol="0" anchor="ctr" anchorCtr="0"/>
          <a:lstStyle/>
          <a:p>
            <a:pPr algn="ctr">
              <a:defRPr/>
            </a:pPr>
          </a:p>
        </p:txBody>
      </p:sp>
      <p:sp>
        <p:nvSpPr>
          <p:cNvPr id="18" name="AutoShape 18"/>
          <p:cNvSpPr/>
          <p:nvPr/>
        </p:nvSpPr>
        <p:spPr>
          <a:xfrm>
            <a:off x="8382000" y="45085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a:solidFill>
                  <a:srgbClr val="FFFFFF"/>
                </a:solidFill>
                <a:latin typeface="Poppins"/>
                <a:ea typeface="Poppins"/>
                <a:cs typeface="Poppins"/>
                <a:sym typeface="Poppins"/>
              </a:rPr>
              <a:t>03 Long-Term Value Empowerment</a:t>
            </a:r>
            <a:endParaRPr lang="en-US" b="1" i="0" u="none" strike="noStrike">
              <a:solidFill>
                <a:srgbClr val="FFFFFF"/>
              </a:solidFill>
              <a:latin typeface="Poppins"/>
              <a:ea typeface="Poppins"/>
              <a:cs typeface="Poppins"/>
              <a:sym typeface="Poppins"/>
            </a:endParaRPr>
          </a:p>
        </p:txBody>
      </p:sp>
      <p:cxnSp>
        <p:nvCxnSpPr>
          <p:cNvPr id="19" name="Connector 19"/>
          <p:cNvCxnSpPr/>
          <p:nvPr/>
        </p:nvCxnSpPr>
        <p:spPr>
          <a:xfrm rot="-15626">
            <a:off x="8382014" y="5137150"/>
            <a:ext cx="2794000" cy="12700"/>
          </a:xfrm>
          <a:prstGeom prst="straightConnector1">
            <a:avLst/>
          </a:prstGeom>
          <a:solidFill>
            <a:srgbClr val="DEE0E3">
              <a:alpha val="100000"/>
            </a:srgbClr>
          </a:solidFill>
          <a:ln w="12700" cap="flat" cmpd="sng">
            <a:solidFill>
              <a:srgbClr val="00BFFF">
                <a:alpha val="50000"/>
              </a:srgbClr>
            </a:solidFill>
            <a:prstDash val="solid"/>
            <a:round/>
            <a:headEnd type="none" w="med" len="med"/>
            <a:tailEnd type="none" w="med" len="med"/>
          </a:ln>
        </p:spPr>
      </p:cxnSp>
      <p:sp>
        <p:nvSpPr>
          <p:cNvPr id="20" name="AutoShape 20"/>
          <p:cNvSpPr/>
          <p:nvPr/>
        </p:nvSpPr>
        <p:spPr>
          <a:xfrm>
            <a:off x="8382000" y="5270500"/>
            <a:ext cx="279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CCD6E0"/>
                </a:solidFill>
                <a:latin typeface="Noto Sans SC"/>
                <a:ea typeface="Noto Sans SC"/>
                <a:cs typeface="Noto Sans SC"/>
                <a:sym typeface="Noto Sans SC"/>
              </a:rPr>
              <a:t>Build a talent development and technology iteration system, accumulate digital transformation methodologies, and create sustainable core competitiveness for the enterprise.</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92F">
              <a:alpha val="9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FFFFFF"/>
                </a:solidFill>
                <a:latin typeface="Noto Sans SC"/>
                <a:ea typeface="Noto Sans SC"/>
                <a:cs typeface="Noto Sans SC"/>
                <a:sym typeface="Noto Sans SC"/>
              </a:rPr>
              <a:t>Co-creating the New Future of Enterprise Digitalization</a:t>
            </a:r>
            <a:endParaRPr lang="en-US" sz="1100"/>
          </a:p>
        </p:txBody>
      </p:sp>
      <p:sp>
        <p:nvSpPr>
          <p:cNvPr id="4" name="AutoShape 4"/>
          <p:cNvSpPr/>
          <p:nvPr/>
        </p:nvSpPr>
        <p:spPr>
          <a:xfrm>
            <a:off x="1016000" y="1905000"/>
            <a:ext cx="3251200" cy="1905000"/>
          </a:xfrm>
          <a:prstGeom prst="roundRect">
            <a:avLst>
              <a:gd name="adj" fmla="val 0"/>
            </a:avLst>
          </a:prstGeom>
          <a:solidFill>
            <a:srgbClr val="152948">
              <a:alpha val="85000"/>
            </a:srgbClr>
          </a:solidFill>
          <a:ln w="12700" cap="flat" cmpd="sng">
            <a:solidFill>
              <a:srgbClr val="00BFFF">
                <a:alpha val="50000"/>
              </a:srgbClr>
            </a:solidFill>
            <a:prstDash val="solid"/>
            <a:round/>
          </a:ln>
        </p:spPr>
        <p:txBody>
          <a:bodyPr vert="horz" wrap="square" lIns="0" tIns="0" rIns="0" bIns="0" rtlCol="0" anchor="ctr" anchorCtr="0"/>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19200" y="2095500"/>
            <a:ext cx="406400" cy="406400"/>
          </a:xfrm>
          <a:prstGeom prst="rect">
            <a:avLst/>
          </a:prstGeom>
        </p:spPr>
      </p:pic>
      <p:sp>
        <p:nvSpPr>
          <p:cNvPr id="6" name="AutoShape 6"/>
          <p:cNvSpPr/>
          <p:nvPr/>
        </p:nvSpPr>
        <p:spPr>
          <a:xfrm>
            <a:off x="1727200" y="20701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01 Connect</a:t>
            </a:r>
            <a:endParaRPr lang="en-US" sz="1100"/>
          </a:p>
        </p:txBody>
      </p:sp>
      <p:cxnSp>
        <p:nvCxnSpPr>
          <p:cNvPr id="7" name="Connector 7"/>
          <p:cNvCxnSpPr/>
          <p:nvPr/>
        </p:nvCxnSpPr>
        <p:spPr>
          <a:xfrm rot="-15346">
            <a:off x="1219214" y="2660650"/>
            <a:ext cx="2844800" cy="12700"/>
          </a:xfrm>
          <a:prstGeom prst="straightConnector1">
            <a:avLst/>
          </a:prstGeom>
          <a:solidFill>
            <a:srgbClr val="DEE0E3">
              <a:alpha val="100000"/>
            </a:srgbClr>
          </a:solidFill>
          <a:ln w="12700" cap="flat" cmpd="sng">
            <a:solidFill>
              <a:srgbClr val="00BFFF">
                <a:alpha val="60000"/>
              </a:srgbClr>
            </a:solidFill>
            <a:prstDash val="solid"/>
            <a:round/>
            <a:headEnd type="none" w="med" len="med"/>
            <a:tailEnd type="none" w="med" len="med"/>
          </a:ln>
        </p:spPr>
      </p:cxnSp>
      <p:sp>
        <p:nvSpPr>
          <p:cNvPr id="8" name="AutoShape 8"/>
          <p:cNvSpPr/>
          <p:nvPr/>
        </p:nvSpPr>
        <p:spPr>
          <a:xfrm>
            <a:off x="1219200" y="2794000"/>
            <a:ext cx="28448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a:ea typeface="Noto Sans SC"/>
                <a:cs typeface="Noto Sans SC"/>
                <a:sym typeface="Noto Sans SC"/>
              </a:rPr>
              <a:t>Break down system and departmental barriers to achieve full integration of data and processes.</a:t>
            </a:r>
            <a:endParaRPr lang="en-US" sz="1100"/>
          </a:p>
        </p:txBody>
      </p:sp>
      <p:sp>
        <p:nvSpPr>
          <p:cNvPr id="9" name="AutoShape 9"/>
          <p:cNvSpPr/>
          <p:nvPr/>
        </p:nvSpPr>
        <p:spPr>
          <a:xfrm>
            <a:off x="4470400" y="1905000"/>
            <a:ext cx="3251200" cy="1905000"/>
          </a:xfrm>
          <a:prstGeom prst="roundRect">
            <a:avLst>
              <a:gd name="adj" fmla="val 0"/>
            </a:avLst>
          </a:prstGeom>
          <a:solidFill>
            <a:srgbClr val="152948">
              <a:alpha val="85000"/>
            </a:srgbClr>
          </a:solidFill>
          <a:ln w="12700" cap="flat" cmpd="sng">
            <a:solidFill>
              <a:srgbClr val="00BFFF">
                <a:alpha val="50000"/>
              </a:srgbClr>
            </a:solidFill>
            <a:prstDash val="solid"/>
            <a:round/>
          </a:ln>
        </p:spPr>
        <p:txBody>
          <a:bodyPr vert="horz" wrap="square" lIns="0" tIns="0" rIns="0" bIns="0" rtlCol="0" anchor="ctr" anchorCtr="0"/>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73600" y="2095500"/>
            <a:ext cx="406400" cy="406400"/>
          </a:xfrm>
          <a:prstGeom prst="rect">
            <a:avLst/>
          </a:prstGeom>
        </p:spPr>
      </p:pic>
      <p:sp>
        <p:nvSpPr>
          <p:cNvPr id="11" name="AutoShape 11"/>
          <p:cNvSpPr/>
          <p:nvPr/>
        </p:nvSpPr>
        <p:spPr>
          <a:xfrm>
            <a:off x="5181600" y="20701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02 Synergize</a:t>
            </a:r>
            <a:endParaRPr lang="en-US" sz="1100"/>
          </a:p>
        </p:txBody>
      </p:sp>
      <p:cxnSp>
        <p:nvCxnSpPr>
          <p:cNvPr id="12" name="Connector 12"/>
          <p:cNvCxnSpPr/>
          <p:nvPr/>
        </p:nvCxnSpPr>
        <p:spPr>
          <a:xfrm rot="-15346">
            <a:off x="4673614" y="2660650"/>
            <a:ext cx="2844800" cy="12700"/>
          </a:xfrm>
          <a:prstGeom prst="straightConnector1">
            <a:avLst/>
          </a:prstGeom>
          <a:solidFill>
            <a:srgbClr val="DEE0E3">
              <a:alpha val="100000"/>
            </a:srgbClr>
          </a:solidFill>
          <a:ln w="12700" cap="flat" cmpd="sng">
            <a:solidFill>
              <a:srgbClr val="00BFFF">
                <a:alpha val="60000"/>
              </a:srgbClr>
            </a:solidFill>
            <a:prstDash val="solid"/>
            <a:round/>
            <a:headEnd type="none" w="med" len="med"/>
            <a:tailEnd type="none" w="med" len="med"/>
          </a:ln>
        </p:spPr>
      </p:cxnSp>
      <p:sp>
        <p:nvSpPr>
          <p:cNvPr id="13" name="AutoShape 13"/>
          <p:cNvSpPr/>
          <p:nvPr/>
        </p:nvSpPr>
        <p:spPr>
          <a:xfrm>
            <a:off x="4673600" y="2794000"/>
            <a:ext cx="28448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a:ea typeface="Noto Sans SC"/>
                <a:cs typeface="Noto Sans SC"/>
                <a:sym typeface="Noto Sans SC"/>
              </a:rPr>
              <a:t>Reshape team work styles to inspire organizational vitality and innovative potential.</a:t>
            </a:r>
            <a:endParaRPr lang="en-US" sz="1100"/>
          </a:p>
        </p:txBody>
      </p:sp>
      <p:sp>
        <p:nvSpPr>
          <p:cNvPr id="14" name="AutoShape 14"/>
          <p:cNvSpPr/>
          <p:nvPr/>
        </p:nvSpPr>
        <p:spPr>
          <a:xfrm>
            <a:off x="7924800" y="1905000"/>
            <a:ext cx="3251200" cy="1905000"/>
          </a:xfrm>
          <a:prstGeom prst="roundRect">
            <a:avLst>
              <a:gd name="adj" fmla="val 0"/>
            </a:avLst>
          </a:prstGeom>
          <a:solidFill>
            <a:srgbClr val="152948">
              <a:alpha val="85000"/>
            </a:srgbClr>
          </a:solidFill>
          <a:ln w="12700" cap="flat" cmpd="sng">
            <a:solidFill>
              <a:srgbClr val="00BFFF">
                <a:alpha val="50000"/>
              </a:srgbClr>
            </a:solidFill>
            <a:prstDash val="solid"/>
            <a:round/>
          </a:ln>
        </p:spPr>
        <p:txBody>
          <a:bodyPr vert="horz" wrap="square" lIns="0" tIns="0" rIns="0" bIns="0" rtlCol="0" anchor="ctr" anchorCtr="0"/>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28000" y="2095500"/>
            <a:ext cx="406400" cy="406400"/>
          </a:xfrm>
          <a:prstGeom prst="rect">
            <a:avLst/>
          </a:prstGeom>
        </p:spPr>
      </p:pic>
      <p:sp>
        <p:nvSpPr>
          <p:cNvPr id="16" name="AutoShape 16"/>
          <p:cNvSpPr/>
          <p:nvPr/>
        </p:nvSpPr>
        <p:spPr>
          <a:xfrm>
            <a:off x="8636000" y="20701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03 Intelligence</a:t>
            </a:r>
            <a:endParaRPr lang="en-US" sz="1100"/>
          </a:p>
        </p:txBody>
      </p:sp>
      <p:cxnSp>
        <p:nvCxnSpPr>
          <p:cNvPr id="17" name="Connector 17"/>
          <p:cNvCxnSpPr/>
          <p:nvPr/>
        </p:nvCxnSpPr>
        <p:spPr>
          <a:xfrm rot="-15346">
            <a:off x="8128014" y="2660650"/>
            <a:ext cx="2844800" cy="12700"/>
          </a:xfrm>
          <a:prstGeom prst="straightConnector1">
            <a:avLst/>
          </a:prstGeom>
          <a:solidFill>
            <a:srgbClr val="DEE0E3">
              <a:alpha val="100000"/>
            </a:srgbClr>
          </a:solidFill>
          <a:ln w="12700" cap="flat" cmpd="sng">
            <a:solidFill>
              <a:srgbClr val="00BFFF">
                <a:alpha val="60000"/>
              </a:srgbClr>
            </a:solidFill>
            <a:prstDash val="solid"/>
            <a:round/>
            <a:headEnd type="none" w="med" len="med"/>
            <a:tailEnd type="none" w="med" len="med"/>
          </a:ln>
        </p:spPr>
      </p:cxnSp>
      <p:sp>
        <p:nvSpPr>
          <p:cNvPr id="18" name="AutoShape 18"/>
          <p:cNvSpPr/>
          <p:nvPr/>
        </p:nvSpPr>
        <p:spPr>
          <a:xfrm>
            <a:off x="8128000" y="2794000"/>
            <a:ext cx="28448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a:ea typeface="Noto Sans SC"/>
                <a:cs typeface="Noto Sans SC"/>
                <a:sym typeface="Noto Sans SC"/>
              </a:rPr>
              <a:t>Empower data-driven decision-making to lead enterprises towards intelligent operations.</a:t>
            </a:r>
            <a:endParaRPr lang="en-US" sz="1100"/>
          </a:p>
        </p:txBody>
      </p:sp>
      <p:sp>
        <p:nvSpPr>
          <p:cNvPr id="19" name="AutoShape 19"/>
          <p:cNvSpPr/>
          <p:nvPr/>
        </p:nvSpPr>
        <p:spPr>
          <a:xfrm>
            <a:off x="1016000" y="4191000"/>
            <a:ext cx="3251200" cy="1651000"/>
          </a:xfrm>
          <a:prstGeom prst="roundRect">
            <a:avLst>
              <a:gd name="adj" fmla="val 0"/>
            </a:avLst>
          </a:prstGeom>
          <a:solidFill>
            <a:srgbClr val="1E3A8A">
              <a:alpha val="60000"/>
            </a:srgbClr>
          </a:solidFill>
          <a:ln w="25400" cap="flat" cmpd="sng">
            <a:noFill/>
            <a:prstDash val="solid"/>
            <a:round/>
          </a:ln>
        </p:spPr>
        <p:txBody>
          <a:bodyPr vert="horz" wrap="square" lIns="0" tIns="0" rIns="0" bIns="0" rtlCol="0" anchor="ctr" anchorCtr="0"/>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68400" y="4381500"/>
            <a:ext cx="304800" cy="304800"/>
          </a:xfrm>
          <a:prstGeom prst="rect">
            <a:avLst/>
          </a:prstGeom>
        </p:spPr>
      </p:pic>
      <p:sp>
        <p:nvSpPr>
          <p:cNvPr id="21" name="AutoShape 21"/>
          <p:cNvSpPr/>
          <p:nvPr/>
        </p:nvSpPr>
        <p:spPr>
          <a:xfrm>
            <a:off x="1574800" y="4356100"/>
            <a:ext cx="266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Professional Implementation Team</a:t>
            </a:r>
            <a:endParaRPr lang="en-US" sz="1100"/>
          </a:p>
        </p:txBody>
      </p:sp>
      <p:sp>
        <p:nvSpPr>
          <p:cNvPr id="22" name="AutoShape 22"/>
          <p:cNvSpPr/>
          <p:nvPr/>
        </p:nvSpPr>
        <p:spPr>
          <a:xfrm>
            <a:off x="1168400" y="4800600"/>
            <a:ext cx="2946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9CA3AF"/>
                </a:solidFill>
                <a:latin typeface="Noto Sans SC"/>
                <a:ea typeface="Noto Sans SC"/>
                <a:cs typeface="Noto Sans SC"/>
                <a:sym typeface="Noto Sans SC"/>
              </a:rPr>
              <a:t>Bringing together industry experts to provide full lifecycle services from consulting, deployment to training, ensuring the smooth implementation of the solution.</a:t>
            </a:r>
            <a:endParaRPr lang="en-US" sz="1100"/>
          </a:p>
        </p:txBody>
      </p:sp>
      <p:sp>
        <p:nvSpPr>
          <p:cNvPr id="23" name="AutoShape 23"/>
          <p:cNvSpPr/>
          <p:nvPr/>
        </p:nvSpPr>
        <p:spPr>
          <a:xfrm>
            <a:off x="4470400" y="4191000"/>
            <a:ext cx="3251200" cy="1651000"/>
          </a:xfrm>
          <a:prstGeom prst="roundRect">
            <a:avLst>
              <a:gd name="adj" fmla="val 0"/>
            </a:avLst>
          </a:prstGeom>
          <a:solidFill>
            <a:srgbClr val="1E3A8A">
              <a:alpha val="60000"/>
            </a:srgbClr>
          </a:solidFill>
          <a:ln w="25400" cap="flat" cmpd="sng">
            <a:noFill/>
            <a:prstDash val="solid"/>
            <a:round/>
          </a:ln>
        </p:spPr>
        <p:txBody>
          <a:bodyPr vert="horz" wrap="square" lIns="0" tIns="0" rIns="0" bIns="0" rtlCol="0" anchor="ctr" anchorCtr="0"/>
          <a:lstStyle/>
          <a:p>
            <a:pPr algn="ctr">
              <a:defRPr/>
            </a:pPr>
          </a:p>
        </p:txBody>
      </p:sp>
      <p:pic>
        <p:nvPicPr>
          <p:cNvPr id="24" name="Picture 2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22800" y="4381500"/>
            <a:ext cx="304800" cy="304800"/>
          </a:xfrm>
          <a:prstGeom prst="rect">
            <a:avLst/>
          </a:prstGeom>
        </p:spPr>
      </p:pic>
      <p:sp>
        <p:nvSpPr>
          <p:cNvPr id="25" name="AutoShape 25"/>
          <p:cNvSpPr/>
          <p:nvPr/>
        </p:nvSpPr>
        <p:spPr>
          <a:xfrm>
            <a:off x="5029200" y="4356100"/>
            <a:ext cx="266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Flexible Scalability</a:t>
            </a:r>
            <a:endParaRPr lang="en-US" sz="1100"/>
          </a:p>
        </p:txBody>
      </p:sp>
      <p:sp>
        <p:nvSpPr>
          <p:cNvPr id="26" name="AutoShape 26"/>
          <p:cNvSpPr/>
          <p:nvPr/>
        </p:nvSpPr>
        <p:spPr>
          <a:xfrm>
            <a:off x="4622800" y="4800600"/>
            <a:ext cx="2946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9CA3AF"/>
                </a:solidFill>
                <a:latin typeface="Noto Sans SC"/>
                <a:ea typeface="Noto Sans SC"/>
                <a:cs typeface="Noto Sans SC"/>
                <a:sym typeface="Noto Sans SC"/>
              </a:rPr>
              <a:t>Modular design supports enterprises in continuously iterating and expanding functions according to business development, protecting long-term corporate investment.</a:t>
            </a:r>
            <a:endParaRPr lang="en-US" sz="1100"/>
          </a:p>
        </p:txBody>
      </p:sp>
      <p:sp>
        <p:nvSpPr>
          <p:cNvPr id="27" name="AutoShape 27"/>
          <p:cNvSpPr/>
          <p:nvPr/>
        </p:nvSpPr>
        <p:spPr>
          <a:xfrm>
            <a:off x="7924800" y="4191000"/>
            <a:ext cx="3251200" cy="1651000"/>
          </a:xfrm>
          <a:prstGeom prst="roundRect">
            <a:avLst>
              <a:gd name="adj" fmla="val 0"/>
            </a:avLst>
          </a:prstGeom>
          <a:solidFill>
            <a:srgbClr val="1E3A8A">
              <a:alpha val="60000"/>
            </a:srgbClr>
          </a:solidFill>
          <a:ln w="25400" cap="flat" cmpd="sng">
            <a:noFill/>
            <a:prstDash val="solid"/>
            <a:round/>
          </a:ln>
        </p:spPr>
        <p:txBody>
          <a:bodyPr vert="horz" wrap="square" lIns="0" tIns="0" rIns="0" bIns="0" rtlCol="0" anchor="ctr" anchorCtr="0"/>
          <a:lstStyle/>
          <a:p>
            <a:pPr algn="ctr">
              <a:defRPr/>
            </a:pPr>
          </a:p>
        </p:txBody>
      </p:sp>
      <p:pic>
        <p:nvPicPr>
          <p:cNvPr id="28" name="Picture 2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077200" y="4381500"/>
            <a:ext cx="304800" cy="304800"/>
          </a:xfrm>
          <a:prstGeom prst="rect">
            <a:avLst/>
          </a:prstGeom>
        </p:spPr>
      </p:pic>
      <p:sp>
        <p:nvSpPr>
          <p:cNvPr id="29" name="AutoShape 29"/>
          <p:cNvSpPr/>
          <p:nvPr/>
        </p:nvSpPr>
        <p:spPr>
          <a:xfrm>
            <a:off x="8483600" y="4356100"/>
            <a:ext cx="266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Reliable Security Assurance</a:t>
            </a:r>
            <a:endParaRPr lang="en-US" sz="1100"/>
          </a:p>
        </p:txBody>
      </p:sp>
      <p:sp>
        <p:nvSpPr>
          <p:cNvPr id="30" name="AutoShape 30"/>
          <p:cNvSpPr/>
          <p:nvPr/>
        </p:nvSpPr>
        <p:spPr>
          <a:xfrm>
            <a:off x="8077200" y="4800600"/>
            <a:ext cx="2946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9CA3AF"/>
                </a:solidFill>
                <a:latin typeface="Noto Sans SC"/>
                <a:ea typeface="Noto Sans SC"/>
                <a:cs typeface="Noto Sans SC"/>
                <a:sym typeface="Noto Sans SC"/>
              </a:rPr>
              <a:t>Adopting financial-grade security technologies and protection systems, establishing a complete data security protection closed loop to ensure the security of core corporate data assets.</a:t>
            </a:r>
            <a:endParaRPr lang="en-US" sz="1100"/>
          </a:p>
        </p:txBody>
      </p:sp>
      <p:sp>
        <p:nvSpPr>
          <p:cNvPr id="31" name="AutoShape 31"/>
          <p:cNvSpPr/>
          <p:nvPr/>
        </p:nvSpPr>
        <p:spPr>
          <a:xfrm>
            <a:off x="1016000" y="5943600"/>
            <a:ext cx="10160000" cy="508000"/>
          </a:xfrm>
          <a:prstGeom prst="roundRect">
            <a:avLst>
              <a:gd name="adj" fmla="val 0"/>
            </a:avLst>
          </a:prstGeom>
          <a:solidFill>
            <a:srgbClr val="111827">
              <a:alpha val="90000"/>
            </a:srgbClr>
          </a:solidFill>
          <a:ln w="25400" cap="flat" cmpd="sng">
            <a:noFill/>
            <a:prstDash val="solid"/>
            <a:round/>
          </a:ln>
        </p:spPr>
        <p:txBody>
          <a:bodyPr vert="horz" wrap="square" lIns="0" tIns="0" rIns="0" bIns="0" rtlCol="0" anchor="ctr" anchorCtr="0"/>
          <a:lstStyle/>
          <a:p>
            <a:pPr algn="ctr">
              <a:defRPr/>
            </a:pPr>
          </a:p>
        </p:txBody>
      </p:sp>
      <p:sp>
        <p:nvSpPr>
          <p:cNvPr id="32" name="AutoShape 32"/>
          <p:cNvSpPr/>
          <p:nvPr/>
        </p:nvSpPr>
        <p:spPr>
          <a:xfrm>
            <a:off x="1016000" y="5943600"/>
            <a:ext cx="50800" cy="508000"/>
          </a:xfrm>
          <a:prstGeom prst="roundRect">
            <a:avLst>
              <a:gd name="adj" fmla="val 0"/>
            </a:avLst>
          </a:prstGeom>
          <a:solidFill>
            <a:srgbClr val="00BFFF">
              <a:alpha val="100000"/>
            </a:srgbClr>
          </a:solidFill>
          <a:ln w="25400" cap="flat" cmpd="sng">
            <a:noFill/>
            <a:prstDash val="solid"/>
            <a:round/>
          </a:ln>
        </p:spPr>
        <p:txBody>
          <a:bodyPr vert="horz" wrap="square" lIns="0" tIns="0" rIns="0" bIns="0" rtlCol="0" anchor="ctr" anchorCtr="0"/>
          <a:lstStyle/>
          <a:p>
            <a:pPr algn="ctr">
              <a:defRPr/>
            </a:pPr>
          </a:p>
        </p:txBody>
      </p:sp>
      <p:sp>
        <p:nvSpPr>
          <p:cNvPr id="33" name="AutoShape 33"/>
          <p:cNvSpPr/>
          <p:nvPr/>
        </p:nvSpPr>
        <p:spPr>
          <a:xfrm>
            <a:off x="1193800" y="5943600"/>
            <a:ext cx="977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FFFFFF"/>
                </a:solidFill>
                <a:latin typeface="Noto Sans SC"/>
                <a:ea typeface="Noto Sans SC"/>
                <a:cs typeface="Noto Sans SC"/>
                <a:sym typeface="Noto Sans SC"/>
              </a:rPr>
              <a:t>Start your digital transformation journey now, and let us embrace an agile, efficient, and intelligent future enterprise together!</a:t>
            </a:r>
            <a:endParaRPr lang="en-US" sz="1100"/>
          </a:p>
        </p:txBody>
      </p:sp>
      <p:sp>
        <p:nvSpPr>
          <p:cNvPr id="34" name="AutoShape 34"/>
          <p:cNvSpPr/>
          <p:nvPr/>
        </p:nvSpPr>
        <p:spPr>
          <a:xfrm>
            <a:off x="0" y="6502400"/>
            <a:ext cx="12192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a:solidFill>
                  <a:srgbClr val="9CA3AF"/>
                </a:solidFill>
                <a:latin typeface="Noto Sans SC"/>
                <a:ea typeface="Noto Sans SC"/>
                <a:cs typeface="Noto Sans SC"/>
                <a:sym typeface="Noto Sans SC"/>
              </a:rPr>
              <a:t>Website: www.yourcompany.com | Tel: 400-XXX-XXXX | Email: contact@yourcompany.com</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B172E">
              <a:alpha val="75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0" y="27940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6000" b="1" i="0" u="none" strike="noStrike">
                <a:solidFill>
                  <a:srgbClr val="FFFFFF"/>
                </a:solidFill>
                <a:latin typeface="Noto Sans SC"/>
                <a:ea typeface="Noto Sans SC"/>
                <a:cs typeface="Noto Sans SC"/>
                <a:sym typeface="Noto Sans SC"/>
              </a:rPr>
              <a:t>Thank You</a:t>
            </a:r>
            <a:endParaRPr lang="en-US" sz="1100"/>
          </a:p>
        </p:txBody>
      </p:sp>
      <p:sp>
        <p:nvSpPr>
          <p:cNvPr id="4" name="AutoShape 4"/>
          <p:cNvSpPr/>
          <p:nvPr/>
        </p:nvSpPr>
        <p:spPr>
          <a:xfrm>
            <a:off x="5334000" y="4826000"/>
            <a:ext cx="1524000" cy="50800"/>
          </a:xfrm>
          <a:prstGeom prst="roundRect">
            <a:avLst>
              <a:gd name="adj" fmla="val 0"/>
            </a:avLst>
          </a:prstGeom>
          <a:solidFill>
            <a:srgbClr val="00A0E9">
              <a:alpha val="100000"/>
            </a:srgbClr>
          </a:solidFill>
          <a:ln w="25400" cap="flat" cmpd="sng">
            <a:noFill/>
            <a:prstDash val="solid"/>
            <a:round/>
          </a:ln>
        </p:spPr>
        <p:txBody>
          <a:bodyPr vert="horz" wrap="square" lIns="0" tIns="0" rIns="0" bIns="0" rtlCol="0" anchor="ctr" anchorCtr="0"/>
          <a:lstStyle/>
          <a:p>
            <a:pPr algn="ctr">
              <a:defRPr/>
            </a:p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11259</Words>
  <Application>WPS 演示</Application>
  <PresentationFormat/>
  <Paragraphs>283</Paragraphs>
  <Slides>15</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15</vt:i4>
      </vt:variant>
    </vt:vector>
  </HeadingPairs>
  <TitlesOfParts>
    <vt:vector size="29" baseType="lpstr">
      <vt:lpstr>Arial</vt:lpstr>
      <vt:lpstr>宋体</vt:lpstr>
      <vt:lpstr>Wingdings</vt:lpstr>
      <vt:lpstr>Arial</vt:lpstr>
      <vt:lpstr>Noto Sans SC</vt:lpstr>
      <vt:lpstr>Thonburi</vt:lpstr>
      <vt:lpstr>Poppins</vt:lpstr>
      <vt:lpstr>微软雅黑</vt:lpstr>
      <vt:lpstr>汉仪旗黑</vt:lpstr>
      <vt:lpstr>宋体</vt:lpstr>
      <vt:lpstr>Arial Unicode MS</vt:lpstr>
      <vt:lpstr>汉仪书宋二KW</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huangzhuohui</cp:lastModifiedBy>
  <cp:revision>2</cp:revision>
  <dcterms:created xsi:type="dcterms:W3CDTF">2026-06-19T03:04:39Z</dcterms:created>
  <dcterms:modified xsi:type="dcterms:W3CDTF">2026-06-19T03:04:39Z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{"Label":"1","ContentProducer":"001191110102MACQD9K64010000","ProduceID":"7652535144835337433","ReservedCode1":"","ContentPropagator":"","PropagateID":"","ReservedCode2":""}</vt:lpwstr>
  </property>
  <property fmtid="{D5CDD505-2E9C-101B-9397-08002B2CF9AE}" pid="3" name="ICV">
    <vt:lpwstr>15519FE73C17013134B1346AC0B786AF_42</vt:lpwstr>
  </property>
  <property fmtid="{D5CDD505-2E9C-101B-9397-08002B2CF9AE}" pid="4" name="KSOProductBuildVer">
    <vt:lpwstr>2052-5.3.0.7863</vt:lpwstr>
  </property>
</Properties>
</file>
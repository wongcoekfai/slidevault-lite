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20" Type="http://schemas.openxmlformats.org/officeDocument/2006/relationships/viewProps" Target="viewProps.xml" /><Relationship Id="rId19" Type="http://schemas.openxmlformats.org/officeDocument/2006/relationships/tableStyles" Target="tableStyles.xml" /><Relationship Id="rId1" Type="http://schemas.openxmlformats.org/officeDocument/2006/relationships/slide" Target="slides/slide1.xml" /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18" Type="http://schemas.openxmlformats.org/officeDocument/2006/relationships/presProps" Target="presProps.xml" /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5" Type="http://schemas.openxmlformats.org/officeDocument/2006/relationships/slide" Target="slides/slide15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17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TEMPLATE GUIDE: Replace every {{placeholder}} with your own content. Change accent colors in the generator (C.accent / C.accent2) to match your brand. Delete slides you do not need. Charts keep sample numbers — edit them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Budget: doughnut shows sample split — replace values and labels with yours in PowerPoint.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Funnel: one metric per stage, and the handoff between stages.</a:t>
            </a:r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Measurement: agree on how success is judged before campaigns launch.</a:t>
            </a:r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Team: delete cards if you have fewer members.</a:t>
            </a:r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Risks: include channel dependency (e.g. algorithm changes) and CAC inflation.</a:t>
            </a:r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Next steps: actions, owners, and dates.</a:t>
            </a:r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Closing: contact info and one clear call to action.</a:t>
            </a:r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Situation: start from the insight, not the tactics.</a:t>
            </a:r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Audience: 1-3 personas. Add a goal line for each: what success looks like for them.</a:t>
            </a:r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Positioning: use the classic "for... who... is the... that..." formula.</a:t>
            </a:r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Goals: one KPI per funnel stage. Every number needs a baseline and a target.</a:t>
            </a:r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Strategy: the 2-3 bets that make this plan different from last year.</a:t>
            </a:r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Channels: paid / owned / earned split. Say why each gets its share.</a:t>
            </a:r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Content: 3-4 pillars, each mapped to a persona and a funnel stage.</a:t>
            </a:r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Calendar: anchor campaigns per quarter. Detail lives in the channel plan.</a:t>
            </a:r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c="http://schemas.openxmlformats.org/drawingml/2006/chart" xmlns:a="http://schemas.openxmlformats.org/drawingml/2006/main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</c:f>
              <c:strCache>
                <c:ptCount val="1"/>
                <c:pt idx="0">
                  <c:v>{{Budget}}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84FC"/>
              </a:solidFill>
              <a:effectLst/>
            </c:spPr>
          </c:dPt>
          <c:dPt>
            <c:idx val="1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bubble3D val="0"/>
            <c:spPr>
              <a:solidFill>
                <a:srgbClr val="FB7185"/>
              </a:solidFill>
              <a:effectLst/>
            </c:spPr>
          </c:dPt>
          <c:dPt>
            <c:idx val="3"/>
            <c:bubble3D val="0"/>
            <c:spPr>
              <a:solidFill>
                <a:srgbClr val="5B54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</c:f>
              <c:strCache>
                <c:ptCount val="4"/>
                <c:pt idx="0">
                  <c:v>{{Paid}}</c:v>
                </c:pt>
                <c:pt idx="1">
                  <c:v>{{Owned}}</c:v>
                </c:pt>
                <c:pt idx="2">
                  <c:v>{{Earned}}</c:v>
                </c:pt>
                <c:pt idx="3">
                  <c:v>{{Other}}</c:v>
                </c:pt>
              </c:strCache>
            </c:strRef>
          </c:cat>
          <c:val>
            <c:numRef>
              <c:f>sheet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D97B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</c:chartSpace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C084FC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22D3EE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B7185">
              <a:alpha val="20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{{Brand / Product}}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 {{Year}}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{{Positioning in one sentence — who we serve, what we say, why it lands.}}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17102B"/>
        </a:solidFill>
      </p:bgPr>
    </p:bg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156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57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{{Market &amp; brand context}}</a:t>
            </a:r>
            <a:endParaRPr lang="en-US" sz="3200" dirty="0"/>
          </a:p>
        </p:txBody>
      </p:sp>
      <p:sp>
        <p:nvSpPr>
          <p:cNvPr id="158" name="Shape 3"/>
          <p:cNvSpPr/>
          <p:nvPr/>
        </p:nvSpPr>
        <p:spPr>
          <a:xfrm>
            <a:off x="640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9" name="Shape 4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0" name="Text 5"/>
          <p:cNvSpPr/>
          <p:nvPr/>
        </p:nvSpPr>
        <p:spPr>
          <a:xfrm>
            <a:off x="960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61" name="Text 6"/>
          <p:cNvSpPr/>
          <p:nvPr/>
        </p:nvSpPr>
        <p:spPr>
          <a:xfrm>
            <a:off x="1691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{{Market trend}}</a:t>
            </a:r>
            <a:endParaRPr lang="en-US" sz="1900" dirty="0"/>
          </a:p>
        </p:txBody>
      </p:sp>
      <p:sp>
        <p:nvSpPr>
          <p:cNvPr id="162" name="Text 7"/>
          <p:cNvSpPr/>
          <p:nvPr/>
        </p:nvSpPr>
        <p:spPr>
          <a:xfrm>
            <a:off x="1691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changing in the category right now.}}</a:t>
            </a:r>
            <a:endParaRPr lang="en-US" sz="1300" dirty="0"/>
          </a:p>
        </p:txBody>
      </p:sp>
      <p:sp>
        <p:nvSpPr>
          <p:cNvPr id="163" name="Shape 8"/>
          <p:cNvSpPr/>
          <p:nvPr/>
        </p:nvSpPr>
        <p:spPr>
          <a:xfrm>
            <a:off x="6355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4" name="Shape 9"/>
          <p:cNvSpPr/>
          <p:nvPr/>
        </p:nvSpPr>
        <p:spPr>
          <a:xfrm>
            <a:off x="6675120" y="210312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5" name="Text 10"/>
          <p:cNvSpPr/>
          <p:nvPr/>
        </p:nvSpPr>
        <p:spPr>
          <a:xfrm>
            <a:off x="6675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6" name="Text 11"/>
          <p:cNvSpPr/>
          <p:nvPr/>
        </p:nvSpPr>
        <p:spPr>
          <a:xfrm>
            <a:off x="7406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position}}</a:t>
            </a:r>
            <a:endParaRPr lang="en-US" sz="1900" dirty="0"/>
          </a:p>
        </p:txBody>
      </p:sp>
      <p:sp>
        <p:nvSpPr>
          <p:cNvPr id="167" name="Text 12"/>
          <p:cNvSpPr/>
          <p:nvPr/>
        </p:nvSpPr>
        <p:spPr>
          <a:xfrm>
            <a:off x="7406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brand stands today, honestly.}}</a:t>
            </a:r>
            <a:endParaRPr lang="en-US" sz="1300" dirty="0"/>
          </a:p>
        </p:txBody>
      </p:sp>
      <p:sp>
        <p:nvSpPr>
          <p:cNvPr id="168" name="Shape 13"/>
          <p:cNvSpPr/>
          <p:nvPr/>
        </p:nvSpPr>
        <p:spPr>
          <a:xfrm>
            <a:off x="640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9" name="Shape 14"/>
          <p:cNvSpPr/>
          <p:nvPr/>
        </p:nvSpPr>
        <p:spPr>
          <a:xfrm>
            <a:off x="960120" y="438912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0" name="Text 15"/>
          <p:cNvSpPr/>
          <p:nvPr/>
        </p:nvSpPr>
        <p:spPr>
          <a:xfrm>
            <a:off x="960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1" name="Text 16"/>
          <p:cNvSpPr/>
          <p:nvPr/>
        </p:nvSpPr>
        <p:spPr>
          <a:xfrm>
            <a:off x="1691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 shift}}</a:t>
            </a:r>
            <a:endParaRPr lang="en-US" sz="1900" dirty="0"/>
          </a:p>
        </p:txBody>
      </p:sp>
      <p:sp>
        <p:nvSpPr>
          <p:cNvPr id="172" name="Text 17"/>
          <p:cNvSpPr/>
          <p:nvPr/>
        </p:nvSpPr>
        <p:spPr>
          <a:xfrm>
            <a:off x="1691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buyer behavior is moving.}}</a:t>
            </a:r>
            <a:endParaRPr lang="en-US" sz="1300" dirty="0"/>
          </a:p>
        </p:txBody>
      </p:sp>
      <p:sp>
        <p:nvSpPr>
          <p:cNvPr id="173" name="Shape 18"/>
          <p:cNvSpPr/>
          <p:nvPr/>
        </p:nvSpPr>
        <p:spPr>
          <a:xfrm>
            <a:off x="6355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4" name="Shape 19"/>
          <p:cNvSpPr/>
          <p:nvPr/>
        </p:nvSpPr>
        <p:spPr>
          <a:xfrm>
            <a:off x="6675120" y="438912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5" name="Text 20"/>
          <p:cNvSpPr/>
          <p:nvPr/>
        </p:nvSpPr>
        <p:spPr>
          <a:xfrm>
            <a:off x="6675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6" name="Text 21"/>
          <p:cNvSpPr/>
          <p:nvPr/>
        </p:nvSpPr>
        <p:spPr>
          <a:xfrm>
            <a:off x="7406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{{Timing}}</a:t>
            </a:r>
            <a:endParaRPr lang="en-US" sz="1900" dirty="0"/>
          </a:p>
        </p:txBody>
      </p:sp>
      <p:sp>
        <p:nvSpPr>
          <p:cNvPr id="177" name="Text 22"/>
          <p:cNvSpPr/>
          <p:nvPr/>
        </p:nvSpPr>
        <p:spPr>
          <a:xfrm>
            <a:off x="7406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plan, why now.}}</a:t>
            </a:r>
            <a:endParaRPr lang="en-US" sz="1300" dirty="0"/>
          </a:p>
        </p:txBody>
      </p:sp>
      <p:sp>
        <p:nvSpPr>
          <p:cNvPr id="178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the single strategic insight this plan is built on.}}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17102B"/>
        </a:solidFill>
      </p:bgPr>
    </p:bg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181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82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are targeting}}</a:t>
            </a:r>
            <a:endParaRPr lang="en-US" sz="3200" dirty="0"/>
          </a:p>
        </p:txBody>
      </p:sp>
      <p:sp>
        <p:nvSpPr>
          <p:cNvPr id="183" name="Shape 3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21A3D"/>
          </a:solidFill>
          <a:ln w="12700">
            <a:solidFill>
              <a:srgbClr val="342B5A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4" name="Shape 4"/>
          <p:cNvSpPr/>
          <p:nvPr/>
        </p:nvSpPr>
        <p:spPr>
          <a:xfrm>
            <a:off x="1851660" y="2240280"/>
            <a:ext cx="1005840" cy="100584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185" name="Text 5"/>
          <p:cNvSpPr/>
          <p:nvPr/>
        </p:nvSpPr>
        <p:spPr>
          <a:xfrm>
            <a:off x="185166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400" dirty="0"/>
          </a:p>
        </p:txBody>
      </p:sp>
      <p:sp>
        <p:nvSpPr>
          <p:cNvPr id="186" name="Text 6"/>
          <p:cNvSpPr/>
          <p:nvPr/>
        </p:nvSpPr>
        <p:spPr>
          <a:xfrm>
            <a:off x="640080" y="3337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{{Persona 1}}</a:t>
            </a:r>
            <a:endParaRPr lang="en-US" sz="1900" dirty="0"/>
          </a:p>
        </p:txBody>
      </p:sp>
      <p:sp>
        <p:nvSpPr>
          <p:cNvPr id="187" name="Text 7"/>
          <p:cNvSpPr/>
          <p:nvPr/>
        </p:nvSpPr>
        <p:spPr>
          <a:xfrm>
            <a:off x="960120" y="38862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{{Demographics: age, role, market.}}</a:t>
            </a:r>
            <a:endParaRPr lang="en-US" sz="1300" dirty="0"/>
          </a:p>
        </p:txBody>
      </p:sp>
      <p:sp>
        <p:nvSpPr>
          <p:cNvPr id="188" name="Text 8"/>
          <p:cNvSpPr/>
          <p:nvPr/>
        </p:nvSpPr>
        <p:spPr>
          <a:xfrm>
            <a:off x="960120" y="4663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{{Pain: what they struggle with.}}</a:t>
            </a:r>
            <a:endParaRPr lang="en-US" sz="1300" dirty="0"/>
          </a:p>
        </p:txBody>
      </p:sp>
      <p:sp>
        <p:nvSpPr>
          <p:cNvPr id="189" name="Shape 9"/>
          <p:cNvSpPr/>
          <p:nvPr/>
        </p:nvSpPr>
        <p:spPr>
          <a:xfrm>
            <a:off x="45262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A2150"/>
          </a:solidFill>
          <a:ln w="12700">
            <a:solidFill>
              <a:srgbClr val="22D3EE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0" name="Shape 10"/>
          <p:cNvSpPr/>
          <p:nvPr/>
        </p:nvSpPr>
        <p:spPr>
          <a:xfrm>
            <a:off x="5737860" y="2240280"/>
            <a:ext cx="1005840" cy="10058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91" name="Text 11"/>
          <p:cNvSpPr/>
          <p:nvPr/>
        </p:nvSpPr>
        <p:spPr>
          <a:xfrm>
            <a:off x="573786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400" dirty="0"/>
          </a:p>
        </p:txBody>
      </p:sp>
      <p:sp>
        <p:nvSpPr>
          <p:cNvPr id="192" name="Text 12"/>
          <p:cNvSpPr/>
          <p:nvPr/>
        </p:nvSpPr>
        <p:spPr>
          <a:xfrm>
            <a:off x="4526280" y="3337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{{Persona 2}}</a:t>
            </a:r>
            <a:endParaRPr lang="en-US" sz="1900" dirty="0"/>
          </a:p>
        </p:txBody>
      </p:sp>
      <p:sp>
        <p:nvSpPr>
          <p:cNvPr id="193" name="Text 13"/>
          <p:cNvSpPr/>
          <p:nvPr/>
        </p:nvSpPr>
        <p:spPr>
          <a:xfrm>
            <a:off x="4846320" y="38862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{{Demographics: age, role, market.}}</a:t>
            </a:r>
            <a:endParaRPr lang="en-US" sz="1300" dirty="0"/>
          </a:p>
        </p:txBody>
      </p:sp>
      <p:sp>
        <p:nvSpPr>
          <p:cNvPr id="194" name="Text 14"/>
          <p:cNvSpPr/>
          <p:nvPr/>
        </p:nvSpPr>
        <p:spPr>
          <a:xfrm>
            <a:off x="4846320" y="4663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{{Pain: what they struggle with.}}</a:t>
            </a:r>
            <a:endParaRPr lang="en-US" sz="1300" dirty="0"/>
          </a:p>
        </p:txBody>
      </p:sp>
      <p:sp>
        <p:nvSpPr>
          <p:cNvPr id="195" name="Shape 15"/>
          <p:cNvSpPr/>
          <p:nvPr/>
        </p:nvSpPr>
        <p:spPr>
          <a:xfrm>
            <a:off x="84124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21A3D"/>
          </a:solidFill>
          <a:ln w="12700">
            <a:solidFill>
              <a:srgbClr val="342B5A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6" name="Shape 16"/>
          <p:cNvSpPr/>
          <p:nvPr/>
        </p:nvSpPr>
        <p:spPr>
          <a:xfrm>
            <a:off x="9624060" y="2240280"/>
            <a:ext cx="1005840" cy="100584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197" name="Text 17"/>
          <p:cNvSpPr/>
          <p:nvPr/>
        </p:nvSpPr>
        <p:spPr>
          <a:xfrm>
            <a:off x="962406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400" dirty="0"/>
          </a:p>
        </p:txBody>
      </p:sp>
      <p:sp>
        <p:nvSpPr>
          <p:cNvPr id="198" name="Text 18"/>
          <p:cNvSpPr/>
          <p:nvPr/>
        </p:nvSpPr>
        <p:spPr>
          <a:xfrm>
            <a:off x="8412480" y="3337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{{Persona 3}}</a:t>
            </a:r>
            <a:endParaRPr lang="en-US" sz="1900" dirty="0"/>
          </a:p>
        </p:txBody>
      </p:sp>
      <p:sp>
        <p:nvSpPr>
          <p:cNvPr id="199" name="Text 19"/>
          <p:cNvSpPr/>
          <p:nvPr/>
        </p:nvSpPr>
        <p:spPr>
          <a:xfrm>
            <a:off x="8732520" y="38862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{{Demographics: age, role, market.}}</a:t>
            </a:r>
            <a:endParaRPr lang="en-US" sz="1300" dirty="0"/>
          </a:p>
        </p:txBody>
      </p:sp>
      <p:sp>
        <p:nvSpPr>
          <p:cNvPr id="200" name="Text 20"/>
          <p:cNvSpPr/>
          <p:nvPr/>
        </p:nvSpPr>
        <p:spPr>
          <a:xfrm>
            <a:off x="8732520" y="4663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{{Pain: what they struggle with.}}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17102B"/>
        </a:solidFill>
      </p:bgPr>
    </p:bg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0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20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{{Positioning &amp; messaging}}</a:t>
            </a:r>
            <a:endParaRPr lang="en-US" sz="3200" dirty="0"/>
          </a:p>
        </p:txBody>
      </p:sp>
      <p:sp>
        <p:nvSpPr>
          <p:cNvPr id="205" name="Text 3"/>
          <p:cNvSpPr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{{One-liner: for {{target}} who {{need}}, {{brand}} is the {{category}} that {{key benefit}}.}}</a:t>
            </a:r>
            <a:endParaRPr lang="en-US" sz="1600" dirty="0"/>
          </a:p>
        </p:txBody>
      </p:sp>
      <p:sp>
        <p:nvSpPr>
          <p:cNvPr id="206" name="Shape 4"/>
          <p:cNvSpPr/>
          <p:nvPr/>
        </p:nvSpPr>
        <p:spPr>
          <a:xfrm>
            <a:off x="6400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7" name="Shape 5"/>
          <p:cNvSpPr/>
          <p:nvPr/>
        </p:nvSpPr>
        <p:spPr>
          <a:xfrm>
            <a:off x="2071116" y="297180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8" name="Text 6"/>
          <p:cNvSpPr/>
          <p:nvPr/>
        </p:nvSpPr>
        <p:spPr>
          <a:xfrm>
            <a:off x="20711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09" name="Text 7"/>
          <p:cNvSpPr/>
          <p:nvPr/>
        </p:nvSpPr>
        <p:spPr>
          <a:xfrm>
            <a:off x="6400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 proposition}}</a:t>
            </a:r>
            <a:endParaRPr lang="en-US" sz="1800" dirty="0"/>
          </a:p>
        </p:txBody>
      </p:sp>
      <p:sp>
        <p:nvSpPr>
          <p:cNvPr id="210" name="Text 8"/>
          <p:cNvSpPr/>
          <p:nvPr/>
        </p:nvSpPr>
        <p:spPr>
          <a:xfrm>
            <a:off x="9601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main promise, one line.}}</a:t>
            </a:r>
            <a:endParaRPr lang="en-US" sz="1300" dirty="0"/>
          </a:p>
        </p:txBody>
      </p:sp>
      <p:sp>
        <p:nvSpPr>
          <p:cNvPr id="211" name="Shape 9"/>
          <p:cNvSpPr/>
          <p:nvPr/>
        </p:nvSpPr>
        <p:spPr>
          <a:xfrm>
            <a:off x="45262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2" name="Shape 10"/>
          <p:cNvSpPr/>
          <p:nvPr/>
        </p:nvSpPr>
        <p:spPr>
          <a:xfrm>
            <a:off x="5957316" y="297180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3" name="Text 11"/>
          <p:cNvSpPr/>
          <p:nvPr/>
        </p:nvSpPr>
        <p:spPr>
          <a:xfrm>
            <a:off x="59573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4" name="Text 12"/>
          <p:cNvSpPr/>
          <p:nvPr/>
        </p:nvSpPr>
        <p:spPr>
          <a:xfrm>
            <a:off x="45262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{{Tone of voice}}</a:t>
            </a:r>
            <a:endParaRPr lang="en-US" sz="1800" dirty="0"/>
          </a:p>
        </p:txBody>
      </p:sp>
      <p:sp>
        <p:nvSpPr>
          <p:cNvPr id="215" name="Text 13"/>
          <p:cNvSpPr/>
          <p:nvPr/>
        </p:nvSpPr>
        <p:spPr>
          <a:xfrm>
            <a:off x="48463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the brand sounds, one line.}}</a:t>
            </a:r>
            <a:endParaRPr lang="en-US" sz="1300" dirty="0"/>
          </a:p>
        </p:txBody>
      </p:sp>
      <p:sp>
        <p:nvSpPr>
          <p:cNvPr id="216" name="Shape 14"/>
          <p:cNvSpPr/>
          <p:nvPr/>
        </p:nvSpPr>
        <p:spPr>
          <a:xfrm>
            <a:off x="84124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7" name="Shape 15"/>
          <p:cNvSpPr/>
          <p:nvPr/>
        </p:nvSpPr>
        <p:spPr>
          <a:xfrm>
            <a:off x="9843516" y="297180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8" name="Text 16"/>
          <p:cNvSpPr/>
          <p:nvPr/>
        </p:nvSpPr>
        <p:spPr>
          <a:xfrm>
            <a:off x="98435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9" name="Text 17"/>
          <p:cNvSpPr/>
          <p:nvPr/>
        </p:nvSpPr>
        <p:spPr>
          <a:xfrm>
            <a:off x="84124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message}}</a:t>
            </a:r>
            <a:endParaRPr lang="en-US" sz="1800" dirty="0"/>
          </a:p>
        </p:txBody>
      </p:sp>
      <p:sp>
        <p:nvSpPr>
          <p:cNvPr id="220" name="Text 18"/>
          <p:cNvSpPr/>
          <p:nvPr/>
        </p:nvSpPr>
        <p:spPr>
          <a:xfrm>
            <a:off x="87325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one thing people should remember.}}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17102B"/>
        </a:solidFill>
      </p:bgPr>
    </p:bg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2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KPIs</a:t>
            </a:r>
            <a:endParaRPr lang="en-US" sz="1200" dirty="0"/>
          </a:p>
        </p:txBody>
      </p:sp>
      <p:sp>
        <p:nvSpPr>
          <p:cNvPr id="22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success looks like}}</a:t>
            </a:r>
            <a:endParaRPr lang="en-US" sz="3200" dirty="0"/>
          </a:p>
        </p:txBody>
      </p:sp>
      <p:sp>
        <p:nvSpPr>
          <p:cNvPr id="225" name="Shape 3"/>
          <p:cNvSpPr/>
          <p:nvPr/>
        </p:nvSpPr>
        <p:spPr>
          <a:xfrm>
            <a:off x="640080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6" name="Text 4"/>
          <p:cNvSpPr/>
          <p:nvPr/>
        </p:nvSpPr>
        <p:spPr>
          <a:xfrm>
            <a:off x="640080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1}}</a:t>
            </a:r>
            <a:endParaRPr lang="en-US" sz="3200" dirty="0"/>
          </a:p>
        </p:txBody>
      </p:sp>
      <p:sp>
        <p:nvSpPr>
          <p:cNvPr id="227" name="Text 5"/>
          <p:cNvSpPr/>
          <p:nvPr/>
        </p:nvSpPr>
        <p:spPr>
          <a:xfrm>
            <a:off x="640080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{{Awareness}}</a:t>
            </a:r>
            <a:endParaRPr lang="en-US" sz="1400" dirty="0"/>
          </a:p>
        </p:txBody>
      </p:sp>
      <p:sp>
        <p:nvSpPr>
          <p:cNvPr id="228" name="Text 6"/>
          <p:cNvSpPr/>
          <p:nvPr/>
        </p:nvSpPr>
        <p:spPr>
          <a:xfrm>
            <a:off x="822960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reach, impressions}}</a:t>
            </a:r>
            <a:endParaRPr lang="en-US" sz="1100" dirty="0"/>
          </a:p>
        </p:txBody>
      </p:sp>
      <p:sp>
        <p:nvSpPr>
          <p:cNvPr id="229" name="Shape 7"/>
          <p:cNvSpPr/>
          <p:nvPr/>
        </p:nvSpPr>
        <p:spPr>
          <a:xfrm>
            <a:off x="3538728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0" name="Text 8"/>
          <p:cNvSpPr/>
          <p:nvPr/>
        </p:nvSpPr>
        <p:spPr>
          <a:xfrm>
            <a:off x="3538728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2}}</a:t>
            </a:r>
            <a:endParaRPr lang="en-US" sz="3200" dirty="0"/>
          </a:p>
        </p:txBody>
      </p:sp>
      <p:sp>
        <p:nvSpPr>
          <p:cNvPr id="231" name="Text 9"/>
          <p:cNvSpPr/>
          <p:nvPr/>
        </p:nvSpPr>
        <p:spPr>
          <a:xfrm>
            <a:off x="3538728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{{Acquisition}}</a:t>
            </a:r>
            <a:endParaRPr lang="en-US" sz="1400" dirty="0"/>
          </a:p>
        </p:txBody>
      </p:sp>
      <p:sp>
        <p:nvSpPr>
          <p:cNvPr id="232" name="Text 10"/>
          <p:cNvSpPr/>
          <p:nvPr/>
        </p:nvSpPr>
        <p:spPr>
          <a:xfrm>
            <a:off x="3721608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leads, sign-ups}}</a:t>
            </a:r>
            <a:endParaRPr lang="en-US" sz="1100" dirty="0"/>
          </a:p>
        </p:txBody>
      </p:sp>
      <p:sp>
        <p:nvSpPr>
          <p:cNvPr id="233" name="Shape 11"/>
          <p:cNvSpPr/>
          <p:nvPr/>
        </p:nvSpPr>
        <p:spPr>
          <a:xfrm>
            <a:off x="6437376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4" name="Text 12"/>
          <p:cNvSpPr/>
          <p:nvPr/>
        </p:nvSpPr>
        <p:spPr>
          <a:xfrm>
            <a:off x="6437376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3}}</a:t>
            </a:r>
            <a:endParaRPr lang="en-US" sz="3200" dirty="0"/>
          </a:p>
        </p:txBody>
      </p:sp>
      <p:sp>
        <p:nvSpPr>
          <p:cNvPr id="235" name="Text 13"/>
          <p:cNvSpPr/>
          <p:nvPr/>
        </p:nvSpPr>
        <p:spPr>
          <a:xfrm>
            <a:off x="6437376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{{Conversion}}</a:t>
            </a:r>
            <a:endParaRPr lang="en-US" sz="1400" dirty="0"/>
          </a:p>
        </p:txBody>
      </p:sp>
      <p:sp>
        <p:nvSpPr>
          <p:cNvPr id="236" name="Text 14"/>
          <p:cNvSpPr/>
          <p:nvPr/>
        </p:nvSpPr>
        <p:spPr>
          <a:xfrm>
            <a:off x="6620256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purchases, CAC}}</a:t>
            </a:r>
            <a:endParaRPr lang="en-US" sz="1100" dirty="0"/>
          </a:p>
        </p:txBody>
      </p:sp>
      <p:sp>
        <p:nvSpPr>
          <p:cNvPr id="237" name="Shape 15"/>
          <p:cNvSpPr/>
          <p:nvPr/>
        </p:nvSpPr>
        <p:spPr>
          <a:xfrm>
            <a:off x="9336024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8" name="Text 16"/>
          <p:cNvSpPr/>
          <p:nvPr/>
        </p:nvSpPr>
        <p:spPr>
          <a:xfrm>
            <a:off x="9336024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4}}</a:t>
            </a:r>
            <a:endParaRPr lang="en-US" sz="3200" dirty="0"/>
          </a:p>
        </p:txBody>
      </p:sp>
      <p:sp>
        <p:nvSpPr>
          <p:cNvPr id="239" name="Text 17"/>
          <p:cNvSpPr/>
          <p:nvPr/>
        </p:nvSpPr>
        <p:spPr>
          <a:xfrm>
            <a:off x="9336024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{{Retention}}</a:t>
            </a:r>
            <a:endParaRPr lang="en-US" sz="1400" dirty="0"/>
          </a:p>
        </p:txBody>
      </p:sp>
      <p:sp>
        <p:nvSpPr>
          <p:cNvPr id="240" name="Text 18"/>
          <p:cNvSpPr/>
          <p:nvPr/>
        </p:nvSpPr>
        <p:spPr>
          <a:xfrm>
            <a:off x="9518904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repeat rate, churn}}</a:t>
            </a:r>
            <a:endParaRPr lang="en-US" sz="1100" dirty="0"/>
          </a:p>
        </p:txBody>
      </p:sp>
      <p:sp>
        <p:nvSpPr>
          <p:cNvPr id="241" name="Text 19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 and target for each KPI, with the reporting date.}}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17102B"/>
        </a:solidFill>
      </p:bgPr>
    </p:bg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44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245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win attention}}</a:t>
            </a:r>
            <a:endParaRPr lang="en-US" sz="3200" dirty="0"/>
          </a:p>
        </p:txBody>
      </p:sp>
      <p:sp>
        <p:nvSpPr>
          <p:cNvPr id="246" name="Shape 3"/>
          <p:cNvSpPr/>
          <p:nvPr/>
        </p:nvSpPr>
        <p:spPr>
          <a:xfrm>
            <a:off x="64008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7" name="Shape 4"/>
          <p:cNvSpPr/>
          <p:nvPr/>
        </p:nvSpPr>
        <p:spPr>
          <a:xfrm>
            <a:off x="960120" y="265176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8" name="Text 5"/>
          <p:cNvSpPr/>
          <p:nvPr/>
        </p:nvSpPr>
        <p:spPr>
          <a:xfrm>
            <a:off x="9601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49" name="Text 6"/>
          <p:cNvSpPr/>
          <p:nvPr/>
        </p:nvSpPr>
        <p:spPr>
          <a:xfrm>
            <a:off x="169164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{{Move 1}}</a:t>
            </a:r>
            <a:endParaRPr lang="en-US" sz="1800" dirty="0"/>
          </a:p>
        </p:txBody>
      </p:sp>
      <p:sp>
        <p:nvSpPr>
          <p:cNvPr id="250" name="Text 7"/>
          <p:cNvSpPr/>
          <p:nvPr/>
        </p:nvSpPr>
        <p:spPr>
          <a:xfrm>
            <a:off x="100584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Win the niche before expanding.}}</a:t>
            </a:r>
            <a:endParaRPr lang="en-US" sz="1400" dirty="0"/>
          </a:p>
        </p:txBody>
      </p:sp>
      <p:sp>
        <p:nvSpPr>
          <p:cNvPr id="251" name="Shape 8"/>
          <p:cNvSpPr/>
          <p:nvPr/>
        </p:nvSpPr>
        <p:spPr>
          <a:xfrm>
            <a:off x="3986784" y="3401568"/>
            <a:ext cx="411480" cy="512064"/>
          </a:xfrm>
          <a:prstGeom prst="chevron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52" name="Shape 9"/>
          <p:cNvSpPr/>
          <p:nvPr/>
        </p:nvSpPr>
        <p:spPr>
          <a:xfrm>
            <a:off x="443484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3" name="Shape 10"/>
          <p:cNvSpPr/>
          <p:nvPr/>
        </p:nvSpPr>
        <p:spPr>
          <a:xfrm>
            <a:off x="4754880" y="265176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4" name="Text 11"/>
          <p:cNvSpPr/>
          <p:nvPr/>
        </p:nvSpPr>
        <p:spPr>
          <a:xfrm>
            <a:off x="4754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5" name="Text 12"/>
          <p:cNvSpPr/>
          <p:nvPr/>
        </p:nvSpPr>
        <p:spPr>
          <a:xfrm>
            <a:off x="548640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{{Move 2}}</a:t>
            </a:r>
            <a:endParaRPr lang="en-US" sz="1800" dirty="0"/>
          </a:p>
        </p:txBody>
      </p:sp>
      <p:sp>
        <p:nvSpPr>
          <p:cNvPr id="256" name="Text 13"/>
          <p:cNvSpPr/>
          <p:nvPr/>
        </p:nvSpPr>
        <p:spPr>
          <a:xfrm>
            <a:off x="480060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Own one channel deeply.}}</a:t>
            </a:r>
            <a:endParaRPr lang="en-US" sz="1400" dirty="0"/>
          </a:p>
        </p:txBody>
      </p:sp>
      <p:sp>
        <p:nvSpPr>
          <p:cNvPr id="257" name="Shape 14"/>
          <p:cNvSpPr/>
          <p:nvPr/>
        </p:nvSpPr>
        <p:spPr>
          <a:xfrm>
            <a:off x="7781544" y="3401568"/>
            <a:ext cx="411480" cy="512064"/>
          </a:xfrm>
          <a:prstGeom prst="chevron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58" name="Shape 15"/>
          <p:cNvSpPr/>
          <p:nvPr/>
        </p:nvSpPr>
        <p:spPr>
          <a:xfrm>
            <a:off x="822960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9" name="Shape 16"/>
          <p:cNvSpPr/>
          <p:nvPr/>
        </p:nvSpPr>
        <p:spPr>
          <a:xfrm>
            <a:off x="8549640" y="265176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0" name="Text 17"/>
          <p:cNvSpPr/>
          <p:nvPr/>
        </p:nvSpPr>
        <p:spPr>
          <a:xfrm>
            <a:off x="8549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1" name="Text 18"/>
          <p:cNvSpPr/>
          <p:nvPr/>
        </p:nvSpPr>
        <p:spPr>
          <a:xfrm>
            <a:off x="928116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{{Move 3}}</a:t>
            </a:r>
            <a:endParaRPr lang="en-US" sz="1800" dirty="0"/>
          </a:p>
        </p:txBody>
      </p:sp>
      <p:sp>
        <p:nvSpPr>
          <p:cNvPr id="262" name="Text 19"/>
          <p:cNvSpPr/>
          <p:nvPr/>
        </p:nvSpPr>
        <p:spPr>
          <a:xfrm>
            <a:off x="859536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Turn customers into advocates.}}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Slide 7">
    <p:bg>
      <p:bgPr>
        <a:solidFill>
          <a:srgbClr val="17102B"/>
        </a:solidFill>
      </p:bgPr>
    </p:bg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65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266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{{Channel mix}}</a:t>
            </a:r>
            <a:endParaRPr lang="en-US" sz="3200" dirty="0"/>
          </a:p>
        </p:txBody>
      </p:sp>
      <p:sp>
        <p:nvSpPr>
          <p:cNvPr id="267" name="Shape 3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21A3D"/>
          </a:solidFill>
          <a:ln w="12700">
            <a:solidFill>
              <a:srgbClr val="342B5A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8" name="Text 4"/>
          <p:cNvSpPr/>
          <p:nvPr/>
        </p:nvSpPr>
        <p:spPr>
          <a:xfrm>
            <a:off x="6400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{{Paid}}</a:t>
            </a:r>
            <a:endParaRPr lang="en-US" sz="2000" dirty="0"/>
          </a:p>
        </p:txBody>
      </p:sp>
      <p:sp>
        <p:nvSpPr>
          <p:cNvPr id="269" name="Text 5"/>
          <p:cNvSpPr/>
          <p:nvPr/>
        </p:nvSpPr>
        <p:spPr>
          <a:xfrm>
            <a:off x="6400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{{%}}</a:t>
            </a:r>
            <a:r>
              <a:rPr lang="en-US" sz="1400" dirty="0">
                <a:solidFill>
                  <a:srgbClr val="9D9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{{of budget}}</a:t>
            </a:r>
            <a:endParaRPr lang="en-US" sz="4000" dirty="0"/>
          </a:p>
        </p:txBody>
      </p:sp>
      <p:sp>
        <p:nvSpPr>
          <p:cNvPr id="270" name="Text 6"/>
          <p:cNvSpPr/>
          <p:nvPr/>
        </p:nvSpPr>
        <p:spPr>
          <a:xfrm>
            <a:off x="10058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{{Channels, expected CAC, and why.}}</a:t>
            </a:r>
            <a:endParaRPr lang="en-US" sz="1300" dirty="0"/>
          </a:p>
        </p:txBody>
      </p:sp>
      <p:sp>
        <p:nvSpPr>
          <p:cNvPr id="271" name="Shape 7"/>
          <p:cNvSpPr/>
          <p:nvPr/>
        </p:nvSpPr>
        <p:spPr>
          <a:xfrm>
            <a:off x="45262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A2150"/>
          </a:solidFill>
          <a:ln w="12700">
            <a:solidFill>
              <a:srgbClr val="22D3EE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2" name="Text 8"/>
          <p:cNvSpPr/>
          <p:nvPr/>
        </p:nvSpPr>
        <p:spPr>
          <a:xfrm>
            <a:off x="45262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{{Owned}}</a:t>
            </a:r>
            <a:endParaRPr lang="en-US" sz="2000" dirty="0"/>
          </a:p>
        </p:txBody>
      </p:sp>
      <p:sp>
        <p:nvSpPr>
          <p:cNvPr id="273" name="Text 9"/>
          <p:cNvSpPr/>
          <p:nvPr/>
        </p:nvSpPr>
        <p:spPr>
          <a:xfrm>
            <a:off x="45262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{{%}}</a:t>
            </a:r>
            <a:r>
              <a:rPr lang="en-US" sz="1400" dirty="0">
                <a:solidFill>
                  <a:srgbClr val="9D9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{{of budget}}</a:t>
            </a:r>
            <a:endParaRPr lang="en-US" sz="4000" dirty="0"/>
          </a:p>
        </p:txBody>
      </p:sp>
      <p:sp>
        <p:nvSpPr>
          <p:cNvPr id="274" name="Text 10"/>
          <p:cNvSpPr/>
          <p:nvPr/>
        </p:nvSpPr>
        <p:spPr>
          <a:xfrm>
            <a:off x="48920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{{Site, list, community — and why.}}</a:t>
            </a:r>
            <a:endParaRPr lang="en-US" sz="1300" dirty="0"/>
          </a:p>
        </p:txBody>
      </p:sp>
      <p:sp>
        <p:nvSpPr>
          <p:cNvPr id="275" name="Shape 11"/>
          <p:cNvSpPr/>
          <p:nvPr/>
        </p:nvSpPr>
        <p:spPr>
          <a:xfrm>
            <a:off x="84124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21A3D"/>
          </a:solidFill>
          <a:ln w="12700">
            <a:solidFill>
              <a:srgbClr val="342B5A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6" name="Text 12"/>
          <p:cNvSpPr/>
          <p:nvPr/>
        </p:nvSpPr>
        <p:spPr>
          <a:xfrm>
            <a:off x="84124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{{Earned}}</a:t>
            </a:r>
            <a:endParaRPr lang="en-US" sz="2000" dirty="0"/>
          </a:p>
        </p:txBody>
      </p:sp>
      <p:sp>
        <p:nvSpPr>
          <p:cNvPr id="277" name="Text 13"/>
          <p:cNvSpPr/>
          <p:nvPr/>
        </p:nvSpPr>
        <p:spPr>
          <a:xfrm>
            <a:off x="84124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{{%}}</a:t>
            </a:r>
            <a:r>
              <a:rPr lang="en-US" sz="1400" dirty="0">
                <a:solidFill>
                  <a:srgbClr val="9D9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{{of budget}}</a:t>
            </a:r>
            <a:endParaRPr lang="en-US" sz="4000" dirty="0"/>
          </a:p>
        </p:txBody>
      </p:sp>
      <p:sp>
        <p:nvSpPr>
          <p:cNvPr id="278" name="Text 14"/>
          <p:cNvSpPr/>
          <p:nvPr/>
        </p:nvSpPr>
        <p:spPr>
          <a:xfrm>
            <a:off x="87782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{{PR, partners, advocacy — and why.}}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17102B"/>
        </a:solidFill>
      </p:bgPr>
    </p:bg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81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282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{{Content pillars}}</a:t>
            </a:r>
            <a:endParaRPr lang="en-US" sz="3200" dirty="0"/>
          </a:p>
        </p:txBody>
      </p:sp>
      <p:sp>
        <p:nvSpPr>
          <p:cNvPr id="283" name="Shape 3"/>
          <p:cNvSpPr/>
          <p:nvPr/>
        </p:nvSpPr>
        <p:spPr>
          <a:xfrm>
            <a:off x="640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4" name="Shape 4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85" name="Text 5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86" name="Text 6"/>
          <p:cNvSpPr/>
          <p:nvPr/>
        </p:nvSpPr>
        <p:spPr>
          <a:xfrm>
            <a:off x="1645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1}}</a:t>
            </a:r>
            <a:endParaRPr lang="en-US" sz="1900" dirty="0"/>
          </a:p>
        </p:txBody>
      </p:sp>
      <p:sp>
        <p:nvSpPr>
          <p:cNvPr id="287" name="Text 7"/>
          <p:cNvSpPr/>
          <p:nvPr/>
        </p:nvSpPr>
        <p:spPr>
          <a:xfrm>
            <a:off x="1645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{{Formats and cadence, one line.}}</a:t>
            </a:r>
            <a:endParaRPr lang="en-US" sz="1300" dirty="0"/>
          </a:p>
        </p:txBody>
      </p:sp>
      <p:sp>
        <p:nvSpPr>
          <p:cNvPr id="288" name="Shape 8"/>
          <p:cNvSpPr/>
          <p:nvPr/>
        </p:nvSpPr>
        <p:spPr>
          <a:xfrm>
            <a:off x="6355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9" name="Shape 9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0" name="Text 10"/>
          <p:cNvSpPr/>
          <p:nvPr/>
        </p:nvSpPr>
        <p:spPr>
          <a:xfrm>
            <a:off x="6675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91" name="Text 11"/>
          <p:cNvSpPr/>
          <p:nvPr/>
        </p:nvSpPr>
        <p:spPr>
          <a:xfrm>
            <a:off x="7360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2}}</a:t>
            </a:r>
            <a:endParaRPr lang="en-US" sz="1900" dirty="0"/>
          </a:p>
        </p:txBody>
      </p:sp>
      <p:sp>
        <p:nvSpPr>
          <p:cNvPr id="292" name="Text 12"/>
          <p:cNvSpPr/>
          <p:nvPr/>
        </p:nvSpPr>
        <p:spPr>
          <a:xfrm>
            <a:off x="7360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{{Formats and cadence, one line.}}</a:t>
            </a:r>
            <a:endParaRPr lang="en-US" sz="1300" dirty="0"/>
          </a:p>
        </p:txBody>
      </p:sp>
      <p:sp>
        <p:nvSpPr>
          <p:cNvPr id="293" name="Shape 13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4" name="Shape 14"/>
          <p:cNvSpPr/>
          <p:nvPr/>
        </p:nvSpPr>
        <p:spPr>
          <a:xfrm>
            <a:off x="960120" y="4526280"/>
            <a:ext cx="502920" cy="50292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295" name="Text 15"/>
          <p:cNvSpPr/>
          <p:nvPr/>
        </p:nvSpPr>
        <p:spPr>
          <a:xfrm>
            <a:off x="960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96" name="Text 16"/>
          <p:cNvSpPr/>
          <p:nvPr/>
        </p:nvSpPr>
        <p:spPr>
          <a:xfrm>
            <a:off x="1645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3}}</a:t>
            </a:r>
            <a:endParaRPr lang="en-US" sz="1900" dirty="0"/>
          </a:p>
        </p:txBody>
      </p:sp>
      <p:sp>
        <p:nvSpPr>
          <p:cNvPr id="297" name="Text 17"/>
          <p:cNvSpPr/>
          <p:nvPr/>
        </p:nvSpPr>
        <p:spPr>
          <a:xfrm>
            <a:off x="1645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{{Formats and cadence, one line.}}</a:t>
            </a:r>
            <a:endParaRPr lang="en-US" sz="1300" dirty="0"/>
          </a:p>
        </p:txBody>
      </p:sp>
      <p:sp>
        <p:nvSpPr>
          <p:cNvPr id="298" name="Shape 18"/>
          <p:cNvSpPr/>
          <p:nvPr/>
        </p:nvSpPr>
        <p:spPr>
          <a:xfrm>
            <a:off x="6355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9" name="Shape 19"/>
          <p:cNvSpPr/>
          <p:nvPr/>
        </p:nvSpPr>
        <p:spPr>
          <a:xfrm>
            <a:off x="6675120" y="45262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00" name="Text 20"/>
          <p:cNvSpPr/>
          <p:nvPr/>
        </p:nvSpPr>
        <p:spPr>
          <a:xfrm>
            <a:off x="6675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301" name="Text 21"/>
          <p:cNvSpPr/>
          <p:nvPr/>
        </p:nvSpPr>
        <p:spPr>
          <a:xfrm>
            <a:off x="7360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4}}</a:t>
            </a:r>
            <a:endParaRPr lang="en-US" sz="1900" dirty="0"/>
          </a:p>
        </p:txBody>
      </p:sp>
      <p:sp>
        <p:nvSpPr>
          <p:cNvPr id="302" name="Text 22"/>
          <p:cNvSpPr/>
          <p:nvPr/>
        </p:nvSpPr>
        <p:spPr>
          <a:xfrm>
            <a:off x="7360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{{Formats and cadence,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 name="Slide 9">
    <p:bg>
      <p:bgPr>
        <a:solidFill>
          <a:srgbClr val="17102B"/>
        </a:solidFill>
      </p:bgPr>
    </p:bg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305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06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 calendar}}</a:t>
            </a:r>
            <a:endParaRPr lang="en-US" sz="3200" dirty="0"/>
          </a:p>
        </p:txBody>
      </p:sp>
      <p:sp>
        <p:nvSpPr>
          <p:cNvPr id="307" name="Shape 3"/>
          <p:cNvSpPr/>
          <p:nvPr/>
        </p:nvSpPr>
        <p:spPr>
          <a:xfrm>
            <a:off x="1097280" y="2057400"/>
            <a:ext cx="10058400" cy="0"/>
          </a:xfrm>
          <a:prstGeom prst="line">
            <a:avLst/>
          </a:prstGeom>
          <a:noFill/>
          <a:ln w="25400">
            <a:solidFill>
              <a:srgbClr val="342B5A"/>
            </a:solidFill>
            <a:prstDash val="solid"/>
          </a:ln>
        </p:spPr>
        <p:txBody>
          <a:bodyPr/>
          <a:p/>
        </p:txBody>
      </p:sp>
      <p:sp>
        <p:nvSpPr>
          <p:cNvPr id="308" name="Shape 4"/>
          <p:cNvSpPr/>
          <p:nvPr/>
        </p:nvSpPr>
        <p:spPr>
          <a:xfrm>
            <a:off x="1778508" y="1892808"/>
            <a:ext cx="329184" cy="329184"/>
          </a:xfrm>
          <a:prstGeom prst="ellipse">
            <a:avLst/>
          </a:prstGeom>
          <a:solidFill>
            <a:srgbClr val="C084FC"/>
          </a:solidFill>
          <a:ln w="38100">
            <a:solidFill>
              <a:srgbClr val="17102B"/>
            </a:solidFill>
            <a:prstDash val="solid"/>
          </a:ln>
        </p:spPr>
        <p:txBody>
          <a:bodyPr/>
          <a:p/>
        </p:txBody>
      </p:sp>
      <p:sp>
        <p:nvSpPr>
          <p:cNvPr id="309" name="Shape 5"/>
          <p:cNvSpPr/>
          <p:nvPr/>
        </p:nvSpPr>
        <p:spPr>
          <a:xfrm>
            <a:off x="640080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10" name="Text 6"/>
          <p:cNvSpPr/>
          <p:nvPr/>
        </p:nvSpPr>
        <p:spPr>
          <a:xfrm>
            <a:off x="6400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600" dirty="0"/>
          </a:p>
        </p:txBody>
      </p:sp>
      <p:sp>
        <p:nvSpPr>
          <p:cNvPr id="311" name="Text 7"/>
          <p:cNvSpPr/>
          <p:nvPr/>
        </p:nvSpPr>
        <p:spPr>
          <a:xfrm>
            <a:off x="64008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{{Campaign}}</a:t>
            </a:r>
            <a:endParaRPr lang="en-US" sz="1700" dirty="0"/>
          </a:p>
        </p:txBody>
      </p:sp>
      <p:sp>
        <p:nvSpPr>
          <p:cNvPr id="312" name="Text 8"/>
          <p:cNvSpPr/>
          <p:nvPr/>
        </p:nvSpPr>
        <p:spPr>
          <a:xfrm>
            <a:off x="91440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{{Theme, channel, launch date}}</a:t>
            </a:r>
            <a:endParaRPr lang="en-US" sz="1300" dirty="0"/>
          </a:p>
        </p:txBody>
      </p:sp>
      <p:sp>
        <p:nvSpPr>
          <p:cNvPr id="313" name="Shape 9"/>
          <p:cNvSpPr/>
          <p:nvPr/>
        </p:nvSpPr>
        <p:spPr>
          <a:xfrm>
            <a:off x="4677156" y="1892808"/>
            <a:ext cx="329184" cy="329184"/>
          </a:xfrm>
          <a:prstGeom prst="ellipse">
            <a:avLst/>
          </a:prstGeom>
          <a:solidFill>
            <a:srgbClr val="C084FC"/>
          </a:solidFill>
          <a:ln w="38100">
            <a:solidFill>
              <a:srgbClr val="17102B"/>
            </a:solidFill>
            <a:prstDash val="solid"/>
          </a:ln>
        </p:spPr>
        <p:txBody>
          <a:bodyPr/>
          <a:p/>
        </p:txBody>
      </p:sp>
      <p:sp>
        <p:nvSpPr>
          <p:cNvPr id="314" name="Shape 10"/>
          <p:cNvSpPr/>
          <p:nvPr/>
        </p:nvSpPr>
        <p:spPr>
          <a:xfrm>
            <a:off x="3538728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15" name="Text 11"/>
          <p:cNvSpPr/>
          <p:nvPr/>
        </p:nvSpPr>
        <p:spPr>
          <a:xfrm>
            <a:off x="353872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600" dirty="0"/>
          </a:p>
        </p:txBody>
      </p:sp>
      <p:sp>
        <p:nvSpPr>
          <p:cNvPr id="316" name="Text 12"/>
          <p:cNvSpPr/>
          <p:nvPr/>
        </p:nvSpPr>
        <p:spPr>
          <a:xfrm>
            <a:off x="3538728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{{Campaign}}</a:t>
            </a:r>
            <a:endParaRPr lang="en-US" sz="1700" dirty="0"/>
          </a:p>
        </p:txBody>
      </p:sp>
      <p:sp>
        <p:nvSpPr>
          <p:cNvPr id="317" name="Text 13"/>
          <p:cNvSpPr/>
          <p:nvPr/>
        </p:nvSpPr>
        <p:spPr>
          <a:xfrm>
            <a:off x="3813048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{{Theme, channel, launch date}}</a:t>
            </a:r>
            <a:endParaRPr lang="en-US" sz="1300" dirty="0"/>
          </a:p>
        </p:txBody>
      </p:sp>
      <p:sp>
        <p:nvSpPr>
          <p:cNvPr id="318" name="Shape 14"/>
          <p:cNvSpPr/>
          <p:nvPr/>
        </p:nvSpPr>
        <p:spPr>
          <a:xfrm>
            <a:off x="7575804" y="1892808"/>
            <a:ext cx="329184" cy="329184"/>
          </a:xfrm>
          <a:prstGeom prst="ellipse">
            <a:avLst/>
          </a:prstGeom>
          <a:solidFill>
            <a:srgbClr val="C084FC"/>
          </a:solidFill>
          <a:ln w="38100">
            <a:solidFill>
              <a:srgbClr val="17102B"/>
            </a:solidFill>
            <a:prstDash val="solid"/>
          </a:ln>
        </p:spPr>
        <p:txBody>
          <a:bodyPr/>
          <a:p/>
        </p:txBody>
      </p:sp>
      <p:sp>
        <p:nvSpPr>
          <p:cNvPr id="319" name="Shape 15"/>
          <p:cNvSpPr/>
          <p:nvPr/>
        </p:nvSpPr>
        <p:spPr>
          <a:xfrm>
            <a:off x="6437376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20" name="Text 16"/>
          <p:cNvSpPr/>
          <p:nvPr/>
        </p:nvSpPr>
        <p:spPr>
          <a:xfrm>
            <a:off x="6437376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600" dirty="0"/>
          </a:p>
        </p:txBody>
      </p:sp>
      <p:sp>
        <p:nvSpPr>
          <p:cNvPr id="321" name="Text 17"/>
          <p:cNvSpPr/>
          <p:nvPr/>
        </p:nvSpPr>
        <p:spPr>
          <a:xfrm>
            <a:off x="6437376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{{Campaign}}</a:t>
            </a:r>
            <a:endParaRPr lang="en-US" sz="1700" dirty="0"/>
          </a:p>
        </p:txBody>
      </p:sp>
      <p:sp>
        <p:nvSpPr>
          <p:cNvPr id="322" name="Text 18"/>
          <p:cNvSpPr/>
          <p:nvPr/>
        </p:nvSpPr>
        <p:spPr>
          <a:xfrm>
            <a:off x="6711696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{{Theme, channel, launch date}}</a:t>
            </a:r>
            <a:endParaRPr lang="en-US" sz="1300" dirty="0"/>
          </a:p>
        </p:txBody>
      </p:sp>
      <p:sp>
        <p:nvSpPr>
          <p:cNvPr id="323" name="Shape 19"/>
          <p:cNvSpPr/>
          <p:nvPr/>
        </p:nvSpPr>
        <p:spPr>
          <a:xfrm>
            <a:off x="10474452" y="1892808"/>
            <a:ext cx="329184" cy="329184"/>
          </a:xfrm>
          <a:prstGeom prst="ellipse">
            <a:avLst/>
          </a:prstGeom>
          <a:solidFill>
            <a:srgbClr val="C084FC"/>
          </a:solidFill>
          <a:ln w="38100">
            <a:solidFill>
              <a:srgbClr val="17102B"/>
            </a:solidFill>
            <a:prstDash val="solid"/>
          </a:ln>
        </p:spPr>
        <p:txBody>
          <a:bodyPr/>
          <a:p/>
        </p:txBody>
      </p:sp>
      <p:sp>
        <p:nvSpPr>
          <p:cNvPr id="324" name="Shape 20"/>
          <p:cNvSpPr/>
          <p:nvPr/>
        </p:nvSpPr>
        <p:spPr>
          <a:xfrm>
            <a:off x="9336024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25" name="Text 21"/>
          <p:cNvSpPr/>
          <p:nvPr/>
        </p:nvSpPr>
        <p:spPr>
          <a:xfrm>
            <a:off x="9336024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600" dirty="0"/>
          </a:p>
        </p:txBody>
      </p:sp>
      <p:sp>
        <p:nvSpPr>
          <p:cNvPr id="326" name="Text 22"/>
          <p:cNvSpPr/>
          <p:nvPr/>
        </p:nvSpPr>
        <p:spPr>
          <a:xfrm>
            <a:off x="9336024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{{Campaign}}</a:t>
            </a:r>
            <a:endParaRPr lang="en-US" sz="1700" dirty="0"/>
          </a:p>
        </p:txBody>
      </p:sp>
      <p:sp>
        <p:nvSpPr>
          <p:cNvPr id="327" name="Text 23"/>
          <p:cNvSpPr/>
          <p:nvPr/>
        </p:nvSpPr>
        <p:spPr>
          <a:xfrm>
            <a:off x="9610344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{{Theme, channel, launch date}}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p="http://schemas.openxmlformats.org/presentationml/2006/main" xmlns:a="http://schemas.openxmlformats.org/drawingml/2006/main">
  <p:cSld name="Slide 10">
    <p:bg>
      <p:bgPr>
        <a:solidFill>
          <a:srgbClr val="17102B"/>
        </a:solidFill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12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13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money goes}}</a:t>
            </a:r>
            <a:endParaRPr lang="en-US" sz="3200" dirty="0"/>
          </a:p>
        </p:txBody>
      </p:sp>
      <p:sp>
        <p:nvSpPr>
          <p:cNvPr id="14" name="Shape 3"/>
          <p:cNvSpPr/>
          <p:nvPr/>
        </p:nvSpPr>
        <p:spPr>
          <a:xfrm>
            <a:off x="640080" y="178308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4"/>
          <p:cNvSpPr/>
          <p:nvPr/>
        </p:nvSpPr>
        <p:spPr>
          <a:xfrm>
            <a:off x="86868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split (sample)</a:t>
            </a:r>
            <a:endParaRPr lang="en-US" sz="14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1005840" y="2286000"/>
          <a:ext cx="5303520" cy="356616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7" name="Shape 5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6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{{Total}}</a:t>
            </a:r>
            <a:endParaRPr lang="en-US" sz="3200" dirty="0"/>
          </a:p>
        </p:txBody>
      </p:sp>
      <p:sp>
        <p:nvSpPr>
          <p:cNvPr id="19" name="Text 7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 budget}}</a:t>
            </a:r>
            <a:endParaRPr lang="en-US" sz="1400" dirty="0"/>
          </a:p>
        </p:txBody>
      </p:sp>
      <p:sp>
        <p:nvSpPr>
          <p:cNvPr id="20" name="Text 8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{{Period covered}}</a:t>
            </a:r>
            <a:endParaRPr lang="en-US" sz="1100" dirty="0"/>
          </a:p>
        </p:txBody>
      </p:sp>
      <p:sp>
        <p:nvSpPr>
          <p:cNvPr id="21" name="Shape 9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Text 10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{{%}}</a:t>
            </a:r>
            <a:endParaRPr lang="en-US" sz="3200" dirty="0"/>
          </a:p>
        </p:txBody>
      </p:sp>
      <p:sp>
        <p:nvSpPr>
          <p:cNvPr id="23" name="Text 11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{{Largest line item}}</a:t>
            </a:r>
            <a:endParaRPr lang="en-US" sz="1400" dirty="0"/>
          </a:p>
        </p:txBody>
      </p:sp>
      <p:sp>
        <p:nvSpPr>
          <p:cNvPr id="24" name="Text 12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buys}}</a:t>
            </a:r>
            <a:endParaRPr lang="en-US" sz="1100" dirty="0"/>
          </a:p>
        </p:txBody>
      </p:sp>
      <p:sp>
        <p:nvSpPr>
          <p:cNvPr id="25" name="Shape 13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Text 14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{{X:Y}}</a:t>
            </a:r>
            <a:endParaRPr lang="en-US" sz="3200" dirty="0"/>
          </a:p>
        </p:txBody>
      </p:sp>
      <p:sp>
        <p:nvSpPr>
          <p:cNvPr id="27" name="Text 15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CAC or ROAS}}</a:t>
            </a:r>
            <a:endParaRPr lang="en-US" sz="1400" dirty="0"/>
          </a:p>
        </p:txBody>
      </p:sp>
      <p:sp>
        <p:nvSpPr>
          <p:cNvPr id="28" name="Text 16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efficiency is judged}}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Slide 11">
    <p:bg>
      <p:bgPr>
        <a:solidFill>
          <a:srgbClr val="17102B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31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200" dirty="0"/>
          </a:p>
        </p:txBody>
      </p:sp>
      <p:sp>
        <p:nvSpPr>
          <p:cNvPr id="32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{{Full-funnel view}}</a:t>
            </a:r>
            <a:endParaRPr lang="en-US" sz="3200" dirty="0"/>
          </a:p>
        </p:txBody>
      </p:sp>
      <p:sp>
        <p:nvSpPr>
          <p:cNvPr id="33" name="Shape 3"/>
          <p:cNvSpPr/>
          <p:nvPr/>
        </p:nvSpPr>
        <p:spPr>
          <a:xfrm>
            <a:off x="640080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/>
        </p:nvSpPr>
        <p:spPr>
          <a:xfrm>
            <a:off x="1659636" y="228600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Text 5"/>
          <p:cNvSpPr/>
          <p:nvPr/>
        </p:nvSpPr>
        <p:spPr>
          <a:xfrm>
            <a:off x="165963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6" name="Text 6"/>
          <p:cNvSpPr/>
          <p:nvPr/>
        </p:nvSpPr>
        <p:spPr>
          <a:xfrm>
            <a:off x="64008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500" dirty="0"/>
          </a:p>
        </p:txBody>
      </p:sp>
      <p:sp>
        <p:nvSpPr>
          <p:cNvPr id="37" name="Text 7"/>
          <p:cNvSpPr/>
          <p:nvPr/>
        </p:nvSpPr>
        <p:spPr>
          <a:xfrm>
            <a:off x="64008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{{Stage 1}}</a:t>
            </a:r>
            <a:endParaRPr lang="en-US" sz="1700" dirty="0"/>
          </a:p>
        </p:txBody>
      </p:sp>
      <p:sp>
        <p:nvSpPr>
          <p:cNvPr id="38" name="Text 8"/>
          <p:cNvSpPr/>
          <p:nvPr/>
        </p:nvSpPr>
        <p:spPr>
          <a:xfrm>
            <a:off x="82296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&amp; target}}</a:t>
            </a:r>
            <a:endParaRPr lang="en-US" sz="1100" dirty="0"/>
          </a:p>
        </p:txBody>
      </p:sp>
      <p:sp>
        <p:nvSpPr>
          <p:cNvPr id="39" name="Shape 9"/>
          <p:cNvSpPr/>
          <p:nvPr/>
        </p:nvSpPr>
        <p:spPr>
          <a:xfrm>
            <a:off x="3538728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0" name="Shape 10"/>
          <p:cNvSpPr/>
          <p:nvPr/>
        </p:nvSpPr>
        <p:spPr>
          <a:xfrm>
            <a:off x="4558284" y="228600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1" name="Text 11"/>
          <p:cNvSpPr/>
          <p:nvPr/>
        </p:nvSpPr>
        <p:spPr>
          <a:xfrm>
            <a:off x="4558284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2" name="Text 12"/>
          <p:cNvSpPr/>
          <p:nvPr/>
        </p:nvSpPr>
        <p:spPr>
          <a:xfrm>
            <a:off x="3538728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1500" dirty="0"/>
          </a:p>
        </p:txBody>
      </p:sp>
      <p:sp>
        <p:nvSpPr>
          <p:cNvPr id="43" name="Text 13"/>
          <p:cNvSpPr/>
          <p:nvPr/>
        </p:nvSpPr>
        <p:spPr>
          <a:xfrm>
            <a:off x="3538728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{{Stage 2}}</a:t>
            </a:r>
            <a:endParaRPr lang="en-US" sz="1700" dirty="0"/>
          </a:p>
        </p:txBody>
      </p:sp>
      <p:sp>
        <p:nvSpPr>
          <p:cNvPr id="44" name="Text 14"/>
          <p:cNvSpPr/>
          <p:nvPr/>
        </p:nvSpPr>
        <p:spPr>
          <a:xfrm>
            <a:off x="3721608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&amp; target}}</a:t>
            </a:r>
            <a:endParaRPr lang="en-US" sz="1100" dirty="0"/>
          </a:p>
        </p:txBody>
      </p:sp>
      <p:sp>
        <p:nvSpPr>
          <p:cNvPr id="45" name="Shape 15"/>
          <p:cNvSpPr/>
          <p:nvPr/>
        </p:nvSpPr>
        <p:spPr>
          <a:xfrm>
            <a:off x="6437376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6" name="Shape 16"/>
          <p:cNvSpPr/>
          <p:nvPr/>
        </p:nvSpPr>
        <p:spPr>
          <a:xfrm>
            <a:off x="7456932" y="228600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7" name="Text 17"/>
          <p:cNvSpPr/>
          <p:nvPr/>
        </p:nvSpPr>
        <p:spPr>
          <a:xfrm>
            <a:off x="7456932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8" name="Text 18"/>
          <p:cNvSpPr/>
          <p:nvPr/>
        </p:nvSpPr>
        <p:spPr>
          <a:xfrm>
            <a:off x="6437376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500" dirty="0"/>
          </a:p>
        </p:txBody>
      </p:sp>
      <p:sp>
        <p:nvSpPr>
          <p:cNvPr id="49" name="Text 19"/>
          <p:cNvSpPr/>
          <p:nvPr/>
        </p:nvSpPr>
        <p:spPr>
          <a:xfrm>
            <a:off x="6437376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{{Stage 3}}</a:t>
            </a:r>
            <a:endParaRPr lang="en-US" sz="1700" dirty="0"/>
          </a:p>
        </p:txBody>
      </p:sp>
      <p:sp>
        <p:nvSpPr>
          <p:cNvPr id="50" name="Text 20"/>
          <p:cNvSpPr/>
          <p:nvPr/>
        </p:nvSpPr>
        <p:spPr>
          <a:xfrm>
            <a:off x="6620256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&amp; target}}</a:t>
            </a:r>
            <a:endParaRPr lang="en-US" sz="1100" dirty="0"/>
          </a:p>
        </p:txBody>
      </p:sp>
      <p:sp>
        <p:nvSpPr>
          <p:cNvPr id="51" name="Shape 21"/>
          <p:cNvSpPr/>
          <p:nvPr/>
        </p:nvSpPr>
        <p:spPr>
          <a:xfrm>
            <a:off x="9336024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2" name="Shape 22"/>
          <p:cNvSpPr/>
          <p:nvPr/>
        </p:nvSpPr>
        <p:spPr>
          <a:xfrm>
            <a:off x="10355580" y="228600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3" name="Text 23"/>
          <p:cNvSpPr/>
          <p:nvPr/>
        </p:nvSpPr>
        <p:spPr>
          <a:xfrm>
            <a:off x="1035558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4" name="Text 24"/>
          <p:cNvSpPr/>
          <p:nvPr/>
        </p:nvSpPr>
        <p:spPr>
          <a:xfrm>
            <a:off x="9336024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55" name="Text 25"/>
          <p:cNvSpPr/>
          <p:nvPr/>
        </p:nvSpPr>
        <p:spPr>
          <a:xfrm>
            <a:off x="9336024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{{Stage 4}}</a:t>
            </a:r>
            <a:endParaRPr lang="en-US" sz="1700" dirty="0"/>
          </a:p>
        </p:txBody>
      </p:sp>
      <p:sp>
        <p:nvSpPr>
          <p:cNvPr id="56" name="Text 26"/>
          <p:cNvSpPr/>
          <p:nvPr/>
        </p:nvSpPr>
        <p:spPr>
          <a:xfrm>
            <a:off x="9518904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&amp; target}}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17102B"/>
        </a:solidFill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59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60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report}}</a:t>
            </a:r>
            <a:endParaRPr lang="en-US" sz="3200" dirty="0"/>
          </a:p>
        </p:txBody>
      </p:sp>
      <p:sp>
        <p:nvSpPr>
          <p:cNvPr id="61" name="Shape 3"/>
          <p:cNvSpPr/>
          <p:nvPr/>
        </p:nvSpPr>
        <p:spPr>
          <a:xfrm>
            <a:off x="6400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2" name="Shape 4"/>
          <p:cNvSpPr/>
          <p:nvPr/>
        </p:nvSpPr>
        <p:spPr>
          <a:xfrm>
            <a:off x="2071116" y="297180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3" name="Text 5"/>
          <p:cNvSpPr/>
          <p:nvPr/>
        </p:nvSpPr>
        <p:spPr>
          <a:xfrm>
            <a:off x="20711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4" name="Text 6"/>
          <p:cNvSpPr/>
          <p:nvPr/>
        </p:nvSpPr>
        <p:spPr>
          <a:xfrm>
            <a:off x="6400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{{Cadence}}</a:t>
            </a:r>
            <a:endParaRPr lang="en-US" sz="1800" dirty="0"/>
          </a:p>
        </p:txBody>
      </p:sp>
      <p:sp>
        <p:nvSpPr>
          <p:cNvPr id="65" name="Text 7"/>
          <p:cNvSpPr/>
          <p:nvPr/>
        </p:nvSpPr>
        <p:spPr>
          <a:xfrm>
            <a:off x="9601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reviewed weekly / monthly.}}</a:t>
            </a:r>
            <a:endParaRPr lang="en-US" sz="1300" dirty="0"/>
          </a:p>
        </p:txBody>
      </p:sp>
      <p:sp>
        <p:nvSpPr>
          <p:cNvPr id="66" name="Shape 8"/>
          <p:cNvSpPr/>
          <p:nvPr/>
        </p:nvSpPr>
        <p:spPr>
          <a:xfrm>
            <a:off x="45262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7" name="Shape 9"/>
          <p:cNvSpPr/>
          <p:nvPr/>
        </p:nvSpPr>
        <p:spPr>
          <a:xfrm>
            <a:off x="5957316" y="297180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8" name="Text 10"/>
          <p:cNvSpPr/>
          <p:nvPr/>
        </p:nvSpPr>
        <p:spPr>
          <a:xfrm>
            <a:off x="59573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9" name="Text 11"/>
          <p:cNvSpPr/>
          <p:nvPr/>
        </p:nvSpPr>
        <p:spPr>
          <a:xfrm>
            <a:off x="45262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{{Dashboards}}</a:t>
            </a:r>
            <a:endParaRPr lang="en-US" sz="1800" dirty="0"/>
          </a:p>
        </p:txBody>
      </p:sp>
      <p:sp>
        <p:nvSpPr>
          <p:cNvPr id="70" name="Text 12"/>
          <p:cNvSpPr/>
          <p:nvPr/>
        </p:nvSpPr>
        <p:spPr>
          <a:xfrm>
            <a:off x="48463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numbers live.}}</a:t>
            </a:r>
            <a:endParaRPr lang="en-US" sz="1300" dirty="0"/>
          </a:p>
        </p:txBody>
      </p:sp>
      <p:sp>
        <p:nvSpPr>
          <p:cNvPr id="71" name="Shape 13"/>
          <p:cNvSpPr/>
          <p:nvPr/>
        </p:nvSpPr>
        <p:spPr>
          <a:xfrm>
            <a:off x="84124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2" name="Shape 14"/>
          <p:cNvSpPr/>
          <p:nvPr/>
        </p:nvSpPr>
        <p:spPr>
          <a:xfrm>
            <a:off x="9843516" y="297180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3" name="Text 15"/>
          <p:cNvSpPr/>
          <p:nvPr/>
        </p:nvSpPr>
        <p:spPr>
          <a:xfrm>
            <a:off x="98435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4" name="Text 16"/>
          <p:cNvSpPr/>
          <p:nvPr/>
        </p:nvSpPr>
        <p:spPr>
          <a:xfrm>
            <a:off x="84124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{{Attribution}}</a:t>
            </a:r>
            <a:endParaRPr lang="en-US" sz="1800" dirty="0"/>
          </a:p>
        </p:txBody>
      </p:sp>
      <p:sp>
        <p:nvSpPr>
          <p:cNvPr id="75" name="Text 17"/>
          <p:cNvSpPr/>
          <p:nvPr/>
        </p:nvSpPr>
        <p:spPr>
          <a:xfrm>
            <a:off x="87325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credit is assigned.}}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 name="Slide 13">
    <p:bg>
      <p:bgPr>
        <a:solidFill>
          <a:srgbClr val="17102B"/>
        </a:solidFill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78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79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runs the plan}}</a:t>
            </a:r>
            <a:endParaRPr lang="en-US" sz="3200" dirty="0"/>
          </a:p>
        </p:txBody>
      </p:sp>
      <p:sp>
        <p:nvSpPr>
          <p:cNvPr id="80" name="Shape 3"/>
          <p:cNvSpPr/>
          <p:nvPr/>
        </p:nvSpPr>
        <p:spPr>
          <a:xfrm>
            <a:off x="64008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1" name="Shape 4"/>
          <p:cNvSpPr/>
          <p:nvPr/>
        </p:nvSpPr>
        <p:spPr>
          <a:xfrm>
            <a:off x="1440180" y="2377440"/>
            <a:ext cx="1005840" cy="100584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82" name="Text 5"/>
          <p:cNvSpPr/>
          <p:nvPr/>
        </p:nvSpPr>
        <p:spPr>
          <a:xfrm>
            <a:off x="144018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83" name="Text 6"/>
          <p:cNvSpPr/>
          <p:nvPr/>
        </p:nvSpPr>
        <p:spPr>
          <a:xfrm>
            <a:off x="64008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84" name="Text 7"/>
          <p:cNvSpPr/>
          <p:nvPr/>
        </p:nvSpPr>
        <p:spPr>
          <a:xfrm>
            <a:off x="868680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one line.}}</a:t>
            </a:r>
            <a:endParaRPr lang="en-US" sz="1200" dirty="0"/>
          </a:p>
        </p:txBody>
      </p:sp>
      <p:sp>
        <p:nvSpPr>
          <p:cNvPr id="85" name="Shape 8"/>
          <p:cNvSpPr/>
          <p:nvPr/>
        </p:nvSpPr>
        <p:spPr>
          <a:xfrm>
            <a:off x="3538728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6" name="Shape 9"/>
          <p:cNvSpPr/>
          <p:nvPr/>
        </p:nvSpPr>
        <p:spPr>
          <a:xfrm>
            <a:off x="4338828" y="2377440"/>
            <a:ext cx="1005840" cy="10058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87" name="Text 10"/>
          <p:cNvSpPr/>
          <p:nvPr/>
        </p:nvSpPr>
        <p:spPr>
          <a:xfrm>
            <a:off x="4338828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88" name="Text 11"/>
          <p:cNvSpPr/>
          <p:nvPr/>
        </p:nvSpPr>
        <p:spPr>
          <a:xfrm>
            <a:off x="3538728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89" name="Text 12"/>
          <p:cNvSpPr/>
          <p:nvPr/>
        </p:nvSpPr>
        <p:spPr>
          <a:xfrm>
            <a:off x="3767328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one line.}}</a:t>
            </a:r>
            <a:endParaRPr lang="en-US" sz="1200" dirty="0"/>
          </a:p>
        </p:txBody>
      </p:sp>
      <p:sp>
        <p:nvSpPr>
          <p:cNvPr id="90" name="Shape 13"/>
          <p:cNvSpPr/>
          <p:nvPr/>
        </p:nvSpPr>
        <p:spPr>
          <a:xfrm>
            <a:off x="6437376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1" name="Shape 14"/>
          <p:cNvSpPr/>
          <p:nvPr/>
        </p:nvSpPr>
        <p:spPr>
          <a:xfrm>
            <a:off x="7237476" y="2377440"/>
            <a:ext cx="1005840" cy="1005840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92" name="Text 15"/>
          <p:cNvSpPr/>
          <p:nvPr/>
        </p:nvSpPr>
        <p:spPr>
          <a:xfrm>
            <a:off x="723747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93" name="Text 16"/>
          <p:cNvSpPr/>
          <p:nvPr/>
        </p:nvSpPr>
        <p:spPr>
          <a:xfrm>
            <a:off x="6437376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94" name="Text 17"/>
          <p:cNvSpPr/>
          <p:nvPr/>
        </p:nvSpPr>
        <p:spPr>
          <a:xfrm>
            <a:off x="6665976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one line.}}</a:t>
            </a:r>
            <a:endParaRPr lang="en-US" sz="1200" dirty="0"/>
          </a:p>
        </p:txBody>
      </p:sp>
      <p:sp>
        <p:nvSpPr>
          <p:cNvPr id="95" name="Shape 18"/>
          <p:cNvSpPr/>
          <p:nvPr/>
        </p:nvSpPr>
        <p:spPr>
          <a:xfrm>
            <a:off x="9336024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6" name="Shape 19"/>
          <p:cNvSpPr/>
          <p:nvPr/>
        </p:nvSpPr>
        <p:spPr>
          <a:xfrm>
            <a:off x="10136124" y="2377440"/>
            <a:ext cx="1005840" cy="10058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97" name="Text 20"/>
          <p:cNvSpPr/>
          <p:nvPr/>
        </p:nvSpPr>
        <p:spPr>
          <a:xfrm>
            <a:off x="10136124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98" name="Text 21"/>
          <p:cNvSpPr/>
          <p:nvPr/>
        </p:nvSpPr>
        <p:spPr>
          <a:xfrm>
            <a:off x="9336024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99" name="Text 22"/>
          <p:cNvSpPr/>
          <p:nvPr/>
        </p:nvSpPr>
        <p:spPr>
          <a:xfrm>
            <a:off x="9564624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{{Owns: one line.}}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 name="Slide 14">
    <p:bg>
      <p:bgPr>
        <a:solidFill>
          <a:srgbClr val="17102B"/>
        </a:solidFill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102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103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{{Risks &amp; assumptions}}</a:t>
            </a:r>
            <a:endParaRPr lang="en-US" sz="3200" dirty="0"/>
          </a:p>
        </p:txBody>
      </p:sp>
      <p:sp>
        <p:nvSpPr>
          <p:cNvPr id="104" name="Shape 3"/>
          <p:cNvSpPr/>
          <p:nvPr/>
        </p:nvSpPr>
        <p:spPr>
          <a:xfrm>
            <a:off x="640080" y="192024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2A2150"/>
          </a:solidFill>
          <a:ln/>
        </p:spPr>
        <p:txBody>
          <a:bodyPr/>
          <a:p/>
        </p:txBody>
      </p:sp>
      <p:sp>
        <p:nvSpPr>
          <p:cNvPr id="105" name="Text 4"/>
          <p:cNvSpPr/>
          <p:nvPr/>
        </p:nvSpPr>
        <p:spPr>
          <a:xfrm>
            <a:off x="64008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/ Assumption}}</a:t>
            </a:r>
            <a:endParaRPr lang="en-US" sz="1500" dirty="0"/>
          </a:p>
        </p:txBody>
      </p:sp>
      <p:sp>
        <p:nvSpPr>
          <p:cNvPr id="106" name="Shape 5"/>
          <p:cNvSpPr/>
          <p:nvPr/>
        </p:nvSpPr>
        <p:spPr>
          <a:xfrm>
            <a:off x="4937760" y="19202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A2150"/>
          </a:solidFill>
          <a:ln/>
        </p:spPr>
        <p:txBody>
          <a:bodyPr/>
          <a:p/>
        </p:txBody>
      </p:sp>
      <p:sp>
        <p:nvSpPr>
          <p:cNvPr id="107" name="Text 6"/>
          <p:cNvSpPr/>
          <p:nvPr/>
        </p:nvSpPr>
        <p:spPr>
          <a:xfrm>
            <a:off x="493776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{{Confidence}}</a:t>
            </a:r>
            <a:endParaRPr lang="en-US" sz="1500" dirty="0"/>
          </a:p>
        </p:txBody>
      </p:sp>
      <p:sp>
        <p:nvSpPr>
          <p:cNvPr id="108" name="Shape 7"/>
          <p:cNvSpPr/>
          <p:nvPr/>
        </p:nvSpPr>
        <p:spPr>
          <a:xfrm>
            <a:off x="6858000" y="192024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2A2150"/>
          </a:solidFill>
          <a:ln/>
        </p:spPr>
        <p:txBody>
          <a:bodyPr/>
          <a:p/>
        </p:txBody>
      </p:sp>
      <p:sp>
        <p:nvSpPr>
          <p:cNvPr id="109" name="Text 8"/>
          <p:cNvSpPr/>
          <p:nvPr/>
        </p:nvSpPr>
        <p:spPr>
          <a:xfrm>
            <a:off x="685800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{{Response}}</a:t>
            </a:r>
            <a:endParaRPr lang="en-US" sz="1500" dirty="0"/>
          </a:p>
        </p:txBody>
      </p:sp>
      <p:sp>
        <p:nvSpPr>
          <p:cNvPr id="110" name="Shape 9"/>
          <p:cNvSpPr/>
          <p:nvPr/>
        </p:nvSpPr>
        <p:spPr>
          <a:xfrm>
            <a:off x="640080" y="26060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11" name="Text 10"/>
          <p:cNvSpPr/>
          <p:nvPr/>
        </p:nvSpPr>
        <p:spPr>
          <a:xfrm>
            <a:off x="8229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1}}</a:t>
            </a:r>
            <a:endParaRPr lang="en-US" sz="1300" dirty="0"/>
          </a:p>
        </p:txBody>
      </p:sp>
      <p:sp>
        <p:nvSpPr>
          <p:cNvPr id="112" name="Shape 11"/>
          <p:cNvSpPr/>
          <p:nvPr/>
        </p:nvSpPr>
        <p:spPr>
          <a:xfrm>
            <a:off x="4937760" y="2606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13" name="Text 12"/>
          <p:cNvSpPr/>
          <p:nvPr/>
        </p:nvSpPr>
        <p:spPr>
          <a:xfrm>
            <a:off x="5120640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114" name="Shape 13"/>
          <p:cNvSpPr/>
          <p:nvPr/>
        </p:nvSpPr>
        <p:spPr>
          <a:xfrm>
            <a:off x="6858000" y="260604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15" name="Text 14"/>
          <p:cNvSpPr/>
          <p:nvPr/>
        </p:nvSpPr>
        <p:spPr>
          <a:xfrm>
            <a:off x="7040880" y="2606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  <p:sp>
        <p:nvSpPr>
          <p:cNvPr id="116" name="Shape 15"/>
          <p:cNvSpPr/>
          <p:nvPr/>
        </p:nvSpPr>
        <p:spPr>
          <a:xfrm>
            <a:off x="640080" y="36576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17" name="Text 16"/>
          <p:cNvSpPr/>
          <p:nvPr/>
        </p:nvSpPr>
        <p:spPr>
          <a:xfrm>
            <a:off x="82296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2}}</a:t>
            </a:r>
            <a:endParaRPr lang="en-US" sz="1300" dirty="0"/>
          </a:p>
        </p:txBody>
      </p:sp>
      <p:sp>
        <p:nvSpPr>
          <p:cNvPr id="118" name="Shape 17"/>
          <p:cNvSpPr/>
          <p:nvPr/>
        </p:nvSpPr>
        <p:spPr>
          <a:xfrm>
            <a:off x="4937760" y="3657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19" name="Text 18"/>
          <p:cNvSpPr/>
          <p:nvPr/>
        </p:nvSpPr>
        <p:spPr>
          <a:xfrm>
            <a:off x="5120640" y="3657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120" name="Shape 19"/>
          <p:cNvSpPr/>
          <p:nvPr/>
        </p:nvSpPr>
        <p:spPr>
          <a:xfrm>
            <a:off x="6858000" y="365760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21" name="Text 20"/>
          <p:cNvSpPr/>
          <p:nvPr/>
        </p:nvSpPr>
        <p:spPr>
          <a:xfrm>
            <a:off x="7040880" y="3657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  <p:sp>
        <p:nvSpPr>
          <p:cNvPr id="122" name="Shape 21"/>
          <p:cNvSpPr/>
          <p:nvPr/>
        </p:nvSpPr>
        <p:spPr>
          <a:xfrm>
            <a:off x="640080" y="47091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23" name="Text 22"/>
          <p:cNvSpPr/>
          <p:nvPr/>
        </p:nvSpPr>
        <p:spPr>
          <a:xfrm>
            <a:off x="822960" y="4709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3}}</a:t>
            </a:r>
            <a:endParaRPr lang="en-US" sz="1300" dirty="0"/>
          </a:p>
        </p:txBody>
      </p:sp>
      <p:sp>
        <p:nvSpPr>
          <p:cNvPr id="124" name="Shape 23"/>
          <p:cNvSpPr/>
          <p:nvPr/>
        </p:nvSpPr>
        <p:spPr>
          <a:xfrm>
            <a:off x="4937760" y="47091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25" name="Text 24"/>
          <p:cNvSpPr/>
          <p:nvPr/>
        </p:nvSpPr>
        <p:spPr>
          <a:xfrm>
            <a:off x="5120640" y="4709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126" name="Shape 25"/>
          <p:cNvSpPr/>
          <p:nvPr/>
        </p:nvSpPr>
        <p:spPr>
          <a:xfrm>
            <a:off x="6858000" y="470916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221A3D"/>
          </a:solidFill>
          <a:ln/>
        </p:spPr>
        <p:txBody>
          <a:bodyPr/>
          <a:p/>
        </p:txBody>
      </p:sp>
      <p:sp>
        <p:nvSpPr>
          <p:cNvPr id="127" name="Text 26"/>
          <p:cNvSpPr/>
          <p:nvPr/>
        </p:nvSpPr>
        <p:spPr>
          <a:xfrm>
            <a:off x="704088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 name="Slide 15">
    <p:bg>
      <p:bgPr>
        <a:solidFill>
          <a:srgbClr val="17102B"/>
        </a:solidFill>
      </p:bgPr>
    </p:bg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p/>
        </p:txBody>
      </p:sp>
      <p:sp>
        <p:nvSpPr>
          <p:cNvPr id="130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31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happens next}}</a:t>
            </a:r>
            <a:endParaRPr lang="en-US" sz="3200" dirty="0"/>
          </a:p>
        </p:txBody>
      </p:sp>
      <p:sp>
        <p:nvSpPr>
          <p:cNvPr id="132" name="Shape 3"/>
          <p:cNvSpPr/>
          <p:nvPr/>
        </p:nvSpPr>
        <p:spPr>
          <a:xfrm>
            <a:off x="6400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3" name="Shape 4"/>
          <p:cNvSpPr/>
          <p:nvPr/>
        </p:nvSpPr>
        <p:spPr>
          <a:xfrm>
            <a:off x="2071116" y="246888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4" name="Text 5"/>
          <p:cNvSpPr/>
          <p:nvPr/>
        </p:nvSpPr>
        <p:spPr>
          <a:xfrm>
            <a:off x="20711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5" name="Text 6"/>
          <p:cNvSpPr/>
          <p:nvPr/>
        </p:nvSpPr>
        <p:spPr>
          <a:xfrm>
            <a:off x="6400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800" dirty="0"/>
          </a:p>
        </p:txBody>
      </p:sp>
      <p:sp>
        <p:nvSpPr>
          <p:cNvPr id="136" name="Text 7"/>
          <p:cNvSpPr/>
          <p:nvPr/>
        </p:nvSpPr>
        <p:spPr>
          <a:xfrm>
            <a:off x="9601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  <p:sp>
        <p:nvSpPr>
          <p:cNvPr id="137" name="Shape 8"/>
          <p:cNvSpPr/>
          <p:nvPr/>
        </p:nvSpPr>
        <p:spPr>
          <a:xfrm>
            <a:off x="45262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8" name="Shape 9"/>
          <p:cNvSpPr/>
          <p:nvPr/>
        </p:nvSpPr>
        <p:spPr>
          <a:xfrm>
            <a:off x="5957316" y="246888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9" name="Text 10"/>
          <p:cNvSpPr/>
          <p:nvPr/>
        </p:nvSpPr>
        <p:spPr>
          <a:xfrm>
            <a:off x="59573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0" name="Text 11"/>
          <p:cNvSpPr/>
          <p:nvPr/>
        </p:nvSpPr>
        <p:spPr>
          <a:xfrm>
            <a:off x="45262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800" dirty="0"/>
          </a:p>
        </p:txBody>
      </p:sp>
      <p:sp>
        <p:nvSpPr>
          <p:cNvPr id="141" name="Text 12"/>
          <p:cNvSpPr/>
          <p:nvPr/>
        </p:nvSpPr>
        <p:spPr>
          <a:xfrm>
            <a:off x="48463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  <p:sp>
        <p:nvSpPr>
          <p:cNvPr id="142" name="Shape 13"/>
          <p:cNvSpPr/>
          <p:nvPr/>
        </p:nvSpPr>
        <p:spPr>
          <a:xfrm>
            <a:off x="84124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221A3D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3" name="Shape 14"/>
          <p:cNvSpPr/>
          <p:nvPr/>
        </p:nvSpPr>
        <p:spPr>
          <a:xfrm>
            <a:off x="9843516" y="2468880"/>
            <a:ext cx="566928" cy="566928"/>
          </a:xfrm>
          <a:prstGeom prst="ellipse">
            <a:avLst/>
          </a:prstGeom>
          <a:solidFill>
            <a:srgbClr val="C084FC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4" name="Text 15"/>
          <p:cNvSpPr/>
          <p:nvPr/>
        </p:nvSpPr>
        <p:spPr>
          <a:xfrm>
            <a:off x="98435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5" name="Text 16"/>
          <p:cNvSpPr/>
          <p:nvPr/>
        </p:nvSpPr>
        <p:spPr>
          <a:xfrm>
            <a:off x="84124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800" dirty="0"/>
          </a:p>
        </p:txBody>
      </p:sp>
      <p:sp>
        <p:nvSpPr>
          <p:cNvPr id="146" name="Text 17"/>
          <p:cNvSpPr/>
          <p:nvPr/>
        </p:nvSpPr>
        <p:spPr>
          <a:xfrm>
            <a:off x="87325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 name="Slide 16">
    <p:bg>
      <p:bgPr>
        <a:solidFill>
          <a:srgbClr val="17102B"/>
        </a:solidFill>
      </p:bgPr>
    </p:bg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8595360" y="1097280"/>
            <a:ext cx="3657600" cy="3657600"/>
          </a:xfrm>
          <a:prstGeom prst="ellipse">
            <a:avLst/>
          </a:prstGeom>
          <a:solidFill>
            <a:srgbClr val="C084FC">
              <a:alpha val="15000"/>
            </a:srgbClr>
          </a:solidFill>
          <a:ln/>
        </p:spPr>
        <p:txBody>
          <a:bodyPr/>
          <a:p/>
        </p:txBody>
      </p:sp>
      <p:sp>
        <p:nvSpPr>
          <p:cNvPr id="149" name="Shape 1"/>
          <p:cNvSpPr/>
          <p:nvPr/>
        </p:nvSpPr>
        <p:spPr>
          <a:xfrm>
            <a:off x="9875520" y="3291840"/>
            <a:ext cx="2194560" cy="219456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p/>
        </p:txBody>
      </p:sp>
      <p:sp>
        <p:nvSpPr>
          <p:cNvPr id="150" name="Text 2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</a:t>
            </a:r>
            <a:endParaRPr lang="en-US" sz="1400" dirty="0"/>
          </a:p>
        </p:txBody>
      </p:sp>
      <p:sp>
        <p:nvSpPr>
          <p:cNvPr id="151" name="Text 3"/>
          <p:cNvSpPr/>
          <p:nvPr/>
        </p:nvSpPr>
        <p:spPr>
          <a:xfrm>
            <a:off x="77724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{{Your closing line}}</a:t>
            </a:r>
            <a:endParaRPr lang="en-US" sz="4400" dirty="0"/>
          </a:p>
        </p:txBody>
      </p:sp>
      <p:sp>
        <p:nvSpPr>
          <p:cNvPr id="152" name="Text 4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{{email@yourcompany.com}}</a:t>
            </a:r>
            <a:r>
              <a:rPr lang="en-US" sz="16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{{yourcompany.com}}</a:t>
            </a:r>
            <a:endParaRPr lang="en-US" sz="1600" dirty="0"/>
          </a:p>
        </p:txBody>
      </p:sp>
      <p:sp>
        <p:nvSpPr>
          <p:cNvPr id="153" name="Text 5"/>
          <p:cNvSpPr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thm15="http://schemas.microsoft.com/office/thememl/2012/main" xmlns:a="http://schemas.openxmlformats.org/drawingml/2006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2026-10-28T16:40:16Z</dcterms:created>
  <dcterms:modified xsi:type="dcterms:W3CDTF">2026-10-28T16:40:16Z</dcterms:modified>
</cp:coreProperties>
</file>
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 distribution</c:v>
                </c:pt>
              </c:strCache>
            </c:strRef>
          </c:tx>
          <c:spPr>
            <a:solidFill>
              <a:srgbClr val="E07A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0-59</c:v>
                  </c:pt>
                  <c:pt idx="1">
                    <c:v>60-69</c:v>
                  </c:pt>
                  <c:pt idx="2">
                    <c:v>70-79</c:v>
                  </c:pt>
                  <c:pt idx="3">
                    <c:v>80-89</c:v>
                  </c:pt>
                  <c:pt idx="4">
                    <c:v>90-100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8</c:v>
                </c:pt>
                <c:pt idx="2">
                  <c:v>14</c:v>
                </c:pt>
                <c:pt idx="3">
                  <c:v>10</c:v>
                </c:pt>
                <c:pt idx="4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7A6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GUIDE: Replace every {{placeholder}} with your own content. Change accent colors in the generator (C.accent / C.accent2) to match your brand. Delete slides you do not need.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914400"/>
            <a:ext cx="3840480" cy="3840480"/>
          </a:xfrm>
          <a:prstGeom prst="ellipse">
            <a:avLst/>
          </a:prstGeom>
          <a:solidFill>
            <a:srgbClr val="E07A3F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108960"/>
            <a:ext cx="2377440" cy="2377440"/>
          </a:xfrm>
          <a:prstGeom prst="ellipse">
            <a:avLst/>
          </a:prstGeom>
          <a:solidFill>
            <a:srgbClr val="3E7C59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4023360"/>
            <a:ext cx="1371600" cy="1371600"/>
          </a:xfrm>
          <a:prstGeom prst="ellipse">
            <a:avLst/>
          </a:prstGeom>
          <a:solidFill>
            <a:srgbClr val="D9A441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PLAN TEMPLATE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{{Lesson Title}}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E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{{Subject}} · {{Grade / Level}} · {{Duration}}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{{One sentence: what students will understand or be able to do.}}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{{Name}}   ·   {{Class / Date}}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6126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v1.0   ·   Replace every {{placeholder}}   ·   Free to use &amp; modify (CC0)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E07A3F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{{Class profile}}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1031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3E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6060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{{Number, level, prior knowledge}}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29400" y="21031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3E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environment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29400" y="26060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{{Classroom / lab / online}}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42062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3E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" y="47091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{{Textbook chapter, handouts, tools}}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936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29400" y="42062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3E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lesson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29400" y="47091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was covered last time}}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E07A3F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{{By the end of this lesson, students can…}}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679192" cy="3200400"/>
          </a:xfrm>
          <a:prstGeom prst="roundRect">
            <a:avLst>
              <a:gd name="adj" fmla="val 40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194560"/>
            <a:ext cx="566928" cy="566928"/>
          </a:xfrm>
          <a:prstGeom prst="ellipse">
            <a:avLst/>
          </a:prstGeom>
          <a:solidFill>
            <a:srgbClr val="E07A3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{{Remember}}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520440"/>
            <a:ext cx="21305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{{Recall {{key fact / term}}}}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502152" y="1920240"/>
            <a:ext cx="2679192" cy="3200400"/>
          </a:xfrm>
          <a:prstGeom prst="roundRect">
            <a:avLst>
              <a:gd name="adj" fmla="val 40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76472" y="2194560"/>
            <a:ext cx="566928" cy="566928"/>
          </a:xfrm>
          <a:prstGeom prst="ellipse">
            <a:avLst/>
          </a:prstGeom>
          <a:solidFill>
            <a:srgbClr val="3E7C5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76472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76472" y="297180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{{Understand}}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76472" y="3520440"/>
            <a:ext cx="21305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{{Explain {{concept}} in own words}}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64224" y="1920240"/>
            <a:ext cx="2679192" cy="3200400"/>
          </a:xfrm>
          <a:prstGeom prst="roundRect">
            <a:avLst>
              <a:gd name="adj" fmla="val 40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38544" y="2194560"/>
            <a:ext cx="566928" cy="566928"/>
          </a:xfrm>
          <a:prstGeom prst="ellipse">
            <a:avLst/>
          </a:prstGeom>
          <a:solidFill>
            <a:srgbClr val="E07A3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38544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638544" y="297180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{{Apply}}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38544" y="3520440"/>
            <a:ext cx="21305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{{Use {{concept}} to solve {{problem type}}}}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226296" y="1920240"/>
            <a:ext cx="2679192" cy="3200400"/>
          </a:xfrm>
          <a:prstGeom prst="roundRect">
            <a:avLst>
              <a:gd name="adj" fmla="val 40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500616" y="2194560"/>
            <a:ext cx="566928" cy="566928"/>
          </a:xfrm>
          <a:prstGeom prst="ellipse">
            <a:avLst/>
          </a:prstGeom>
          <a:solidFill>
            <a:srgbClr val="3E7C5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500616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500616" y="297180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{{Analyze}}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500616" y="3520440"/>
            <a:ext cx="21305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{{Compare and evaluate {{cases}}}}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E07A3F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{{45-minute plan}}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3383280"/>
            <a:ext cx="10332720" cy="0"/>
          </a:xfrm>
          <a:prstGeom prst="line">
            <a:avLst/>
          </a:prstGeom>
          <a:noFill/>
          <a:ln w="25400">
            <a:solidFill>
              <a:srgbClr val="E5D9C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2880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81912" y="3273552"/>
            <a:ext cx="219456" cy="219456"/>
          </a:xfrm>
          <a:prstGeom prst="ellipse">
            <a:avLst/>
          </a:prstGeom>
          <a:solidFill>
            <a:srgbClr val="E07A3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659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{{5 min}}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6334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{{Hook question or quick review}}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26080" y="379476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67912" y="3273552"/>
            <a:ext cx="219456" cy="219456"/>
          </a:xfrm>
          <a:prstGeom prst="ellipse">
            <a:avLst/>
          </a:prstGeom>
          <a:solidFill>
            <a:srgbClr val="3E7C59"/>
          </a:solidFill>
          <a:ln/>
        </p:spPr>
      </p:sp>
      <p:sp>
        <p:nvSpPr>
          <p:cNvPr id="13" name="Text 11"/>
          <p:cNvSpPr/>
          <p:nvPr/>
        </p:nvSpPr>
        <p:spPr>
          <a:xfrm>
            <a:off x="3108960" y="3931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{{10 min}}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08960" y="42519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108960" y="459943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{{Present the new concept}}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12080" y="182880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53912" y="3273552"/>
            <a:ext cx="219456" cy="219456"/>
          </a:xfrm>
          <a:prstGeom prst="ellipse">
            <a:avLst/>
          </a:prstGeom>
          <a:solidFill>
            <a:srgbClr val="E07A3F"/>
          </a:solidFill>
          <a:ln/>
        </p:spPr>
      </p:sp>
      <p:sp>
        <p:nvSpPr>
          <p:cNvPr id="18" name="Text 16"/>
          <p:cNvSpPr/>
          <p:nvPr/>
        </p:nvSpPr>
        <p:spPr>
          <a:xfrm>
            <a:off x="5394960" y="19659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{{15 min}}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94960" y="2286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394960" y="26334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{{Guided exercises}}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498080" y="379476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439912" y="3273552"/>
            <a:ext cx="219456" cy="219456"/>
          </a:xfrm>
          <a:prstGeom prst="ellipse">
            <a:avLst/>
          </a:prstGeom>
          <a:solidFill>
            <a:srgbClr val="3E7C59"/>
          </a:solidFill>
          <a:ln/>
        </p:spPr>
      </p:sp>
      <p:sp>
        <p:nvSpPr>
          <p:cNvPr id="23" name="Text 21"/>
          <p:cNvSpPr/>
          <p:nvPr/>
        </p:nvSpPr>
        <p:spPr>
          <a:xfrm>
            <a:off x="7680960" y="3931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{{10 min}}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680960" y="42519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680960" y="459943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{{Group task or game}}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784080" y="182880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725912" y="3273552"/>
            <a:ext cx="219456" cy="219456"/>
          </a:xfrm>
          <a:prstGeom prst="ellipse">
            <a:avLst/>
          </a:prstGeom>
          <a:solidFill>
            <a:srgbClr val="E07A3F"/>
          </a:solidFill>
          <a:ln/>
        </p:spPr>
      </p:sp>
      <p:sp>
        <p:nvSpPr>
          <p:cNvPr id="28" name="Text 26"/>
          <p:cNvSpPr/>
          <p:nvPr/>
        </p:nvSpPr>
        <p:spPr>
          <a:xfrm>
            <a:off x="9966960" y="19659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{{5 min}}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966960" y="2286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966960" y="26334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{{Exit ticket &amp; preview}}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E07A3F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{{Main concept: {{name}}}}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685800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5740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56032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{{Student-friendly definition in one sentence.}}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365760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work / diagram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4114800"/>
            <a:ext cx="6217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{{Describe the diagram, example, or derivation you will put on the board.}}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63840" y="1783080"/>
            <a:ext cx="3657600" cy="1920240"/>
          </a:xfrm>
          <a:prstGeom prst="roundRect">
            <a:avLst>
              <a:gd name="adj" fmla="val 5714"/>
            </a:avLst>
          </a:prstGeom>
          <a:solidFill>
            <a:srgbClr val="F3EAD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83880" y="2011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E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83880" y="24688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{{Check question 1}}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863840" y="3977640"/>
            <a:ext cx="3657600" cy="1920240"/>
          </a:xfrm>
          <a:prstGeom prst="roundRect">
            <a:avLst>
              <a:gd name="adj" fmla="val 5714"/>
            </a:avLst>
          </a:prstGeom>
          <a:solidFill>
            <a:srgbClr val="F3EAD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183880" y="4206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E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83880" y="46634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{{Check question 2}}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E07A3F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{{Worked example: {{title}}}}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194560"/>
            <a:ext cx="566928" cy="566928"/>
          </a:xfrm>
          <a:prstGeom prst="ellipse">
            <a:avLst/>
          </a:prstGeom>
          <a:solidFill>
            <a:srgbClr val="E07A3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91640" y="21214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{{Step 1}}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691640" y="265176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to write / say}}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29400" y="2194560"/>
            <a:ext cx="566928" cy="566928"/>
          </a:xfrm>
          <a:prstGeom prst="ellipse">
            <a:avLst/>
          </a:prstGeom>
          <a:solidFill>
            <a:srgbClr val="E07A3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2940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60920" y="21214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{{Step 2}}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360920" y="265176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reasoning to make visible}}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60120" y="4297680"/>
            <a:ext cx="566928" cy="566928"/>
          </a:xfrm>
          <a:prstGeom prst="ellipse">
            <a:avLst/>
          </a:prstGeom>
          <a:solidFill>
            <a:srgbClr val="E07A3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" y="4297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91640" y="42245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{{Step 3}}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691640" y="475488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{{Where students typically slip}}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29400" y="4297680"/>
            <a:ext cx="566928" cy="566928"/>
          </a:xfrm>
          <a:prstGeom prst="ellipse">
            <a:avLst/>
          </a:prstGeom>
          <a:solidFill>
            <a:srgbClr val="3E7C5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29400" y="4297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360920" y="42245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{{Answer}}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360920" y="475488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{{Final result and how to verify}}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E07A3F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{{Exercises &amp; expected results}}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22960" y="1965960"/>
          <a:ext cx="58521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7607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— replace with your class results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040880" y="1783080"/>
            <a:ext cx="44805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040880" y="198424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7040880" y="27157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items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223760" y="30815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{{From {{source}}}}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040880" y="3200400"/>
            <a:ext cx="44805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040880" y="340156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{{X%}}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7040880" y="41330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mastery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223760" y="44988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{{Retest below {{X%}}}}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040880" y="4617720"/>
            <a:ext cx="44805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040880" y="481888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 min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7040880" y="55504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223760" y="59161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{{One question, all students}}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E07A3F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{{Group task: {{name}}}}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685800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5740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560320"/>
            <a:ext cx="6217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{{Describe the task students will do in groups. What product do they produce?}}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60120" y="420624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42062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{{Role 1}}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63240" y="420624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F3EAD9"/>
          </a:solidFill>
          <a:ln/>
        </p:spPr>
      </p:sp>
      <p:sp>
        <p:nvSpPr>
          <p:cNvPr id="11" name="Text 9"/>
          <p:cNvSpPr/>
          <p:nvPr/>
        </p:nvSpPr>
        <p:spPr>
          <a:xfrm>
            <a:off x="3063240" y="42062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{{Role 2}}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66360" y="420624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166360" y="42062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{{Role 3}}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493776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{{Success criteria visible to students}}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63840" y="1783080"/>
            <a:ext cx="36576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863840" y="198424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7863840" y="27157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size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863840" y="3246120"/>
            <a:ext cx="36576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863840" y="344728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 min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7863840" y="41788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Timebox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863840" y="4709160"/>
            <a:ext cx="36576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863840" y="491032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7863840" y="56418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E07A3F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{{Common misconceptions}}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11556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221992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00200" y="20116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{{Misconception 1}}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46320" y="20116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students actually think}}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21040" y="20116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3E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{{How to correct it}}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246120"/>
            <a:ext cx="111556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3593592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00200" y="33832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{{Misconception 2}}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46320" y="33832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students actually think}}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21040" y="33832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3E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{{How to correct it}}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617720"/>
            <a:ext cx="111556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" y="4965192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965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00200" y="47548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{{Misconception 3}}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46320" y="47548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students actually think}}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21040" y="47548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3E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{{How to correct it}}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E07A3F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{{For every learner}}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19456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E07A3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945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88036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{{Scaffold for students who need it: {{strategy}}}}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3EAD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19456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E07A3F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1945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17720" y="288036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{{Standard path for most students: {{strategy}}}}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192024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21040" y="219456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3E7C59"/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21945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21040" y="288036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{{Extension for early finishers: {{strategy}}}}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E07A3F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CLASS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{{Homework &amp; what comes next}}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48640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574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6060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{{Assignment 1}}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34290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{{Assignment 2}}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42519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{{Optional challenge}}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92240" y="1783080"/>
            <a:ext cx="5029200" cy="4206240"/>
          </a:xfrm>
          <a:prstGeom prst="roundRect">
            <a:avLst>
              <a:gd name="adj" fmla="val 2609"/>
            </a:avLst>
          </a:prstGeom>
          <a:solidFill>
            <a:srgbClr val="F3EAD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12280" y="20574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12280" y="260604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{{Topic of the next lesson and how today connects to it.}}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12280" y="393192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{{Preparation students should do before next class.}}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914400"/>
            <a:ext cx="3840480" cy="3840480"/>
          </a:xfrm>
          <a:prstGeom prst="ellipse">
            <a:avLst/>
          </a:prstGeom>
          <a:solidFill>
            <a:srgbClr val="E07A3F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108960"/>
            <a:ext cx="2377440" cy="2377440"/>
          </a:xfrm>
          <a:prstGeom prst="ellipse">
            <a:avLst/>
          </a:prstGeom>
          <a:solidFill>
            <a:srgbClr val="3E7C59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4023360"/>
            <a:ext cx="1371600" cy="1371600"/>
          </a:xfrm>
          <a:prstGeom prst="ellipse">
            <a:avLst/>
          </a:prstGeom>
          <a:solidFill>
            <a:srgbClr val="D9A441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{{What worked? What to change?}}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822960" y="3474720"/>
            <a:ext cx="68580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43000" y="347472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Post-lesson notes: {{what landed, what to reteach}}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4343400"/>
            <a:ext cx="68580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143000" y="434340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archive: {{link}}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5212080"/>
            <a:ext cx="68580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43000" y="521208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with: {{colleague / department}}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6126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template — use, modify, and share. No attribution required. (CC0)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Plan Template</dc:title>
  <dc:subject>PptxGenJS Presentation</dc:subject>
  <dc:creator>WorkBuddy</dc:creator>
  <cp:lastModifiedBy>WorkBuddy</cp:lastModifiedBy>
  <cp:revision>1</cp:revision>
  <dcterms:created xsi:type="dcterms:W3CDTF">2026-10-29T06:59:29Z</dcterms:created>
  <dcterms:modified xsi:type="dcterms:W3CDTF">2026-10-29T06:59:29Z</dcterms:modified>
</cp:coreProperties>
</file>
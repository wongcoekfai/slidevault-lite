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notesSlides/notesSlide10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2.xml" ContentType="application/vnd.openxmlformats-officedocument.presentationml.notes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20" Type="http://schemas.openxmlformats.org/officeDocument/2006/relationships/viewProps" Target="viewProps.xml" /><Relationship Id="rId16" Type="http://schemas.openxmlformats.org/officeDocument/2006/relationships/slide" Target="slides/slide16.xml" /><Relationship Id="rId19" Type="http://schemas.openxmlformats.org/officeDocument/2006/relationships/tableStyles" Target="tableStyles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8" Type="http://schemas.openxmlformats.org/officeDocument/2006/relationships/presProps" Target="presProps.xml" /><Relationship Id="rId13" Type="http://schemas.openxmlformats.org/officeDocument/2006/relationships/slide" Target="slides/slide13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TEMPLATE GUIDE: Replace every {{placeholder}} with your own content. Change the accent colors in the generator (C.accent / C.accent2) to match your brand. Delete any slide you do not need. Charts keep sample numbers — edit them in PowerPoint.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Competition: contrast table on what you do better.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Traction: chart shows sample data — replace values and labels with yours in PowerPoint.</a:t>
            </a:r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GTM: acquire, expand, partner.</a:t>
            </a:r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Team: delete cards if you have fewer members.</a:t>
            </a:r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The ask: amount, allocation, and milestone.</a:t>
            </a:r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Roadmap: quarterly milestones.</a:t>
            </a:r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Closing: strong CTA plus contact info.</a:t>
            </a:r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Problem: ground the pain in concrete scenarios your audience recognizes.</a:t>
            </a:r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Market: TAM / SAM / SOM to show the ceiling and the slice you can capture.</a:t>
            </a:r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Solution: three verbs that describe your product logic.</a:t>
            </a:r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Features: 2x2 grid of your differentiators.</a:t>
            </a:r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How it works: low integration cost, fast time-to-value.</a:t>
            </a:r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Why now: timing, defensibility, and assets that are hard to copy.</a:t>
            </a:r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Value: quantified outcomes that drive the purchase decision.</a:t>
            </a:r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en-US" dirty="0"/>
              <a:t>Business model: three tiers from self-serve to enterprise.</a:t>
            </a:r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0" Type="http://schemas.openxmlformats.org/officeDocument/2006/relationships/chart" Target="charts/char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c="http://schemas.openxmlformats.org/drawingml/2006/chart" xmlns:a="http://schemas.openxmlformats.org/drawingml/2006/main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{{Series}}</c:v>
                </c:pt>
              </c:strCache>
            </c:strRef>
          </c:tx>
          <c:spPr>
            <a:solidFill>
              <a:srgbClr val="2DD4BF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100" b="0" i="0" u="none" strike="noStrike">
                    <a:solidFill>
                      <a:srgbClr val="F8FAF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{{P1}}</c:v>
                  </c:pt>
                  <c:pt idx="1">
                    <c:v>{{P2}}</c:v>
                  </c:pt>
                  <c:pt idx="2">
                    <c:v>{{P3}}</c:v>
                  </c:pt>
                  <c:pt idx="3">
                    <c:v>{{P4}}</c:v>
                  </c:pt>
                  <c:pt idx="4">
                    <c:v>{{P5}}</c:v>
                  </c:pt>
                  <c:pt idx="5">
                    <c:v>{{P6}}</c:v>
                  </c:pt>
                </c:lvl>
              </c:multiLvlStrCache>
            </c:multiLvlStrRef>
          </c:cat>
          <c:val>
            <c:numRef>
              <c:f>sheet</c:f>
              <c:numCache>
                <c:formatCode>General</c:formatCode>
                <c:ptCount val="6"/>
                <c:pt idx="0">
                  <c:v>3</c:v>
                </c:pt>
                <c:pt idx="1">
                  <c:v>7</c:v>
                </c:pt>
                <c:pt idx="2">
                  <c:v>12</c:v>
                </c:pt>
                <c:pt idx="3">
                  <c:v>18</c:v>
                </c:pt>
                <c:pt idx="4">
                  <c:v>25</c:v>
                </c:pt>
                <c:pt idx="5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0" i="0" u="none" strike="noStrike">
                  <a:solidFill>
                    <a:srgbClr val="F8FAF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</c:chartSpace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0E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2DD4BF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6366F1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TEMPLATE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{{Product Name}}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{{One-line positioning statement}}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problem you solve in one sentence — what you turn chaos into, automatically.}}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0E1424"/>
        </a:solidFill>
      </p:bgPr>
    </p:bg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51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152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{{The problem your users face}}</a:t>
            </a:r>
            <a:endParaRPr lang="en-US" sz="3200" dirty="0"/>
          </a:p>
        </p:txBody>
      </p:sp>
      <p:sp>
        <p:nvSpPr>
          <p:cNvPr id="153" name="Shape 3"/>
          <p:cNvSpPr/>
          <p:nvPr/>
        </p:nvSpPr>
        <p:spPr>
          <a:xfrm>
            <a:off x="640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4" name="Shape 4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5" name="Text 5"/>
          <p:cNvSpPr/>
          <p:nvPr/>
        </p:nvSpPr>
        <p:spPr>
          <a:xfrm>
            <a:off x="960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56" name="Text 6"/>
          <p:cNvSpPr/>
          <p:nvPr/>
        </p:nvSpPr>
        <p:spPr>
          <a:xfrm>
            <a:off x="1691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 point 1}}</a:t>
            </a:r>
            <a:endParaRPr lang="en-US" sz="1900" dirty="0"/>
          </a:p>
        </p:txBody>
      </p:sp>
      <p:sp>
        <p:nvSpPr>
          <p:cNvPr id="157" name="Text 7"/>
          <p:cNvSpPr/>
          <p:nvPr/>
        </p:nvSpPr>
        <p:spPr>
          <a:xfrm>
            <a:off x="1691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first friction your customers hit.}}</a:t>
            </a:r>
            <a:endParaRPr lang="en-US" sz="1300" dirty="0"/>
          </a:p>
        </p:txBody>
      </p:sp>
      <p:sp>
        <p:nvSpPr>
          <p:cNvPr id="158" name="Shape 8"/>
          <p:cNvSpPr/>
          <p:nvPr/>
        </p:nvSpPr>
        <p:spPr>
          <a:xfrm>
            <a:off x="6355080" y="1783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9" name="Shape 9"/>
          <p:cNvSpPr/>
          <p:nvPr/>
        </p:nvSpPr>
        <p:spPr>
          <a:xfrm>
            <a:off x="6675120" y="210312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0" name="Text 10"/>
          <p:cNvSpPr/>
          <p:nvPr/>
        </p:nvSpPr>
        <p:spPr>
          <a:xfrm>
            <a:off x="6675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1" name="Text 11"/>
          <p:cNvSpPr/>
          <p:nvPr/>
        </p:nvSpPr>
        <p:spPr>
          <a:xfrm>
            <a:off x="7406640" y="2057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 point 2}}</a:t>
            </a:r>
            <a:endParaRPr lang="en-US" sz="1900" dirty="0"/>
          </a:p>
        </p:txBody>
      </p:sp>
      <p:sp>
        <p:nvSpPr>
          <p:cNvPr id="162" name="Text 12"/>
          <p:cNvSpPr/>
          <p:nvPr/>
        </p:nvSpPr>
        <p:spPr>
          <a:xfrm>
            <a:off x="7406640" y="2560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second friction.}}</a:t>
            </a:r>
            <a:endParaRPr lang="en-US" sz="1300" dirty="0"/>
          </a:p>
        </p:txBody>
      </p:sp>
      <p:sp>
        <p:nvSpPr>
          <p:cNvPr id="163" name="Shape 13"/>
          <p:cNvSpPr/>
          <p:nvPr/>
        </p:nvSpPr>
        <p:spPr>
          <a:xfrm>
            <a:off x="640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4" name="Shape 14"/>
          <p:cNvSpPr/>
          <p:nvPr/>
        </p:nvSpPr>
        <p:spPr>
          <a:xfrm>
            <a:off x="960120" y="438912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5" name="Text 15"/>
          <p:cNvSpPr/>
          <p:nvPr/>
        </p:nvSpPr>
        <p:spPr>
          <a:xfrm>
            <a:off x="960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6" name="Text 16"/>
          <p:cNvSpPr/>
          <p:nvPr/>
        </p:nvSpPr>
        <p:spPr>
          <a:xfrm>
            <a:off x="1691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 point 3}}</a:t>
            </a:r>
            <a:endParaRPr lang="en-US" sz="1900" dirty="0"/>
          </a:p>
        </p:txBody>
      </p:sp>
      <p:sp>
        <p:nvSpPr>
          <p:cNvPr id="167" name="Text 17"/>
          <p:cNvSpPr/>
          <p:nvPr/>
        </p:nvSpPr>
        <p:spPr>
          <a:xfrm>
            <a:off x="1691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third friction.}}</a:t>
            </a:r>
            <a:endParaRPr lang="en-US" sz="1300" dirty="0"/>
          </a:p>
        </p:txBody>
      </p:sp>
      <p:sp>
        <p:nvSpPr>
          <p:cNvPr id="168" name="Shape 18"/>
          <p:cNvSpPr/>
          <p:nvPr/>
        </p:nvSpPr>
        <p:spPr>
          <a:xfrm>
            <a:off x="6355080" y="4069080"/>
            <a:ext cx="5166360" cy="1874520"/>
          </a:xfrm>
          <a:prstGeom prst="roundRect">
            <a:avLst>
              <a:gd name="adj" fmla="val 5854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9" name="Shape 19"/>
          <p:cNvSpPr/>
          <p:nvPr/>
        </p:nvSpPr>
        <p:spPr>
          <a:xfrm>
            <a:off x="6675120" y="438912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0" name="Text 20"/>
          <p:cNvSpPr/>
          <p:nvPr/>
        </p:nvSpPr>
        <p:spPr>
          <a:xfrm>
            <a:off x="6675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71" name="Text 21"/>
          <p:cNvSpPr/>
          <p:nvPr/>
        </p:nvSpPr>
        <p:spPr>
          <a:xfrm>
            <a:off x="7406640" y="43434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{{Pain point 4}}</a:t>
            </a:r>
            <a:endParaRPr lang="en-US" sz="1900" dirty="0"/>
          </a:p>
        </p:txBody>
      </p:sp>
      <p:sp>
        <p:nvSpPr>
          <p:cNvPr id="172" name="Text 22"/>
          <p:cNvSpPr/>
          <p:nvPr/>
        </p:nvSpPr>
        <p:spPr>
          <a:xfrm>
            <a:off x="7406640" y="48463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{{Describe the fourth friction.}}</a:t>
            </a:r>
            <a:endParaRPr lang="en-US" sz="1300" dirty="0"/>
          </a:p>
        </p:txBody>
      </p:sp>
      <p:sp>
        <p:nvSpPr>
          <p:cNvPr id="173" name="Text 23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{{Supporting stat, e.g. "~19% of time spent searching for information."}}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0E1424"/>
        </a:solidFill>
      </p:bgPr>
    </p:bg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76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177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market opportunity}}</a:t>
            </a:r>
            <a:endParaRPr lang="en-US" sz="3200" dirty="0"/>
          </a:p>
        </p:txBody>
      </p:sp>
      <p:sp>
        <p:nvSpPr>
          <p:cNvPr id="178" name="Text 3"/>
          <p:cNvSpPr/>
          <p:nvPr/>
        </p:nvSpPr>
        <p:spPr>
          <a:xfrm>
            <a:off x="640080" y="182880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{{Frame the shift your market is going through.}}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the timing is right now — tech, regulation, or behavior change.}}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{{Growth rate or trend that sizes the wave, e.g. "&gt;20% YoY."}}</a:t>
            </a:r>
            <a:endParaRPr lang="en-US" sz="1600" dirty="0"/>
          </a:p>
        </p:txBody>
      </p:sp>
      <p:sp>
        <p:nvSpPr>
          <p:cNvPr id="179" name="Shape 4"/>
          <p:cNvSpPr/>
          <p:nvPr/>
        </p:nvSpPr>
        <p:spPr>
          <a:xfrm>
            <a:off x="630936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222E46"/>
          </a:solidFill>
          <a:ln w="12700">
            <a:solidFill>
              <a:srgbClr val="2A3650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0" name="Text 5"/>
          <p:cNvSpPr/>
          <p:nvPr/>
        </p:nvSpPr>
        <p:spPr>
          <a:xfrm>
            <a:off x="6675120" y="2103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{{Total addressable market}}</a:t>
            </a:r>
            <a:endParaRPr lang="en-US" sz="1300" dirty="0"/>
          </a:p>
        </p:txBody>
      </p:sp>
      <p:sp>
        <p:nvSpPr>
          <p:cNvPr id="181" name="Text 6"/>
          <p:cNvSpPr/>
          <p:nvPr/>
        </p:nvSpPr>
        <p:spPr>
          <a:xfrm>
            <a:off x="6675120" y="2423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{{TAM}}</a:t>
            </a:r>
            <a:endParaRPr lang="en-US" sz="3000" dirty="0"/>
          </a:p>
        </p:txBody>
      </p:sp>
      <p:sp>
        <p:nvSpPr>
          <p:cNvPr id="182" name="Text 7"/>
          <p:cNvSpPr/>
          <p:nvPr/>
        </p:nvSpPr>
        <p:spPr>
          <a:xfrm>
            <a:off x="713232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{{Serviceable available market}}</a:t>
            </a:r>
            <a:endParaRPr lang="en-US" sz="1300" dirty="0"/>
          </a:p>
        </p:txBody>
      </p:sp>
      <p:sp>
        <p:nvSpPr>
          <p:cNvPr id="183" name="Text 8"/>
          <p:cNvSpPr/>
          <p:nvPr/>
        </p:nvSpPr>
        <p:spPr>
          <a:xfrm>
            <a:off x="7132320" y="36576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{{SAM}}</a:t>
            </a:r>
            <a:endParaRPr lang="en-US" sz="2600" dirty="0"/>
          </a:p>
        </p:txBody>
      </p:sp>
      <p:sp>
        <p:nvSpPr>
          <p:cNvPr id="184" name="Text 9"/>
          <p:cNvSpPr/>
          <p:nvPr/>
        </p:nvSpPr>
        <p:spPr>
          <a:xfrm>
            <a:off x="7589520" y="4572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{{Serviceable obtainable market}}</a:t>
            </a:r>
            <a:endParaRPr lang="en-US" sz="1300" dirty="0"/>
          </a:p>
        </p:txBody>
      </p:sp>
      <p:sp>
        <p:nvSpPr>
          <p:cNvPr id="185" name="Text 10"/>
          <p:cNvSpPr/>
          <p:nvPr/>
        </p:nvSpPr>
        <p:spPr>
          <a:xfrm>
            <a:off x="7589520" y="4892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{{SOM}}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0E1424"/>
        </a:solidFill>
      </p:bgPr>
    </p:bg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88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89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{{Product name}}: {{one-line what it is}}</a:t>
            </a:r>
            <a:endParaRPr lang="en-US" sz="3200" dirty="0"/>
          </a:p>
        </p:txBody>
      </p:sp>
      <p:sp>
        <p:nvSpPr>
          <p:cNvPr id="190" name="Text 3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it works in one sentence — connect sources, structure them, deliver value automatically.}}</a:t>
            </a:r>
            <a:endParaRPr lang="en-US" sz="1600" dirty="0"/>
          </a:p>
        </p:txBody>
      </p:sp>
      <p:sp>
        <p:nvSpPr>
          <p:cNvPr id="191" name="Shape 4"/>
          <p:cNvSpPr/>
          <p:nvPr/>
        </p:nvSpPr>
        <p:spPr>
          <a:xfrm>
            <a:off x="6400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2" name="Shape 5"/>
          <p:cNvSpPr/>
          <p:nvPr/>
        </p:nvSpPr>
        <p:spPr>
          <a:xfrm>
            <a:off x="2071116" y="297180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3" name="Text 6"/>
          <p:cNvSpPr/>
          <p:nvPr/>
        </p:nvSpPr>
        <p:spPr>
          <a:xfrm>
            <a:off x="20711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94" name="Text 7"/>
          <p:cNvSpPr/>
          <p:nvPr/>
        </p:nvSpPr>
        <p:spPr>
          <a:xfrm>
            <a:off x="6400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1}}</a:t>
            </a:r>
            <a:endParaRPr lang="en-US" sz="1900" dirty="0"/>
          </a:p>
        </p:txBody>
      </p:sp>
      <p:sp>
        <p:nvSpPr>
          <p:cNvPr id="195" name="Text 8"/>
          <p:cNvSpPr/>
          <p:nvPr/>
        </p:nvSpPr>
        <p:spPr>
          <a:xfrm>
            <a:off x="9601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  <p:sp>
        <p:nvSpPr>
          <p:cNvPr id="196" name="Shape 9"/>
          <p:cNvSpPr/>
          <p:nvPr/>
        </p:nvSpPr>
        <p:spPr>
          <a:xfrm>
            <a:off x="45262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7" name="Shape 10"/>
          <p:cNvSpPr/>
          <p:nvPr/>
        </p:nvSpPr>
        <p:spPr>
          <a:xfrm>
            <a:off x="5957316" y="297180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8" name="Text 11"/>
          <p:cNvSpPr/>
          <p:nvPr/>
        </p:nvSpPr>
        <p:spPr>
          <a:xfrm>
            <a:off x="59573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9" name="Text 12"/>
          <p:cNvSpPr/>
          <p:nvPr/>
        </p:nvSpPr>
        <p:spPr>
          <a:xfrm>
            <a:off x="45262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2}}</a:t>
            </a:r>
            <a:endParaRPr lang="en-US" sz="1900" dirty="0"/>
          </a:p>
        </p:txBody>
      </p:sp>
      <p:sp>
        <p:nvSpPr>
          <p:cNvPr id="200" name="Text 13"/>
          <p:cNvSpPr/>
          <p:nvPr/>
        </p:nvSpPr>
        <p:spPr>
          <a:xfrm>
            <a:off x="48463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  <p:sp>
        <p:nvSpPr>
          <p:cNvPr id="201" name="Shape 14"/>
          <p:cNvSpPr/>
          <p:nvPr/>
        </p:nvSpPr>
        <p:spPr>
          <a:xfrm>
            <a:off x="8412480" y="25603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2" name="Shape 15"/>
          <p:cNvSpPr/>
          <p:nvPr/>
        </p:nvSpPr>
        <p:spPr>
          <a:xfrm>
            <a:off x="9843516" y="297180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3" name="Text 16"/>
          <p:cNvSpPr/>
          <p:nvPr/>
        </p:nvSpPr>
        <p:spPr>
          <a:xfrm>
            <a:off x="9843516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4" name="Text 17"/>
          <p:cNvSpPr/>
          <p:nvPr/>
        </p:nvSpPr>
        <p:spPr>
          <a:xfrm>
            <a:off x="841248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{{Pillar 3}}</a:t>
            </a:r>
            <a:endParaRPr lang="en-US" sz="1900" dirty="0"/>
          </a:p>
        </p:txBody>
      </p:sp>
      <p:sp>
        <p:nvSpPr>
          <p:cNvPr id="205" name="Text 18"/>
          <p:cNvSpPr/>
          <p:nvPr/>
        </p:nvSpPr>
        <p:spPr>
          <a:xfrm>
            <a:off x="8732520" y="42519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0E1424"/>
        </a:solidFill>
      </p:bgPr>
    </p:bg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08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09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{{Core capabilities}}</a:t>
            </a:r>
            <a:endParaRPr lang="en-US" sz="3200" dirty="0"/>
          </a:p>
        </p:txBody>
      </p:sp>
      <p:sp>
        <p:nvSpPr>
          <p:cNvPr id="210" name="Shape 3"/>
          <p:cNvSpPr/>
          <p:nvPr/>
        </p:nvSpPr>
        <p:spPr>
          <a:xfrm>
            <a:off x="640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1" name="Shape 4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12" name="Text 5"/>
          <p:cNvSpPr/>
          <p:nvPr/>
        </p:nvSpPr>
        <p:spPr>
          <a:xfrm>
            <a:off x="960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13" name="Text 6"/>
          <p:cNvSpPr/>
          <p:nvPr/>
        </p:nvSpPr>
        <p:spPr>
          <a:xfrm>
            <a:off x="1645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1}}</a:t>
            </a:r>
            <a:endParaRPr lang="en-US" sz="1900" dirty="0"/>
          </a:p>
        </p:txBody>
      </p:sp>
      <p:sp>
        <p:nvSpPr>
          <p:cNvPr id="214" name="Text 7"/>
          <p:cNvSpPr/>
          <p:nvPr/>
        </p:nvSpPr>
        <p:spPr>
          <a:xfrm>
            <a:off x="1645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  <p:sp>
        <p:nvSpPr>
          <p:cNvPr id="215" name="Shape 8"/>
          <p:cNvSpPr/>
          <p:nvPr/>
        </p:nvSpPr>
        <p:spPr>
          <a:xfrm>
            <a:off x="6355080" y="178308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6" name="Shape 9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7" name="Text 10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18" name="Text 11"/>
          <p:cNvSpPr/>
          <p:nvPr/>
        </p:nvSpPr>
        <p:spPr>
          <a:xfrm>
            <a:off x="736092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2}}</a:t>
            </a:r>
            <a:endParaRPr lang="en-US" sz="1900" dirty="0"/>
          </a:p>
        </p:txBody>
      </p:sp>
      <p:sp>
        <p:nvSpPr>
          <p:cNvPr id="219" name="Text 12"/>
          <p:cNvSpPr/>
          <p:nvPr/>
        </p:nvSpPr>
        <p:spPr>
          <a:xfrm>
            <a:off x="7360920" y="2606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  <p:sp>
        <p:nvSpPr>
          <p:cNvPr id="220" name="Shape 13"/>
          <p:cNvSpPr/>
          <p:nvPr/>
        </p:nvSpPr>
        <p:spPr>
          <a:xfrm>
            <a:off x="640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1" name="Shape 14"/>
          <p:cNvSpPr/>
          <p:nvPr/>
        </p:nvSpPr>
        <p:spPr>
          <a:xfrm>
            <a:off x="960120" y="452628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22" name="Text 15"/>
          <p:cNvSpPr/>
          <p:nvPr/>
        </p:nvSpPr>
        <p:spPr>
          <a:xfrm>
            <a:off x="960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3" name="Text 16"/>
          <p:cNvSpPr/>
          <p:nvPr/>
        </p:nvSpPr>
        <p:spPr>
          <a:xfrm>
            <a:off x="1645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3}}</a:t>
            </a:r>
            <a:endParaRPr lang="en-US" sz="1900" dirty="0"/>
          </a:p>
        </p:txBody>
      </p:sp>
      <p:sp>
        <p:nvSpPr>
          <p:cNvPr id="224" name="Text 17"/>
          <p:cNvSpPr/>
          <p:nvPr/>
        </p:nvSpPr>
        <p:spPr>
          <a:xfrm>
            <a:off x="1645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  <p:sp>
        <p:nvSpPr>
          <p:cNvPr id="225" name="Shape 18"/>
          <p:cNvSpPr/>
          <p:nvPr/>
        </p:nvSpPr>
        <p:spPr>
          <a:xfrm>
            <a:off x="6355080" y="4160520"/>
            <a:ext cx="5166360" cy="1965960"/>
          </a:xfrm>
          <a:prstGeom prst="roundRect">
            <a:avLst>
              <a:gd name="adj" fmla="val 558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6" name="Shape 19"/>
          <p:cNvSpPr/>
          <p:nvPr/>
        </p:nvSpPr>
        <p:spPr>
          <a:xfrm>
            <a:off x="6675120" y="4526280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27" name="Text 20"/>
          <p:cNvSpPr/>
          <p:nvPr/>
        </p:nvSpPr>
        <p:spPr>
          <a:xfrm>
            <a:off x="66751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8" name="Text 21"/>
          <p:cNvSpPr/>
          <p:nvPr/>
        </p:nvSpPr>
        <p:spPr>
          <a:xfrm>
            <a:off x="7360920" y="445312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{{Capability 4}}</a:t>
            </a:r>
            <a:endParaRPr lang="en-US" sz="1900" dirty="0"/>
          </a:p>
        </p:txBody>
      </p:sp>
      <p:sp>
        <p:nvSpPr>
          <p:cNvPr id="229" name="Text 22"/>
          <p:cNvSpPr/>
          <p:nvPr/>
        </p:nvSpPr>
        <p:spPr>
          <a:xfrm>
            <a:off x="7360920" y="4983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it does,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0E1424"/>
        </a:solidFill>
      </p:bgPr>
    </p:bg>
    <p:spTree>
      <p:nvGrpSpPr>
        <p:cNvPr id="2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3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3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customers get value, in steps}}</a:t>
            </a:r>
            <a:endParaRPr lang="en-US" sz="3200" dirty="0"/>
          </a:p>
        </p:txBody>
      </p:sp>
      <p:sp>
        <p:nvSpPr>
          <p:cNvPr id="234" name="Shape 3"/>
          <p:cNvSpPr/>
          <p:nvPr/>
        </p:nvSpPr>
        <p:spPr>
          <a:xfrm>
            <a:off x="64008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5" name="Shape 4"/>
          <p:cNvSpPr/>
          <p:nvPr/>
        </p:nvSpPr>
        <p:spPr>
          <a:xfrm>
            <a:off x="960120" y="265176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36" name="Text 5"/>
          <p:cNvSpPr/>
          <p:nvPr/>
        </p:nvSpPr>
        <p:spPr>
          <a:xfrm>
            <a:off x="96012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37" name="Text 6"/>
          <p:cNvSpPr/>
          <p:nvPr/>
        </p:nvSpPr>
        <p:spPr>
          <a:xfrm>
            <a:off x="169164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1}}</a:t>
            </a:r>
            <a:endParaRPr lang="en-US" sz="1800" dirty="0"/>
          </a:p>
        </p:txBody>
      </p:sp>
      <p:sp>
        <p:nvSpPr>
          <p:cNvPr id="238" name="Text 7"/>
          <p:cNvSpPr/>
          <p:nvPr/>
        </p:nvSpPr>
        <p:spPr>
          <a:xfrm>
            <a:off x="100584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{{First action, one line.}}</a:t>
            </a:r>
            <a:endParaRPr lang="en-US" sz="1400" dirty="0"/>
          </a:p>
        </p:txBody>
      </p:sp>
      <p:sp>
        <p:nvSpPr>
          <p:cNvPr id="239" name="Shape 8"/>
          <p:cNvSpPr/>
          <p:nvPr/>
        </p:nvSpPr>
        <p:spPr>
          <a:xfrm>
            <a:off x="3986784" y="3401568"/>
            <a:ext cx="411480" cy="512064"/>
          </a:xfrm>
          <a:prstGeom prst="chevron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40" name="Shape 9"/>
          <p:cNvSpPr/>
          <p:nvPr/>
        </p:nvSpPr>
        <p:spPr>
          <a:xfrm>
            <a:off x="443484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1" name="Shape 10"/>
          <p:cNvSpPr/>
          <p:nvPr/>
        </p:nvSpPr>
        <p:spPr>
          <a:xfrm>
            <a:off x="4754880" y="265176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2" name="Text 11"/>
          <p:cNvSpPr/>
          <p:nvPr/>
        </p:nvSpPr>
        <p:spPr>
          <a:xfrm>
            <a:off x="4754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43" name="Text 12"/>
          <p:cNvSpPr/>
          <p:nvPr/>
        </p:nvSpPr>
        <p:spPr>
          <a:xfrm>
            <a:off x="548640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2}}</a:t>
            </a:r>
            <a:endParaRPr lang="en-US" sz="1800" dirty="0"/>
          </a:p>
        </p:txBody>
      </p:sp>
      <p:sp>
        <p:nvSpPr>
          <p:cNvPr id="244" name="Text 13"/>
          <p:cNvSpPr/>
          <p:nvPr/>
        </p:nvSpPr>
        <p:spPr>
          <a:xfrm>
            <a:off x="480060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{{Second action, one line.}}</a:t>
            </a:r>
            <a:endParaRPr lang="en-US" sz="1400" dirty="0"/>
          </a:p>
        </p:txBody>
      </p:sp>
      <p:sp>
        <p:nvSpPr>
          <p:cNvPr id="245" name="Shape 14"/>
          <p:cNvSpPr/>
          <p:nvPr/>
        </p:nvSpPr>
        <p:spPr>
          <a:xfrm>
            <a:off x="7781544" y="3401568"/>
            <a:ext cx="411480" cy="512064"/>
          </a:xfrm>
          <a:prstGeom prst="chevron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46" name="Shape 15"/>
          <p:cNvSpPr/>
          <p:nvPr/>
        </p:nvSpPr>
        <p:spPr>
          <a:xfrm>
            <a:off x="8229600" y="2286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7" name="Shape 16"/>
          <p:cNvSpPr/>
          <p:nvPr/>
        </p:nvSpPr>
        <p:spPr>
          <a:xfrm>
            <a:off x="8549640" y="265176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8" name="Text 17"/>
          <p:cNvSpPr/>
          <p:nvPr/>
        </p:nvSpPr>
        <p:spPr>
          <a:xfrm>
            <a:off x="8549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9" name="Text 18"/>
          <p:cNvSpPr/>
          <p:nvPr/>
        </p:nvSpPr>
        <p:spPr>
          <a:xfrm>
            <a:off x="9281160" y="2670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{{Step 3}}</a:t>
            </a:r>
            <a:endParaRPr lang="en-US" sz="1800" dirty="0"/>
          </a:p>
        </p:txBody>
      </p:sp>
      <p:sp>
        <p:nvSpPr>
          <p:cNvPr id="250" name="Text 19"/>
          <p:cNvSpPr/>
          <p:nvPr/>
        </p:nvSpPr>
        <p:spPr>
          <a:xfrm>
            <a:off x="8595360" y="3520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{{Third action, one line.}}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0E1424"/>
        </a:solidFill>
      </p:bgPr>
    </p:bg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5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25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moats / why you win}}</a:t>
            </a:r>
            <a:endParaRPr lang="en-US" sz="3200" dirty="0"/>
          </a:p>
        </p:txBody>
      </p:sp>
      <p:sp>
        <p:nvSpPr>
          <p:cNvPr id="255" name="Shape 3"/>
          <p:cNvSpPr/>
          <p:nvPr/>
        </p:nvSpPr>
        <p:spPr>
          <a:xfrm>
            <a:off x="640080" y="20116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B2436"/>
          </a:solidFill>
          <a:ln w="12700">
            <a:solidFill>
              <a:srgbClr val="2A3650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6" name="Text 4"/>
          <p:cNvSpPr/>
          <p:nvPr/>
        </p:nvSpPr>
        <p:spPr>
          <a:xfrm>
            <a:off x="96012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257" name="Text 5"/>
          <p:cNvSpPr/>
          <p:nvPr/>
        </p:nvSpPr>
        <p:spPr>
          <a:xfrm>
            <a:off x="96012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{{Moat 1}}</a:t>
            </a:r>
            <a:endParaRPr lang="en-US" sz="1900" dirty="0"/>
          </a:p>
        </p:txBody>
      </p:sp>
      <p:sp>
        <p:nvSpPr>
          <p:cNvPr id="258" name="Text 6"/>
          <p:cNvSpPr/>
          <p:nvPr/>
        </p:nvSpPr>
        <p:spPr>
          <a:xfrm>
            <a:off x="96012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advantage is durable, one line.}}</a:t>
            </a:r>
            <a:endParaRPr lang="en-US" sz="1300" dirty="0"/>
          </a:p>
        </p:txBody>
      </p:sp>
      <p:sp>
        <p:nvSpPr>
          <p:cNvPr id="259" name="Shape 7"/>
          <p:cNvSpPr/>
          <p:nvPr/>
        </p:nvSpPr>
        <p:spPr>
          <a:xfrm>
            <a:off x="4526280" y="20116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222E46"/>
          </a:solidFill>
          <a:ln w="12700">
            <a:solidFill>
              <a:srgbClr val="6366F1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0" name="Text 8"/>
          <p:cNvSpPr/>
          <p:nvPr/>
        </p:nvSpPr>
        <p:spPr>
          <a:xfrm>
            <a:off x="484632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261" name="Text 9"/>
          <p:cNvSpPr/>
          <p:nvPr/>
        </p:nvSpPr>
        <p:spPr>
          <a:xfrm>
            <a:off x="484632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{{Moat 2}}</a:t>
            </a:r>
            <a:endParaRPr lang="en-US" sz="1900" dirty="0"/>
          </a:p>
        </p:txBody>
      </p:sp>
      <p:sp>
        <p:nvSpPr>
          <p:cNvPr id="262" name="Text 10"/>
          <p:cNvSpPr/>
          <p:nvPr/>
        </p:nvSpPr>
        <p:spPr>
          <a:xfrm>
            <a:off x="484632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advantage is durable, one line.}}</a:t>
            </a:r>
            <a:endParaRPr lang="en-US" sz="1300" dirty="0"/>
          </a:p>
        </p:txBody>
      </p:sp>
      <p:sp>
        <p:nvSpPr>
          <p:cNvPr id="263" name="Shape 11"/>
          <p:cNvSpPr/>
          <p:nvPr/>
        </p:nvSpPr>
        <p:spPr>
          <a:xfrm>
            <a:off x="8412480" y="201168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1B2436"/>
          </a:solidFill>
          <a:ln w="12700">
            <a:solidFill>
              <a:srgbClr val="2A3650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4" name="Text 12"/>
          <p:cNvSpPr/>
          <p:nvPr/>
        </p:nvSpPr>
        <p:spPr>
          <a:xfrm>
            <a:off x="8732520" y="22860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65" name="Text 13"/>
          <p:cNvSpPr/>
          <p:nvPr/>
        </p:nvSpPr>
        <p:spPr>
          <a:xfrm>
            <a:off x="8732520" y="3063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{{Moat 3}}</a:t>
            </a:r>
            <a:endParaRPr lang="en-US" sz="1900" dirty="0"/>
          </a:p>
        </p:txBody>
      </p:sp>
      <p:sp>
        <p:nvSpPr>
          <p:cNvPr id="266" name="Text 14"/>
          <p:cNvSpPr/>
          <p:nvPr/>
        </p:nvSpPr>
        <p:spPr>
          <a:xfrm>
            <a:off x="8732520" y="361188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this advantage is durable,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0E1424"/>
        </a:solidFill>
      </p:bgPr>
    </p:bg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6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200" dirty="0"/>
          </a:p>
        </p:txBody>
      </p:sp>
      <p:sp>
        <p:nvSpPr>
          <p:cNvPr id="27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{{Impact after 90 days}}</a:t>
            </a:r>
            <a:endParaRPr lang="en-US" sz="3200" dirty="0"/>
          </a:p>
        </p:txBody>
      </p:sp>
      <p:sp>
        <p:nvSpPr>
          <p:cNvPr id="271" name="Shape 3"/>
          <p:cNvSpPr/>
          <p:nvPr/>
        </p:nvSpPr>
        <p:spPr>
          <a:xfrm>
            <a:off x="640080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2" name="Text 4"/>
          <p:cNvSpPr/>
          <p:nvPr/>
        </p:nvSpPr>
        <p:spPr>
          <a:xfrm>
            <a:off x="640080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{{%}}</a:t>
            </a:r>
            <a:endParaRPr lang="en-US" sz="3200" dirty="0"/>
          </a:p>
        </p:txBody>
      </p:sp>
      <p:sp>
        <p:nvSpPr>
          <p:cNvPr id="273" name="Text 5"/>
          <p:cNvSpPr/>
          <p:nvPr/>
        </p:nvSpPr>
        <p:spPr>
          <a:xfrm>
            <a:off x="640080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1}}</a:t>
            </a:r>
            <a:endParaRPr lang="en-US" sz="1400" dirty="0"/>
          </a:p>
        </p:txBody>
      </p:sp>
      <p:sp>
        <p:nvSpPr>
          <p:cNvPr id="274" name="Text 6"/>
          <p:cNvSpPr/>
          <p:nvPr/>
        </p:nvSpPr>
        <p:spPr>
          <a:xfrm>
            <a:off x="822960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{{Context, one line}}</a:t>
            </a:r>
            <a:endParaRPr lang="en-US" sz="1100" dirty="0"/>
          </a:p>
        </p:txBody>
      </p:sp>
      <p:sp>
        <p:nvSpPr>
          <p:cNvPr id="275" name="Shape 7"/>
          <p:cNvSpPr/>
          <p:nvPr/>
        </p:nvSpPr>
        <p:spPr>
          <a:xfrm>
            <a:off x="3538728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76" name="Text 8"/>
          <p:cNvSpPr/>
          <p:nvPr/>
        </p:nvSpPr>
        <p:spPr>
          <a:xfrm>
            <a:off x="3538728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{{%}}</a:t>
            </a:r>
            <a:endParaRPr lang="en-US" sz="3200" dirty="0"/>
          </a:p>
        </p:txBody>
      </p:sp>
      <p:sp>
        <p:nvSpPr>
          <p:cNvPr id="277" name="Text 9"/>
          <p:cNvSpPr/>
          <p:nvPr/>
        </p:nvSpPr>
        <p:spPr>
          <a:xfrm>
            <a:off x="3538728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2}}</a:t>
            </a:r>
            <a:endParaRPr lang="en-US" sz="1400" dirty="0"/>
          </a:p>
        </p:txBody>
      </p:sp>
      <p:sp>
        <p:nvSpPr>
          <p:cNvPr id="278" name="Text 10"/>
          <p:cNvSpPr/>
          <p:nvPr/>
        </p:nvSpPr>
        <p:spPr>
          <a:xfrm>
            <a:off x="3721608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{{Context, one line}}</a:t>
            </a:r>
            <a:endParaRPr lang="en-US" sz="1100" dirty="0"/>
          </a:p>
        </p:txBody>
      </p:sp>
      <p:sp>
        <p:nvSpPr>
          <p:cNvPr id="279" name="Shape 11"/>
          <p:cNvSpPr/>
          <p:nvPr/>
        </p:nvSpPr>
        <p:spPr>
          <a:xfrm>
            <a:off x="6437376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0" name="Text 12"/>
          <p:cNvSpPr/>
          <p:nvPr/>
        </p:nvSpPr>
        <p:spPr>
          <a:xfrm>
            <a:off x="6437376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281" name="Text 13"/>
          <p:cNvSpPr/>
          <p:nvPr/>
        </p:nvSpPr>
        <p:spPr>
          <a:xfrm>
            <a:off x="6437376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3}}</a:t>
            </a:r>
            <a:endParaRPr lang="en-US" sz="1400" dirty="0"/>
          </a:p>
        </p:txBody>
      </p:sp>
      <p:sp>
        <p:nvSpPr>
          <p:cNvPr id="282" name="Text 14"/>
          <p:cNvSpPr/>
          <p:nvPr/>
        </p:nvSpPr>
        <p:spPr>
          <a:xfrm>
            <a:off x="6620256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{{Context, one line}}</a:t>
            </a:r>
            <a:endParaRPr lang="en-US" sz="1100" dirty="0"/>
          </a:p>
        </p:txBody>
      </p:sp>
      <p:sp>
        <p:nvSpPr>
          <p:cNvPr id="283" name="Shape 15"/>
          <p:cNvSpPr/>
          <p:nvPr/>
        </p:nvSpPr>
        <p:spPr>
          <a:xfrm>
            <a:off x="9336024" y="201168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4" name="Text 16"/>
          <p:cNvSpPr/>
          <p:nvPr/>
        </p:nvSpPr>
        <p:spPr>
          <a:xfrm>
            <a:off x="9336024" y="221284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</a:t>
            </a:r>
            <a:endParaRPr lang="en-US" sz="3200" dirty="0"/>
          </a:p>
        </p:txBody>
      </p:sp>
      <p:sp>
        <p:nvSpPr>
          <p:cNvPr id="285" name="Text 17"/>
          <p:cNvSpPr/>
          <p:nvPr/>
        </p:nvSpPr>
        <p:spPr>
          <a:xfrm>
            <a:off x="9336024" y="29443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 4}}</a:t>
            </a:r>
            <a:endParaRPr lang="en-US" sz="1400" dirty="0"/>
          </a:p>
        </p:txBody>
      </p:sp>
      <p:sp>
        <p:nvSpPr>
          <p:cNvPr id="286" name="Text 18"/>
          <p:cNvSpPr/>
          <p:nvPr/>
        </p:nvSpPr>
        <p:spPr>
          <a:xfrm>
            <a:off x="9518904" y="33101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{{Context, one line}}</a:t>
            </a:r>
            <a:endParaRPr lang="en-US" sz="1100" dirty="0"/>
          </a:p>
        </p:txBody>
      </p:sp>
      <p:sp>
        <p:nvSpPr>
          <p:cNvPr id="287" name="Text 19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{{Source of this data, e.g. pilot customers — replace with your real numbers.}}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0E1424"/>
        </a:solidFill>
      </p:bgPr>
    </p:bg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290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91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{{Pricing model}}</a:t>
            </a:r>
            <a:endParaRPr lang="en-US" sz="3200" dirty="0"/>
          </a:p>
        </p:txBody>
      </p:sp>
      <p:sp>
        <p:nvSpPr>
          <p:cNvPr id="292" name="Shape 3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B2436"/>
          </a:solidFill>
          <a:ln w="12700">
            <a:solidFill>
              <a:srgbClr val="2A3650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3" name="Text 4"/>
          <p:cNvSpPr/>
          <p:nvPr/>
        </p:nvSpPr>
        <p:spPr>
          <a:xfrm>
            <a:off x="6400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{{Tier 1}}</a:t>
            </a:r>
            <a:endParaRPr lang="en-US" sz="2000" dirty="0"/>
          </a:p>
        </p:txBody>
      </p:sp>
      <p:sp>
        <p:nvSpPr>
          <p:cNvPr id="294" name="Text 5"/>
          <p:cNvSpPr/>
          <p:nvPr/>
        </p:nvSpPr>
        <p:spPr>
          <a:xfrm>
            <a:off x="6400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{{¥99}}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{{/seat/mo}}</a:t>
            </a:r>
            <a:endParaRPr lang="en-US" sz="4000" dirty="0"/>
          </a:p>
        </p:txBody>
      </p:sp>
      <p:sp>
        <p:nvSpPr>
          <p:cNvPr id="295" name="Text 6"/>
          <p:cNvSpPr/>
          <p:nvPr/>
        </p:nvSpPr>
        <p:spPr>
          <a:xfrm>
            <a:off x="10058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one line.}}</a:t>
            </a:r>
            <a:endParaRPr lang="en-US" sz="1300" dirty="0"/>
          </a:p>
        </p:txBody>
      </p:sp>
      <p:sp>
        <p:nvSpPr>
          <p:cNvPr id="296" name="Shape 7"/>
          <p:cNvSpPr/>
          <p:nvPr/>
        </p:nvSpPr>
        <p:spPr>
          <a:xfrm>
            <a:off x="45262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222E46"/>
          </a:solidFill>
          <a:ln w="12700">
            <a:solidFill>
              <a:srgbClr val="6366F1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7" name="Text 8"/>
          <p:cNvSpPr/>
          <p:nvPr/>
        </p:nvSpPr>
        <p:spPr>
          <a:xfrm>
            <a:off x="45262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{{Tier 2}}</a:t>
            </a:r>
            <a:endParaRPr lang="en-US" sz="2000" dirty="0"/>
          </a:p>
        </p:txBody>
      </p:sp>
      <p:sp>
        <p:nvSpPr>
          <p:cNvPr id="298" name="Text 9"/>
          <p:cNvSpPr/>
          <p:nvPr/>
        </p:nvSpPr>
        <p:spPr>
          <a:xfrm>
            <a:off x="45262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{{¥199}}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{{/seat/mo}}</a:t>
            </a:r>
            <a:endParaRPr lang="en-US" sz="4000" dirty="0"/>
          </a:p>
        </p:txBody>
      </p:sp>
      <p:sp>
        <p:nvSpPr>
          <p:cNvPr id="299" name="Text 10"/>
          <p:cNvSpPr/>
          <p:nvPr/>
        </p:nvSpPr>
        <p:spPr>
          <a:xfrm>
            <a:off x="48920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one line.}}</a:t>
            </a:r>
            <a:endParaRPr lang="en-US" sz="1300" dirty="0"/>
          </a:p>
        </p:txBody>
      </p:sp>
      <p:sp>
        <p:nvSpPr>
          <p:cNvPr id="300" name="Shape 11"/>
          <p:cNvSpPr/>
          <p:nvPr/>
        </p:nvSpPr>
        <p:spPr>
          <a:xfrm>
            <a:off x="8412480" y="1920240"/>
            <a:ext cx="3429000" cy="3657600"/>
          </a:xfrm>
          <a:prstGeom prst="roundRect">
            <a:avLst>
              <a:gd name="adj" fmla="val 3200"/>
            </a:avLst>
          </a:prstGeom>
          <a:solidFill>
            <a:srgbClr val="1B2436"/>
          </a:solidFill>
          <a:ln w="12700">
            <a:solidFill>
              <a:srgbClr val="2A3650"/>
            </a:solidFill>
            <a:prstDash val="solid"/>
          </a:ln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01" name="Text 12"/>
          <p:cNvSpPr/>
          <p:nvPr/>
        </p:nvSpPr>
        <p:spPr>
          <a:xfrm>
            <a:off x="8412480" y="2240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{{Tier 3}}</a:t>
            </a:r>
            <a:endParaRPr lang="en-US" sz="2000" dirty="0"/>
          </a:p>
        </p:txBody>
      </p:sp>
      <p:sp>
        <p:nvSpPr>
          <p:cNvPr id="302" name="Text 13"/>
          <p:cNvSpPr/>
          <p:nvPr/>
        </p:nvSpPr>
        <p:spPr>
          <a:xfrm>
            <a:off x="8412480" y="2834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{{Custom}}</a:t>
            </a: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{{quote}}</a:t>
            </a:r>
            <a:endParaRPr lang="en-US" sz="4000" dirty="0"/>
          </a:p>
        </p:txBody>
      </p:sp>
      <p:sp>
        <p:nvSpPr>
          <p:cNvPr id="303" name="Text 14"/>
          <p:cNvSpPr/>
          <p:nvPr/>
        </p:nvSpPr>
        <p:spPr>
          <a:xfrm>
            <a:off x="8778240" y="384048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is included,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 name="Slide 10">
    <p:bg>
      <p:bgPr>
        <a:solidFill>
          <a:srgbClr val="0E1424"/>
        </a:solidFill>
      </p:bgPr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1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differ}}</a:t>
            </a:r>
            <a:endParaRPr lang="en-US" sz="3200" dirty="0"/>
          </a:p>
        </p:txBody>
      </p:sp>
      <p:sp>
        <p:nvSpPr>
          <p:cNvPr id="14" name="Shape 3"/>
          <p:cNvSpPr/>
          <p:nvPr/>
        </p:nvSpPr>
        <p:spPr>
          <a:xfrm>
            <a:off x="640080" y="192024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222E46"/>
          </a:solidFill>
          <a:ln/>
        </p:spPr>
        <p:txBody>
          <a:bodyPr/>
          <a:p/>
        </p:txBody>
      </p:sp>
      <p:sp>
        <p:nvSpPr>
          <p:cNvPr id="15" name="Text 4"/>
          <p:cNvSpPr/>
          <p:nvPr/>
        </p:nvSpPr>
        <p:spPr>
          <a:xfrm>
            <a:off x="64008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{{Option}}</a:t>
            </a:r>
            <a:endParaRPr lang="en-US" sz="1500" dirty="0"/>
          </a:p>
        </p:txBody>
      </p:sp>
      <p:sp>
        <p:nvSpPr>
          <p:cNvPr id="16" name="Shape 5"/>
          <p:cNvSpPr/>
          <p:nvPr/>
        </p:nvSpPr>
        <p:spPr>
          <a:xfrm>
            <a:off x="4023360" y="192024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222E46"/>
          </a:solidFill>
          <a:ln/>
        </p:spPr>
        <p:txBody>
          <a:bodyPr/>
          <a:p/>
        </p:txBody>
      </p:sp>
      <p:sp>
        <p:nvSpPr>
          <p:cNvPr id="17" name="Text 6"/>
          <p:cNvSpPr/>
          <p:nvPr/>
        </p:nvSpPr>
        <p:spPr>
          <a:xfrm>
            <a:off x="402336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{{Upkeep}}</a:t>
            </a:r>
            <a:endParaRPr lang="en-US" sz="1500" dirty="0"/>
          </a:p>
        </p:txBody>
      </p:sp>
      <p:sp>
        <p:nvSpPr>
          <p:cNvPr id="18" name="Shape 7"/>
          <p:cNvSpPr/>
          <p:nvPr/>
        </p:nvSpPr>
        <p:spPr>
          <a:xfrm>
            <a:off x="7863840" y="192024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222E46"/>
          </a:solidFill>
          <a:ln/>
        </p:spPr>
        <p:txBody>
          <a:bodyPr/>
          <a:p/>
        </p:txBody>
      </p:sp>
      <p:sp>
        <p:nvSpPr>
          <p:cNvPr id="19" name="Text 8"/>
          <p:cNvSpPr/>
          <p:nvPr/>
        </p:nvSpPr>
        <p:spPr>
          <a:xfrm>
            <a:off x="786384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{{Intelligence &amp; trust}}</a:t>
            </a:r>
            <a:endParaRPr lang="en-US" sz="1500" dirty="0"/>
          </a:p>
        </p:txBody>
      </p:sp>
      <p:sp>
        <p:nvSpPr>
          <p:cNvPr id="20" name="Shape 9"/>
          <p:cNvSpPr/>
          <p:nvPr/>
        </p:nvSpPr>
        <p:spPr>
          <a:xfrm>
            <a:off x="640080" y="260604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21" name="Text 10"/>
          <p:cNvSpPr/>
          <p:nvPr/>
        </p:nvSpPr>
        <p:spPr>
          <a:xfrm>
            <a:off x="8229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{{Alternative 1}}</a:t>
            </a:r>
            <a:endParaRPr lang="en-US" sz="1300" dirty="0"/>
          </a:p>
        </p:txBody>
      </p:sp>
      <p:sp>
        <p:nvSpPr>
          <p:cNvPr id="22" name="Shape 11"/>
          <p:cNvSpPr/>
          <p:nvPr/>
        </p:nvSpPr>
        <p:spPr>
          <a:xfrm>
            <a:off x="4023360" y="260604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23" name="Text 12"/>
          <p:cNvSpPr/>
          <p:nvPr/>
        </p:nvSpPr>
        <p:spPr>
          <a:xfrm>
            <a:off x="4206240" y="2606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{{Its weakness}}</a:t>
            </a:r>
            <a:endParaRPr lang="en-US" sz="1300" dirty="0"/>
          </a:p>
        </p:txBody>
      </p:sp>
      <p:sp>
        <p:nvSpPr>
          <p:cNvPr id="24" name="Shape 13"/>
          <p:cNvSpPr/>
          <p:nvPr/>
        </p:nvSpPr>
        <p:spPr>
          <a:xfrm>
            <a:off x="7863840" y="26060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25" name="Text 14"/>
          <p:cNvSpPr/>
          <p:nvPr/>
        </p:nvSpPr>
        <p:spPr>
          <a:xfrm>
            <a:off x="8046720" y="2606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{{Its gap}}</a:t>
            </a:r>
            <a:endParaRPr lang="en-US" sz="1300" dirty="0"/>
          </a:p>
        </p:txBody>
      </p:sp>
      <p:sp>
        <p:nvSpPr>
          <p:cNvPr id="26" name="Shape 15"/>
          <p:cNvSpPr/>
          <p:nvPr/>
        </p:nvSpPr>
        <p:spPr>
          <a:xfrm>
            <a:off x="640080" y="365760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27" name="Text 16"/>
          <p:cNvSpPr/>
          <p:nvPr/>
        </p:nvSpPr>
        <p:spPr>
          <a:xfrm>
            <a:off x="822960" y="3657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{{Alternative 2}}</a:t>
            </a:r>
            <a:endParaRPr lang="en-US" sz="1300" dirty="0"/>
          </a:p>
        </p:txBody>
      </p:sp>
      <p:sp>
        <p:nvSpPr>
          <p:cNvPr id="28" name="Shape 17"/>
          <p:cNvSpPr/>
          <p:nvPr/>
        </p:nvSpPr>
        <p:spPr>
          <a:xfrm>
            <a:off x="4023360" y="365760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29" name="Text 18"/>
          <p:cNvSpPr/>
          <p:nvPr/>
        </p:nvSpPr>
        <p:spPr>
          <a:xfrm>
            <a:off x="4206240" y="36576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{{Its weakness}}</a:t>
            </a:r>
            <a:endParaRPr lang="en-US" sz="1300" dirty="0"/>
          </a:p>
        </p:txBody>
      </p:sp>
      <p:sp>
        <p:nvSpPr>
          <p:cNvPr id="30" name="Shape 19"/>
          <p:cNvSpPr/>
          <p:nvPr/>
        </p:nvSpPr>
        <p:spPr>
          <a:xfrm>
            <a:off x="7863840" y="36576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B2436"/>
          </a:solidFill>
          <a:ln/>
        </p:spPr>
        <p:txBody>
          <a:bodyPr/>
          <a:p/>
        </p:txBody>
      </p:sp>
      <p:sp>
        <p:nvSpPr>
          <p:cNvPr id="31" name="Text 20"/>
          <p:cNvSpPr/>
          <p:nvPr/>
        </p:nvSpPr>
        <p:spPr>
          <a:xfrm>
            <a:off x="80467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{{Its gap}}</a:t>
            </a:r>
            <a:endParaRPr lang="en-US" sz="1300" dirty="0"/>
          </a:p>
        </p:txBody>
      </p:sp>
      <p:sp>
        <p:nvSpPr>
          <p:cNvPr id="32" name="Shape 21"/>
          <p:cNvSpPr/>
          <p:nvPr/>
        </p:nvSpPr>
        <p:spPr>
          <a:xfrm>
            <a:off x="640080" y="47091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3" name="Text 22"/>
          <p:cNvSpPr/>
          <p:nvPr/>
        </p:nvSpPr>
        <p:spPr>
          <a:xfrm>
            <a:off x="822960" y="4709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product}}</a:t>
            </a:r>
            <a:endParaRPr lang="en-US" sz="1500" dirty="0"/>
          </a:p>
        </p:txBody>
      </p:sp>
      <p:sp>
        <p:nvSpPr>
          <p:cNvPr id="34" name="Shape 23"/>
          <p:cNvSpPr/>
          <p:nvPr/>
        </p:nvSpPr>
        <p:spPr>
          <a:xfrm>
            <a:off x="4023360" y="4709160"/>
            <a:ext cx="3749040" cy="914400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5" name="Text 24"/>
          <p:cNvSpPr/>
          <p:nvPr/>
        </p:nvSpPr>
        <p:spPr>
          <a:xfrm>
            <a:off x="4206240" y="4709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strength}}</a:t>
            </a:r>
            <a:endParaRPr lang="en-US" sz="1500" dirty="0"/>
          </a:p>
        </p:txBody>
      </p:sp>
      <p:sp>
        <p:nvSpPr>
          <p:cNvPr id="36" name="Shape 25"/>
          <p:cNvSpPr/>
          <p:nvPr/>
        </p:nvSpPr>
        <p:spPr>
          <a:xfrm>
            <a:off x="7863840" y="47091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37" name="Text 26"/>
          <p:cNvSpPr/>
          <p:nvPr/>
        </p:nvSpPr>
        <p:spPr>
          <a:xfrm>
            <a:off x="8046720" y="4709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edge}}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p="http://schemas.openxmlformats.org/presentationml/2006/main" xmlns:a="http://schemas.openxmlformats.org/drawingml/2006/main">
  <p:cSld name="Slide 11">
    <p:bg>
      <p:bgPr>
        <a:solidFill>
          <a:srgbClr val="0E1424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40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{{Early traction}}</a:t>
            </a:r>
            <a:endParaRPr lang="en-US" sz="3200" dirty="0"/>
          </a:p>
        </p:txBody>
      </p:sp>
      <p:sp>
        <p:nvSpPr>
          <p:cNvPr id="42" name="Shape 3"/>
          <p:cNvSpPr/>
          <p:nvPr/>
        </p:nvSpPr>
        <p:spPr>
          <a:xfrm>
            <a:off x="640080" y="178308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3" name="Text 4"/>
          <p:cNvSpPr/>
          <p:nvPr/>
        </p:nvSpPr>
        <p:spPr>
          <a:xfrm>
            <a:off x="868680" y="19202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{{Metric}} (by {{period}})</a:t>
            </a:r>
            <a:endParaRPr lang="en-US" sz="140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822960" y="2331720"/>
          <a:ext cx="5669280" cy="347472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45" name="Shape 5"/>
          <p:cNvSpPr/>
          <p:nvPr/>
        </p:nvSpPr>
        <p:spPr>
          <a:xfrm>
            <a:off x="7040880" y="178308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6" name="Text 6"/>
          <p:cNvSpPr/>
          <p:nvPr/>
        </p:nvSpPr>
        <p:spPr>
          <a:xfrm>
            <a:off x="704088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{{30+}}</a:t>
            </a:r>
            <a:endParaRPr lang="en-US" sz="3200" dirty="0"/>
          </a:p>
        </p:txBody>
      </p:sp>
      <p:sp>
        <p:nvSpPr>
          <p:cNvPr id="47" name="Text 7"/>
          <p:cNvSpPr/>
          <p:nvPr/>
        </p:nvSpPr>
        <p:spPr>
          <a:xfrm>
            <a:off x="7040880" y="27157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1}}</a:t>
            </a:r>
            <a:endParaRPr lang="en-US" sz="1400" dirty="0"/>
          </a:p>
        </p:txBody>
      </p:sp>
      <p:sp>
        <p:nvSpPr>
          <p:cNvPr id="48" name="Text 8"/>
          <p:cNvSpPr/>
          <p:nvPr/>
        </p:nvSpPr>
        <p:spPr>
          <a:xfrm>
            <a:off x="7223760" y="30815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{{Context}}</a:t>
            </a:r>
            <a:endParaRPr lang="en-US" sz="1100" dirty="0"/>
          </a:p>
        </p:txBody>
      </p:sp>
      <p:sp>
        <p:nvSpPr>
          <p:cNvPr id="49" name="Shape 9"/>
          <p:cNvSpPr/>
          <p:nvPr/>
        </p:nvSpPr>
        <p:spPr>
          <a:xfrm>
            <a:off x="7040880" y="320040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0" name="Text 10"/>
          <p:cNvSpPr/>
          <p:nvPr/>
        </p:nvSpPr>
        <p:spPr>
          <a:xfrm>
            <a:off x="7040880" y="3401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{{NPS}}</a:t>
            </a:r>
            <a:endParaRPr lang="en-US" sz="3200" dirty="0"/>
          </a:p>
        </p:txBody>
      </p:sp>
      <p:sp>
        <p:nvSpPr>
          <p:cNvPr id="51" name="Text 11"/>
          <p:cNvSpPr/>
          <p:nvPr/>
        </p:nvSpPr>
        <p:spPr>
          <a:xfrm>
            <a:off x="7040880" y="41330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2}}</a:t>
            </a:r>
            <a:endParaRPr lang="en-US" sz="1400" dirty="0"/>
          </a:p>
        </p:txBody>
      </p:sp>
      <p:sp>
        <p:nvSpPr>
          <p:cNvPr id="52" name="Text 12"/>
          <p:cNvSpPr/>
          <p:nvPr/>
        </p:nvSpPr>
        <p:spPr>
          <a:xfrm>
            <a:off x="7223760" y="4498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{{Context}}</a:t>
            </a:r>
            <a:endParaRPr lang="en-US" sz="1100" dirty="0"/>
          </a:p>
        </p:txBody>
      </p:sp>
      <p:sp>
        <p:nvSpPr>
          <p:cNvPr id="53" name="Shape 13"/>
          <p:cNvSpPr/>
          <p:nvPr/>
        </p:nvSpPr>
        <p:spPr>
          <a:xfrm>
            <a:off x="7040880" y="4617720"/>
            <a:ext cx="4480560" cy="1280160"/>
          </a:xfrm>
          <a:prstGeom prst="roundRect">
            <a:avLst>
              <a:gd name="adj" fmla="val 857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4" name="Text 14"/>
          <p:cNvSpPr/>
          <p:nvPr/>
        </p:nvSpPr>
        <p:spPr>
          <a:xfrm>
            <a:off x="7040880" y="481888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{{94%}}</a:t>
            </a:r>
            <a:endParaRPr lang="en-US" sz="3200" dirty="0"/>
          </a:p>
        </p:txBody>
      </p:sp>
      <p:sp>
        <p:nvSpPr>
          <p:cNvPr id="55" name="Text 15"/>
          <p:cNvSpPr/>
          <p:nvPr/>
        </p:nvSpPr>
        <p:spPr>
          <a:xfrm>
            <a:off x="7040880" y="5550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{{Headline metric 3}}</a:t>
            </a:r>
            <a:endParaRPr lang="en-US" sz="1400" dirty="0"/>
          </a:p>
        </p:txBody>
      </p:sp>
      <p:sp>
        <p:nvSpPr>
          <p:cNvPr id="56" name="Text 16"/>
          <p:cNvSpPr/>
          <p:nvPr/>
        </p:nvSpPr>
        <p:spPr>
          <a:xfrm>
            <a:off x="7223760" y="59161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{{Context}}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0E1424"/>
        </a:solidFill>
      </p:bgPr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5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6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{{Go-to-market strategy}}</a:t>
            </a:r>
            <a:endParaRPr lang="en-US" sz="3200" dirty="0"/>
          </a:p>
        </p:txBody>
      </p:sp>
      <p:sp>
        <p:nvSpPr>
          <p:cNvPr id="61" name="Shape 3"/>
          <p:cNvSpPr/>
          <p:nvPr/>
        </p:nvSpPr>
        <p:spPr>
          <a:xfrm>
            <a:off x="6400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2" name="Shape 4"/>
          <p:cNvSpPr/>
          <p:nvPr/>
        </p:nvSpPr>
        <p:spPr>
          <a:xfrm>
            <a:off x="2071116" y="246888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3" name="Text 5"/>
          <p:cNvSpPr/>
          <p:nvPr/>
        </p:nvSpPr>
        <p:spPr>
          <a:xfrm>
            <a:off x="20711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4" name="Text 6"/>
          <p:cNvSpPr/>
          <p:nvPr/>
        </p:nvSpPr>
        <p:spPr>
          <a:xfrm>
            <a:off x="6400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{{Motion 1}}</a:t>
            </a:r>
            <a:endParaRPr lang="en-US" sz="1800" dirty="0"/>
          </a:p>
        </p:txBody>
      </p:sp>
      <p:sp>
        <p:nvSpPr>
          <p:cNvPr id="65" name="Text 7"/>
          <p:cNvSpPr/>
          <p:nvPr/>
        </p:nvSpPr>
        <p:spPr>
          <a:xfrm>
            <a:off x="9601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acquire users, one line.}}</a:t>
            </a:r>
            <a:endParaRPr lang="en-US" sz="1300" dirty="0"/>
          </a:p>
        </p:txBody>
      </p:sp>
      <p:sp>
        <p:nvSpPr>
          <p:cNvPr id="66" name="Shape 8"/>
          <p:cNvSpPr/>
          <p:nvPr/>
        </p:nvSpPr>
        <p:spPr>
          <a:xfrm>
            <a:off x="45262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7" name="Shape 9"/>
          <p:cNvSpPr/>
          <p:nvPr/>
        </p:nvSpPr>
        <p:spPr>
          <a:xfrm>
            <a:off x="5957316" y="2468880"/>
            <a:ext cx="566928" cy="566928"/>
          </a:xfrm>
          <a:prstGeom prst="ellipse">
            <a:avLst/>
          </a:prstGeom>
          <a:solidFill>
            <a:srgbClr val="6366F1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8" name="Text 10"/>
          <p:cNvSpPr/>
          <p:nvPr/>
        </p:nvSpPr>
        <p:spPr>
          <a:xfrm>
            <a:off x="59573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9" name="Text 11"/>
          <p:cNvSpPr/>
          <p:nvPr/>
        </p:nvSpPr>
        <p:spPr>
          <a:xfrm>
            <a:off x="45262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{{Motion 2}}</a:t>
            </a:r>
            <a:endParaRPr lang="en-US" sz="1800" dirty="0"/>
          </a:p>
        </p:txBody>
      </p:sp>
      <p:sp>
        <p:nvSpPr>
          <p:cNvPr id="70" name="Text 12"/>
          <p:cNvSpPr/>
          <p:nvPr/>
        </p:nvSpPr>
        <p:spPr>
          <a:xfrm>
            <a:off x="48463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expand, one line.}}</a:t>
            </a:r>
            <a:endParaRPr lang="en-US" sz="1300" dirty="0"/>
          </a:p>
        </p:txBody>
      </p:sp>
      <p:sp>
        <p:nvSpPr>
          <p:cNvPr id="71" name="Shape 13"/>
          <p:cNvSpPr/>
          <p:nvPr/>
        </p:nvSpPr>
        <p:spPr>
          <a:xfrm>
            <a:off x="8412480" y="210312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2" name="Shape 14"/>
          <p:cNvSpPr/>
          <p:nvPr/>
        </p:nvSpPr>
        <p:spPr>
          <a:xfrm>
            <a:off x="9843516" y="2468880"/>
            <a:ext cx="566928" cy="566928"/>
          </a:xfrm>
          <a:prstGeom prst="ellipse">
            <a:avLst/>
          </a:prstGeom>
          <a:solidFill>
            <a:srgbClr val="2DD4BF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3" name="Text 15"/>
          <p:cNvSpPr/>
          <p:nvPr/>
        </p:nvSpPr>
        <p:spPr>
          <a:xfrm>
            <a:off x="984351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74" name="Text 16"/>
          <p:cNvSpPr/>
          <p:nvPr/>
        </p:nvSpPr>
        <p:spPr>
          <a:xfrm>
            <a:off x="8412480" y="3200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{{Motion 3}}</a:t>
            </a:r>
            <a:endParaRPr lang="en-US" sz="1800" dirty="0"/>
          </a:p>
        </p:txBody>
      </p:sp>
      <p:sp>
        <p:nvSpPr>
          <p:cNvPr id="75" name="Text 17"/>
          <p:cNvSpPr/>
          <p:nvPr/>
        </p:nvSpPr>
        <p:spPr>
          <a:xfrm>
            <a:off x="8732520" y="37490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you partner, one line.}}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0E1424"/>
        </a:solidFill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78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79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{{Your team}}</a:t>
            </a:r>
            <a:endParaRPr lang="en-US" sz="3200" dirty="0"/>
          </a:p>
        </p:txBody>
      </p:sp>
      <p:sp>
        <p:nvSpPr>
          <p:cNvPr id="80" name="Shape 3"/>
          <p:cNvSpPr/>
          <p:nvPr/>
        </p:nvSpPr>
        <p:spPr>
          <a:xfrm>
            <a:off x="64008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1" name="Shape 4"/>
          <p:cNvSpPr/>
          <p:nvPr/>
        </p:nvSpPr>
        <p:spPr>
          <a:xfrm>
            <a:off x="1440180" y="2377440"/>
            <a:ext cx="1005840" cy="10058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82" name="Text 5"/>
          <p:cNvSpPr/>
          <p:nvPr/>
        </p:nvSpPr>
        <p:spPr>
          <a:xfrm>
            <a:off x="144018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3" name="Text 6"/>
          <p:cNvSpPr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84" name="Text 7"/>
          <p:cNvSpPr/>
          <p:nvPr/>
        </p:nvSpPr>
        <p:spPr>
          <a:xfrm>
            <a:off x="868680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85" name="Shape 8"/>
          <p:cNvSpPr/>
          <p:nvPr/>
        </p:nvSpPr>
        <p:spPr>
          <a:xfrm>
            <a:off x="3538728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6" name="Shape 9"/>
          <p:cNvSpPr/>
          <p:nvPr/>
        </p:nvSpPr>
        <p:spPr>
          <a:xfrm>
            <a:off x="4338828" y="237744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87" name="Text 10"/>
          <p:cNvSpPr/>
          <p:nvPr/>
        </p:nvSpPr>
        <p:spPr>
          <a:xfrm>
            <a:off x="4338828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88" name="Text 11"/>
          <p:cNvSpPr/>
          <p:nvPr/>
        </p:nvSpPr>
        <p:spPr>
          <a:xfrm>
            <a:off x="3538728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89" name="Text 12"/>
          <p:cNvSpPr/>
          <p:nvPr/>
        </p:nvSpPr>
        <p:spPr>
          <a:xfrm>
            <a:off x="3767328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90" name="Shape 13"/>
          <p:cNvSpPr/>
          <p:nvPr/>
        </p:nvSpPr>
        <p:spPr>
          <a:xfrm>
            <a:off x="6437376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1" name="Shape 14"/>
          <p:cNvSpPr/>
          <p:nvPr/>
        </p:nvSpPr>
        <p:spPr>
          <a:xfrm>
            <a:off x="7237476" y="2377440"/>
            <a:ext cx="1005840" cy="10058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92" name="Text 15"/>
          <p:cNvSpPr/>
          <p:nvPr/>
        </p:nvSpPr>
        <p:spPr>
          <a:xfrm>
            <a:off x="7237476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3" name="Text 16"/>
          <p:cNvSpPr/>
          <p:nvPr/>
        </p:nvSpPr>
        <p:spPr>
          <a:xfrm>
            <a:off x="6437376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4" name="Text 17"/>
          <p:cNvSpPr/>
          <p:nvPr/>
        </p:nvSpPr>
        <p:spPr>
          <a:xfrm>
            <a:off x="6665976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  <p:sp>
        <p:nvSpPr>
          <p:cNvPr id="95" name="Shape 18"/>
          <p:cNvSpPr/>
          <p:nvPr/>
        </p:nvSpPr>
        <p:spPr>
          <a:xfrm>
            <a:off x="9336024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6" name="Shape 19"/>
          <p:cNvSpPr/>
          <p:nvPr/>
        </p:nvSpPr>
        <p:spPr>
          <a:xfrm>
            <a:off x="10136124" y="237744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97" name="Text 20"/>
          <p:cNvSpPr/>
          <p:nvPr/>
        </p:nvSpPr>
        <p:spPr>
          <a:xfrm>
            <a:off x="10136124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{{N}}</a:t>
            </a:r>
            <a:endParaRPr lang="en-US" sz="2200" dirty="0"/>
          </a:p>
        </p:txBody>
      </p:sp>
      <p:sp>
        <p:nvSpPr>
          <p:cNvPr id="98" name="Text 21"/>
          <p:cNvSpPr/>
          <p:nvPr/>
        </p:nvSpPr>
        <p:spPr>
          <a:xfrm>
            <a:off x="9336024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{{Role}}</a:t>
            </a:r>
            <a:endParaRPr lang="en-US" sz="1800" dirty="0"/>
          </a:p>
        </p:txBody>
      </p:sp>
      <p:sp>
        <p:nvSpPr>
          <p:cNvPr id="99" name="Text 22"/>
          <p:cNvSpPr/>
          <p:nvPr/>
        </p:nvSpPr>
        <p:spPr>
          <a:xfrm>
            <a:off x="9564624" y="39776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{{Relevant background, one line.}}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 name="Slide 14">
    <p:bg>
      <p:bgPr>
        <a:solidFill>
          <a:srgbClr val="0E1424"/>
        </a:solidFill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02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103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{{Raising amount}} this round</a:t>
            </a:r>
            <a:endParaRPr lang="en-US" sz="3200" dirty="0"/>
          </a:p>
        </p:txBody>
      </p:sp>
      <p:sp>
        <p:nvSpPr>
          <p:cNvPr id="104" name="Text 3"/>
          <p:cNvSpPr/>
          <p:nvPr/>
        </p:nvSpPr>
        <p:spPr>
          <a:xfrm>
            <a:off x="640080" y="1645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the money buys — milestone in {{timeframe}}.}}</a:t>
            </a:r>
            <a:endParaRPr lang="en-US" sz="1500" dirty="0"/>
          </a:p>
        </p:txBody>
      </p:sp>
      <p:sp>
        <p:nvSpPr>
          <p:cNvPr id="105" name="Shape 4"/>
          <p:cNvSpPr/>
          <p:nvPr/>
        </p:nvSpPr>
        <p:spPr>
          <a:xfrm>
            <a:off x="6400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6" name="Text 5"/>
          <p:cNvSpPr/>
          <p:nvPr/>
        </p:nvSpPr>
        <p:spPr>
          <a:xfrm>
            <a:off x="6400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{{50%}}</a:t>
            </a:r>
            <a:endParaRPr lang="en-US" sz="4000" dirty="0"/>
          </a:p>
        </p:txBody>
      </p:sp>
      <p:sp>
        <p:nvSpPr>
          <p:cNvPr id="107" name="Text 6"/>
          <p:cNvSpPr/>
          <p:nvPr/>
        </p:nvSpPr>
        <p:spPr>
          <a:xfrm>
            <a:off x="6400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{{R&amp;D}}</a:t>
            </a:r>
            <a:endParaRPr lang="en-US" sz="1800" dirty="0"/>
          </a:p>
        </p:txBody>
      </p:sp>
      <p:sp>
        <p:nvSpPr>
          <p:cNvPr id="108" name="Text 7"/>
          <p:cNvSpPr/>
          <p:nvPr/>
        </p:nvSpPr>
        <p:spPr>
          <a:xfrm>
            <a:off x="9601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109" name="Shape 8"/>
          <p:cNvSpPr/>
          <p:nvPr/>
        </p:nvSpPr>
        <p:spPr>
          <a:xfrm>
            <a:off x="45262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0" name="Text 9"/>
          <p:cNvSpPr/>
          <p:nvPr/>
        </p:nvSpPr>
        <p:spPr>
          <a:xfrm>
            <a:off x="45262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{{30%}}</a:t>
            </a:r>
            <a:endParaRPr lang="en-US" sz="4000" dirty="0"/>
          </a:p>
        </p:txBody>
      </p:sp>
      <p:sp>
        <p:nvSpPr>
          <p:cNvPr id="111" name="Text 10"/>
          <p:cNvSpPr/>
          <p:nvPr/>
        </p:nvSpPr>
        <p:spPr>
          <a:xfrm>
            <a:off x="45262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{{GTM}}</a:t>
            </a:r>
            <a:endParaRPr lang="en-US" sz="1800" dirty="0"/>
          </a:p>
        </p:txBody>
      </p:sp>
      <p:sp>
        <p:nvSpPr>
          <p:cNvPr id="112" name="Text 11"/>
          <p:cNvSpPr/>
          <p:nvPr/>
        </p:nvSpPr>
        <p:spPr>
          <a:xfrm>
            <a:off x="48463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113" name="Shape 12"/>
          <p:cNvSpPr/>
          <p:nvPr/>
        </p:nvSpPr>
        <p:spPr>
          <a:xfrm>
            <a:off x="8412480" y="23774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4" name="Text 13"/>
          <p:cNvSpPr/>
          <p:nvPr/>
        </p:nvSpPr>
        <p:spPr>
          <a:xfrm>
            <a:off x="8412480" y="26974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{{20%}}</a:t>
            </a:r>
            <a:endParaRPr lang="en-US" sz="4000" dirty="0"/>
          </a:p>
        </p:txBody>
      </p:sp>
      <p:sp>
        <p:nvSpPr>
          <p:cNvPr id="115" name="Text 14"/>
          <p:cNvSpPr/>
          <p:nvPr/>
        </p:nvSpPr>
        <p:spPr>
          <a:xfrm>
            <a:off x="8412480" y="3611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{{Ops}}</a:t>
            </a:r>
            <a:endParaRPr lang="en-US" sz="1800" dirty="0"/>
          </a:p>
        </p:txBody>
      </p:sp>
      <p:sp>
        <p:nvSpPr>
          <p:cNvPr id="116" name="Text 15"/>
          <p:cNvSpPr/>
          <p:nvPr/>
        </p:nvSpPr>
        <p:spPr>
          <a:xfrm>
            <a:off x="8732520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 name="Slide 15">
    <p:bg>
      <p:bgPr>
        <a:solidFill>
          <a:srgbClr val="0E1424"/>
        </a:solidFill>
      </p:bgPr>
    </p:bg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p/>
        </p:txBody>
      </p:sp>
      <p:sp>
        <p:nvSpPr>
          <p:cNvPr id="119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120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{{Next 12 months}}</a:t>
            </a:r>
            <a:endParaRPr lang="en-US" sz="3200" dirty="0"/>
          </a:p>
        </p:txBody>
      </p:sp>
      <p:sp>
        <p:nvSpPr>
          <p:cNvPr id="121" name="Shape 3"/>
          <p:cNvSpPr/>
          <p:nvPr/>
        </p:nvSpPr>
        <p:spPr>
          <a:xfrm>
            <a:off x="1097280" y="2057400"/>
            <a:ext cx="10058400" cy="0"/>
          </a:xfrm>
          <a:prstGeom prst="line">
            <a:avLst/>
          </a:prstGeom>
          <a:noFill/>
          <a:ln w="25400">
            <a:solidFill>
              <a:srgbClr val="2A3650"/>
            </a:solidFill>
            <a:prstDash val="solid"/>
          </a:ln>
        </p:spPr>
        <p:txBody>
          <a:bodyPr/>
          <a:p/>
        </p:txBody>
      </p:sp>
      <p:sp>
        <p:nvSpPr>
          <p:cNvPr id="122" name="Shape 4"/>
          <p:cNvSpPr/>
          <p:nvPr/>
        </p:nvSpPr>
        <p:spPr>
          <a:xfrm>
            <a:off x="1778508" y="1892808"/>
            <a:ext cx="329184" cy="329184"/>
          </a:xfrm>
          <a:prstGeom prst="ellipse">
            <a:avLst/>
          </a:prstGeom>
          <a:solidFill>
            <a:srgbClr val="2DD4BF"/>
          </a:solidFill>
          <a:ln w="38100">
            <a:solidFill>
              <a:srgbClr val="0E1424"/>
            </a:solidFill>
            <a:prstDash val="solid"/>
          </a:ln>
        </p:spPr>
        <p:txBody>
          <a:bodyPr/>
          <a:p/>
        </p:txBody>
      </p:sp>
      <p:sp>
        <p:nvSpPr>
          <p:cNvPr id="123" name="Shape 5"/>
          <p:cNvSpPr/>
          <p:nvPr/>
        </p:nvSpPr>
        <p:spPr>
          <a:xfrm>
            <a:off x="640080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4" name="Text 6"/>
          <p:cNvSpPr/>
          <p:nvPr/>
        </p:nvSpPr>
        <p:spPr>
          <a:xfrm>
            <a:off x="640080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600" dirty="0"/>
          </a:p>
        </p:txBody>
      </p:sp>
      <p:sp>
        <p:nvSpPr>
          <p:cNvPr id="125" name="Text 7"/>
          <p:cNvSpPr/>
          <p:nvPr/>
        </p:nvSpPr>
        <p:spPr>
          <a:xfrm>
            <a:off x="640080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26" name="Text 8"/>
          <p:cNvSpPr/>
          <p:nvPr/>
        </p:nvSpPr>
        <p:spPr>
          <a:xfrm>
            <a:off x="914400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127" name="Shape 9"/>
          <p:cNvSpPr/>
          <p:nvPr/>
        </p:nvSpPr>
        <p:spPr>
          <a:xfrm>
            <a:off x="4677156" y="1892808"/>
            <a:ext cx="329184" cy="329184"/>
          </a:xfrm>
          <a:prstGeom prst="ellipse">
            <a:avLst/>
          </a:prstGeom>
          <a:solidFill>
            <a:srgbClr val="2DD4BF"/>
          </a:solidFill>
          <a:ln w="38100">
            <a:solidFill>
              <a:srgbClr val="0E1424"/>
            </a:solidFill>
            <a:prstDash val="solid"/>
          </a:ln>
        </p:spPr>
        <p:txBody>
          <a:bodyPr/>
          <a:p/>
        </p:txBody>
      </p:sp>
      <p:sp>
        <p:nvSpPr>
          <p:cNvPr id="128" name="Shape 10"/>
          <p:cNvSpPr/>
          <p:nvPr/>
        </p:nvSpPr>
        <p:spPr>
          <a:xfrm>
            <a:off x="3538728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9" name="Text 11"/>
          <p:cNvSpPr/>
          <p:nvPr/>
        </p:nvSpPr>
        <p:spPr>
          <a:xfrm>
            <a:off x="3538728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600" dirty="0"/>
          </a:p>
        </p:txBody>
      </p:sp>
      <p:sp>
        <p:nvSpPr>
          <p:cNvPr id="130" name="Text 12"/>
          <p:cNvSpPr/>
          <p:nvPr/>
        </p:nvSpPr>
        <p:spPr>
          <a:xfrm>
            <a:off x="3538728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31" name="Text 13"/>
          <p:cNvSpPr/>
          <p:nvPr/>
        </p:nvSpPr>
        <p:spPr>
          <a:xfrm>
            <a:off x="3813048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132" name="Shape 14"/>
          <p:cNvSpPr/>
          <p:nvPr/>
        </p:nvSpPr>
        <p:spPr>
          <a:xfrm>
            <a:off x="7575804" y="1892808"/>
            <a:ext cx="329184" cy="329184"/>
          </a:xfrm>
          <a:prstGeom prst="ellipse">
            <a:avLst/>
          </a:prstGeom>
          <a:solidFill>
            <a:srgbClr val="2DD4BF"/>
          </a:solidFill>
          <a:ln w="38100">
            <a:solidFill>
              <a:srgbClr val="0E1424"/>
            </a:solidFill>
            <a:prstDash val="solid"/>
          </a:ln>
        </p:spPr>
        <p:txBody>
          <a:bodyPr/>
          <a:p/>
        </p:txBody>
      </p:sp>
      <p:sp>
        <p:nvSpPr>
          <p:cNvPr id="133" name="Shape 15"/>
          <p:cNvSpPr/>
          <p:nvPr/>
        </p:nvSpPr>
        <p:spPr>
          <a:xfrm>
            <a:off x="6437376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4" name="Text 16"/>
          <p:cNvSpPr/>
          <p:nvPr/>
        </p:nvSpPr>
        <p:spPr>
          <a:xfrm>
            <a:off x="6437376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600" dirty="0"/>
          </a:p>
        </p:txBody>
      </p:sp>
      <p:sp>
        <p:nvSpPr>
          <p:cNvPr id="135" name="Text 17"/>
          <p:cNvSpPr/>
          <p:nvPr/>
        </p:nvSpPr>
        <p:spPr>
          <a:xfrm>
            <a:off x="6437376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36" name="Text 18"/>
          <p:cNvSpPr/>
          <p:nvPr/>
        </p:nvSpPr>
        <p:spPr>
          <a:xfrm>
            <a:off x="6711696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  <p:sp>
        <p:nvSpPr>
          <p:cNvPr id="137" name="Shape 19"/>
          <p:cNvSpPr/>
          <p:nvPr/>
        </p:nvSpPr>
        <p:spPr>
          <a:xfrm>
            <a:off x="10474452" y="1892808"/>
            <a:ext cx="329184" cy="329184"/>
          </a:xfrm>
          <a:prstGeom prst="ellipse">
            <a:avLst/>
          </a:prstGeom>
          <a:solidFill>
            <a:srgbClr val="2DD4BF"/>
          </a:solidFill>
          <a:ln w="38100">
            <a:solidFill>
              <a:srgbClr val="0E1424"/>
            </a:solidFill>
            <a:prstDash val="solid"/>
          </a:ln>
        </p:spPr>
        <p:txBody>
          <a:bodyPr/>
          <a:p/>
        </p:txBody>
      </p:sp>
      <p:sp>
        <p:nvSpPr>
          <p:cNvPr id="138" name="Shape 20"/>
          <p:cNvSpPr/>
          <p:nvPr/>
        </p:nvSpPr>
        <p:spPr>
          <a:xfrm>
            <a:off x="9336024" y="23774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/>
          <a:effectLst>
            <a:outerShdw blurRad="114300" dist="50800" dir="5400000" sx="100000" sy="100000" kx="0" ky="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9" name="Text 21"/>
          <p:cNvSpPr/>
          <p:nvPr/>
        </p:nvSpPr>
        <p:spPr>
          <a:xfrm>
            <a:off x="9336024" y="26517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600" dirty="0"/>
          </a:p>
        </p:txBody>
      </p:sp>
      <p:sp>
        <p:nvSpPr>
          <p:cNvPr id="140" name="Text 22"/>
          <p:cNvSpPr/>
          <p:nvPr/>
        </p:nvSpPr>
        <p:spPr>
          <a:xfrm>
            <a:off x="9336024" y="32918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{{Milestone}}</a:t>
            </a:r>
            <a:endParaRPr lang="en-US" sz="1700" dirty="0"/>
          </a:p>
        </p:txBody>
      </p:sp>
      <p:sp>
        <p:nvSpPr>
          <p:cNvPr id="141" name="Text 23"/>
          <p:cNvSpPr/>
          <p:nvPr/>
        </p:nvSpPr>
        <p:spPr>
          <a:xfrm>
            <a:off x="9610344" y="384048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{{Detail, one line}}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 name="Slide 16">
    <p:bg>
      <p:bgPr>
        <a:solidFill>
          <a:srgbClr val="0E1424"/>
        </a:solidFill>
      </p:bgPr>
    </p:bg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8595360" y="1097280"/>
            <a:ext cx="3657600" cy="3657600"/>
          </a:xfrm>
          <a:prstGeom prst="ellipse">
            <a:avLst/>
          </a:prstGeom>
          <a:solidFill>
            <a:srgbClr val="2DD4BF">
              <a:alpha val="13000"/>
            </a:srgbClr>
          </a:solidFill>
          <a:ln/>
        </p:spPr>
        <p:txBody>
          <a:bodyPr/>
          <a:p/>
        </p:txBody>
      </p:sp>
      <p:sp>
        <p:nvSpPr>
          <p:cNvPr id="144" name="Shape 1"/>
          <p:cNvSpPr/>
          <p:nvPr/>
        </p:nvSpPr>
        <p:spPr>
          <a:xfrm>
            <a:off x="9875520" y="3291840"/>
            <a:ext cx="2194560" cy="2194560"/>
          </a:xfrm>
          <a:prstGeom prst="ellipse">
            <a:avLst/>
          </a:prstGeom>
          <a:solidFill>
            <a:srgbClr val="6366F1">
              <a:alpha val="18000"/>
            </a:srgbClr>
          </a:solidFill>
          <a:ln/>
        </p:spPr>
        <p:txBody>
          <a:bodyPr/>
          <a:p/>
        </p:txBody>
      </p:sp>
      <p:sp>
        <p:nvSpPr>
          <p:cNvPr id="145" name="Text 2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400" dirty="0"/>
          </a:p>
        </p:txBody>
      </p:sp>
      <p:sp>
        <p:nvSpPr>
          <p:cNvPr id="146" name="Text 3"/>
          <p:cNvSpPr/>
          <p:nvPr/>
        </p:nvSpPr>
        <p:spPr>
          <a:xfrm>
            <a:off x="777240" y="24688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{{Your closing line}}</a:t>
            </a:r>
            <a:endParaRPr lang="en-US" sz="4400" dirty="0"/>
          </a:p>
        </p:txBody>
      </p:sp>
      <p:sp>
        <p:nvSpPr>
          <p:cNvPr id="147" name="Text 4"/>
          <p:cNvSpPr/>
          <p:nvPr/>
        </p:nvSpPr>
        <p:spPr>
          <a:xfrm>
            <a:off x="822960" y="4846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{{email@yourcompany.com}}</a:t>
            </a: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  {{yourcompany.com}}</a:t>
            </a:r>
            <a:endParaRPr lang="en-US" sz="1600" dirty="0"/>
          </a:p>
        </p:txBody>
      </p:sp>
      <p:sp>
        <p:nvSpPr>
          <p:cNvPr id="148" name="Text 5"/>
          <p:cNvSpPr/>
          <p:nvPr/>
        </p:nvSpPr>
        <p:spPr>
          <a:xfrm>
            <a:off x="822960" y="5486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2026-10-28T16:00:40Z</dcterms:created>
  <dcterms:modified xsi:type="dcterms:W3CDTF">2026-10-28T16:00:40Z</dcterms:modified>
</cp:coreProperties>
</file>